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Libre Franklin"/>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Franklin-regular.fntdata"/><Relationship Id="rId11" Type="http://schemas.openxmlformats.org/officeDocument/2006/relationships/slide" Target="slides/slide6.xml"/><Relationship Id="rId22" Type="http://schemas.openxmlformats.org/officeDocument/2006/relationships/font" Target="fonts/LibreFranklin-italic.fntdata"/><Relationship Id="rId10" Type="http://schemas.openxmlformats.org/officeDocument/2006/relationships/slide" Target="slides/slide5.xml"/><Relationship Id="rId21" Type="http://schemas.openxmlformats.org/officeDocument/2006/relationships/font" Target="fonts/LibreFranklin-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ibreFranklin-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f9da8d5ec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f9da8d5ec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Technology is currently growing and improving at an exponential, almost uncontrollable rate. One of the byproducts of such advancements are ‘Deepfake’ audio/video files. Before delving any further, I want to provide a brief overview of what a deepfake is. ‘Deepfakes’ are fake media content, created from deep learning algorithms. One example is a realistic swap of faces and/or audio from authentic video and digital content. The term Deep learning, in that statement, refers to a set of algorithms that are capable of teaching themselves to solve a problem given a large enough dataset. To provide a better sense of what I am discussing, here we have a image from a deepfaked video where the algorithms have realistically swapped out the face of the actor Clint Eastwood with the Arnold Schwarzenegger from the movie Dirty Harry.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f6300ad26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f6300ad26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first deepfakes can seem harmless, however, upon closer examination they can pose a grave danger to society at large. To understand the reasoning behind this claim lets review the facts at hand. Currently, there are a wide array of tools that are accessible to the public. So anyone can get their hands on such tools and create their own </a:t>
            </a:r>
            <a:r>
              <a:rPr lang="en"/>
              <a:t>deep fakes (free, publicly available examples: 15.ai which can generate voices of characters from video games, and thispersondoesnotexist.com which generates fake human faces)</a:t>
            </a:r>
            <a:r>
              <a:rPr lang="en"/>
              <a:t>. The issue arises when malicious actors use the existing tools at hand to create misleading images, videos, and audio clips. An example to consider is the dangers of a shared video wherein politicians give completely fake speeches, or a real written speech that was never actually given (example: the Nixon speech prepared for if the moon landing failed). As deepfake technology becomes more readily available to the public, it will be easier to spread this fake content at a much faster rate. With the proliferation of such media, it will be increasingly difficult for citizens to be accurately informed on critical issues in their country. Not only that, deep learning algorithms can be leveraged to refine and improve existing deepfake content to look more realistic through each progressive iteration. At some point, a normal viewer may be unable to discern if the content they’re looking at is synthetic or genuine.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f6300ad26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f6300ad26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goal of our project seeks to provide a solution to address this rising issue in audio deep fakes specifically. This project was put forth by the John Hopkins Applied Physics Lab with Timothy Davison acting as the main sponsor. Our teams approach is to see if we can develop a machine learning model that accurately classify if a piece of audio is genuine or synthetic (created </a:t>
            </a:r>
            <a:r>
              <a:rPr lang="en"/>
              <a:t>through</a:t>
            </a:r>
            <a:r>
              <a:rPr lang="en"/>
              <a:t> deepfake </a:t>
            </a:r>
            <a:r>
              <a:rPr lang="en"/>
              <a:t>technology</a:t>
            </a:r>
            <a:r>
              <a:rPr lang="en"/>
              <a:t>). The final challenge, which will occur at the end of the semester, will culminate in a real-world exercise in which audio clips published in the recent Anthony Bourdain documentary ‘Roadrunner’ - clips which the filmmakers claim to be indiscernible as real or fake - will be tested by our machine learning model.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f6300ad26a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f6300ad26a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Prior to embarking on our project, our first steps were to examine the existing research papers detailing previous attempts at solving this issue. Upon completion of the literature review, it was discovered that the most common approach to detecting audio </a:t>
            </a:r>
            <a:r>
              <a:rPr lang="en"/>
              <a:t>deep fakes</a:t>
            </a:r>
            <a:r>
              <a:rPr lang="en"/>
              <a:t> were to convert audio signals into the frequency domain of </a:t>
            </a:r>
            <a:r>
              <a:rPr lang="en"/>
              <a:t>spectrograms</a:t>
            </a:r>
            <a:r>
              <a:rPr lang="en"/>
              <a:t> for 2D deep learning classifiers. Using spectrograms to train a 2D convolution neural network has achieved over a 95 percent accuracy in spoof detection with the use of transfer learning. Despite the 2D CNN based approach yielding a high accuracy score, it was later revealed that using a ensemble of methods (deep learning models and traditional machine learning models) that were trained on using raw signals and spectrograms respectively has resulted in a much more powerful </a:t>
            </a:r>
            <a:r>
              <a:rPr lang="en"/>
              <a:t>classifier</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f7444502b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f7444502b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our sponsor’s recommendation, we decided to utilize data from the ASVSpoof challenges to train our machine learning models. ASVSpoof is the Automatic Speaker Verification Spoofing and Countermeasures Challenge. It is a bi-annual, competitive challenge where the goal is to develop countermeasures capable of discriminating between bonafide and spoofed or deepfake speech. We have two data sets to work with currently, from the 2019 and 2021 challenges. The 2019 dataset has one bonafide label and six AI labels. The bonafide label means the audio was human generated, but the other 6 labels represent different AI generation methods to create the synthetic audio. The ASVSpoof 2021 dataset has no labels present, but it has the results for evaluation.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f9cb2615a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f9cb2615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our sponsor’s recommendation, we decided to utilize data from the ASVSpoof challenges to train our machine learning models. ASVSpoof is the Automatic Speaker Verification Spoofing and Countermeasures Challenge. It is a bi-annual, competitive challenge where the goal is to develop countermeasures capable of discriminating between bonafide and spoofed or deepfake speech. We have two data sets to work with currently, from the 2019 and 2021 challenges. The 2019 dataset has one bonafide label and six AI labels. The bonafide label means the audio was human generated, but the other 6 labels represent different AI generation methods to create the synthetic audio. The ASVSpoof 2021 dataset has no labels present, but it has the results for evaluation.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f7444502b4_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f7444502b4_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can see the 2019 dataset has 3 components : train, dev, eval and each group has audio files from </a:t>
            </a:r>
            <a:r>
              <a:rPr lang="en"/>
              <a:t>different</a:t>
            </a:r>
            <a:r>
              <a:rPr lang="en"/>
              <a:t> group of people. These are h plots for the dat </a:t>
            </a:r>
            <a:r>
              <a:rPr lang="en"/>
              <a:t>distribution</a:t>
            </a:r>
            <a:r>
              <a:rPr lang="en"/>
              <a:t> between </a:t>
            </a:r>
            <a:r>
              <a:rPr lang="en"/>
              <a:t>different</a:t>
            </a:r>
            <a:r>
              <a:rPr lang="en"/>
              <a:t> speakers and their Soof or generated audio signals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f7444502b4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f7444502b4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a:t>
            </a:r>
            <a:r>
              <a:rPr lang="en"/>
              <a:t> are some of the </a:t>
            </a:r>
            <a:r>
              <a:rPr lang="en"/>
              <a:t>modalities</a:t>
            </a:r>
            <a:r>
              <a:rPr lang="en"/>
              <a:t> we have derived for an audio flac file from the dataset. The first is the plot of the raw signal </a:t>
            </a:r>
            <a:r>
              <a:rPr lang="en"/>
              <a:t>waveform</a:t>
            </a:r>
            <a:r>
              <a:rPr lang="en"/>
              <a:t> and the next is the spectrogram while the last one is the LFCC which is the latest one we are trying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f7444502b4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f7444502b4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imbalance: </a:t>
            </a:r>
            <a:endParaRPr/>
          </a:p>
          <a:p>
            <a:pPr indent="-298450" lvl="0" marL="457200" rtl="0" algn="l">
              <a:spcBef>
                <a:spcPts val="0"/>
              </a:spcBef>
              <a:spcAft>
                <a:spcPts val="0"/>
              </a:spcAft>
              <a:buSzPts val="1100"/>
              <a:buChar char="-"/>
            </a:pPr>
            <a:r>
              <a:rPr lang="en"/>
              <a:t>2000 bonafide but you have 28,000 AI labels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f7444502b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f7444502b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imbalance: </a:t>
            </a:r>
            <a:endParaRPr/>
          </a:p>
          <a:p>
            <a:pPr indent="-298450" lvl="0" marL="457200" rtl="0" algn="l">
              <a:spcBef>
                <a:spcPts val="0"/>
              </a:spcBef>
              <a:spcAft>
                <a:spcPts val="0"/>
              </a:spcAft>
              <a:buSzPts val="1100"/>
              <a:buChar char="-"/>
            </a:pPr>
            <a:r>
              <a:rPr lang="en"/>
              <a:t>2000 bonafide but you have 28,000 AI labels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f7444502b4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f7444502b4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f7444502b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f7444502b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f7444502b4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f7444502b4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Insure Audio Deepfake</a:t>
            </a:r>
            <a:endParaRPr b="1">
              <a:solidFill>
                <a:schemeClr val="lt1"/>
              </a:solidFill>
              <a:latin typeface="Libre Franklin"/>
              <a:ea typeface="Libre Franklin"/>
              <a:cs typeface="Libre Franklin"/>
              <a:sym typeface="Libre Frankli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i="1" lang="en" sz="1480">
                <a:solidFill>
                  <a:schemeClr val="lt1"/>
                </a:solidFill>
                <a:latin typeface="Libre Franklin"/>
                <a:ea typeface="Libre Franklin"/>
                <a:cs typeface="Libre Franklin"/>
                <a:sym typeface="Libre Franklin"/>
              </a:rPr>
              <a:t>Aidan Gow, Dan Sutter, Sagnik Dakshit, Mohan Reddy, Nihil Patel, Vishnu Kunadharaju</a:t>
            </a:r>
            <a:endParaRPr i="1" sz="1480">
              <a:solidFill>
                <a:schemeClr val="lt1"/>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Introduction to Deepfakes</a:t>
            </a:r>
            <a:endParaRPr b="1">
              <a:solidFill>
                <a:schemeClr val="lt1"/>
              </a:solidFill>
              <a:latin typeface="Libre Franklin"/>
              <a:ea typeface="Libre Franklin"/>
              <a:cs typeface="Libre Franklin"/>
              <a:sym typeface="Libre Franklin"/>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‘Deepfakes’ are fake media, created from deep learning algorithms. One example is to realistically swap faces and audio from authentic video and digital content. </a:t>
            </a:r>
            <a:endParaRPr>
              <a:solidFill>
                <a:schemeClr val="lt1"/>
              </a:solidFill>
              <a:latin typeface="Libre Franklin"/>
              <a:ea typeface="Libre Franklin"/>
              <a:cs typeface="Libre Franklin"/>
              <a:sym typeface="Libre Franklin"/>
            </a:endParaRPr>
          </a:p>
        </p:txBody>
      </p:sp>
      <p:pic>
        <p:nvPicPr>
          <p:cNvPr id="62" name="Google Shape;62;p14"/>
          <p:cNvPicPr preferRelativeResize="0"/>
          <p:nvPr/>
        </p:nvPicPr>
        <p:blipFill>
          <a:blip r:embed="rId3">
            <a:alphaModFix/>
          </a:blip>
          <a:stretch>
            <a:fillRect/>
          </a:stretch>
        </p:blipFill>
        <p:spPr>
          <a:xfrm>
            <a:off x="2439350" y="2310000"/>
            <a:ext cx="4265300" cy="23811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Motivation</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Widespread availability of high quality deepfake generation tools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15.ai</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thispersondoesnotexist</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Malicious actors can use existing tools to create misleading images, videos, and audio clips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G</a:t>
            </a:r>
            <a:r>
              <a:rPr lang="en">
                <a:solidFill>
                  <a:schemeClr val="lt1"/>
                </a:solidFill>
                <a:latin typeface="Libre Franklin"/>
                <a:ea typeface="Libre Franklin"/>
                <a:cs typeface="Libre Franklin"/>
                <a:sym typeface="Libre Franklin"/>
              </a:rPr>
              <a:t>enerative adversarial networks </a:t>
            </a:r>
            <a:r>
              <a:rPr lang="en">
                <a:solidFill>
                  <a:schemeClr val="lt1"/>
                </a:solidFill>
                <a:latin typeface="Libre Franklin"/>
                <a:ea typeface="Libre Franklin"/>
                <a:cs typeface="Libre Franklin"/>
                <a:sym typeface="Libre Franklin"/>
              </a:rPr>
              <a:t>(GANs) can refine and improve deepfaked content to look highly realistic.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Problem Statement</a:t>
            </a:r>
            <a:endParaRPr b="1">
              <a:solidFill>
                <a:schemeClr val="lt1"/>
              </a:solidFill>
              <a:latin typeface="Libre Franklin"/>
              <a:ea typeface="Libre Franklin"/>
              <a:cs typeface="Libre Franklin"/>
              <a:sym typeface="Libre Franklin"/>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Sponsors: John Hopkins Applied Physics Lab (Timothy Davison).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Develop a Deep Learning model that can accurately identify synthetic (deepfaked) audio.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Final Challenge: Roadrunner Documentary</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Literature Review </a:t>
            </a:r>
            <a:endParaRPr b="1">
              <a:solidFill>
                <a:schemeClr val="lt1"/>
              </a:solidFill>
              <a:latin typeface="Libre Franklin"/>
              <a:ea typeface="Libre Franklin"/>
              <a:cs typeface="Libre Franklin"/>
              <a:sym typeface="Libre Franklin"/>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Common approach so far is to convert audio signals to spectrograms for training 2D deep learning classifiers.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The 2D convolutional neural networks (CNN) based approaches have achieved over 95% accuracy in spoof detection using transfer learning.</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Ensemble of methods using both raw waveforms and 2D spectrograms have lead to superior performance rather than relying solely on spectrograms.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311700" y="877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Our Approach</a:t>
            </a:r>
            <a:endParaRPr>
              <a:latin typeface="Libre Franklin"/>
              <a:ea typeface="Libre Franklin"/>
              <a:cs typeface="Libre Franklin"/>
              <a:sym typeface="Libre Franklin"/>
            </a:endParaRPr>
          </a:p>
        </p:txBody>
      </p:sp>
      <p:sp>
        <p:nvSpPr>
          <p:cNvPr id="86" name="Google Shape;86;p18"/>
          <p:cNvSpPr txBox="1"/>
          <p:nvPr>
            <p:ph idx="1" type="body"/>
          </p:nvPr>
        </p:nvSpPr>
        <p:spPr>
          <a:xfrm>
            <a:off x="311700" y="827475"/>
            <a:ext cx="8520600" cy="37413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Deep Learning Classification Models</a:t>
            </a:r>
            <a:endParaRPr>
              <a:solidFill>
                <a:schemeClr val="lt1"/>
              </a:solidFill>
              <a:latin typeface="Libre Franklin"/>
              <a:ea typeface="Libre Franklin"/>
              <a:cs typeface="Libre Franklin"/>
              <a:sym typeface="Libre Franklin"/>
            </a:endParaRPr>
          </a:p>
          <a:p>
            <a:pPr indent="0" lvl="0" marL="13716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Different Modalities of data</a:t>
            </a:r>
            <a:endParaRPr>
              <a:solidFill>
                <a:schemeClr val="lt1"/>
              </a:solidFill>
              <a:latin typeface="Libre Franklin"/>
              <a:ea typeface="Libre Franklin"/>
              <a:cs typeface="Libre Franklin"/>
              <a:sym typeface="Libre Franklin"/>
            </a:endParaRPr>
          </a:p>
          <a:p>
            <a:pPr indent="-317500" lvl="1" marL="18288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Signals,  </a:t>
            </a:r>
            <a:r>
              <a:rPr lang="en">
                <a:solidFill>
                  <a:schemeClr val="lt1"/>
                </a:solidFill>
                <a:latin typeface="Libre Franklin"/>
                <a:ea typeface="Libre Franklin"/>
                <a:cs typeface="Libre Franklin"/>
                <a:sym typeface="Libre Franklin"/>
              </a:rPr>
              <a:t>Spectrograms</a:t>
            </a:r>
            <a:r>
              <a:rPr lang="en">
                <a:solidFill>
                  <a:schemeClr val="lt1"/>
                </a:solidFill>
                <a:latin typeface="Libre Franklin"/>
                <a:ea typeface="Libre Franklin"/>
                <a:cs typeface="Libre Franklin"/>
                <a:sym typeface="Libre Franklin"/>
              </a:rPr>
              <a:t>, LFCC</a:t>
            </a:r>
            <a:endParaRPr>
              <a:solidFill>
                <a:schemeClr val="lt1"/>
              </a:solidFill>
              <a:latin typeface="Libre Franklin"/>
              <a:ea typeface="Libre Franklin"/>
              <a:cs typeface="Libre Franklin"/>
              <a:sym typeface="Libre Franklin"/>
            </a:endParaRPr>
          </a:p>
          <a:p>
            <a:pPr indent="0" lvl="0" marL="18288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Investigate the effect of different Activation functions.</a:t>
            </a:r>
            <a:endParaRPr>
              <a:solidFill>
                <a:schemeClr val="lt1"/>
              </a:solidFill>
              <a:latin typeface="Libre Franklin"/>
              <a:ea typeface="Libre Franklin"/>
              <a:cs typeface="Libre Franklin"/>
              <a:sym typeface="Libre Franklin"/>
            </a:endParaRPr>
          </a:p>
          <a:p>
            <a:pPr indent="-317500" lvl="1" marL="18288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Relu, Tanh, LRelu</a:t>
            </a:r>
            <a:endParaRPr>
              <a:solidFill>
                <a:schemeClr val="lt1"/>
              </a:solidFill>
              <a:latin typeface="Libre Franklin"/>
              <a:ea typeface="Libre Franklin"/>
              <a:cs typeface="Libre Franklin"/>
              <a:sym typeface="Libre Franklin"/>
            </a:endParaRPr>
          </a:p>
          <a:p>
            <a:pPr indent="0" lvl="0" marL="18288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Develop an Ensemble for state-of-the-art generalized performance</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The Data</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ASVSpoof 2019</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Split into Train (8 male, 12 female), Dev (4 male, 6 female) and Eval (21 male, 27 female)</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Each set has audio signals in FLAC format and corresponding labels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1 Bonafide (Human) label and 6 AI labels (spoof)</a:t>
            </a:r>
            <a:endParaRPr>
              <a:solidFill>
                <a:schemeClr val="lt1"/>
              </a:solidFill>
              <a:latin typeface="Libre Franklin"/>
              <a:ea typeface="Libre Franklin"/>
              <a:cs typeface="Libre Franklin"/>
              <a:sym typeface="Libre Franklin"/>
            </a:endParaRPr>
          </a:p>
          <a:p>
            <a:pPr indent="0" lvl="0" marL="9144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ASVSpoof 2021</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Only for results evaluation</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No labels</a:t>
            </a:r>
            <a:endParaRPr>
              <a:solidFill>
                <a:schemeClr val="lt1"/>
              </a:solidFill>
              <a:latin typeface="Libre Franklin"/>
              <a:ea typeface="Libre Franklin"/>
              <a:cs typeface="Libre Franklin"/>
              <a:sym typeface="Libre Franklin"/>
            </a:endParaRPr>
          </a:p>
          <a:p>
            <a:pPr indent="0" lvl="0" marL="914400" rtl="0" algn="l">
              <a:spcBef>
                <a:spcPts val="1200"/>
              </a:spcBef>
              <a:spcAft>
                <a:spcPts val="120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1"/>
                </a:solidFill>
                <a:latin typeface="Libre Franklin"/>
                <a:ea typeface="Libre Franklin"/>
                <a:cs typeface="Libre Franklin"/>
                <a:sym typeface="Libre Franklin"/>
              </a:rPr>
              <a:t>Data Distribution</a:t>
            </a:r>
            <a:endParaRPr b="1">
              <a:solidFill>
                <a:schemeClr val="lt1"/>
              </a:solidFill>
              <a:latin typeface="Libre Franklin"/>
              <a:ea typeface="Libre Franklin"/>
              <a:cs typeface="Libre Franklin"/>
              <a:sym typeface="Libre Franklin"/>
            </a:endParaRPr>
          </a:p>
        </p:txBody>
      </p:sp>
      <p:pic>
        <p:nvPicPr>
          <p:cNvPr id="98" name="Google Shape;98;p20"/>
          <p:cNvPicPr preferRelativeResize="0"/>
          <p:nvPr/>
        </p:nvPicPr>
        <p:blipFill>
          <a:blip r:embed="rId3">
            <a:alphaModFix/>
          </a:blip>
          <a:stretch>
            <a:fillRect/>
          </a:stretch>
        </p:blipFill>
        <p:spPr>
          <a:xfrm>
            <a:off x="4613875" y="1017725"/>
            <a:ext cx="3703701" cy="1970901"/>
          </a:xfrm>
          <a:prstGeom prst="rect">
            <a:avLst/>
          </a:prstGeom>
          <a:noFill/>
          <a:ln>
            <a:noFill/>
          </a:ln>
        </p:spPr>
      </p:pic>
      <p:pic>
        <p:nvPicPr>
          <p:cNvPr id="99" name="Google Shape;99;p20"/>
          <p:cNvPicPr preferRelativeResize="0"/>
          <p:nvPr/>
        </p:nvPicPr>
        <p:blipFill>
          <a:blip r:embed="rId4">
            <a:alphaModFix/>
          </a:blip>
          <a:stretch>
            <a:fillRect/>
          </a:stretch>
        </p:blipFill>
        <p:spPr>
          <a:xfrm>
            <a:off x="1972550" y="3082176"/>
            <a:ext cx="4592671" cy="1850075"/>
          </a:xfrm>
          <a:prstGeom prst="rect">
            <a:avLst/>
          </a:prstGeom>
          <a:noFill/>
          <a:ln>
            <a:noFill/>
          </a:ln>
        </p:spPr>
      </p:pic>
      <p:pic>
        <p:nvPicPr>
          <p:cNvPr id="100" name="Google Shape;100;p20"/>
          <p:cNvPicPr preferRelativeResize="0"/>
          <p:nvPr/>
        </p:nvPicPr>
        <p:blipFill>
          <a:blip r:embed="rId5">
            <a:alphaModFix/>
          </a:blip>
          <a:stretch>
            <a:fillRect/>
          </a:stretch>
        </p:blipFill>
        <p:spPr>
          <a:xfrm>
            <a:off x="333500" y="1017725"/>
            <a:ext cx="3861174" cy="19709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181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Data Modalities</a:t>
            </a:r>
            <a:endParaRPr/>
          </a:p>
        </p:txBody>
      </p:sp>
      <p:sp>
        <p:nvSpPr>
          <p:cNvPr id="106" name="Google Shape;106;p21"/>
          <p:cNvSpPr txBox="1"/>
          <p:nvPr>
            <p:ph idx="1" type="body"/>
          </p:nvPr>
        </p:nvSpPr>
        <p:spPr>
          <a:xfrm>
            <a:off x="311700" y="754425"/>
            <a:ext cx="8520600" cy="4154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lt1"/>
              </a:solidFill>
            </a:endParaRPr>
          </a:p>
        </p:txBody>
      </p:sp>
      <p:pic>
        <p:nvPicPr>
          <p:cNvPr id="107" name="Google Shape;107;p21"/>
          <p:cNvPicPr preferRelativeResize="0"/>
          <p:nvPr/>
        </p:nvPicPr>
        <p:blipFill>
          <a:blip r:embed="rId3">
            <a:alphaModFix/>
          </a:blip>
          <a:stretch>
            <a:fillRect/>
          </a:stretch>
        </p:blipFill>
        <p:spPr>
          <a:xfrm>
            <a:off x="312925" y="754425"/>
            <a:ext cx="2764350" cy="1829675"/>
          </a:xfrm>
          <a:prstGeom prst="rect">
            <a:avLst/>
          </a:prstGeom>
          <a:noFill/>
          <a:ln>
            <a:noFill/>
          </a:ln>
        </p:spPr>
      </p:pic>
      <p:sp>
        <p:nvSpPr>
          <p:cNvPr id="108" name="Google Shape;108;p21"/>
          <p:cNvSpPr txBox="1"/>
          <p:nvPr/>
        </p:nvSpPr>
        <p:spPr>
          <a:xfrm>
            <a:off x="853450" y="2655350"/>
            <a:ext cx="168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Signal Waveform</a:t>
            </a:r>
            <a:endParaRPr b="1">
              <a:solidFill>
                <a:schemeClr val="lt1"/>
              </a:solidFill>
            </a:endParaRPr>
          </a:p>
        </p:txBody>
      </p:sp>
      <p:pic>
        <p:nvPicPr>
          <p:cNvPr id="109" name="Google Shape;109;p21"/>
          <p:cNvPicPr preferRelativeResize="0"/>
          <p:nvPr/>
        </p:nvPicPr>
        <p:blipFill>
          <a:blip r:embed="rId4">
            <a:alphaModFix/>
          </a:blip>
          <a:stretch>
            <a:fillRect/>
          </a:stretch>
        </p:blipFill>
        <p:spPr>
          <a:xfrm>
            <a:off x="5714540" y="754425"/>
            <a:ext cx="3117760" cy="1829675"/>
          </a:xfrm>
          <a:prstGeom prst="rect">
            <a:avLst/>
          </a:prstGeom>
          <a:noFill/>
          <a:ln>
            <a:noFill/>
          </a:ln>
        </p:spPr>
      </p:pic>
      <p:pic>
        <p:nvPicPr>
          <p:cNvPr id="110" name="Google Shape;110;p21"/>
          <p:cNvPicPr preferRelativeResize="0"/>
          <p:nvPr/>
        </p:nvPicPr>
        <p:blipFill rotWithShape="1">
          <a:blip r:embed="rId5">
            <a:alphaModFix/>
          </a:blip>
          <a:srcRect b="8598" l="9482" r="1983" t="3835"/>
          <a:stretch/>
        </p:blipFill>
        <p:spPr>
          <a:xfrm>
            <a:off x="3074825" y="2883950"/>
            <a:ext cx="2570976" cy="1668475"/>
          </a:xfrm>
          <a:prstGeom prst="rect">
            <a:avLst/>
          </a:prstGeom>
          <a:noFill/>
          <a:ln>
            <a:noFill/>
          </a:ln>
        </p:spPr>
      </p:pic>
      <p:sp>
        <p:nvSpPr>
          <p:cNvPr id="111" name="Google Shape;111;p21"/>
          <p:cNvSpPr txBox="1"/>
          <p:nvPr/>
        </p:nvSpPr>
        <p:spPr>
          <a:xfrm>
            <a:off x="6648000" y="2655350"/>
            <a:ext cx="14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Spectrograms</a:t>
            </a:r>
            <a:endParaRPr b="1">
              <a:solidFill>
                <a:schemeClr val="lt1"/>
              </a:solidFill>
            </a:endParaRPr>
          </a:p>
        </p:txBody>
      </p:sp>
      <p:sp>
        <p:nvSpPr>
          <p:cNvPr id="112" name="Google Shape;112;p21"/>
          <p:cNvSpPr txBox="1"/>
          <p:nvPr/>
        </p:nvSpPr>
        <p:spPr>
          <a:xfrm>
            <a:off x="4035888" y="4508325"/>
            <a:ext cx="87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LFCC</a:t>
            </a:r>
            <a:endParaRPr b="1">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783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Challenges</a:t>
            </a:r>
            <a:endParaRPr b="1">
              <a:solidFill>
                <a:schemeClr val="lt1"/>
              </a:solidFill>
              <a:latin typeface="Libre Franklin"/>
              <a:ea typeface="Libre Franklin"/>
              <a:cs typeface="Libre Franklin"/>
              <a:sym typeface="Libre Franklin"/>
            </a:endParaRPr>
          </a:p>
        </p:txBody>
      </p:sp>
      <p:sp>
        <p:nvSpPr>
          <p:cNvPr id="118" name="Google Shape;118;p22"/>
          <p:cNvSpPr txBox="1"/>
          <p:nvPr>
            <p:ph idx="1" type="body"/>
          </p:nvPr>
        </p:nvSpPr>
        <p:spPr>
          <a:xfrm>
            <a:off x="311700" y="651025"/>
            <a:ext cx="8520600" cy="4370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Long time for data conversion type and model training</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Trying to express the audio in various forms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Exploring parallel processing libraries like numba and using jit, cuda.jit</a:t>
            </a:r>
            <a:endParaRPr>
              <a:solidFill>
                <a:schemeClr val="lt1"/>
              </a:solidFill>
              <a:latin typeface="Libre Franklin"/>
              <a:ea typeface="Libre Franklin"/>
              <a:cs typeface="Libre Franklin"/>
              <a:sym typeface="Libre Franklin"/>
            </a:endParaRPr>
          </a:p>
          <a:p>
            <a:pPr indent="0" lvl="0" marL="9144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Misleading accuray due to unbalanced labels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Trying to use multi label classification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Using other accuracy metrics </a:t>
            </a:r>
            <a:endParaRPr>
              <a:solidFill>
                <a:schemeClr val="lt1"/>
              </a:solidFill>
              <a:latin typeface="Libre Franklin"/>
              <a:ea typeface="Libre Franklin"/>
              <a:cs typeface="Libre Franklin"/>
              <a:sym typeface="Libre Franklin"/>
            </a:endParaRPr>
          </a:p>
          <a:p>
            <a:pPr indent="0" lvl="0" marL="9144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Decisions on data pre-processing</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To remove noise or not? For now no, but will do so in future for result </a:t>
            </a:r>
            <a:r>
              <a:rPr lang="en">
                <a:solidFill>
                  <a:schemeClr val="lt1"/>
                </a:solidFill>
                <a:latin typeface="Libre Franklin"/>
                <a:ea typeface="Libre Franklin"/>
                <a:cs typeface="Libre Franklin"/>
                <a:sym typeface="Libre Franklin"/>
              </a:rPr>
              <a:t>comparison to prove noise removal actually decreases accuracy</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Which representation of audio signals to use among the available (BFCC, LFCC, LPC, LPCC, MFCC, IMFCC, MSRCC, NGCC, PNCC, PSRCC, PLP, RPLP, Frequency-stats)? For now Spectrograms and LFCC but based on results, might shift to others like Raw Waveforms, MFCC, Mel Spectrograms</a:t>
            </a:r>
            <a:r>
              <a:rPr lang="en">
                <a:solidFill>
                  <a:schemeClr val="lt1"/>
                </a:solidFill>
                <a:latin typeface="Libre Franklin"/>
                <a:ea typeface="Libre Franklin"/>
                <a:cs typeface="Libre Franklin"/>
                <a:sym typeface="Libre Franklin"/>
              </a:rPr>
              <a:t>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Limitation of Current Results</a:t>
            </a:r>
            <a:endParaRPr b="1">
              <a:solidFill>
                <a:schemeClr val="lt1"/>
              </a:solidFill>
              <a:latin typeface="Libre Franklin"/>
              <a:ea typeface="Libre Franklin"/>
              <a:cs typeface="Libre Franklin"/>
              <a:sym typeface="Libre Franklin"/>
            </a:endParaRPr>
          </a:p>
        </p:txBody>
      </p:sp>
      <p:sp>
        <p:nvSpPr>
          <p:cNvPr id="124" name="Google Shape;124;p23"/>
          <p:cNvSpPr txBox="1"/>
          <p:nvPr>
            <p:ph idx="1" type="body"/>
          </p:nvPr>
        </p:nvSpPr>
        <p:spPr>
          <a:xfrm>
            <a:off x="311700" y="12302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Imbalance</a:t>
            </a:r>
            <a:r>
              <a:rPr lang="en">
                <a:solidFill>
                  <a:schemeClr val="lt1"/>
                </a:solidFill>
                <a:latin typeface="Libre Franklin"/>
                <a:ea typeface="Libre Franklin"/>
                <a:cs typeface="Libre Franklin"/>
                <a:sym typeface="Libre Franklin"/>
              </a:rPr>
              <a:t> dataset leading to poor classification metrics</a:t>
            </a:r>
            <a:endParaRPr>
              <a:solidFill>
                <a:schemeClr val="lt1"/>
              </a:solidFill>
              <a:latin typeface="Libre Franklin"/>
              <a:ea typeface="Libre Franklin"/>
              <a:cs typeface="Libre Franklin"/>
              <a:sym typeface="Libre Franklin"/>
            </a:endParaRPr>
          </a:p>
          <a:p>
            <a:pPr indent="457200" lvl="0" marL="0" rtl="0" algn="l">
              <a:spcBef>
                <a:spcPts val="1200"/>
              </a:spcBef>
              <a:spcAft>
                <a:spcPts val="0"/>
              </a:spcAft>
              <a:buNone/>
            </a:pPr>
            <a:r>
              <a:rPr lang="en">
                <a:solidFill>
                  <a:schemeClr val="lt1"/>
                </a:solidFill>
              </a:rPr>
              <a:t>Ex: Spoof: 22296(+), Bonafide: 2548(-)</a:t>
            </a:r>
            <a:endParaRPr>
              <a:solidFill>
                <a:schemeClr val="lt1"/>
              </a:solidFill>
            </a:endParaRPr>
          </a:p>
          <a:p>
            <a:pPr indent="-317500" lvl="1" marL="914400" rtl="0" algn="l">
              <a:spcBef>
                <a:spcPts val="1600"/>
              </a:spcBef>
              <a:spcAft>
                <a:spcPts val="0"/>
              </a:spcAft>
              <a:buClr>
                <a:schemeClr val="lt1"/>
              </a:buClr>
              <a:buSzPts val="1400"/>
              <a:buChar char="○"/>
            </a:pPr>
            <a:r>
              <a:rPr lang="en">
                <a:solidFill>
                  <a:schemeClr val="lt1"/>
                </a:solidFill>
              </a:rPr>
              <a:t>Classification System Result: Spoof: 222</a:t>
            </a:r>
            <a:r>
              <a:rPr lang="en">
                <a:solidFill>
                  <a:schemeClr val="lt1"/>
                </a:solidFill>
              </a:rPr>
              <a:t>8</a:t>
            </a:r>
            <a:r>
              <a:rPr lang="en">
                <a:solidFill>
                  <a:schemeClr val="lt1"/>
                </a:solidFill>
              </a:rPr>
              <a:t>6(TP), Bonafide: 10 (TN), FP: 2538, FN: 10 Accuracy: 89.7% Accurate, 10.3% error </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Precision: 89.8%, Recall: 99.9%, F1 Score: 94.5</a:t>
            </a:r>
            <a:endParaRPr>
              <a:solidFill>
                <a:schemeClr val="lt1"/>
              </a:solidFill>
            </a:endParaRPr>
          </a:p>
          <a:p>
            <a:pPr indent="0" lvl="0" marL="0" rtl="0" algn="l">
              <a:spcBef>
                <a:spcPts val="1600"/>
              </a:spcBef>
              <a:spcAft>
                <a:spcPts val="0"/>
              </a:spcAft>
              <a:buNone/>
            </a:pPr>
            <a:r>
              <a:t/>
            </a:r>
            <a:endParaRPr>
              <a:solidFill>
                <a:schemeClr val="lt1"/>
              </a:solidFill>
            </a:endParaRPr>
          </a:p>
          <a:p>
            <a:pPr indent="-342900" lvl="0" marL="457200" rtl="0" algn="l">
              <a:spcBef>
                <a:spcPts val="16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Lack of Transfer Learning models for 1D CNN model.</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Unlike 2D CNN models such as ResNet, InceptionNet, 1D pretrained models are not available</a:t>
            </a:r>
            <a:endParaRPr>
              <a:solidFill>
                <a:schemeClr val="lt1"/>
              </a:solidFill>
              <a:latin typeface="Libre Franklin"/>
              <a:ea typeface="Libre Franklin"/>
              <a:cs typeface="Libre Franklin"/>
              <a:sym typeface="Libre Franklin"/>
            </a:endParaRPr>
          </a:p>
        </p:txBody>
      </p:sp>
      <p:pic>
        <p:nvPicPr>
          <p:cNvPr id="125" name="Google Shape;125;p23"/>
          <p:cNvPicPr preferRelativeResize="0"/>
          <p:nvPr/>
        </p:nvPicPr>
        <p:blipFill>
          <a:blip r:embed="rId3">
            <a:alphaModFix/>
          </a:blip>
          <a:stretch>
            <a:fillRect/>
          </a:stretch>
        </p:blipFill>
        <p:spPr>
          <a:xfrm>
            <a:off x="6870563" y="2571750"/>
            <a:ext cx="1955200" cy="1345524"/>
          </a:xfrm>
          <a:prstGeom prst="rect">
            <a:avLst/>
          </a:prstGeom>
          <a:noFill/>
          <a:ln>
            <a:noFill/>
          </a:ln>
        </p:spPr>
      </p:pic>
      <p:pic>
        <p:nvPicPr>
          <p:cNvPr id="126" name="Google Shape;126;p23"/>
          <p:cNvPicPr preferRelativeResize="0"/>
          <p:nvPr/>
        </p:nvPicPr>
        <p:blipFill>
          <a:blip r:embed="rId4">
            <a:alphaModFix/>
          </a:blip>
          <a:stretch>
            <a:fillRect/>
          </a:stretch>
        </p:blipFill>
        <p:spPr>
          <a:xfrm>
            <a:off x="6882273" y="950375"/>
            <a:ext cx="1931776" cy="12795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313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Next Steps</a:t>
            </a:r>
            <a:endParaRPr b="1">
              <a:solidFill>
                <a:schemeClr val="lt1"/>
              </a:solidFill>
              <a:latin typeface="Libre Franklin"/>
              <a:ea typeface="Libre Franklin"/>
              <a:cs typeface="Libre Franklin"/>
              <a:sym typeface="Libre Franklin"/>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Generating the LFCCs for the train</a:t>
            </a:r>
            <a:endParaRPr>
              <a:solidFill>
                <a:schemeClr val="lt1"/>
              </a:solidFill>
              <a:latin typeface="Libre Franklin"/>
              <a:ea typeface="Libre Franklin"/>
              <a:cs typeface="Libre Franklin"/>
              <a:sym typeface="Libre Franklin"/>
            </a:endParaRPr>
          </a:p>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Process and Create Balanced Dataset</a:t>
            </a:r>
            <a:endParaRPr>
              <a:solidFill>
                <a:schemeClr val="lt1"/>
              </a:solidFill>
              <a:latin typeface="Libre Franklin"/>
              <a:ea typeface="Libre Franklin"/>
              <a:cs typeface="Libre Franklin"/>
              <a:sym typeface="Libre Franklin"/>
            </a:endParaRPr>
          </a:p>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Training</a:t>
            </a:r>
            <a:r>
              <a:rPr lang="en">
                <a:solidFill>
                  <a:schemeClr val="lt1"/>
                </a:solidFill>
                <a:latin typeface="Libre Franklin"/>
                <a:ea typeface="Libre Franklin"/>
                <a:cs typeface="Libre Franklin"/>
                <a:sym typeface="Libre Franklin"/>
              </a:rPr>
              <a:t> the data with appropriate metrics: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Transfer Learn on 2D CNN ResNet, InceptionNet</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Train custom 1D CNN architecture from scratch</a:t>
            </a:r>
            <a:endParaRPr>
              <a:solidFill>
                <a:schemeClr val="lt1"/>
              </a:solidFill>
              <a:latin typeface="Libre Franklin"/>
              <a:ea typeface="Libre Franklin"/>
              <a:cs typeface="Libre Franklin"/>
              <a:sym typeface="Libre Franklin"/>
            </a:endParaRPr>
          </a:p>
          <a:p>
            <a:pPr indent="0" lvl="0" marL="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Result </a:t>
            </a:r>
            <a:r>
              <a:rPr lang="en">
                <a:solidFill>
                  <a:schemeClr val="lt1"/>
                </a:solidFill>
                <a:latin typeface="Libre Franklin"/>
                <a:ea typeface="Libre Franklin"/>
                <a:cs typeface="Libre Franklin"/>
                <a:sym typeface="Libre Franklin"/>
              </a:rPr>
              <a:t>Comparison</a:t>
            </a:r>
            <a:r>
              <a:rPr lang="en">
                <a:solidFill>
                  <a:schemeClr val="lt1"/>
                </a:solidFill>
                <a:latin typeface="Libre Franklin"/>
                <a:ea typeface="Libre Franklin"/>
                <a:cs typeface="Libre Franklin"/>
                <a:sym typeface="Libre Franklin"/>
              </a:rPr>
              <a:t>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With and </a:t>
            </a:r>
            <a:r>
              <a:rPr lang="en">
                <a:solidFill>
                  <a:schemeClr val="lt1"/>
                </a:solidFill>
                <a:latin typeface="Libre Franklin"/>
                <a:ea typeface="Libre Franklin"/>
                <a:cs typeface="Libre Franklin"/>
                <a:sym typeface="Libre Franklin"/>
              </a:rPr>
              <a:t>without</a:t>
            </a:r>
            <a:r>
              <a:rPr lang="en">
                <a:solidFill>
                  <a:schemeClr val="lt1"/>
                </a:solidFill>
                <a:latin typeface="Libre Franklin"/>
                <a:ea typeface="Libre Franklin"/>
                <a:cs typeface="Libre Franklin"/>
                <a:sym typeface="Libre Franklin"/>
              </a:rPr>
              <a:t> background noise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B</a:t>
            </a:r>
            <a:r>
              <a:rPr lang="en">
                <a:solidFill>
                  <a:schemeClr val="lt1"/>
                </a:solidFill>
                <a:latin typeface="Libre Franklin"/>
                <a:ea typeface="Libre Franklin"/>
                <a:cs typeface="Libre Franklin"/>
                <a:sym typeface="Libre Franklin"/>
              </a:rPr>
              <a:t>etween</a:t>
            </a:r>
            <a:r>
              <a:rPr lang="en">
                <a:solidFill>
                  <a:schemeClr val="lt1"/>
                </a:solidFill>
                <a:latin typeface="Libre Franklin"/>
                <a:ea typeface="Libre Franklin"/>
                <a:cs typeface="Libre Franklin"/>
                <a:sym typeface="Libre Franklin"/>
              </a:rPr>
              <a:t> the various modalities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Between</a:t>
            </a:r>
            <a:r>
              <a:rPr lang="en">
                <a:solidFill>
                  <a:schemeClr val="lt1"/>
                </a:solidFill>
                <a:latin typeface="Libre Franklin"/>
                <a:ea typeface="Libre Franklin"/>
                <a:cs typeface="Libre Franklin"/>
                <a:sym typeface="Libre Franklin"/>
              </a:rPr>
              <a:t> </a:t>
            </a:r>
            <a:r>
              <a:rPr lang="en">
                <a:solidFill>
                  <a:schemeClr val="lt1"/>
                </a:solidFill>
                <a:latin typeface="Libre Franklin"/>
                <a:ea typeface="Libre Franklin"/>
                <a:cs typeface="Libre Franklin"/>
                <a:sym typeface="Libre Franklin"/>
              </a:rPr>
              <a:t>the</a:t>
            </a:r>
            <a:r>
              <a:rPr lang="en">
                <a:solidFill>
                  <a:schemeClr val="lt1"/>
                </a:solidFill>
                <a:latin typeface="Libre Franklin"/>
                <a:ea typeface="Libre Franklin"/>
                <a:cs typeface="Libre Franklin"/>
                <a:sym typeface="Libre Franklin"/>
              </a:rPr>
              <a:t> trained DL architectures</a:t>
            </a:r>
            <a:endParaRPr>
              <a:solidFill>
                <a:schemeClr val="lt1"/>
              </a:solidFill>
              <a:latin typeface="Libre Franklin"/>
              <a:ea typeface="Libre Franklin"/>
              <a:cs typeface="Libre Franklin"/>
              <a:sym typeface="Libre Franklin"/>
            </a:endParaRPr>
          </a:p>
          <a:p>
            <a:pPr indent="0" lvl="0" marL="457200" rtl="0" algn="l">
              <a:spcBef>
                <a:spcPts val="1200"/>
              </a:spcBef>
              <a:spcAft>
                <a:spcPts val="120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181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b="1" lang="en">
                <a:solidFill>
                  <a:schemeClr val="lt1"/>
                </a:solidFill>
                <a:latin typeface="Libre Franklin"/>
                <a:ea typeface="Libre Franklin"/>
                <a:cs typeface="Libre Franklin"/>
                <a:sym typeface="Libre Franklin"/>
              </a:rPr>
              <a:t>Future Data Modality Considerations</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p>
        </p:txBody>
      </p:sp>
      <p:sp>
        <p:nvSpPr>
          <p:cNvPr id="138" name="Google Shape;138;p25"/>
          <p:cNvSpPr txBox="1"/>
          <p:nvPr>
            <p:ph idx="1" type="body"/>
          </p:nvPr>
        </p:nvSpPr>
        <p:spPr>
          <a:xfrm>
            <a:off x="122250" y="754425"/>
            <a:ext cx="8710200" cy="4154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lt1"/>
              </a:solidFill>
            </a:endParaRPr>
          </a:p>
        </p:txBody>
      </p:sp>
      <p:sp>
        <p:nvSpPr>
          <p:cNvPr id="139" name="Google Shape;139;p25"/>
          <p:cNvSpPr txBox="1"/>
          <p:nvPr/>
        </p:nvSpPr>
        <p:spPr>
          <a:xfrm>
            <a:off x="1257775" y="2750425"/>
            <a:ext cx="168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MFCC</a:t>
            </a:r>
            <a:endParaRPr b="1">
              <a:solidFill>
                <a:schemeClr val="lt1"/>
              </a:solidFill>
            </a:endParaRPr>
          </a:p>
        </p:txBody>
      </p:sp>
      <p:sp>
        <p:nvSpPr>
          <p:cNvPr id="140" name="Google Shape;140;p25"/>
          <p:cNvSpPr txBox="1"/>
          <p:nvPr/>
        </p:nvSpPr>
        <p:spPr>
          <a:xfrm>
            <a:off x="6541300" y="2750425"/>
            <a:ext cx="198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MEL </a:t>
            </a:r>
            <a:r>
              <a:rPr b="1" lang="en">
                <a:solidFill>
                  <a:schemeClr val="lt1"/>
                </a:solidFill>
              </a:rPr>
              <a:t>Spectograms</a:t>
            </a:r>
            <a:endParaRPr b="1">
              <a:solidFill>
                <a:schemeClr val="lt1"/>
              </a:solidFill>
            </a:endParaRPr>
          </a:p>
        </p:txBody>
      </p:sp>
      <p:sp>
        <p:nvSpPr>
          <p:cNvPr id="141" name="Google Shape;141;p25"/>
          <p:cNvSpPr txBox="1"/>
          <p:nvPr/>
        </p:nvSpPr>
        <p:spPr>
          <a:xfrm>
            <a:off x="3232577" y="4508325"/>
            <a:ext cx="277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Spectograms (LogScale)</a:t>
            </a:r>
            <a:endParaRPr b="1">
              <a:solidFill>
                <a:schemeClr val="lt1"/>
              </a:solidFill>
            </a:endParaRPr>
          </a:p>
        </p:txBody>
      </p:sp>
      <p:pic>
        <p:nvPicPr>
          <p:cNvPr id="142" name="Google Shape;142;p25"/>
          <p:cNvPicPr preferRelativeResize="0"/>
          <p:nvPr/>
        </p:nvPicPr>
        <p:blipFill>
          <a:blip r:embed="rId3">
            <a:alphaModFix/>
          </a:blip>
          <a:stretch>
            <a:fillRect/>
          </a:stretch>
        </p:blipFill>
        <p:spPr>
          <a:xfrm>
            <a:off x="5613650" y="796225"/>
            <a:ext cx="3218650" cy="1933300"/>
          </a:xfrm>
          <a:prstGeom prst="rect">
            <a:avLst/>
          </a:prstGeom>
          <a:noFill/>
          <a:ln>
            <a:noFill/>
          </a:ln>
        </p:spPr>
      </p:pic>
      <p:pic>
        <p:nvPicPr>
          <p:cNvPr id="143" name="Google Shape;143;p25"/>
          <p:cNvPicPr preferRelativeResize="0"/>
          <p:nvPr/>
        </p:nvPicPr>
        <p:blipFill>
          <a:blip r:embed="rId4">
            <a:alphaModFix/>
          </a:blip>
          <a:stretch>
            <a:fillRect/>
          </a:stretch>
        </p:blipFill>
        <p:spPr>
          <a:xfrm>
            <a:off x="122250" y="775325"/>
            <a:ext cx="3329954" cy="1954200"/>
          </a:xfrm>
          <a:prstGeom prst="rect">
            <a:avLst/>
          </a:prstGeom>
          <a:noFill/>
          <a:ln>
            <a:noFill/>
          </a:ln>
        </p:spPr>
      </p:pic>
      <p:pic>
        <p:nvPicPr>
          <p:cNvPr id="144" name="Google Shape;144;p25"/>
          <p:cNvPicPr preferRelativeResize="0"/>
          <p:nvPr/>
        </p:nvPicPr>
        <p:blipFill>
          <a:blip r:embed="rId5">
            <a:alphaModFix/>
          </a:blip>
          <a:stretch>
            <a:fillRect/>
          </a:stretch>
        </p:blipFill>
        <p:spPr>
          <a:xfrm>
            <a:off x="3047976" y="2792226"/>
            <a:ext cx="2650300" cy="1754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48" name="Shape 148"/>
        <p:cNvGrpSpPr/>
        <p:nvPr/>
      </p:nvGrpSpPr>
      <p:grpSpPr>
        <a:xfrm>
          <a:off x="0" y="0"/>
          <a:ext cx="0" cy="0"/>
          <a:chOff x="0" y="0"/>
          <a:chExt cx="0" cy="0"/>
        </a:xfrm>
      </p:grpSpPr>
      <p:sp>
        <p:nvSpPr>
          <p:cNvPr id="149" name="Google Shape;149;p26"/>
          <p:cNvSpPr txBox="1"/>
          <p:nvPr>
            <p:ph type="title"/>
          </p:nvPr>
        </p:nvSpPr>
        <p:spPr>
          <a:xfrm>
            <a:off x="284550" y="449550"/>
            <a:ext cx="8520600" cy="146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Libre Franklin"/>
                <a:ea typeface="Libre Franklin"/>
                <a:cs typeface="Libre Franklin"/>
                <a:sym typeface="Libre Franklin"/>
              </a:rPr>
              <a:t>Questions, Suggestions, Feedback</a:t>
            </a:r>
            <a:endParaRPr b="1">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