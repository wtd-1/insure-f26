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  <p:sldMasterId id="2147483710" r:id="rId2"/>
  </p:sldMasterIdLst>
  <p:notesMasterIdLst>
    <p:notesMasterId r:id="rId16"/>
  </p:notesMasterIdLst>
  <p:sldIdLst>
    <p:sldId id="278" r:id="rId3"/>
    <p:sldId id="263" r:id="rId4"/>
    <p:sldId id="264" r:id="rId5"/>
    <p:sldId id="275" r:id="rId6"/>
    <p:sldId id="276" r:id="rId7"/>
    <p:sldId id="256" r:id="rId8"/>
    <p:sldId id="257" r:id="rId9"/>
    <p:sldId id="269" r:id="rId10"/>
    <p:sldId id="260" r:id="rId11"/>
    <p:sldId id="277" r:id="rId12"/>
    <p:sldId id="266" r:id="rId13"/>
    <p:sldId id="270" r:id="rId14"/>
    <p:sldId id="27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ETAN GARIKAPATI" initials="CG" lastIdx="1" clrIdx="0">
    <p:extLst>
      <p:ext uri="{19B8F6BF-5375-455C-9EA6-DF929625EA0E}">
        <p15:presenceInfo xmlns:p15="http://schemas.microsoft.com/office/powerpoint/2012/main" userId="186a64145cc53f7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E3B79F-004B-B000-E18E-AF68BE9FF0FC}" v="39" dt="2021-03-26T01:01:04.144"/>
    <p1510:client id="{1BE2B79F-90EC-B000-E20A-FEB3D0F19D91}" v="332" dt="2021-03-26T00:57:38.277"/>
    <p1510:client id="{1CE2B79F-4087-B000-DCA6-804C6333A54D}" v="5" dt="2021-03-26T00:36:35.360"/>
    <p1510:client id="{2702F734-EC64-8C2A-BE13-BD0C6C36BB7A}" v="9" dt="2021-03-26T02:07:27.955"/>
    <p1510:client id="{4E35D284-C988-B999-7AD8-B1FF4B6526F7}" v="2" dt="2021-03-26T00:04:51.818"/>
    <p1510:client id="{5DA15961-230B-DA1D-4B22-CF5EEA0E56CA}" v="413" dt="2021-03-26T00:31:11.384"/>
    <p1510:client id="{713D0071-7C8F-BBB6-452B-19C602FA6504}" v="442" dt="2021-03-26T00:55:18.536"/>
    <p1510:client id="{B8E66B96-EF42-61CE-C473-13A39A05B511}" v="18" dt="2021-03-26T00:55:53.8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31E8E6-4FC8-46E0-98E9-6A1B3D5EB4A9}" type="datetimeFigureOut">
              <a:rPr lang="en-US" smtClean="0"/>
              <a:t>3/25/2021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B95EB9-12DB-4177-B88F-1363F06D9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599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Securing data also includes data sanitization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B95EB9-12DB-4177-B88F-1363F06D977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0128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cs typeface="Calibri"/>
              </a:rPr>
              <a:t>An application's environment includes a guest OS and any other environmental variables.</a:t>
            </a:r>
          </a:p>
          <a:p>
            <a:endParaRPr lang="en-US">
              <a:cs typeface="Calibri"/>
            </a:endParaRPr>
          </a:p>
          <a:p>
            <a:r>
              <a:rPr lang="en-US">
                <a:cs typeface="Calibri"/>
              </a:rPr>
              <a:t>A host's resources include hardware resources like the CPU/GPU, or even the host file system if configured to do so.</a:t>
            </a:r>
          </a:p>
          <a:p>
            <a:endParaRPr lang="en-US">
              <a:cs typeface="Calibri"/>
            </a:endParaRPr>
          </a:p>
          <a:p>
            <a:r>
              <a:rPr lang="en-US">
                <a:cs typeface="Calibri"/>
              </a:rPr>
              <a:t>It pretty much is a abstract, condensed package to serve as a component for a larger system/as part of a scalable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E5B5B1-7E6A-4ACC-88FE-ACADB8EF1FD8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9782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426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3/25/2021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487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3/25/2021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653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3/25/2021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110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12793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5383" y="2128684"/>
            <a:ext cx="5304417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28684"/>
            <a:ext cx="5219700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3/25/2021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726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87" y="929148"/>
            <a:ext cx="10640005" cy="7615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4" y="1681163"/>
            <a:ext cx="5282192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384" y="2505075"/>
            <a:ext cx="5282192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3/25/2021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970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3/25/2021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02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3/25/2021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52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6" y="781665"/>
            <a:ext cx="4093599" cy="122345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8258" y="2315497"/>
            <a:ext cx="4093599" cy="35534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3/25/2021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518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42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342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3/25/2021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279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3/25/2021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671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973"/>
            <a:ext cx="8404122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E8B1C-86EF-43CF-8304-249481088644}" type="datetimeFigureOut">
              <a:rPr lang="en-US" smtClean="0"/>
              <a:t>3/25/2021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1085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6CE7D5-CF57-46EF-B807-FDD0502418D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3/25/2021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611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93126"/>
            <a:ext cx="10691265" cy="363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92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2F3E8B1C-86EF-43CF-8304-249481088644}" type="datetimeFigureOut">
              <a:rPr lang="en-US" smtClean="0"/>
              <a:pPr/>
              <a:t>3/25/2021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383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5369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698" r:id="rId5"/>
    <p:sldLayoutId id="2147483703" r:id="rId6"/>
    <p:sldLayoutId id="2147483699" r:id="rId7"/>
    <p:sldLayoutId id="2147483700" r:id="rId8"/>
    <p:sldLayoutId id="2147483701" r:id="rId9"/>
    <p:sldLayoutId id="2147483702" r:id="rId10"/>
    <p:sldLayoutId id="2147483704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800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jm33.me/cve-2018-18955-a-handy-lpe-for-newer-linux-kernels.html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oplemattersglobal.com/article/training/state-of-cyber-security-in-apac-19924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reativecommons.org/licenses/by-nc-sa/3.0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8426" y="889820"/>
            <a:ext cx="10751574" cy="960181"/>
          </a:xfrm>
        </p:spPr>
        <p:txBody>
          <a:bodyPr>
            <a:normAutofit/>
          </a:bodyPr>
          <a:lstStyle/>
          <a:p>
            <a:pPr algn="ctr"/>
            <a:r>
              <a:rPr lang="en-US" sz="2800">
                <a:cs typeface="Calibri Light"/>
              </a:rPr>
              <a:t>High Assurance Cloud Compute and Storage</a:t>
            </a:r>
            <a:endParaRPr lang="en-US" sz="28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0437" y="4262322"/>
            <a:ext cx="4134040" cy="2059247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sz="1800">
                <a:cs typeface="Calibri"/>
              </a:rPr>
              <a:t>Team Members:</a:t>
            </a:r>
          </a:p>
          <a:p>
            <a:pPr>
              <a:spcAft>
                <a:spcPts val="500"/>
              </a:spcAft>
            </a:pPr>
            <a:r>
              <a:rPr lang="en-US" sz="1800">
                <a:cs typeface="Calibri"/>
              </a:rPr>
              <a:t>Khalid </a:t>
            </a:r>
            <a:r>
              <a:rPr lang="en-US" sz="1800" err="1">
                <a:cs typeface="Calibri"/>
              </a:rPr>
              <a:t>Abusultan</a:t>
            </a:r>
            <a:endParaRPr lang="en-US" sz="1800" err="1"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sz="1800">
                <a:cs typeface="Calibri"/>
              </a:rPr>
              <a:t>Chetan </a:t>
            </a:r>
            <a:r>
              <a:rPr lang="en-US" sz="1800" err="1">
                <a:cs typeface="Calibri"/>
              </a:rPr>
              <a:t>Garikapati</a:t>
            </a:r>
            <a:endParaRPr lang="en-US" sz="1800"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sz="1800">
                <a:cs typeface="Calibri"/>
              </a:rPr>
              <a:t>Monish Alur </a:t>
            </a:r>
            <a:r>
              <a:rPr lang="en-US" sz="1800" err="1">
                <a:cs typeface="Calibri"/>
              </a:rPr>
              <a:t>Gowdru</a:t>
            </a:r>
            <a:endParaRPr lang="en-US" sz="1800"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sz="1800" err="1">
                <a:cs typeface="Calibri"/>
              </a:rPr>
              <a:t>Giakhanh</a:t>
            </a:r>
            <a:r>
              <a:rPr lang="en-US" sz="1800">
                <a:cs typeface="Calibri"/>
              </a:rPr>
              <a:t> Hoang</a:t>
            </a:r>
            <a:endParaRPr lang="en-US" sz="1800"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lang="en-US" sz="1800">
                <a:cs typeface="Calibri"/>
              </a:rPr>
              <a:t>Travious Lewis</a:t>
            </a:r>
            <a:endParaRPr lang="en-US" sz="1800"/>
          </a:p>
          <a:p>
            <a:endParaRPr lang="en-US" sz="1800">
              <a:cs typeface="Calibri"/>
            </a:endParaRPr>
          </a:p>
          <a:p>
            <a:endParaRPr lang="en-US" sz="1800"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96BAA6-CAA1-4B8C-B9B5-967DC4DF7CB5}"/>
              </a:ext>
            </a:extLst>
          </p:cNvPr>
          <p:cNvSpPr txBox="1"/>
          <p:nvPr/>
        </p:nvSpPr>
        <p:spPr>
          <a:xfrm>
            <a:off x="7244201" y="4115017"/>
            <a:ext cx="4534928" cy="179023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sz="2000" dirty="0">
                <a:ea typeface="+mn-lt"/>
                <a:cs typeface="+mn-lt"/>
              </a:rPr>
              <a:t>Sponsors:</a:t>
            </a:r>
            <a:endParaRPr lang="en-US" dirty="0"/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sz="2000" dirty="0">
                <a:ea typeface="+mn-lt"/>
                <a:cs typeface="+mn-lt"/>
              </a:rPr>
              <a:t>National Security Agency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Joshua Cline</a:t>
            </a:r>
          </a:p>
          <a:p>
            <a:r>
              <a:rPr lang="en-US">
                <a:ea typeface="+mn-lt"/>
                <a:cs typeface="+mn-lt"/>
              </a:rPr>
              <a:t>Eric Darko</a:t>
            </a:r>
          </a:p>
          <a:p>
            <a:r>
              <a:rPr lang="en-US" dirty="0">
                <a:ea typeface="+mn-lt"/>
                <a:cs typeface="+mn-lt"/>
              </a:rPr>
              <a:t>Jason Smith</a:t>
            </a:r>
            <a:endParaRPr lang="en-US" dirty="0"/>
          </a:p>
        </p:txBody>
      </p:sp>
      <p:pic>
        <p:nvPicPr>
          <p:cNvPr id="5" name="Picture 5" descr="Logo&#10;&#10;Description automatically generated">
            <a:extLst>
              <a:ext uri="{FF2B5EF4-FFF2-40B4-BE49-F238E27FC236}">
                <a16:creationId xmlns:a16="http://schemas.microsoft.com/office/drawing/2014/main" id="{C0239E0D-26E5-4742-A13B-3BAB520DE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3687" y="1639866"/>
            <a:ext cx="1532351" cy="15219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252E51-1DF2-494D-A862-3A9ED446D85C}"/>
              </a:ext>
            </a:extLst>
          </p:cNvPr>
          <p:cNvSpPr txBox="1"/>
          <p:nvPr/>
        </p:nvSpPr>
        <p:spPr>
          <a:xfrm>
            <a:off x="3847578" y="3242154"/>
            <a:ext cx="48308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S21 Team Ironware Midterm Presentation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704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5B37F-46F1-47E3-9AD6-B54283167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Overview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C3965-838C-46BD-AD58-89BB7A5B7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cs typeface="Calibri" panose="020F0502020204030204"/>
              </a:rPr>
              <a:t>With an increasing adaptation of containers, there is a growing need for solutions to securing containers and their data</a:t>
            </a:r>
          </a:p>
          <a:p>
            <a:pPr marL="0" indent="0">
              <a:buNone/>
            </a:pPr>
            <a:endParaRPr lang="en-US">
              <a:cs typeface="Calibri" panose="020F0502020204030204"/>
            </a:endParaRPr>
          </a:p>
          <a:p>
            <a:pPr marL="0" indent="0">
              <a:buNone/>
            </a:pPr>
            <a:r>
              <a:rPr lang="en-US">
                <a:cs typeface="Calibri" panose="020F0502020204030204"/>
              </a:rPr>
              <a:t>Our goal:</a:t>
            </a:r>
          </a:p>
          <a:p>
            <a:r>
              <a:rPr lang="en-US">
                <a:cs typeface="Calibri" panose="020F0502020204030204"/>
              </a:rPr>
              <a:t>Research container exploits</a:t>
            </a:r>
          </a:p>
          <a:p>
            <a:r>
              <a:rPr lang="en-US">
                <a:cs typeface="Calibri" panose="020F0502020204030204"/>
              </a:rPr>
              <a:t>Review existing container hardening solutions/techniques</a:t>
            </a:r>
          </a:p>
          <a:p>
            <a:r>
              <a:rPr lang="en-US">
                <a:cs typeface="Calibri" panose="020F0502020204030204"/>
              </a:rPr>
              <a:t>Develop a comprehensive approach to securing containers and their data</a:t>
            </a:r>
            <a:endParaRPr lang="en-US"/>
          </a:p>
          <a:p>
            <a:pPr marL="0" indent="0">
              <a:buNone/>
            </a:pPr>
            <a:endParaRPr lang="en-US">
              <a:cs typeface="Calibri" panose="020F0502020204030204"/>
            </a:endParaRPr>
          </a:p>
          <a:p>
            <a:pPr marL="0" indent="0">
              <a:buNone/>
            </a:pPr>
            <a:endParaRPr lang="en-US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027236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7F1E2-EA28-44B9-9243-92C2F6FDD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What is a container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0A2FB-597A-410A-9E74-C4B72BA60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cs typeface="Calibri"/>
              </a:rPr>
              <a:t>A lightweight solution to packaging an application's environment altogether for easy testing and development</a:t>
            </a:r>
          </a:p>
          <a:p>
            <a:pPr lvl="1"/>
            <a:r>
              <a:rPr lang="en-US">
                <a:ea typeface="+mn-lt"/>
                <a:cs typeface="+mn-lt"/>
              </a:rPr>
              <a:t>Examples: Docker, Kubernetes</a:t>
            </a:r>
          </a:p>
          <a:p>
            <a:r>
              <a:rPr lang="en-US">
                <a:cs typeface="Calibri"/>
              </a:rPr>
              <a:t>Hosted on servers within operating systems</a:t>
            </a:r>
          </a:p>
          <a:p>
            <a:pPr lvl="1"/>
            <a:r>
              <a:rPr lang="en-US">
                <a:ea typeface="+mn-lt"/>
                <a:cs typeface="+mn-lt"/>
              </a:rPr>
              <a:t>May be configured to access the host's resources</a:t>
            </a:r>
            <a:endParaRPr lang="en-US"/>
          </a:p>
          <a:p>
            <a:r>
              <a:rPr lang="en-US">
                <a:cs typeface="Calibri"/>
              </a:rPr>
              <a:t>Can communicate with other containers</a:t>
            </a:r>
          </a:p>
          <a:p>
            <a:pPr marL="0" indent="0">
              <a:buNone/>
            </a:pPr>
            <a:endParaRPr lang="en-US">
              <a:cs typeface="Calibri"/>
            </a:endParaRPr>
          </a:p>
          <a:p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56978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FA67CD3-AB4E-4A7A-BEB8-53C445D8C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3726"/>
            <a:ext cx="5614875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7CF545F-9C2E-4446-97CD-AD92990C2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F7C6C04-448D-4669-9B38-5FB12A60F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000000"/>
                </a:solidFill>
                <a:cs typeface="Calibri Light"/>
              </a:rPr>
              <a:t>Docker Security Concerns 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13" name="Freeform 62">
            <a:extLst>
              <a:ext uri="{FF2B5EF4-FFF2-40B4-BE49-F238E27FC236}">
                <a16:creationId xmlns:a16="http://schemas.microsoft.com/office/drawing/2014/main" id="{339C8D78-A644-462F-B674-F440635E5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8619"/>
            <a:ext cx="5000438" cy="5400962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5000"/>
                  </a:schemeClr>
                </a:gs>
                <a:gs pos="100000">
                  <a:schemeClr val="bg2">
                    <a:lumMod val="8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4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734B629C-5FA9-4146-9958-EF960878AD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349" y="2294777"/>
            <a:ext cx="3661831" cy="228864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3FD4D-B130-47BE-8D03-74A973F88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400">
                <a:solidFill>
                  <a:srgbClr val="000000"/>
                </a:solidFill>
                <a:cs typeface="Calibri"/>
              </a:rPr>
              <a:t>Root privileges are needed on the Linux host or kernel installation</a:t>
            </a:r>
          </a:p>
          <a:p>
            <a:pPr lvl="1">
              <a:buFont typeface="Wingdings,Sans-Serif" panose="020B0604020202020204" pitchFamily="34" charset="0"/>
              <a:buChar char="§"/>
            </a:pP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Pose security threat if poorly managed</a:t>
            </a:r>
          </a:p>
          <a:p>
            <a:pPr lvl="1">
              <a:buFont typeface="Wingdings,Sans-Serif" panose="020B0604020202020204" pitchFamily="34" charset="0"/>
              <a:buChar char="§"/>
            </a:pP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A malicious user could leverage APIs to cause Docker to create new unauthorized containers</a:t>
            </a:r>
          </a:p>
          <a:p>
            <a:r>
              <a:rPr lang="en-US" sz="1400">
                <a:solidFill>
                  <a:srgbClr val="000000"/>
                </a:solidFill>
                <a:cs typeface="Calibri"/>
              </a:rPr>
              <a:t>Lib containers </a:t>
            </a:r>
            <a:endParaRPr lang="en-US" sz="1400">
              <a:solidFill>
                <a:srgbClr val="000000"/>
              </a:solidFill>
            </a:endParaRPr>
          </a:p>
          <a:p>
            <a:pPr lvl="1">
              <a:buFont typeface="Wingdings" panose="020B0604020202020204" pitchFamily="34" charset="0"/>
              <a:buChar char="§"/>
            </a:pPr>
            <a:r>
              <a:rPr lang="en-US" sz="1400">
                <a:solidFill>
                  <a:srgbClr val="000000"/>
                </a:solidFill>
                <a:cs typeface="Calibri"/>
              </a:rPr>
              <a:t>These containers can be compromised by a root since they are all under '/sys' directory</a:t>
            </a:r>
          </a:p>
          <a:p>
            <a:r>
              <a:rPr lang="en-US" sz="1400">
                <a:solidFill>
                  <a:srgbClr val="000000"/>
                </a:solidFill>
                <a:cs typeface="Calibri"/>
              </a:rPr>
              <a:t>Daemon approach</a:t>
            </a:r>
          </a:p>
          <a:p>
            <a:pPr lvl="1">
              <a:buFont typeface="Wingdings" panose="020B0604020202020204" pitchFamily="34" charset="0"/>
              <a:buChar char="§"/>
            </a:pPr>
            <a:r>
              <a:rPr lang="en-US" sz="1400">
                <a:solidFill>
                  <a:srgbClr val="000000"/>
                </a:solidFill>
                <a:cs typeface="Calibri"/>
              </a:rPr>
              <a:t>Everything is running as root which causes vulnerabilities</a:t>
            </a:r>
          </a:p>
          <a:p>
            <a:r>
              <a:rPr lang="en-US" sz="1400">
                <a:solidFill>
                  <a:srgbClr val="000000"/>
                </a:solidFill>
                <a:cs typeface="Calibri"/>
              </a:rPr>
              <a:t>More feature addition</a:t>
            </a:r>
          </a:p>
          <a:p>
            <a:pPr lvl="1">
              <a:buFont typeface="Wingdings" panose="020B0604020202020204" pitchFamily="34" charset="0"/>
              <a:buChar char="§"/>
            </a:pPr>
            <a:r>
              <a:rPr lang="en-US" sz="1400">
                <a:solidFill>
                  <a:srgbClr val="000000"/>
                </a:solidFill>
                <a:cs typeface="Calibri"/>
              </a:rPr>
              <a:t>Docker becomes more vulnerable every time a new feature is added</a:t>
            </a:r>
          </a:p>
          <a:p>
            <a:pPr marL="0" indent="0">
              <a:buNone/>
            </a:pPr>
            <a:endParaRPr lang="en-US" sz="1400">
              <a:solidFill>
                <a:srgbClr val="000000"/>
              </a:solidFill>
              <a:cs typeface="Calibri"/>
            </a:endParaRPr>
          </a:p>
          <a:p>
            <a:endParaRPr lang="en-US" sz="1400">
              <a:solidFill>
                <a:srgbClr val="000000"/>
              </a:solidFill>
              <a:cs typeface="Calibri"/>
            </a:endParaRPr>
          </a:p>
          <a:p>
            <a:pPr lvl="1">
              <a:buFont typeface="Wingdings" panose="020B0604020202020204" pitchFamily="34" charset="0"/>
              <a:buChar char="§"/>
            </a:pPr>
            <a:endParaRPr lang="en-US" sz="1400">
              <a:solidFill>
                <a:srgbClr val="000000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8611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FA67CD3-AB4E-4A7A-BEB8-53C445D8C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3726"/>
            <a:ext cx="5614875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7CF545F-9C2E-4446-97CD-AD92990C2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7DA345-02B7-4797-857B-E67549FD7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000000"/>
                </a:solidFill>
                <a:cs typeface="Calibri Light"/>
              </a:rPr>
              <a:t>Docker Hardening Techniques 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13" name="Freeform 62">
            <a:extLst>
              <a:ext uri="{FF2B5EF4-FFF2-40B4-BE49-F238E27FC236}">
                <a16:creationId xmlns:a16="http://schemas.microsoft.com/office/drawing/2014/main" id="{339C8D78-A644-462F-B674-F440635E5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8619"/>
            <a:ext cx="5000438" cy="5400962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5000"/>
                  </a:schemeClr>
                </a:gs>
                <a:gs pos="100000">
                  <a:schemeClr val="bg2">
                    <a:lumMod val="8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4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938ED731-0785-4DEA-A8DE-373B9A3F8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349" y="2422941"/>
            <a:ext cx="3661831" cy="203231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FDDA6-8D15-46B0-8E5F-D92C65E95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600">
                <a:solidFill>
                  <a:srgbClr val="000000"/>
                </a:solidFill>
                <a:cs typeface="Calibri"/>
              </a:rPr>
              <a:t>Linux hardening techniques can be used on docker (Docker is based on Linux container)</a:t>
            </a:r>
          </a:p>
          <a:p>
            <a:r>
              <a:rPr lang="en-US" sz="1600">
                <a:solidFill>
                  <a:srgbClr val="000000"/>
                </a:solidFill>
                <a:cs typeface="Calibri"/>
              </a:rPr>
              <a:t>Below are some of the techniques that can be used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solidFill>
                  <a:srgbClr val="000000"/>
                </a:solidFill>
                <a:cs typeface="Calibri"/>
              </a:rPr>
              <a:t>Do not run privileged on containers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600">
                <a:solidFill>
                  <a:srgbClr val="000000"/>
                </a:solidFill>
                <a:cs typeface="Calibri"/>
              </a:rPr>
              <a:t>It is not necessary to have every user by default to run on priviliged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600">
                <a:solidFill>
                  <a:srgbClr val="000000"/>
                </a:solidFill>
                <a:cs typeface="Calibri"/>
              </a:rPr>
              <a:t>Use "--security-opt" for containers instead which is compatible with SELinux/AppArmor</a:t>
            </a:r>
          </a:p>
          <a:p>
            <a:pPr lvl="2">
              <a:buFont typeface="Wingdings" panose="020B0604020202020204" pitchFamily="34" charset="0"/>
              <a:buChar char="§"/>
            </a:pPr>
            <a:endParaRPr lang="en-US" sz="1600">
              <a:solidFill>
                <a:srgbClr val="000000"/>
              </a:solidFill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solidFill>
                  <a:srgbClr val="000000"/>
                </a:solidFill>
                <a:cs typeface="Calibri"/>
              </a:rPr>
              <a:t>Drop and observe dropped capabilities 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600">
                <a:solidFill>
                  <a:srgbClr val="000000"/>
                </a:solidFill>
                <a:cs typeface="Calibri"/>
              </a:rPr>
              <a:t>Control different capablilites of processes 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600">
                <a:solidFill>
                  <a:srgbClr val="000000"/>
                </a:solidFill>
                <a:cs typeface="Calibri"/>
              </a:rPr>
              <a:t>Distinguishing between </a:t>
            </a:r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privileged </a:t>
            </a:r>
            <a:r>
              <a:rPr lang="en-US" sz="1600">
                <a:solidFill>
                  <a:srgbClr val="000000"/>
                </a:solidFill>
                <a:cs typeface="Calibri"/>
              </a:rPr>
              <a:t>and unprivileged processes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sz="1600">
              <a:solidFill>
                <a:srgbClr val="000000"/>
              </a:solidFill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sz="1600">
              <a:solidFill>
                <a:srgbClr val="000000"/>
              </a:solidFill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sz="1600">
              <a:solidFill>
                <a:srgbClr val="000000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66059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41E98A-FA18-4058-9780-577F9892CC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23776" y="878766"/>
            <a:ext cx="6468222" cy="569025"/>
          </a:xfrm>
        </p:spPr>
        <p:txBody>
          <a:bodyPr>
            <a:normAutofit fontScale="90000"/>
          </a:bodyPr>
          <a:lstStyle/>
          <a:p>
            <a:r>
              <a:rPr lang="en-US" sz="4400"/>
              <a:t>Privilege Escalation</a:t>
            </a:r>
            <a:br>
              <a:rPr lang="en-US" sz="4400"/>
            </a:b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F594E0-6A46-4789-8BB7-81C164DD1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23776" y="1661824"/>
            <a:ext cx="5706224" cy="4037936"/>
          </a:xfrm>
        </p:spPr>
        <p:txBody>
          <a:bodyPr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/>
              <a:t>Obtaining access to restricted resources from unprivileged account by exploiting weakness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/>
              <a:t>Vertical escalation from normal user to super user and Horizontal escalation from user to user at same level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/>
              <a:t>Vertical escalation is obvious but horizontal can also be very detrimental to the system security especially in cloud environments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/>
              <a:t>Some of the known exploits</a:t>
            </a:r>
          </a:p>
          <a:p>
            <a:pPr algn="just"/>
            <a:endParaRPr lang="en-US" sz="1800"/>
          </a:p>
        </p:txBody>
      </p:sp>
      <p:pic>
        <p:nvPicPr>
          <p:cNvPr id="4" name="Picture 3" descr="Digital financial graphs">
            <a:extLst>
              <a:ext uri="{FF2B5EF4-FFF2-40B4-BE49-F238E27FC236}">
                <a16:creationId xmlns:a16="http://schemas.microsoft.com/office/drawing/2014/main" id="{C515EB16-4D72-4B51-BB99-D29743EC2C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825" r="3797"/>
          <a:stretch/>
        </p:blipFill>
        <p:spPr>
          <a:xfrm>
            <a:off x="1" y="10"/>
            <a:ext cx="5351227" cy="685798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723900"/>
            <a:ext cx="57062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CF06E40-3ECB-4820-95B5-8A70B07D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6134100"/>
            <a:ext cx="56681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11650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 advClick="0">
        <p14:reveal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7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2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9597F-679B-4EB1-A5C9-843F6EAEB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42" y="1066801"/>
            <a:ext cx="5892718" cy="609600"/>
          </a:xfrm>
        </p:spPr>
        <p:txBody>
          <a:bodyPr>
            <a:normAutofit/>
          </a:bodyPr>
          <a:lstStyle/>
          <a:p>
            <a:r>
              <a:rPr lang="en-US" sz="2400"/>
              <a:t>Escalation By namespace remapping</a:t>
            </a:r>
            <a:endParaRPr lang="en-US" sz="1400" baseline="3000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7F51A25F-4394-4BEF-8BA3-C24705ED653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2135" r="12135"/>
          <a:stretch>
            <a:fillRect/>
          </a:stretch>
        </p:blipFill>
        <p:spPr>
          <a:xfrm>
            <a:off x="6751320" y="1066800"/>
            <a:ext cx="4604068" cy="4348078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599EE-7E26-4641-8B5C-BED51AE9F5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342" y="2098590"/>
            <a:ext cx="5793658" cy="3316288"/>
          </a:xfrm>
        </p:spPr>
        <p:txBody>
          <a:bodyPr>
            <a:normAutofit fontScale="85000" lnSpcReduction="10000"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/>
              <a:t>In docker we use “</a:t>
            </a:r>
            <a:r>
              <a:rPr lang="en-US" sz="1800" err="1">
                <a:effectLst/>
                <a:latin typeface="Calibri" panose="020F0502020204030204" pitchFamily="34" charset="0"/>
              </a:rPr>
              <a:t>userns</a:t>
            </a:r>
            <a:r>
              <a:rPr lang="en-US" sz="1800">
                <a:effectLst/>
                <a:latin typeface="Calibri" panose="020F0502020204030204" pitchFamily="34" charset="0"/>
              </a:rPr>
              <a:t>-remap</a:t>
            </a:r>
            <a:r>
              <a:rPr lang="en-US"/>
              <a:t>” option to provide non-privileged user access to a docker image as root.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/>
              <a:t>This option can is enabled by changing the “</a:t>
            </a:r>
            <a:r>
              <a:rPr lang="en-US" err="1"/>
              <a:t>daemon.json</a:t>
            </a:r>
            <a:r>
              <a:rPr lang="en-US"/>
              <a:t>” file or as argument at startup.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/>
              <a:t>The docker daemon runs in privileged mode as it requires complete access on host resources.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/>
              <a:t>The root user in the docker instance can modify files in “</a:t>
            </a:r>
            <a:r>
              <a:rPr lang="en-US" sz="1800">
                <a:effectLst/>
                <a:latin typeface="Calibri" panose="020F0502020204030204" pitchFamily="34" charset="0"/>
              </a:rPr>
              <a:t>/var/lib/docker/&lt;remapping&gt;” path, which causes files to be written </a:t>
            </a:r>
            <a:r>
              <a:rPr lang="en-US" sz="1800">
                <a:latin typeface="Calibri" panose="020F0502020204030204" pitchFamily="34" charset="0"/>
              </a:rPr>
              <a:t>with</a:t>
            </a:r>
            <a:r>
              <a:rPr lang="en-US" sz="1800">
                <a:effectLst/>
                <a:latin typeface="Calibri" panose="020F0502020204030204" pitchFamily="34" charset="0"/>
              </a:rPr>
              <a:t> extended privileges in host system.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>
                <a:latin typeface="Calibri" panose="020F0502020204030204" pitchFamily="34" charset="0"/>
              </a:rPr>
              <a:t>Using this we can write a script file which gives root privileges to normal user in the host system causing a vertical privilege escalation.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086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41E98A-FA18-4058-9780-577F9892CC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23776" y="878766"/>
            <a:ext cx="6468222" cy="569025"/>
          </a:xfrm>
        </p:spPr>
        <p:txBody>
          <a:bodyPr>
            <a:normAutofit/>
          </a:bodyPr>
          <a:lstStyle/>
          <a:p>
            <a:r>
              <a:rPr lang="en-US" sz="2600"/>
              <a:t>Escalation from trusted binaries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F594E0-6A46-4789-8BB7-81C164DD1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23776" y="1546901"/>
            <a:ext cx="5805284" cy="4244300"/>
          </a:xfrm>
        </p:spPr>
        <p:txBody>
          <a:bodyPr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/>
              <a:t>This exploit is specifically targeted for windows systems.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/>
              <a:t>Docker by default tries to load files with predefined names from the libraries path.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/>
              <a:t>For login prompt, the docker uses “docker-credential-wincred.exe” file.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/>
              <a:t>This executable will be invoked with admin privileges by docker daemon.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/>
              <a:t>If this file is modified then any user can obtain root privileges and can also create user account on host system.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15EB16-4D72-4B51-BB99-D29743EC2C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8054" r="28054"/>
          <a:stretch/>
        </p:blipFill>
        <p:spPr>
          <a:xfrm>
            <a:off x="1" y="10"/>
            <a:ext cx="5351227" cy="685798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723900"/>
            <a:ext cx="57062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CF06E40-3ECB-4820-95B5-8A70B07D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6134100"/>
            <a:ext cx="56681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ED21F71-82E9-4368-A10C-4E306CD0AEF5}"/>
              </a:ext>
            </a:extLst>
          </p:cNvPr>
          <p:cNvSpPr txBox="1"/>
          <p:nvPr/>
        </p:nvSpPr>
        <p:spPr>
          <a:xfrm>
            <a:off x="1" y="6857999"/>
            <a:ext cx="53512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s://www.peoplemattersglobal.com/article/training/state-of-cyber-security-in-apac-19924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-nc-sa/3.0/"/>
              </a:rPr>
              <a:t>CC BY-SA-NC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829665158"/>
      </p:ext>
    </p:extLst>
  </p:cSld>
  <p:clrMapOvr>
    <a:masterClrMapping/>
  </p:clrMapOvr>
  <p:transition spd="slow" advClick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BD63E-BAF1-432F-B4D5-C2066C77D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372" y="273160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US" sz="2800">
                <a:cs typeface="Calibri Light"/>
              </a:rPr>
            </a:br>
            <a:r>
              <a:rPr lang="en-US" sz="2800">
                <a:cs typeface="Calibri Light"/>
              </a:rPr>
              <a:t>    </a:t>
            </a:r>
            <a:br>
              <a:rPr lang="en-US" sz="2800">
                <a:cs typeface="Calibri Light"/>
              </a:rPr>
            </a:br>
            <a:r>
              <a:rPr lang="en-US" sz="2800">
                <a:cs typeface="Calibri Light"/>
              </a:rPr>
              <a:t>    </a:t>
            </a:r>
            <a:r>
              <a:rPr lang="en-US" sz="3200">
                <a:cs typeface="Calibri Light"/>
              </a:rPr>
              <a:t>Data Storage Risks at Cloud</a:t>
            </a:r>
            <a:endParaRPr lang="en-US" sz="3200"/>
          </a:p>
        </p:txBody>
      </p:sp>
      <p:pic>
        <p:nvPicPr>
          <p:cNvPr id="22" name="Picture 22" descr="Text&#10;&#10;Description automatically generated">
            <a:extLst>
              <a:ext uri="{FF2B5EF4-FFF2-40B4-BE49-F238E27FC236}">
                <a16:creationId xmlns:a16="http://schemas.microsoft.com/office/drawing/2014/main" id="{FD21CA68-9653-4568-A6E5-D95AF7034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2659" y="3612735"/>
            <a:ext cx="2009955" cy="95703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32B1787-CAD9-4139-B2E1-A1BDEFCCB0D6}"/>
              </a:ext>
            </a:extLst>
          </p:cNvPr>
          <p:cNvSpPr txBox="1"/>
          <p:nvPr/>
        </p:nvSpPr>
        <p:spPr>
          <a:xfrm>
            <a:off x="9579371" y="4673899"/>
            <a:ext cx="27432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Data breach leaked information of 3,000 patients due to improper data management.</a:t>
            </a:r>
          </a:p>
        </p:txBody>
      </p:sp>
      <p:pic>
        <p:nvPicPr>
          <p:cNvPr id="24" name="Picture 24">
            <a:extLst>
              <a:ext uri="{FF2B5EF4-FFF2-40B4-BE49-F238E27FC236}">
                <a16:creationId xmlns:a16="http://schemas.microsoft.com/office/drawing/2014/main" id="{6A9DF16D-2661-4B58-AF67-3943C13501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6940" y="1839864"/>
            <a:ext cx="2568465" cy="1444977"/>
          </a:xfrm>
          <a:prstGeom prst="rect">
            <a:avLst/>
          </a:prstGeom>
        </p:spPr>
      </p:pic>
      <p:pic>
        <p:nvPicPr>
          <p:cNvPr id="27" name="Picture 27">
            <a:extLst>
              <a:ext uri="{FF2B5EF4-FFF2-40B4-BE49-F238E27FC236}">
                <a16:creationId xmlns:a16="http://schemas.microsoft.com/office/drawing/2014/main" id="{DFA5A39A-2558-4F14-8D0F-28A0A2785F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1159" y="1877291"/>
            <a:ext cx="2389402" cy="1407550"/>
          </a:xfrm>
          <a:prstGeom prst="rect">
            <a:avLst/>
          </a:prstGeom>
        </p:spPr>
      </p:pic>
      <p:pic>
        <p:nvPicPr>
          <p:cNvPr id="28" name="Picture 28" descr="A picture containing text, electronics&#10;&#10;Description automatically generated">
            <a:extLst>
              <a:ext uri="{FF2B5EF4-FFF2-40B4-BE49-F238E27FC236}">
                <a16:creationId xmlns:a16="http://schemas.microsoft.com/office/drawing/2014/main" id="{4B25DD95-359E-494D-A2EF-DCF61C0CEC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286" y="1838578"/>
            <a:ext cx="2496597" cy="1406886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59619B46-272E-49DD-9C99-9C7DC19D0076}"/>
              </a:ext>
            </a:extLst>
          </p:cNvPr>
          <p:cNvSpPr txBox="1"/>
          <p:nvPr/>
        </p:nvSpPr>
        <p:spPr>
          <a:xfrm>
            <a:off x="687709" y="3245464"/>
            <a:ext cx="27432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Usually, data is not sanitized the consequences is that data is at risk of being exposed.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01DCDE4-CC84-4D14-8E5E-9ABF6C02FDA3}"/>
              </a:ext>
            </a:extLst>
          </p:cNvPr>
          <p:cNvSpPr txBox="1"/>
          <p:nvPr/>
        </p:nvSpPr>
        <p:spPr>
          <a:xfrm>
            <a:off x="3433390" y="3476297"/>
            <a:ext cx="292895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Data deletion is incomplete.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640DF96-FB83-482D-8826-41F5086BB3FC}"/>
              </a:ext>
            </a:extLst>
          </p:cNvPr>
          <p:cNvSpPr txBox="1"/>
          <p:nvPr/>
        </p:nvSpPr>
        <p:spPr>
          <a:xfrm>
            <a:off x="6511159" y="3476297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Data spillage.</a:t>
            </a:r>
          </a:p>
        </p:txBody>
      </p:sp>
    </p:spTree>
    <p:extLst>
      <p:ext uri="{BB962C8B-B14F-4D97-AF65-F5344CB8AC3E}">
        <p14:creationId xmlns:p14="http://schemas.microsoft.com/office/powerpoint/2010/main" val="31006303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7FA33FF-088D-4F16-95A2-2C64D353D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376EFB1-01CF-419F-ABF1-2AF02BBFC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67181" cy="6858000"/>
          </a:xfrm>
          <a:prstGeom prst="rect">
            <a:avLst/>
          </a:prstGeom>
          <a:solidFill>
            <a:schemeClr val="bg1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48D8D02-D95F-4915-97A5-3854A2A62F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5790203" cy="6858000"/>
          </a:xfrm>
          <a:custGeom>
            <a:avLst/>
            <a:gdLst>
              <a:gd name="connsiteX0" fmla="*/ 0 w 5790203"/>
              <a:gd name="connsiteY0" fmla="*/ 0 h 6858000"/>
              <a:gd name="connsiteX1" fmla="*/ 2614049 w 5790203"/>
              <a:gd name="connsiteY1" fmla="*/ 0 h 6858000"/>
              <a:gd name="connsiteX2" fmla="*/ 5790203 w 5790203"/>
              <a:gd name="connsiteY2" fmla="*/ 6858000 h 6858000"/>
              <a:gd name="connsiteX3" fmla="*/ 0 w 579020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90203" h="6858000">
                <a:moveTo>
                  <a:pt x="0" y="0"/>
                </a:moveTo>
                <a:lnTo>
                  <a:pt x="2614049" y="0"/>
                </a:lnTo>
                <a:lnTo>
                  <a:pt x="579020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A385B1-646F-4AB0-B5B1-1B511F2B1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1" y="640263"/>
            <a:ext cx="6250613" cy="1344975"/>
          </a:xfrm>
        </p:spPr>
        <p:txBody>
          <a:bodyPr>
            <a:normAutofit/>
          </a:bodyPr>
          <a:lstStyle/>
          <a:p>
            <a:r>
              <a:rPr lang="en-US" sz="4000">
                <a:cs typeface="Calibri Light"/>
              </a:rPr>
              <a:t>Cloud Based Data Storage Sanitization Standards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BA47F-B34F-4572-91F2-356810F05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1" y="2121763"/>
            <a:ext cx="6267641" cy="37730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cs typeface="Calibri"/>
              </a:rPr>
              <a:t>DoD standards</a:t>
            </a:r>
            <a:endParaRPr lang="en-US" sz="2000"/>
          </a:p>
          <a:p>
            <a:r>
              <a:rPr lang="en-US" sz="2000">
                <a:cs typeface="Calibri"/>
              </a:rPr>
              <a:t>Google Cloud Standards</a:t>
            </a:r>
          </a:p>
          <a:p>
            <a:r>
              <a:rPr lang="en-US" sz="2000">
                <a:cs typeface="Calibri"/>
              </a:rPr>
              <a:t>Microsoft Standards</a:t>
            </a:r>
          </a:p>
          <a:p>
            <a:r>
              <a:rPr lang="en-US" sz="2000">
                <a:cs typeface="Calibri"/>
              </a:rPr>
              <a:t>Azure Standards</a:t>
            </a:r>
          </a:p>
          <a:p>
            <a:r>
              <a:rPr lang="en-US" sz="2000">
                <a:latin typeface="Calisto MT"/>
                <a:cs typeface="Calibri"/>
              </a:rPr>
              <a:t>Techniques that can be used to protect data.</a:t>
            </a:r>
          </a:p>
          <a:p>
            <a:endParaRPr lang="en-US" sz="2000">
              <a:ea typeface="+mn-lt"/>
              <a:cs typeface="+mn-lt"/>
            </a:endParaRPr>
          </a:p>
          <a:p>
            <a:endParaRPr lang="en-US" sz="2000">
              <a:ea typeface="+mn-lt"/>
              <a:cs typeface="+mn-lt"/>
            </a:endParaRPr>
          </a:p>
          <a:p>
            <a:endParaRPr lang="en-US" sz="2000">
              <a:ea typeface="+mn-lt"/>
              <a:cs typeface="+mn-lt"/>
            </a:endParaRPr>
          </a:p>
          <a:p>
            <a:endParaRPr lang="en-US" sz="2000">
              <a:cs typeface="Calibri"/>
            </a:endParaRPr>
          </a:p>
        </p:txBody>
      </p:sp>
      <p:pic>
        <p:nvPicPr>
          <p:cNvPr id="6" name="Picture 6" descr="Logo, icon&#10;&#10;Description automatically generated">
            <a:extLst>
              <a:ext uri="{FF2B5EF4-FFF2-40B4-BE49-F238E27FC236}">
                <a16:creationId xmlns:a16="http://schemas.microsoft.com/office/drawing/2014/main" id="{DA2053BE-F40A-45AB-92B3-6845936A1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2282" y="458012"/>
            <a:ext cx="3250237" cy="1535736"/>
          </a:xfrm>
          <a:prstGeom prst="rect">
            <a:avLst/>
          </a:prstGeom>
        </p:spPr>
      </p:pic>
      <p:pic>
        <p:nvPicPr>
          <p:cNvPr id="7" name="Picture 7" descr="Icon&#10;&#10;Description automatically generated">
            <a:extLst>
              <a:ext uri="{FF2B5EF4-FFF2-40B4-BE49-F238E27FC236}">
                <a16:creationId xmlns:a16="http://schemas.microsoft.com/office/drawing/2014/main" id="{0ED08AFB-ED0C-4E6B-93BA-6E8291574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2282" y="2448435"/>
            <a:ext cx="3250236" cy="1698248"/>
          </a:xfrm>
          <a:prstGeom prst="rect">
            <a:avLst/>
          </a:prstGeom>
        </p:spPr>
      </p:pic>
      <p:pic>
        <p:nvPicPr>
          <p:cNvPr id="8" name="Picture 8" descr="Logo&#10;&#10;Description automatically generated">
            <a:extLst>
              <a:ext uri="{FF2B5EF4-FFF2-40B4-BE49-F238E27FC236}">
                <a16:creationId xmlns:a16="http://schemas.microsoft.com/office/drawing/2014/main" id="{CBB749E2-2700-4E10-866D-C9C6085A86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2278" y="4450266"/>
            <a:ext cx="2940716" cy="1837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0116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20AB7-BA90-4FA3-9801-2114BA7D0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Future Plans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D551E-E157-498F-BA4A-30FFCAE32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Experiment implementing Linux hardening techniques using Docker and RedHat OpenShift</a:t>
            </a:r>
          </a:p>
          <a:p>
            <a:r>
              <a:rPr lang="en-US"/>
              <a:t>Develop and implement a solution for Privilege Escalation exploits</a:t>
            </a:r>
          </a:p>
          <a:p>
            <a:r>
              <a:rPr lang="en-US"/>
              <a:t>More research into cloud data storage sanitization techniques</a:t>
            </a:r>
          </a:p>
          <a:p>
            <a:pPr>
              <a:lnSpc>
                <a:spcPct val="90000"/>
              </a:lnSpc>
            </a:pPr>
            <a:r>
              <a:rPr lang="en-US"/>
              <a:t>Data Storage Sanitization</a:t>
            </a:r>
            <a:endParaRPr lang="en-US">
              <a:ea typeface="+mn-lt"/>
              <a:cs typeface="+mn-lt"/>
            </a:endParaRPr>
          </a:p>
          <a:p>
            <a:pPr lvl="1">
              <a:lnSpc>
                <a:spcPct val="90000"/>
              </a:lnSpc>
            </a:pPr>
            <a:r>
              <a:rPr lang="en-US"/>
              <a:t>Speak with security experts from various organizations to check with any alternative solutions.</a:t>
            </a:r>
            <a:endParaRPr lang="en-US">
              <a:ea typeface="+mn-lt"/>
              <a:cs typeface="+mn-lt"/>
            </a:endParaRPr>
          </a:p>
          <a:p>
            <a:pPr lvl="1">
              <a:lnSpc>
                <a:spcPct val="90000"/>
              </a:lnSpc>
            </a:pPr>
            <a:r>
              <a:rPr lang="en-US"/>
              <a:t>Try to build a technology to solve the problem to improve efficiency of data sanitization.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7205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20975-A333-4332-A2FA-5CADB1E70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18961-9DA3-481F-BF85-5D5CF8F10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rgbClr val="000000"/>
                </a:solidFill>
                <a:effectLst/>
              </a:rPr>
              <a:t>("CVE-2019-15752 : Docker Desktop Community Edition before 2.1.0.1 allows local users to gain privileges by placing a Trojan horse docker-c", 2021)</a:t>
            </a:r>
          </a:p>
          <a:p>
            <a:r>
              <a:rPr lang="en-US">
                <a:ea typeface="+mn-lt"/>
                <a:cs typeface="+mn-lt"/>
              </a:rPr>
              <a:t>("CVE -CVE-2021-21284", 2021)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("Docker </a:t>
            </a:r>
            <a:r>
              <a:rPr lang="en-US" err="1">
                <a:ea typeface="+mn-lt"/>
                <a:cs typeface="+mn-lt"/>
              </a:rPr>
              <a:t>userns</a:t>
            </a:r>
            <a:r>
              <a:rPr lang="en-US">
                <a:ea typeface="+mn-lt"/>
                <a:cs typeface="+mn-lt"/>
              </a:rPr>
              <a:t>-remap and system users on Linux", 2021)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613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Many question marks on black background">
            <a:extLst>
              <a:ext uri="{FF2B5EF4-FFF2-40B4-BE49-F238E27FC236}">
                <a16:creationId xmlns:a16="http://schemas.microsoft.com/office/drawing/2014/main" id="{5BBCD3F9-667E-4FA8-A7F2-84028939919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906" t="9091" r="-1" b="-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3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C1CEDC-19F8-4D3A-9BCA-8FBB78ECA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Thank you! </a:t>
            </a:r>
            <a:br>
              <a:rPr lang="en-US"/>
            </a:br>
            <a:r>
              <a:rPr lang="en-US"/>
              <a:t>Any Questions ?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48105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ChronicleVTI">
  <a:themeElements>
    <a:clrScheme name="AnalogousFromDarkSeedLeftStep">
      <a:dk1>
        <a:srgbClr val="000000"/>
      </a:dk1>
      <a:lt1>
        <a:srgbClr val="FFFFFF"/>
      </a:lt1>
      <a:dk2>
        <a:srgbClr val="1A1633"/>
      </a:dk2>
      <a:lt2>
        <a:srgbClr val="F0F3F1"/>
      </a:lt2>
      <a:accent1>
        <a:srgbClr val="D13FBA"/>
      </a:accent1>
      <a:accent2>
        <a:srgbClr val="9A2DBF"/>
      </a:accent2>
      <a:accent3>
        <a:srgbClr val="6F3FD1"/>
      </a:accent3>
      <a:accent4>
        <a:srgbClr val="313EC0"/>
      </a:accent4>
      <a:accent5>
        <a:srgbClr val="3F89D1"/>
      </a:accent5>
      <a:accent6>
        <a:srgbClr val="2DB4BF"/>
      </a:accent6>
      <a:hlink>
        <a:srgbClr val="3F6BBF"/>
      </a:hlink>
      <a:folHlink>
        <a:srgbClr val="7F7F7F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13</Slides>
  <Notes>2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ChronicleVTI</vt:lpstr>
      <vt:lpstr>office theme</vt:lpstr>
      <vt:lpstr>High Assurance Cloud Compute and Storage</vt:lpstr>
      <vt:lpstr>Overview</vt:lpstr>
      <vt:lpstr>What is a container</vt:lpstr>
      <vt:lpstr>Docker Security Concerns </vt:lpstr>
      <vt:lpstr>Docker Hardening Techniques </vt:lpstr>
      <vt:lpstr>Privilege Escalation </vt:lpstr>
      <vt:lpstr>Escalation By namespace remapping</vt:lpstr>
      <vt:lpstr>Escalation from trusted binaries</vt:lpstr>
      <vt:lpstr>          Data Storage Risks at Cloud</vt:lpstr>
      <vt:lpstr>Cloud Based Data Storage Sanitization Standards</vt:lpstr>
      <vt:lpstr>Future Plans</vt:lpstr>
      <vt:lpstr>REFERENCES</vt:lpstr>
      <vt:lpstr>Thank you!  Any Questions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Privilege Escalation </dc:title>
  <dc:creator>CHETAN GARIKAPATI</dc:creator>
  <cp:revision>7</cp:revision>
  <dcterms:created xsi:type="dcterms:W3CDTF">2021-03-25T22:03:01Z</dcterms:created>
  <dcterms:modified xsi:type="dcterms:W3CDTF">2021-03-26T02:20:39Z</dcterms:modified>
</cp:coreProperties>
</file>