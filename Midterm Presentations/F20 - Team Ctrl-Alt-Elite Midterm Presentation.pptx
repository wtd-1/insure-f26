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Average"/>
      <p:regular r:id="rId17"/>
    </p:embeddedFont>
    <p:embeddedFont>
      <p:font typeface="Oswald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verage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swald-bold.fntdata"/><Relationship Id="rId6" Type="http://schemas.openxmlformats.org/officeDocument/2006/relationships/slide" Target="slides/slide1.xml"/><Relationship Id="rId18" Type="http://schemas.openxmlformats.org/officeDocument/2006/relationships/font" Target="fonts/Oswa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9bdf65f8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9bdf65f8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53cb85cc8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53cb85cc8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3cb85cc8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3cb85cc8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9d29e169ad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9d29e169ad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53cb85cc8d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53cb85cc8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9d29e169a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9d29e169a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53cb85cc8d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53cb85cc8d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53cb85cc8d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53cb85cc8d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53cb85cc8d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53cb85cc8d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53cb85cc8d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53cb85cc8d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Ctrl-Alt-Elite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Members: Dhruv Mehta, Kavya Kurup, Sydney Medina,  Juhi Patel, Pritom Das Radheshyam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Introduction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Motivation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Approach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Preparation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Artifact extraction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Classification Methods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</a:rPr>
              <a:t>What is Cyber-attack attribution using malware artifacts?</a:t>
            </a:r>
            <a:endParaRPr sz="2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•</a:t>
            </a:r>
            <a:r>
              <a:rPr lang="en" sz="2200">
                <a:solidFill>
                  <a:srgbClr val="FFFFFF"/>
                </a:solidFill>
              </a:rPr>
              <a:t>Cyber-attack attribution using malware artifacts is the process of attempting to trace back a piece of code or malware to a perpetrator of a cyberattack</a:t>
            </a:r>
            <a:endParaRPr sz="2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</a:rPr>
              <a:t>What is our groups focus?</a:t>
            </a:r>
            <a:endParaRPr sz="2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•</a:t>
            </a:r>
            <a:r>
              <a:rPr lang="en" sz="2200">
                <a:solidFill>
                  <a:srgbClr val="FFFFFF"/>
                </a:solidFill>
              </a:rPr>
              <a:t>Using Machine Learning to attribute malware samples to a country using PE Header files and other artifacts gathered from VirusTotal</a:t>
            </a:r>
            <a:endParaRPr sz="2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•</a:t>
            </a:r>
            <a:r>
              <a:rPr lang="en" sz="2200">
                <a:solidFill>
                  <a:srgbClr val="FFFFFF"/>
                </a:solidFill>
              </a:rPr>
              <a:t>Increase in cyber attacks</a:t>
            </a:r>
            <a:endParaRPr sz="2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•</a:t>
            </a:r>
            <a:r>
              <a:rPr lang="en" sz="2200">
                <a:solidFill>
                  <a:srgbClr val="FFFFFF"/>
                </a:solidFill>
              </a:rPr>
              <a:t>We have become more dependent on technology</a:t>
            </a:r>
            <a:endParaRPr sz="2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•</a:t>
            </a:r>
            <a:r>
              <a:rPr lang="en" sz="2200">
                <a:solidFill>
                  <a:srgbClr val="FFFFFF"/>
                </a:solidFill>
              </a:rPr>
              <a:t>Can help combat malware development by identifying authorship</a:t>
            </a:r>
            <a:endParaRPr sz="2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•</a:t>
            </a:r>
            <a:r>
              <a:rPr b="1" lang="en" sz="2200">
                <a:solidFill>
                  <a:srgbClr val="FFFFFF"/>
                </a:solidFill>
              </a:rPr>
              <a:t>Our focus: Identifying state-sponsored malware</a:t>
            </a:r>
            <a:endParaRPr b="1" sz="2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500" y="1304874"/>
            <a:ext cx="7720350" cy="327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Preparation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236825" y="1152475"/>
            <a:ext cx="556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 up </a:t>
            </a:r>
            <a:r>
              <a:rPr lang="en"/>
              <a:t>environment</a:t>
            </a:r>
            <a:r>
              <a:rPr lang="en"/>
              <a:t> to work with malware safely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UTD sponsored virtual machine preloaded with Windows 7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Host access/GUI access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Revertible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Obtain Dataset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Github repository containing about 3,600  state-sponsored malware samples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Windows Portable Executables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 VirusTotal reports for all of the malware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2000" y="955675"/>
            <a:ext cx="3085600" cy="257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VirusTotal Reports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451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solidFill>
                  <a:srgbClr val="FFFFFF"/>
                </a:solidFill>
              </a:rPr>
              <a:t>Created a script that extracts data from the VirusTotal API</a:t>
            </a:r>
            <a:endParaRPr sz="1700">
              <a:solidFill>
                <a:srgbClr val="FFFFFF"/>
              </a:solidFill>
            </a:endParaRPr>
          </a:p>
          <a:p>
            <a:pPr indent="-3365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○"/>
            </a:pPr>
            <a:r>
              <a:rPr lang="en" sz="1700">
                <a:solidFill>
                  <a:srgbClr val="FFFFFF"/>
                </a:solidFill>
              </a:rPr>
              <a:t>Only allowed 4 calls per minute, took about 14 hours to gather all of the reports</a:t>
            </a: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solidFill>
                  <a:srgbClr val="FFFFFF"/>
                </a:solidFill>
              </a:rPr>
              <a:t>VirusTotal shows the runtime behavior of the samples which will supplement our artifact list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5202" y="594700"/>
            <a:ext cx="4098726" cy="2582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700" y="3581275"/>
            <a:ext cx="8613602" cy="88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Preparation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5357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Clean dataset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Separate packed from unpacked malware samples using PEiD tool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Packers obfuscate data, so we would have to unpack the malware to extract artifacts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Separate and discard the malware that we were unable to generate VirusTotal reports for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Choose one APT group per country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Left with over 1,500 malware samples to extract artifacts from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9775" y="1017725"/>
            <a:ext cx="3170400" cy="2921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Artifact Extraction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4371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Parse through VirusTotal report files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Files opened by malware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Services opened by malware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Runtime modules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Imports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 Header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PEStudio tool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Target machine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Compilation Timestamp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3053" y="764188"/>
            <a:ext cx="4289873" cy="361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attribution through Data Science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Incorporating the right Machine Learning and Deep Learning classifiers for </a:t>
            </a:r>
            <a:r>
              <a:rPr lang="en"/>
              <a:t>attribution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Extensive usage of open sourced python libraries like: scikit learn, numpy, </a:t>
            </a:r>
            <a:r>
              <a:rPr lang="en"/>
              <a:t>seaborn, </a:t>
            </a:r>
            <a:r>
              <a:rPr lang="en"/>
              <a:t>pandas, tensorflow</a:t>
            </a:r>
            <a:r>
              <a:rPr lang="en"/>
              <a:t>, keras, pefile, ludwig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Researching the following possible classifiers: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800"/>
              <a:t>Random Forest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K Nearest Neighbour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Deep Learning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[1] Boot, Coen. Applying Supervised Learning on Malware Authorship Attribution. Diss.    Radboud University Nijmegen, 2019.</a:t>
            </a:r>
            <a:endParaRPr sz="900">
              <a:solidFill>
                <a:srgbClr val="222222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[2] Aylin Caliskan, Fabian Yamaguchi, Edwin Dauber, Richard Harang, Konrad Rieck, Rachel Greenstadt, Arvind Narayanan “When Coding Style Survives Compilation: De-Anonymizing Programmers from Executable Binaries.” N.p., 2015. Web.</a:t>
            </a:r>
            <a:endParaRPr sz="900">
              <a:solidFill>
                <a:srgbClr val="222222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https://arxiv.org/abs/1512.08546</a:t>
            </a:r>
            <a:endParaRPr sz="900">
              <a:solidFill>
                <a:srgbClr val="222222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[3]  Ferhat Ozgur Catak​, Ahmet Faruk Yazı,Ogerta Elezaj, Javed Ahmed “Deep Learning Based Sequential Model for Malware Analysis Using Windows Exe API Calls.” PeerJ. Computer science 6 (2020): e285–. Web.</a:t>
            </a:r>
            <a:endParaRPr sz="900">
              <a:solidFill>
                <a:srgbClr val="222222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https://peerj.com/articles/cs-285/</a:t>
            </a:r>
            <a:endParaRPr sz="900">
              <a:solidFill>
                <a:srgbClr val="222222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[4] Haddadpajouh, Hamed ; Azmoodeh, Amin ; Dehghantanha, Ali ; Parizi, Reza M. “MVFCC: A Multi-View Fuzzy Consensus Clustering Model for Malware Threat Attribution.” IEEE access 8 (2020): 139188–139198. Web.</a:t>
            </a:r>
            <a:endParaRPr sz="900">
              <a:solidFill>
                <a:srgbClr val="222222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[5] Kaspersky, Eugene, et al. “The Power of Threat Attribution-Kaspersky Threat Attribution Engine” https://media.kaspersky.com/en/business-security/enterprise/threat-attribution-engine-whitepaper.pdf</a:t>
            </a:r>
            <a:endParaRPr sz="900">
              <a:solidFill>
                <a:srgbClr val="222222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[6] Rosenberg, Ishai ; Sicard, Guillaume ; David, Eli “DeepAPT: Nation-State APT Attribution Using End-to-End Deep Neural Networks.” Artificial Neural Networks and Machine Learning – ICANN 2017 Lecture Notes in Computer Science, 2017, pp. 91–99., doi:10.1007/978-3-319-68612-7_11. </a:t>
            </a:r>
            <a:endParaRPr sz="900">
              <a:solidFill>
                <a:srgbClr val="222222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