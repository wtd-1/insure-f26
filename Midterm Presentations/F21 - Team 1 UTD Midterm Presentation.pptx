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Georgia" panose="02040502050405020303" pitchFamily="18" charset="0"/>
      <p:regular r:id="rId18"/>
      <p:bold r:id="rId19"/>
      <p:italic r:id="rId20"/>
    </p:embeddedFont>
    <p:embeddedFont>
      <p:font typeface="Lato" panose="020F0502020204030203" pitchFamily="34" charset="0"/>
      <p:regular r:id="rId21"/>
      <p:bold r:id="rId22"/>
      <p:italic r:id="rId23"/>
      <p:boldItalic r:id="rId24"/>
    </p:embeddedFont>
    <p:embeddedFont>
      <p:font typeface="Raleway" pitchFamily="2" charset="77"/>
      <p:regular r:id="rId25"/>
      <p:bold r:id="rId26"/>
      <p:italic r:id="rId27"/>
      <p:boldItalic r:id="rId28"/>
    </p:embeddedFont>
    <p:embeddedFont>
      <p:font typeface="Roboto" panose="02000000000000000000"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61" d="100"/>
          <a:sy n="161" d="100"/>
        </p:scale>
        <p:origin x="784" y="20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1f87997393_0_7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1f87997393_0_7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Omar</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f7316a73d9_2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f7316a73d9_2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Omar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f7316a73d9_2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f7316a73d9_2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Alinta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f87997393_0_8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1f87997393_0_8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Alinta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f87997393_0_8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1f87997393_0_8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Gabriel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f7316a73d9_2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f7316a73d9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f87997393_0_8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f87997393_0_8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Alinta</a:t>
            </a:r>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f397da1f34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f397da1f34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Alinta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1f87997393_0_8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1f87997393_0_8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Daniel</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f7316a73d9_3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f7316a73d9_3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Daniel</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f7316a73d9_3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f7316a73d9_3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f7316a73d9_3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f7316a73d9_3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Daniel</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1f87997393_0_9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1f87997393_0_9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Omar</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1f87997393_0_1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1f87997393_0_1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Omar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1f87997393_0_15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1f87997393_0_15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Omar</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OC">
  <p:cSld name="SECTION_HEADER_1">
    <p:spTree>
      <p:nvGrpSpPr>
        <p:cNvPr id="1" name="Shape 82"/>
        <p:cNvGrpSpPr/>
        <p:nvPr/>
      </p:nvGrpSpPr>
      <p:grpSpPr>
        <a:xfrm>
          <a:off x="0" y="0"/>
          <a:ext cx="0" cy="0"/>
          <a:chOff x="0" y="0"/>
          <a:chExt cx="0" cy="0"/>
        </a:xfrm>
      </p:grpSpPr>
      <p:grpSp>
        <p:nvGrpSpPr>
          <p:cNvPr id="83" name="Google Shape;83;p13"/>
          <p:cNvGrpSpPr/>
          <p:nvPr/>
        </p:nvGrpSpPr>
        <p:grpSpPr>
          <a:xfrm>
            <a:off x="4406400" y="0"/>
            <a:ext cx="4737600" cy="5143065"/>
            <a:chOff x="4406400" y="0"/>
            <a:chExt cx="4737600" cy="5143065"/>
          </a:xfrm>
        </p:grpSpPr>
        <p:sp>
          <p:nvSpPr>
            <p:cNvPr id="84" name="Google Shape;84;p1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 name="Google Shape;102;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
        <p:nvSpPr>
          <p:cNvPr id="103" name="Google Shape;103;p1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_alt3">
  <p:cSld name="TITLE_AND_BODY_1">
    <p:spTree>
      <p:nvGrpSpPr>
        <p:cNvPr id="1" name="Shape 104"/>
        <p:cNvGrpSpPr/>
        <p:nvPr/>
      </p:nvGrpSpPr>
      <p:grpSpPr>
        <a:xfrm>
          <a:off x="0" y="0"/>
          <a:ext cx="0" cy="0"/>
          <a:chOff x="0" y="0"/>
          <a:chExt cx="0" cy="0"/>
        </a:xfrm>
      </p:grpSpPr>
      <p:pic>
        <p:nvPicPr>
          <p:cNvPr id="105" name="Google Shape;105;p14" descr="offset_comp_343059.jpg"/>
          <p:cNvPicPr preferRelativeResize="0"/>
          <p:nvPr/>
        </p:nvPicPr>
        <p:blipFill rotWithShape="1">
          <a:blip r:embed="rId2">
            <a:alphaModFix amt="80000"/>
          </a:blip>
          <a:srcRect l="30474" t="11955" r="30474" b="25870"/>
          <a:stretch/>
        </p:blipFill>
        <p:spPr>
          <a:xfrm rot="-5400000">
            <a:off x="113630" y="-105700"/>
            <a:ext cx="5142300" cy="5364300"/>
          </a:xfrm>
          <a:prstGeom prst="diagStripe">
            <a:avLst>
              <a:gd name="adj" fmla="val 50343"/>
            </a:avLst>
          </a:prstGeom>
          <a:noFill/>
          <a:ln>
            <a:noFill/>
          </a:ln>
        </p:spPr>
      </p:pic>
      <p:sp>
        <p:nvSpPr>
          <p:cNvPr id="106" name="Google Shape;106;p1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7" name="Google Shape;107;p14"/>
          <p:cNvSpPr txBox="1">
            <a:spLocks noGrp="1"/>
          </p:cNvSpPr>
          <p:nvPr>
            <p:ph type="body" idx="1"/>
          </p:nvPr>
        </p:nvSpPr>
        <p:spPr>
          <a:xfrm>
            <a:off x="4018025" y="1567550"/>
            <a:ext cx="4318500" cy="17667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Clr>
                <a:schemeClr val="dk2"/>
              </a:buClr>
              <a:buSzPts val="1300"/>
              <a:buChar char="●"/>
              <a:defRPr>
                <a:solidFill>
                  <a:schemeClr val="dk2"/>
                </a:solidFill>
              </a:defRPr>
            </a:lvl1pPr>
            <a:lvl2pPr marL="914400" lvl="1" indent="-298450" rtl="0">
              <a:spcBef>
                <a:spcPts val="0"/>
              </a:spcBef>
              <a:spcAft>
                <a:spcPts val="0"/>
              </a:spcAft>
              <a:buClr>
                <a:schemeClr val="dk2"/>
              </a:buClr>
              <a:buSzPts val="1100"/>
              <a:buChar char="○"/>
              <a:defRPr>
                <a:solidFill>
                  <a:schemeClr val="dk2"/>
                </a:solidFill>
              </a:defRPr>
            </a:lvl2pPr>
            <a:lvl3pPr marL="1371600" lvl="2" indent="-298450" rtl="0">
              <a:spcBef>
                <a:spcPts val="0"/>
              </a:spcBef>
              <a:spcAft>
                <a:spcPts val="0"/>
              </a:spcAft>
              <a:buClr>
                <a:schemeClr val="dk2"/>
              </a:buClr>
              <a:buSzPts val="1100"/>
              <a:buChar char="■"/>
              <a:defRPr>
                <a:solidFill>
                  <a:schemeClr val="dk2"/>
                </a:solidFill>
              </a:defRPr>
            </a:lvl3pPr>
            <a:lvl4pPr marL="1828800" lvl="3" indent="-298450" rtl="0">
              <a:spcBef>
                <a:spcPts val="0"/>
              </a:spcBef>
              <a:spcAft>
                <a:spcPts val="0"/>
              </a:spcAft>
              <a:buClr>
                <a:schemeClr val="dk2"/>
              </a:buClr>
              <a:buSzPts val="1100"/>
              <a:buChar char="●"/>
              <a:defRPr>
                <a:solidFill>
                  <a:schemeClr val="dk2"/>
                </a:solidFill>
              </a:defRPr>
            </a:lvl4pPr>
            <a:lvl5pPr marL="2286000" lvl="4" indent="-298450" rtl="0">
              <a:spcBef>
                <a:spcPts val="0"/>
              </a:spcBef>
              <a:spcAft>
                <a:spcPts val="0"/>
              </a:spcAft>
              <a:buClr>
                <a:schemeClr val="dk2"/>
              </a:buClr>
              <a:buSzPts val="1100"/>
              <a:buChar char="○"/>
              <a:defRPr>
                <a:solidFill>
                  <a:schemeClr val="dk2"/>
                </a:solidFill>
              </a:defRPr>
            </a:lvl5pPr>
            <a:lvl6pPr marL="2743200" lvl="5" indent="-298450" rtl="0">
              <a:spcBef>
                <a:spcPts val="0"/>
              </a:spcBef>
              <a:spcAft>
                <a:spcPts val="0"/>
              </a:spcAft>
              <a:buClr>
                <a:schemeClr val="dk2"/>
              </a:buClr>
              <a:buSzPts val="1100"/>
              <a:buChar char="■"/>
              <a:defRPr>
                <a:solidFill>
                  <a:schemeClr val="dk2"/>
                </a:solidFill>
              </a:defRPr>
            </a:lvl6pPr>
            <a:lvl7pPr marL="3200400" lvl="6" indent="-298450" rtl="0">
              <a:spcBef>
                <a:spcPts val="0"/>
              </a:spcBef>
              <a:spcAft>
                <a:spcPts val="0"/>
              </a:spcAft>
              <a:buClr>
                <a:schemeClr val="dk2"/>
              </a:buClr>
              <a:buSzPts val="1100"/>
              <a:buChar char="●"/>
              <a:defRPr>
                <a:solidFill>
                  <a:schemeClr val="dk2"/>
                </a:solidFill>
              </a:defRPr>
            </a:lvl7pPr>
            <a:lvl8pPr marL="3657600" lvl="7" indent="-298450" rtl="0">
              <a:spcBef>
                <a:spcPts val="0"/>
              </a:spcBef>
              <a:spcAft>
                <a:spcPts val="0"/>
              </a:spcAft>
              <a:buClr>
                <a:schemeClr val="dk2"/>
              </a:buClr>
              <a:buSzPts val="1100"/>
              <a:buChar char="○"/>
              <a:defRPr>
                <a:solidFill>
                  <a:schemeClr val="dk2"/>
                </a:solidFill>
              </a:defRPr>
            </a:lvl8pPr>
            <a:lvl9pPr marL="4114800" lvl="8" indent="-298450" rtl="0">
              <a:spcBef>
                <a:spcPts val="0"/>
              </a:spcBef>
              <a:spcAft>
                <a:spcPts val="0"/>
              </a:spcAft>
              <a:buClr>
                <a:schemeClr val="dk2"/>
              </a:buClr>
              <a:buSzPts val="1100"/>
              <a:buChar char="■"/>
              <a:defRPr>
                <a:solidFill>
                  <a:schemeClr val="dk2"/>
                </a:solidFill>
              </a:defRPr>
            </a:lvl9pPr>
          </a:lstStyle>
          <a:p>
            <a:endParaRPr/>
          </a:p>
        </p:txBody>
      </p:sp>
      <p:sp>
        <p:nvSpPr>
          <p:cNvPr id="108" name="Google Shape;108;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
        <p:nvSpPr>
          <p:cNvPr id="109" name="Google Shape;109;p14">
            <a:hlinkClick r:id="" action="ppaction://noaction"/>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4">
            <a:hlinkClick r:id="" action="ppaction://noaction"/>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4">
            <a:hlinkClick r:id="" action="ppaction://noaction"/>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4">
            <a:hlinkClick r:id="" action="ppaction://noaction"/>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 name="Google Shape;113;p14"/>
          <p:cNvGrpSpPr/>
          <p:nvPr/>
        </p:nvGrpSpPr>
        <p:grpSpPr>
          <a:xfrm>
            <a:off x="0" y="381001"/>
            <a:ext cx="1037850" cy="1016287"/>
            <a:chOff x="0" y="381001"/>
            <a:chExt cx="1037850" cy="1016287"/>
          </a:xfrm>
        </p:grpSpPr>
        <p:sp>
          <p:nvSpPr>
            <p:cNvPr id="114" name="Google Shape;114;p1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5"/>
          <p:cNvSpPr txBox="1">
            <a:spLocks noGrp="1"/>
          </p:cNvSpPr>
          <p:nvPr>
            <p:ph type="ctrTitle"/>
          </p:nvPr>
        </p:nvSpPr>
        <p:spPr>
          <a:xfrm>
            <a:off x="558750" y="1478650"/>
            <a:ext cx="5017500" cy="157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Black Box Entropy Estimation</a:t>
            </a:r>
            <a:endParaRPr/>
          </a:p>
        </p:txBody>
      </p:sp>
      <p:sp>
        <p:nvSpPr>
          <p:cNvPr id="121" name="Google Shape;121;p15"/>
          <p:cNvSpPr txBox="1">
            <a:spLocks noGrp="1"/>
          </p:cNvSpPr>
          <p:nvPr>
            <p:ph type="subTitle" idx="1"/>
          </p:nvPr>
        </p:nvSpPr>
        <p:spPr>
          <a:xfrm>
            <a:off x="558749" y="3714075"/>
            <a:ext cx="6716693" cy="12372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GB" b="1" dirty="0">
                <a:solidFill>
                  <a:schemeClr val="dk2"/>
                </a:solidFill>
              </a:rPr>
              <a:t>Technical Director:  </a:t>
            </a:r>
            <a:r>
              <a:rPr lang="en-GB" dirty="0">
                <a:solidFill>
                  <a:schemeClr val="dk2"/>
                </a:solidFill>
              </a:rPr>
              <a:t>Kerry McKay</a:t>
            </a:r>
            <a:endParaRPr dirty="0">
              <a:solidFill>
                <a:schemeClr val="dk2"/>
              </a:solidFill>
            </a:endParaRPr>
          </a:p>
          <a:p>
            <a:pPr marL="0" lvl="0" indent="0" algn="l" rtl="0">
              <a:lnSpc>
                <a:spcPct val="100000"/>
              </a:lnSpc>
              <a:spcBef>
                <a:spcPts val="1600"/>
              </a:spcBef>
              <a:spcAft>
                <a:spcPts val="0"/>
              </a:spcAft>
              <a:buNone/>
            </a:pPr>
            <a:r>
              <a:rPr lang="en-GB" b="1" dirty="0">
                <a:solidFill>
                  <a:schemeClr val="dk2"/>
                </a:solidFill>
              </a:rPr>
              <a:t>Team Members: </a:t>
            </a:r>
            <a:r>
              <a:rPr lang="en-GB" dirty="0">
                <a:solidFill>
                  <a:schemeClr val="dk2"/>
                </a:solidFill>
              </a:rPr>
              <a:t>Omar Abbas, Daniel Le, Alinta Wang, Gabriel </a:t>
            </a:r>
            <a:r>
              <a:rPr lang="en-GB" dirty="0" err="1">
                <a:solidFill>
                  <a:schemeClr val="dk2"/>
                </a:solidFill>
              </a:rPr>
              <a:t>Goetten</a:t>
            </a:r>
            <a:endParaRPr dirty="0">
              <a:solidFill>
                <a:schemeClr val="dk2"/>
              </a:solidFill>
            </a:endParaRPr>
          </a:p>
          <a:p>
            <a:pPr marL="0" lvl="0" indent="0" algn="l" rtl="0">
              <a:lnSpc>
                <a:spcPct val="115000"/>
              </a:lnSpc>
              <a:spcBef>
                <a:spcPts val="1600"/>
              </a:spcBef>
              <a:spcAft>
                <a:spcPts val="1600"/>
              </a:spcAft>
              <a:buNone/>
            </a:pPr>
            <a:endParaRPr dirty="0"/>
          </a:p>
        </p:txBody>
      </p:sp>
      <p:pic>
        <p:nvPicPr>
          <p:cNvPr id="122" name="Google Shape;122;p15"/>
          <p:cNvPicPr preferRelativeResize="0"/>
          <p:nvPr/>
        </p:nvPicPr>
        <p:blipFill>
          <a:blip r:embed="rId3">
            <a:alphaModFix/>
          </a:blip>
          <a:stretch>
            <a:fillRect/>
          </a:stretch>
        </p:blipFill>
        <p:spPr>
          <a:xfrm>
            <a:off x="6099600" y="634575"/>
            <a:ext cx="2813910" cy="1173850"/>
          </a:xfrm>
          <a:prstGeom prst="rect">
            <a:avLst/>
          </a:prstGeom>
          <a:noFill/>
          <a:ln>
            <a:noFill/>
          </a:ln>
        </p:spPr>
      </p:pic>
      <p:pic>
        <p:nvPicPr>
          <p:cNvPr id="123" name="Google Shape;123;p15"/>
          <p:cNvPicPr preferRelativeResize="0"/>
          <p:nvPr/>
        </p:nvPicPr>
        <p:blipFill>
          <a:blip r:embed="rId4">
            <a:alphaModFix/>
          </a:blip>
          <a:stretch>
            <a:fillRect/>
          </a:stretch>
        </p:blipFill>
        <p:spPr>
          <a:xfrm>
            <a:off x="5576250" y="2105200"/>
            <a:ext cx="3262950" cy="160887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Agenda</a:t>
            </a:r>
            <a:endParaRPr/>
          </a:p>
        </p:txBody>
      </p:sp>
      <p:sp>
        <p:nvSpPr>
          <p:cNvPr id="129" name="Google Shape;129;p16"/>
          <p:cNvSpPr txBox="1"/>
          <p:nvPr/>
        </p:nvSpPr>
        <p:spPr>
          <a:xfrm>
            <a:off x="3770925" y="3984925"/>
            <a:ext cx="41547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i="1">
                <a:solidFill>
                  <a:schemeClr val="lt1"/>
                </a:solidFill>
                <a:latin typeface="Lato"/>
                <a:ea typeface="Lato"/>
                <a:cs typeface="Lato"/>
                <a:sym typeface="Lato"/>
              </a:rPr>
              <a:t>Gabe, Change above points as you want, just a few points from provided material by Kerry</a:t>
            </a:r>
            <a:endParaRPr i="1">
              <a:solidFill>
                <a:schemeClr val="lt1"/>
              </a:solidFill>
              <a:latin typeface="Lato"/>
              <a:ea typeface="Lato"/>
              <a:cs typeface="Lato"/>
              <a:sym typeface="Lato"/>
            </a:endParaRPr>
          </a:p>
        </p:txBody>
      </p:sp>
      <p:sp>
        <p:nvSpPr>
          <p:cNvPr id="130" name="Google Shape;130;p16"/>
          <p:cNvSpPr txBox="1">
            <a:spLocks noGrp="1"/>
          </p:cNvSpPr>
          <p:nvPr>
            <p:ph type="body" idx="1"/>
          </p:nvPr>
        </p:nvSpPr>
        <p:spPr>
          <a:xfrm>
            <a:off x="729450" y="1985200"/>
            <a:ext cx="4640100" cy="27006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2"/>
              </a:buClr>
              <a:buSzPts val="1400"/>
              <a:buChar char="●"/>
            </a:pPr>
            <a:r>
              <a:rPr lang="en-GB" sz="1400">
                <a:solidFill>
                  <a:schemeClr val="dk2"/>
                </a:solidFill>
              </a:rPr>
              <a:t>Timeline</a:t>
            </a:r>
            <a:endParaRPr sz="1400">
              <a:solidFill>
                <a:schemeClr val="dk2"/>
              </a:solidFill>
            </a:endParaRPr>
          </a:p>
          <a:p>
            <a:pPr marL="457200" lvl="0" indent="-317500" algn="l" rtl="0">
              <a:spcBef>
                <a:spcPts val="0"/>
              </a:spcBef>
              <a:spcAft>
                <a:spcPts val="0"/>
              </a:spcAft>
              <a:buClr>
                <a:schemeClr val="dk2"/>
              </a:buClr>
              <a:buSzPts val="1400"/>
              <a:buChar char="●"/>
            </a:pPr>
            <a:r>
              <a:rPr lang="en-GB" sz="1400">
                <a:solidFill>
                  <a:schemeClr val="dk2"/>
                </a:solidFill>
              </a:rPr>
              <a:t>Overview</a:t>
            </a:r>
            <a:endParaRPr sz="1400">
              <a:solidFill>
                <a:schemeClr val="dk2"/>
              </a:solidFill>
            </a:endParaRPr>
          </a:p>
          <a:p>
            <a:pPr marL="457200" lvl="0" indent="-317500" algn="l" rtl="0">
              <a:spcBef>
                <a:spcPts val="0"/>
              </a:spcBef>
              <a:spcAft>
                <a:spcPts val="0"/>
              </a:spcAft>
              <a:buClr>
                <a:schemeClr val="dk2"/>
              </a:buClr>
              <a:buSzPts val="1400"/>
              <a:buChar char="●"/>
            </a:pPr>
            <a:r>
              <a:rPr lang="en-GB" sz="1400">
                <a:solidFill>
                  <a:schemeClr val="dk2"/>
                </a:solidFill>
              </a:rPr>
              <a:t>About RNG</a:t>
            </a:r>
            <a:endParaRPr sz="1400">
              <a:solidFill>
                <a:schemeClr val="dk2"/>
              </a:solidFill>
            </a:endParaRPr>
          </a:p>
          <a:p>
            <a:pPr marL="457200" lvl="0" indent="-317500" algn="l" rtl="0">
              <a:spcBef>
                <a:spcPts val="0"/>
              </a:spcBef>
              <a:spcAft>
                <a:spcPts val="0"/>
              </a:spcAft>
              <a:buClr>
                <a:schemeClr val="dk2"/>
              </a:buClr>
              <a:buSzPts val="1400"/>
              <a:buChar char="●"/>
            </a:pPr>
            <a:r>
              <a:rPr lang="en-GB" sz="1400">
                <a:solidFill>
                  <a:schemeClr val="dk2"/>
                </a:solidFill>
              </a:rPr>
              <a:t>Entropy</a:t>
            </a:r>
            <a:endParaRPr sz="1400">
              <a:solidFill>
                <a:schemeClr val="dk2"/>
              </a:solidFill>
            </a:endParaRPr>
          </a:p>
          <a:p>
            <a:pPr marL="457200" lvl="0" indent="-317500" algn="l" rtl="0">
              <a:spcBef>
                <a:spcPts val="0"/>
              </a:spcBef>
              <a:spcAft>
                <a:spcPts val="0"/>
              </a:spcAft>
              <a:buClr>
                <a:schemeClr val="dk2"/>
              </a:buClr>
              <a:buSzPts val="1400"/>
              <a:buChar char="●"/>
            </a:pPr>
            <a:r>
              <a:rPr lang="en-GB" sz="1400">
                <a:solidFill>
                  <a:schemeClr val="dk2"/>
                </a:solidFill>
              </a:rPr>
              <a:t>Numeric Distributions</a:t>
            </a:r>
            <a:endParaRPr sz="1400">
              <a:solidFill>
                <a:schemeClr val="dk2"/>
              </a:solidFill>
            </a:endParaRPr>
          </a:p>
          <a:p>
            <a:pPr marL="457200" lvl="0" indent="-317500" algn="l" rtl="0">
              <a:spcBef>
                <a:spcPts val="0"/>
              </a:spcBef>
              <a:spcAft>
                <a:spcPts val="0"/>
              </a:spcAft>
              <a:buClr>
                <a:schemeClr val="dk2"/>
              </a:buClr>
              <a:buSzPts val="1400"/>
              <a:buChar char="●"/>
            </a:pPr>
            <a:r>
              <a:rPr lang="en-GB" sz="1400">
                <a:solidFill>
                  <a:schemeClr val="dk2"/>
                </a:solidFill>
              </a:rPr>
              <a:t>Linear Regression</a:t>
            </a:r>
            <a:endParaRPr sz="1400">
              <a:solidFill>
                <a:schemeClr val="dk2"/>
              </a:solidFill>
            </a:endParaRPr>
          </a:p>
          <a:p>
            <a:pPr marL="457200" lvl="0" indent="-317500" algn="l" rtl="0">
              <a:spcBef>
                <a:spcPts val="0"/>
              </a:spcBef>
              <a:spcAft>
                <a:spcPts val="0"/>
              </a:spcAft>
              <a:buClr>
                <a:schemeClr val="dk2"/>
              </a:buClr>
              <a:buSzPts val="1400"/>
              <a:buChar char="●"/>
            </a:pPr>
            <a:r>
              <a:rPr lang="en-GB" sz="1400">
                <a:solidFill>
                  <a:schemeClr val="dk2"/>
                </a:solidFill>
              </a:rPr>
              <a:t>Logistic Regression</a:t>
            </a:r>
            <a:endParaRPr sz="1400">
              <a:solidFill>
                <a:schemeClr val="dk2"/>
              </a:solidFill>
            </a:endParaRPr>
          </a:p>
          <a:p>
            <a:pPr marL="457200" lvl="0" indent="-317500" algn="l" rtl="0">
              <a:spcBef>
                <a:spcPts val="0"/>
              </a:spcBef>
              <a:spcAft>
                <a:spcPts val="0"/>
              </a:spcAft>
              <a:buClr>
                <a:schemeClr val="dk2"/>
              </a:buClr>
              <a:buSzPts val="1400"/>
              <a:buChar char="●"/>
            </a:pPr>
            <a:r>
              <a:rPr lang="en-GB" sz="1400">
                <a:solidFill>
                  <a:schemeClr val="dk2"/>
                </a:solidFill>
              </a:rPr>
              <a:t>Progress and Next Steps</a:t>
            </a:r>
            <a:endParaRPr sz="1400">
              <a:solidFill>
                <a:schemeClr val="dk2"/>
              </a:solidFill>
            </a:endParaRPr>
          </a:p>
          <a:p>
            <a:pPr marL="457200" lvl="0" indent="-317500" algn="l" rtl="0">
              <a:spcBef>
                <a:spcPts val="0"/>
              </a:spcBef>
              <a:spcAft>
                <a:spcPts val="0"/>
              </a:spcAft>
              <a:buClr>
                <a:schemeClr val="dk2"/>
              </a:buClr>
              <a:buSzPts val="1400"/>
              <a:buChar char="●"/>
            </a:pPr>
            <a:r>
              <a:rPr lang="en-GB" sz="1400">
                <a:solidFill>
                  <a:schemeClr val="dk2"/>
                </a:solidFill>
              </a:rPr>
              <a:t>Q &amp; A</a:t>
            </a:r>
            <a:endParaRPr sz="14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4"/>
        <p:cNvGrpSpPr/>
        <p:nvPr/>
      </p:nvGrpSpPr>
      <p:grpSpPr>
        <a:xfrm>
          <a:off x="0" y="0"/>
          <a:ext cx="0" cy="0"/>
          <a:chOff x="0" y="0"/>
          <a:chExt cx="0" cy="0"/>
        </a:xfrm>
      </p:grpSpPr>
      <p:sp>
        <p:nvSpPr>
          <p:cNvPr id="135" name="Google Shape;135;p17"/>
          <p:cNvSpPr txBox="1"/>
          <p:nvPr/>
        </p:nvSpPr>
        <p:spPr>
          <a:xfrm>
            <a:off x="1234237" y="1860300"/>
            <a:ext cx="1372800" cy="21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latin typeface="Roboto"/>
                <a:ea typeface="Roboto"/>
                <a:cs typeface="Roboto"/>
                <a:sym typeface="Roboto"/>
              </a:rPr>
              <a:t>SEPT 10</a:t>
            </a:r>
            <a:endParaRPr sz="800">
              <a:solidFill>
                <a:schemeClr val="dk2"/>
              </a:solidFill>
              <a:latin typeface="Roboto"/>
              <a:ea typeface="Roboto"/>
              <a:cs typeface="Roboto"/>
              <a:sym typeface="Roboto"/>
            </a:endParaRPr>
          </a:p>
          <a:p>
            <a:pPr marL="0" lvl="0" indent="0" algn="l" rtl="0">
              <a:spcBef>
                <a:spcPts val="1600"/>
              </a:spcBef>
              <a:spcAft>
                <a:spcPts val="1600"/>
              </a:spcAft>
              <a:buNone/>
            </a:pPr>
            <a:endParaRPr sz="800">
              <a:solidFill>
                <a:schemeClr val="dk2"/>
              </a:solidFill>
              <a:latin typeface="Roboto"/>
              <a:ea typeface="Roboto"/>
              <a:cs typeface="Roboto"/>
              <a:sym typeface="Roboto"/>
            </a:endParaRPr>
          </a:p>
        </p:txBody>
      </p:sp>
      <p:sp>
        <p:nvSpPr>
          <p:cNvPr id="136" name="Google Shape;136;p17"/>
          <p:cNvSpPr txBox="1"/>
          <p:nvPr/>
        </p:nvSpPr>
        <p:spPr>
          <a:xfrm>
            <a:off x="1164261" y="3128500"/>
            <a:ext cx="1166700" cy="403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1000" b="1">
                <a:solidFill>
                  <a:schemeClr val="dk2"/>
                </a:solidFill>
                <a:latin typeface="Roboto"/>
                <a:ea typeface="Roboto"/>
                <a:cs typeface="Roboto"/>
                <a:sym typeface="Roboto"/>
              </a:rPr>
              <a:t>begin research and exploration</a:t>
            </a:r>
            <a:endParaRPr sz="1000" b="1">
              <a:solidFill>
                <a:schemeClr val="dk2"/>
              </a:solidFill>
              <a:latin typeface="Roboto"/>
              <a:ea typeface="Roboto"/>
              <a:cs typeface="Roboto"/>
              <a:sym typeface="Roboto"/>
            </a:endParaRPr>
          </a:p>
        </p:txBody>
      </p:sp>
      <p:sp>
        <p:nvSpPr>
          <p:cNvPr id="137" name="Google Shape;137;p17"/>
          <p:cNvSpPr txBox="1"/>
          <p:nvPr/>
        </p:nvSpPr>
        <p:spPr>
          <a:xfrm>
            <a:off x="1144461" y="3508649"/>
            <a:ext cx="1166700" cy="66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latin typeface="Roboto"/>
                <a:ea typeface="Roboto"/>
                <a:cs typeface="Roboto"/>
                <a:sym typeface="Roboto"/>
              </a:rPr>
              <a:t>min-entropy, pseudo-random number generators, cryptography, methodologies</a:t>
            </a:r>
            <a:endParaRPr sz="800">
              <a:solidFill>
                <a:schemeClr val="dk2"/>
              </a:solidFill>
              <a:latin typeface="Roboto"/>
              <a:ea typeface="Roboto"/>
              <a:cs typeface="Roboto"/>
              <a:sym typeface="Roboto"/>
            </a:endParaRPr>
          </a:p>
        </p:txBody>
      </p:sp>
      <p:sp>
        <p:nvSpPr>
          <p:cNvPr id="138" name="Google Shape;138;p17"/>
          <p:cNvSpPr txBox="1"/>
          <p:nvPr/>
        </p:nvSpPr>
        <p:spPr>
          <a:xfrm>
            <a:off x="2330954" y="1931100"/>
            <a:ext cx="538200" cy="21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800">
              <a:solidFill>
                <a:srgbClr val="FFFFFF"/>
              </a:solidFill>
              <a:latin typeface="Roboto"/>
              <a:ea typeface="Roboto"/>
              <a:cs typeface="Roboto"/>
              <a:sym typeface="Roboto"/>
            </a:endParaRPr>
          </a:p>
          <a:p>
            <a:pPr marL="0" lvl="0" indent="0" algn="l" rtl="0">
              <a:spcBef>
                <a:spcPts val="1600"/>
              </a:spcBef>
              <a:spcAft>
                <a:spcPts val="1600"/>
              </a:spcAft>
              <a:buNone/>
            </a:pPr>
            <a:endParaRPr sz="800">
              <a:solidFill>
                <a:srgbClr val="FFFFFF"/>
              </a:solidFill>
              <a:latin typeface="Roboto"/>
              <a:ea typeface="Roboto"/>
              <a:cs typeface="Roboto"/>
              <a:sym typeface="Roboto"/>
            </a:endParaRPr>
          </a:p>
        </p:txBody>
      </p:sp>
      <p:sp>
        <p:nvSpPr>
          <p:cNvPr id="139" name="Google Shape;139;p17"/>
          <p:cNvSpPr txBox="1"/>
          <p:nvPr/>
        </p:nvSpPr>
        <p:spPr>
          <a:xfrm>
            <a:off x="2308571" y="3128500"/>
            <a:ext cx="1136400" cy="403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1000" b="1">
                <a:solidFill>
                  <a:schemeClr val="dk2"/>
                </a:solidFill>
                <a:latin typeface="Roboto"/>
                <a:ea typeface="Roboto"/>
                <a:cs typeface="Roboto"/>
                <a:sym typeface="Roboto"/>
              </a:rPr>
              <a:t>setting up of environment</a:t>
            </a:r>
            <a:endParaRPr sz="1000" b="1">
              <a:solidFill>
                <a:schemeClr val="dk2"/>
              </a:solidFill>
              <a:latin typeface="Roboto"/>
              <a:ea typeface="Roboto"/>
              <a:cs typeface="Roboto"/>
              <a:sym typeface="Roboto"/>
            </a:endParaRPr>
          </a:p>
        </p:txBody>
      </p:sp>
      <p:sp>
        <p:nvSpPr>
          <p:cNvPr id="140" name="Google Shape;140;p17"/>
          <p:cNvSpPr txBox="1"/>
          <p:nvPr/>
        </p:nvSpPr>
        <p:spPr>
          <a:xfrm>
            <a:off x="2308121" y="3508649"/>
            <a:ext cx="1110983" cy="137345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dirty="0">
                <a:solidFill>
                  <a:schemeClr val="dk2"/>
                </a:solidFill>
                <a:latin typeface="Roboto"/>
                <a:ea typeface="Roboto"/>
                <a:cs typeface="Roboto"/>
                <a:sym typeface="Roboto"/>
              </a:rPr>
              <a:t>began setting up in </a:t>
            </a:r>
            <a:r>
              <a:rPr lang="en-GB" sz="800" dirty="0" err="1">
                <a:solidFill>
                  <a:schemeClr val="dk2"/>
                </a:solidFill>
                <a:latin typeface="Roboto"/>
                <a:ea typeface="Roboto"/>
                <a:cs typeface="Roboto"/>
                <a:sym typeface="Roboto"/>
              </a:rPr>
              <a:t>Colaboratory</a:t>
            </a:r>
            <a:r>
              <a:rPr lang="en-GB" sz="800" dirty="0">
                <a:solidFill>
                  <a:schemeClr val="dk2"/>
                </a:solidFill>
                <a:latin typeface="Roboto"/>
                <a:ea typeface="Roboto"/>
                <a:cs typeface="Roboto"/>
                <a:sym typeface="Roboto"/>
              </a:rPr>
              <a:t> and experimenting with </a:t>
            </a:r>
            <a:r>
              <a:rPr lang="en-GB" sz="800" dirty="0" err="1">
                <a:solidFill>
                  <a:schemeClr val="dk2"/>
                </a:solidFill>
                <a:latin typeface="Roboto"/>
                <a:ea typeface="Roboto"/>
                <a:cs typeface="Roboto"/>
                <a:sym typeface="Roboto"/>
              </a:rPr>
              <a:t>Tensorflow</a:t>
            </a:r>
            <a:endParaRPr sz="800" dirty="0">
              <a:solidFill>
                <a:schemeClr val="dk2"/>
              </a:solidFill>
              <a:latin typeface="Roboto"/>
              <a:ea typeface="Roboto"/>
              <a:cs typeface="Roboto"/>
              <a:sym typeface="Roboto"/>
            </a:endParaRPr>
          </a:p>
          <a:p>
            <a:pPr marL="0" lvl="0" indent="0" algn="l" rtl="0">
              <a:spcBef>
                <a:spcPts val="0"/>
              </a:spcBef>
              <a:spcAft>
                <a:spcPts val="0"/>
              </a:spcAft>
              <a:buNone/>
            </a:pPr>
            <a:r>
              <a:rPr lang="en-GB" sz="800" dirty="0">
                <a:solidFill>
                  <a:schemeClr val="dk2"/>
                </a:solidFill>
                <a:latin typeface="Roboto"/>
                <a:ea typeface="Roboto"/>
                <a:cs typeface="Roboto"/>
                <a:sym typeface="Roboto"/>
              </a:rPr>
              <a:t>		imported models from other projects and topics</a:t>
            </a:r>
            <a:endParaRPr sz="800" dirty="0">
              <a:solidFill>
                <a:schemeClr val="dk2"/>
              </a:solidFill>
              <a:latin typeface="Roboto"/>
              <a:ea typeface="Roboto"/>
              <a:cs typeface="Roboto"/>
              <a:sym typeface="Roboto"/>
            </a:endParaRPr>
          </a:p>
        </p:txBody>
      </p:sp>
      <p:sp>
        <p:nvSpPr>
          <p:cNvPr id="141" name="Google Shape;141;p17"/>
          <p:cNvSpPr txBox="1"/>
          <p:nvPr/>
        </p:nvSpPr>
        <p:spPr>
          <a:xfrm>
            <a:off x="3555971" y="1860288"/>
            <a:ext cx="734700" cy="21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latin typeface="Roboto"/>
                <a:ea typeface="Roboto"/>
                <a:cs typeface="Roboto"/>
                <a:sym typeface="Roboto"/>
              </a:rPr>
              <a:t>OCT 8</a:t>
            </a:r>
            <a:endParaRPr sz="800">
              <a:solidFill>
                <a:schemeClr val="dk2"/>
              </a:solidFill>
              <a:latin typeface="Roboto"/>
              <a:ea typeface="Roboto"/>
              <a:cs typeface="Roboto"/>
              <a:sym typeface="Roboto"/>
            </a:endParaRPr>
          </a:p>
          <a:p>
            <a:pPr marL="0" lvl="0" indent="0" algn="l" rtl="0">
              <a:spcBef>
                <a:spcPts val="1600"/>
              </a:spcBef>
              <a:spcAft>
                <a:spcPts val="1600"/>
              </a:spcAft>
              <a:buNone/>
            </a:pPr>
            <a:endParaRPr sz="800">
              <a:solidFill>
                <a:schemeClr val="dk2"/>
              </a:solidFill>
              <a:latin typeface="Roboto"/>
              <a:ea typeface="Roboto"/>
              <a:cs typeface="Roboto"/>
              <a:sym typeface="Roboto"/>
            </a:endParaRPr>
          </a:p>
        </p:txBody>
      </p:sp>
      <p:sp>
        <p:nvSpPr>
          <p:cNvPr id="142" name="Google Shape;142;p17"/>
          <p:cNvSpPr txBox="1"/>
          <p:nvPr/>
        </p:nvSpPr>
        <p:spPr>
          <a:xfrm>
            <a:off x="3445079" y="3128500"/>
            <a:ext cx="1136400" cy="403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1000" b="1">
                <a:solidFill>
                  <a:schemeClr val="dk2"/>
                </a:solidFill>
                <a:latin typeface="Roboto"/>
                <a:ea typeface="Roboto"/>
                <a:cs typeface="Roboto"/>
                <a:sym typeface="Roboto"/>
              </a:rPr>
              <a:t>preparing data sets for model</a:t>
            </a:r>
            <a:endParaRPr sz="1000" b="1">
              <a:solidFill>
                <a:schemeClr val="dk2"/>
              </a:solidFill>
              <a:latin typeface="Roboto"/>
              <a:ea typeface="Roboto"/>
              <a:cs typeface="Roboto"/>
              <a:sym typeface="Roboto"/>
            </a:endParaRPr>
          </a:p>
        </p:txBody>
      </p:sp>
      <p:sp>
        <p:nvSpPr>
          <p:cNvPr id="143" name="Google Shape;143;p17"/>
          <p:cNvSpPr txBox="1"/>
          <p:nvPr/>
        </p:nvSpPr>
        <p:spPr>
          <a:xfrm>
            <a:off x="3438904" y="3508647"/>
            <a:ext cx="1071784" cy="137345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dirty="0">
                <a:solidFill>
                  <a:schemeClr val="dk2"/>
                </a:solidFill>
                <a:latin typeface="Roboto"/>
                <a:ea typeface="Roboto"/>
                <a:cs typeface="Roboto"/>
                <a:sym typeface="Roboto"/>
              </a:rPr>
              <a:t>getting data values from varying types of distributions</a:t>
            </a:r>
            <a:endParaRPr sz="800" dirty="0">
              <a:solidFill>
                <a:schemeClr val="dk2"/>
              </a:solidFill>
              <a:latin typeface="Roboto"/>
              <a:ea typeface="Roboto"/>
              <a:cs typeface="Roboto"/>
              <a:sym typeface="Roboto"/>
            </a:endParaRPr>
          </a:p>
          <a:p>
            <a:pPr marL="0" lvl="0" indent="0" algn="l" rtl="0">
              <a:spcBef>
                <a:spcPts val="0"/>
              </a:spcBef>
              <a:spcAft>
                <a:spcPts val="0"/>
              </a:spcAft>
              <a:buNone/>
            </a:pPr>
            <a:r>
              <a:rPr lang="en-GB" sz="800" dirty="0">
                <a:solidFill>
                  <a:schemeClr val="dk2"/>
                </a:solidFill>
                <a:latin typeface="Roboto"/>
                <a:ea typeface="Roboto"/>
                <a:cs typeface="Roboto"/>
                <a:sym typeface="Roboto"/>
              </a:rPr>
              <a:t>		importing data</a:t>
            </a:r>
            <a:endParaRPr sz="800" dirty="0">
              <a:solidFill>
                <a:schemeClr val="dk2"/>
              </a:solidFill>
              <a:latin typeface="Roboto"/>
              <a:ea typeface="Roboto"/>
              <a:cs typeface="Roboto"/>
              <a:sym typeface="Roboto"/>
            </a:endParaRPr>
          </a:p>
          <a:p>
            <a:pPr marL="0" lvl="0" indent="0" algn="l" rtl="0">
              <a:spcBef>
                <a:spcPts val="0"/>
              </a:spcBef>
              <a:spcAft>
                <a:spcPts val="0"/>
              </a:spcAft>
              <a:buNone/>
            </a:pPr>
            <a:r>
              <a:rPr lang="en-GB" sz="800" dirty="0">
                <a:solidFill>
                  <a:schemeClr val="dk2"/>
                </a:solidFill>
                <a:latin typeface="Roboto"/>
                <a:ea typeface="Roboto"/>
                <a:cs typeface="Roboto"/>
                <a:sym typeface="Roboto"/>
              </a:rPr>
              <a:t>		</a:t>
            </a:r>
            <a:r>
              <a:rPr lang="en-GB" sz="800" dirty="0" err="1">
                <a:solidFill>
                  <a:schemeClr val="dk2"/>
                </a:solidFill>
                <a:latin typeface="Roboto"/>
                <a:ea typeface="Roboto"/>
                <a:cs typeface="Roboto"/>
                <a:sym typeface="Roboto"/>
              </a:rPr>
              <a:t>analyzing</a:t>
            </a:r>
            <a:r>
              <a:rPr lang="en-GB" sz="800" dirty="0">
                <a:solidFill>
                  <a:schemeClr val="dk2"/>
                </a:solidFill>
                <a:latin typeface="Roboto"/>
                <a:ea typeface="Roboto"/>
                <a:cs typeface="Roboto"/>
                <a:sym typeface="Roboto"/>
              </a:rPr>
              <a:t> the data sets</a:t>
            </a:r>
            <a:endParaRPr sz="800" dirty="0">
              <a:solidFill>
                <a:schemeClr val="dk2"/>
              </a:solidFill>
              <a:latin typeface="Roboto"/>
              <a:ea typeface="Roboto"/>
              <a:cs typeface="Roboto"/>
              <a:sym typeface="Roboto"/>
            </a:endParaRPr>
          </a:p>
          <a:p>
            <a:pPr marL="0" lvl="0" indent="0" algn="l" rtl="0">
              <a:spcBef>
                <a:spcPts val="0"/>
              </a:spcBef>
              <a:spcAft>
                <a:spcPts val="0"/>
              </a:spcAft>
              <a:buNone/>
            </a:pPr>
            <a:endParaRPr sz="800" dirty="0">
              <a:solidFill>
                <a:schemeClr val="dk2"/>
              </a:solidFill>
              <a:latin typeface="Roboto"/>
              <a:ea typeface="Roboto"/>
              <a:cs typeface="Roboto"/>
              <a:sym typeface="Roboto"/>
            </a:endParaRPr>
          </a:p>
        </p:txBody>
      </p:sp>
      <p:sp>
        <p:nvSpPr>
          <p:cNvPr id="144" name="Google Shape;144;p17"/>
          <p:cNvSpPr txBox="1"/>
          <p:nvPr/>
        </p:nvSpPr>
        <p:spPr>
          <a:xfrm>
            <a:off x="4578834" y="3280900"/>
            <a:ext cx="1136400" cy="403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1000" b="1">
                <a:solidFill>
                  <a:schemeClr val="dk2"/>
                </a:solidFill>
                <a:latin typeface="Roboto"/>
                <a:ea typeface="Roboto"/>
                <a:cs typeface="Roboto"/>
                <a:sym typeface="Roboto"/>
              </a:rPr>
              <a:t>getting data through logistic regression</a:t>
            </a:r>
            <a:endParaRPr sz="1000" b="1">
              <a:solidFill>
                <a:schemeClr val="dk2"/>
              </a:solidFill>
              <a:latin typeface="Roboto"/>
              <a:ea typeface="Roboto"/>
              <a:cs typeface="Roboto"/>
              <a:sym typeface="Roboto"/>
            </a:endParaRPr>
          </a:p>
        </p:txBody>
      </p:sp>
      <p:sp>
        <p:nvSpPr>
          <p:cNvPr id="145" name="Google Shape;145;p17"/>
          <p:cNvSpPr txBox="1"/>
          <p:nvPr/>
        </p:nvSpPr>
        <p:spPr>
          <a:xfrm>
            <a:off x="4572659" y="3616199"/>
            <a:ext cx="1062242" cy="108302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dirty="0">
                <a:solidFill>
                  <a:schemeClr val="dk2"/>
                </a:solidFill>
                <a:latin typeface="Roboto"/>
                <a:ea typeface="Roboto"/>
                <a:cs typeface="Roboto"/>
                <a:sym typeface="Roboto"/>
              </a:rPr>
              <a:t>began by looking at linear regression</a:t>
            </a:r>
            <a:endParaRPr sz="800" dirty="0">
              <a:solidFill>
                <a:schemeClr val="dk2"/>
              </a:solidFill>
              <a:latin typeface="Roboto"/>
              <a:ea typeface="Roboto"/>
              <a:cs typeface="Roboto"/>
              <a:sym typeface="Roboto"/>
            </a:endParaRPr>
          </a:p>
          <a:p>
            <a:pPr marL="0" lvl="0" indent="0" algn="l" rtl="0">
              <a:spcBef>
                <a:spcPts val="0"/>
              </a:spcBef>
              <a:spcAft>
                <a:spcPts val="0"/>
              </a:spcAft>
              <a:buNone/>
            </a:pPr>
            <a:r>
              <a:rPr lang="en-GB" sz="800" dirty="0">
                <a:solidFill>
                  <a:schemeClr val="dk2"/>
                </a:solidFill>
                <a:latin typeface="Roboto"/>
                <a:ea typeface="Roboto"/>
                <a:cs typeface="Roboto"/>
                <a:sym typeface="Roboto"/>
              </a:rPr>
              <a:t>		later switching to logistic regression approach</a:t>
            </a:r>
            <a:endParaRPr sz="800" dirty="0">
              <a:solidFill>
                <a:schemeClr val="dk2"/>
              </a:solidFill>
              <a:latin typeface="Roboto"/>
              <a:ea typeface="Roboto"/>
              <a:cs typeface="Roboto"/>
              <a:sym typeface="Roboto"/>
            </a:endParaRPr>
          </a:p>
          <a:p>
            <a:pPr marL="0" lvl="0" indent="0" algn="l" rtl="0">
              <a:spcBef>
                <a:spcPts val="0"/>
              </a:spcBef>
              <a:spcAft>
                <a:spcPts val="0"/>
              </a:spcAft>
              <a:buNone/>
            </a:pPr>
            <a:endParaRPr sz="800" dirty="0">
              <a:solidFill>
                <a:schemeClr val="dk2"/>
              </a:solidFill>
              <a:latin typeface="Roboto"/>
              <a:ea typeface="Roboto"/>
              <a:cs typeface="Roboto"/>
              <a:sym typeface="Roboto"/>
            </a:endParaRPr>
          </a:p>
        </p:txBody>
      </p:sp>
      <p:sp>
        <p:nvSpPr>
          <p:cNvPr id="146" name="Google Shape;146;p17"/>
          <p:cNvSpPr txBox="1"/>
          <p:nvPr/>
        </p:nvSpPr>
        <p:spPr>
          <a:xfrm>
            <a:off x="5709222" y="3433300"/>
            <a:ext cx="1136400" cy="403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1000" b="1">
                <a:solidFill>
                  <a:schemeClr val="dk2"/>
                </a:solidFill>
                <a:latin typeface="Roboto"/>
                <a:ea typeface="Roboto"/>
                <a:cs typeface="Roboto"/>
                <a:sym typeface="Roboto"/>
              </a:rPr>
              <a:t>analyze and experiment through logistic regression</a:t>
            </a:r>
            <a:endParaRPr sz="1000" b="1">
              <a:solidFill>
                <a:schemeClr val="dk2"/>
              </a:solidFill>
              <a:latin typeface="Roboto"/>
              <a:ea typeface="Roboto"/>
              <a:cs typeface="Roboto"/>
              <a:sym typeface="Roboto"/>
            </a:endParaRPr>
          </a:p>
        </p:txBody>
      </p:sp>
      <p:sp>
        <p:nvSpPr>
          <p:cNvPr id="147" name="Google Shape;147;p17"/>
          <p:cNvSpPr txBox="1"/>
          <p:nvPr/>
        </p:nvSpPr>
        <p:spPr>
          <a:xfrm>
            <a:off x="5703047" y="3688023"/>
            <a:ext cx="1108324" cy="119407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dirty="0" err="1">
                <a:solidFill>
                  <a:schemeClr val="dk2"/>
                </a:solidFill>
                <a:latin typeface="Roboto"/>
                <a:ea typeface="Roboto"/>
                <a:cs typeface="Roboto"/>
                <a:sym typeface="Roboto"/>
              </a:rPr>
              <a:t>analyze</a:t>
            </a:r>
            <a:r>
              <a:rPr lang="en-GB" sz="800" dirty="0">
                <a:solidFill>
                  <a:schemeClr val="dk2"/>
                </a:solidFill>
                <a:latin typeface="Roboto"/>
                <a:ea typeface="Roboto"/>
                <a:cs typeface="Roboto"/>
                <a:sym typeface="Roboto"/>
              </a:rPr>
              <a:t> the model and receive results from logistic regression with imported data</a:t>
            </a:r>
            <a:endParaRPr sz="800" dirty="0">
              <a:solidFill>
                <a:schemeClr val="dk2"/>
              </a:solidFill>
              <a:latin typeface="Roboto"/>
              <a:ea typeface="Roboto"/>
              <a:cs typeface="Roboto"/>
              <a:sym typeface="Roboto"/>
            </a:endParaRPr>
          </a:p>
          <a:p>
            <a:pPr marL="0" lvl="0" indent="0" algn="l" rtl="0">
              <a:spcBef>
                <a:spcPts val="0"/>
              </a:spcBef>
              <a:spcAft>
                <a:spcPts val="0"/>
              </a:spcAft>
              <a:buNone/>
            </a:pPr>
            <a:r>
              <a:rPr lang="en-GB" sz="800" dirty="0">
                <a:solidFill>
                  <a:schemeClr val="dk2"/>
                </a:solidFill>
                <a:latin typeface="Roboto"/>
                <a:ea typeface="Roboto"/>
                <a:cs typeface="Roboto"/>
                <a:sym typeface="Roboto"/>
              </a:rPr>
              <a:t>		test using different data sets and multiple results</a:t>
            </a:r>
            <a:endParaRPr sz="800" dirty="0">
              <a:solidFill>
                <a:schemeClr val="dk2"/>
              </a:solidFill>
              <a:latin typeface="Roboto"/>
              <a:ea typeface="Roboto"/>
              <a:cs typeface="Roboto"/>
              <a:sym typeface="Roboto"/>
            </a:endParaRPr>
          </a:p>
          <a:p>
            <a:pPr marL="0" lvl="0" indent="0" algn="l" rtl="0">
              <a:spcBef>
                <a:spcPts val="0"/>
              </a:spcBef>
              <a:spcAft>
                <a:spcPts val="0"/>
              </a:spcAft>
              <a:buNone/>
            </a:pPr>
            <a:endParaRPr sz="800" dirty="0">
              <a:solidFill>
                <a:schemeClr val="dk2"/>
              </a:solidFill>
              <a:latin typeface="Roboto"/>
              <a:ea typeface="Roboto"/>
              <a:cs typeface="Roboto"/>
              <a:sym typeface="Roboto"/>
            </a:endParaRPr>
          </a:p>
        </p:txBody>
      </p:sp>
      <p:sp>
        <p:nvSpPr>
          <p:cNvPr id="148" name="Google Shape;148;p17"/>
          <p:cNvSpPr txBox="1"/>
          <p:nvPr/>
        </p:nvSpPr>
        <p:spPr>
          <a:xfrm>
            <a:off x="6843359" y="2976100"/>
            <a:ext cx="1136400" cy="403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1000" b="1">
                <a:solidFill>
                  <a:schemeClr val="dk2"/>
                </a:solidFill>
                <a:latin typeface="Roboto"/>
                <a:ea typeface="Roboto"/>
                <a:cs typeface="Roboto"/>
                <a:sym typeface="Roboto"/>
              </a:rPr>
              <a:t>analyze results</a:t>
            </a:r>
            <a:endParaRPr sz="1000" b="1">
              <a:solidFill>
                <a:schemeClr val="dk2"/>
              </a:solidFill>
              <a:latin typeface="Roboto"/>
              <a:ea typeface="Roboto"/>
              <a:cs typeface="Roboto"/>
              <a:sym typeface="Roboto"/>
            </a:endParaRPr>
          </a:p>
        </p:txBody>
      </p:sp>
      <p:sp>
        <p:nvSpPr>
          <p:cNvPr id="149" name="Google Shape;149;p17"/>
          <p:cNvSpPr txBox="1"/>
          <p:nvPr/>
        </p:nvSpPr>
        <p:spPr>
          <a:xfrm>
            <a:off x="6849084" y="3344473"/>
            <a:ext cx="1090030" cy="119407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dirty="0" err="1">
                <a:solidFill>
                  <a:schemeClr val="dk2"/>
                </a:solidFill>
                <a:latin typeface="Roboto"/>
                <a:ea typeface="Roboto"/>
                <a:cs typeface="Roboto"/>
                <a:sym typeface="Roboto"/>
              </a:rPr>
              <a:t>analyze</a:t>
            </a:r>
            <a:r>
              <a:rPr lang="en-GB" sz="800" dirty="0">
                <a:solidFill>
                  <a:schemeClr val="dk2"/>
                </a:solidFill>
                <a:latin typeface="Roboto"/>
                <a:ea typeface="Roboto"/>
                <a:cs typeface="Roboto"/>
                <a:sym typeface="Roboto"/>
              </a:rPr>
              <a:t> results and derive conclusions</a:t>
            </a:r>
            <a:endParaRPr sz="800" dirty="0">
              <a:solidFill>
                <a:schemeClr val="dk2"/>
              </a:solidFill>
              <a:latin typeface="Roboto"/>
              <a:ea typeface="Roboto"/>
              <a:cs typeface="Roboto"/>
              <a:sym typeface="Roboto"/>
            </a:endParaRPr>
          </a:p>
          <a:p>
            <a:pPr marL="0" lvl="0" indent="0" algn="l" rtl="0">
              <a:spcBef>
                <a:spcPts val="0"/>
              </a:spcBef>
              <a:spcAft>
                <a:spcPts val="0"/>
              </a:spcAft>
              <a:buNone/>
            </a:pPr>
            <a:r>
              <a:rPr lang="en-GB" sz="800" dirty="0">
                <a:solidFill>
                  <a:schemeClr val="dk2"/>
                </a:solidFill>
                <a:latin typeface="Roboto"/>
                <a:ea typeface="Roboto"/>
                <a:cs typeface="Roboto"/>
                <a:sym typeface="Roboto"/>
              </a:rPr>
              <a:t>		look to future improvements and possibilities</a:t>
            </a:r>
            <a:endParaRPr sz="800" dirty="0">
              <a:solidFill>
                <a:schemeClr val="dk2"/>
              </a:solidFill>
              <a:latin typeface="Roboto"/>
              <a:ea typeface="Roboto"/>
              <a:cs typeface="Roboto"/>
              <a:sym typeface="Roboto"/>
            </a:endParaRPr>
          </a:p>
          <a:p>
            <a:pPr marL="0" lvl="0" indent="0" algn="l" rtl="0">
              <a:spcBef>
                <a:spcPts val="0"/>
              </a:spcBef>
              <a:spcAft>
                <a:spcPts val="0"/>
              </a:spcAft>
              <a:buNone/>
            </a:pPr>
            <a:endParaRPr sz="800" dirty="0">
              <a:solidFill>
                <a:schemeClr val="dk2"/>
              </a:solidFill>
              <a:latin typeface="Roboto"/>
              <a:ea typeface="Roboto"/>
              <a:cs typeface="Roboto"/>
              <a:sym typeface="Roboto"/>
            </a:endParaRPr>
          </a:p>
        </p:txBody>
      </p:sp>
      <p:cxnSp>
        <p:nvCxnSpPr>
          <p:cNvPr id="150" name="Google Shape;150;p17"/>
          <p:cNvCxnSpPr/>
          <p:nvPr/>
        </p:nvCxnSpPr>
        <p:spPr>
          <a:xfrm>
            <a:off x="1767803" y="2082483"/>
            <a:ext cx="639000" cy="660000"/>
          </a:xfrm>
          <a:prstGeom prst="straightConnector1">
            <a:avLst/>
          </a:prstGeom>
          <a:noFill/>
          <a:ln w="9525" cap="flat" cmpd="sng">
            <a:solidFill>
              <a:schemeClr val="accent1"/>
            </a:solidFill>
            <a:prstDash val="solid"/>
            <a:round/>
            <a:headEnd type="none" w="med" len="med"/>
            <a:tailEnd type="none" w="med" len="med"/>
          </a:ln>
        </p:spPr>
      </p:cxnSp>
      <p:sp>
        <p:nvSpPr>
          <p:cNvPr id="151" name="Google Shape;151;p17"/>
          <p:cNvSpPr/>
          <p:nvPr/>
        </p:nvSpPr>
        <p:spPr>
          <a:xfrm flipH="1">
            <a:off x="1234223" y="2621483"/>
            <a:ext cx="1185000" cy="128100"/>
          </a:xfrm>
          <a:prstGeom prst="parallelogram">
            <a:avLst>
              <a:gd name="adj" fmla="val 96952"/>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999999"/>
              </a:solidFill>
            </a:endParaRPr>
          </a:p>
        </p:txBody>
      </p:sp>
      <p:sp>
        <p:nvSpPr>
          <p:cNvPr id="152" name="Google Shape;152;p17"/>
          <p:cNvSpPr/>
          <p:nvPr/>
        </p:nvSpPr>
        <p:spPr>
          <a:xfrm>
            <a:off x="1233850" y="2763063"/>
            <a:ext cx="1185000" cy="128100"/>
          </a:xfrm>
          <a:prstGeom prst="parallelogram">
            <a:avLst>
              <a:gd name="adj" fmla="val 96952"/>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999999"/>
              </a:solidFill>
            </a:endParaRPr>
          </a:p>
        </p:txBody>
      </p:sp>
      <p:cxnSp>
        <p:nvCxnSpPr>
          <p:cNvPr id="153" name="Google Shape;153;p17"/>
          <p:cNvCxnSpPr/>
          <p:nvPr/>
        </p:nvCxnSpPr>
        <p:spPr>
          <a:xfrm>
            <a:off x="2861459" y="2082483"/>
            <a:ext cx="639000" cy="660000"/>
          </a:xfrm>
          <a:prstGeom prst="straightConnector1">
            <a:avLst/>
          </a:prstGeom>
          <a:noFill/>
          <a:ln w="9525" cap="flat" cmpd="sng">
            <a:solidFill>
              <a:schemeClr val="accent1"/>
            </a:solidFill>
            <a:prstDash val="solid"/>
            <a:round/>
            <a:headEnd type="none" w="med" len="med"/>
            <a:tailEnd type="none" w="med" len="med"/>
          </a:ln>
        </p:spPr>
      </p:cxnSp>
      <p:sp>
        <p:nvSpPr>
          <p:cNvPr id="154" name="Google Shape;154;p17"/>
          <p:cNvSpPr/>
          <p:nvPr/>
        </p:nvSpPr>
        <p:spPr>
          <a:xfrm flipH="1">
            <a:off x="2327880" y="2621483"/>
            <a:ext cx="1185000" cy="128100"/>
          </a:xfrm>
          <a:prstGeom prst="parallelogram">
            <a:avLst>
              <a:gd name="adj" fmla="val 96952"/>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a:solidFill>
                  <a:srgbClr val="999999"/>
                </a:solidFill>
              </a:rPr>
              <a:t>  </a:t>
            </a:r>
            <a:endParaRPr>
              <a:solidFill>
                <a:srgbClr val="999999"/>
              </a:solidFill>
            </a:endParaRPr>
          </a:p>
        </p:txBody>
      </p:sp>
      <p:sp>
        <p:nvSpPr>
          <p:cNvPr id="155" name="Google Shape;155;p17"/>
          <p:cNvSpPr/>
          <p:nvPr/>
        </p:nvSpPr>
        <p:spPr>
          <a:xfrm>
            <a:off x="2327507" y="2763063"/>
            <a:ext cx="1185000" cy="128100"/>
          </a:xfrm>
          <a:prstGeom prst="parallelogram">
            <a:avLst>
              <a:gd name="adj" fmla="val 96952"/>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999999"/>
              </a:solidFill>
            </a:endParaRPr>
          </a:p>
        </p:txBody>
      </p:sp>
      <p:cxnSp>
        <p:nvCxnSpPr>
          <p:cNvPr id="156" name="Google Shape;156;p17"/>
          <p:cNvCxnSpPr/>
          <p:nvPr/>
        </p:nvCxnSpPr>
        <p:spPr>
          <a:xfrm>
            <a:off x="3955665" y="2082483"/>
            <a:ext cx="639000" cy="660000"/>
          </a:xfrm>
          <a:prstGeom prst="straightConnector1">
            <a:avLst/>
          </a:prstGeom>
          <a:noFill/>
          <a:ln w="9525" cap="flat" cmpd="sng">
            <a:solidFill>
              <a:schemeClr val="accent1"/>
            </a:solidFill>
            <a:prstDash val="solid"/>
            <a:round/>
            <a:headEnd type="none" w="med" len="med"/>
            <a:tailEnd type="none" w="med" len="med"/>
          </a:ln>
        </p:spPr>
      </p:cxnSp>
      <p:sp>
        <p:nvSpPr>
          <p:cNvPr id="157" name="Google Shape;157;p17"/>
          <p:cNvSpPr/>
          <p:nvPr/>
        </p:nvSpPr>
        <p:spPr>
          <a:xfrm flipH="1">
            <a:off x="3422086" y="2621483"/>
            <a:ext cx="1185000" cy="128100"/>
          </a:xfrm>
          <a:prstGeom prst="parallelogram">
            <a:avLst>
              <a:gd name="adj" fmla="val 96952"/>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999999"/>
              </a:solidFill>
            </a:endParaRPr>
          </a:p>
        </p:txBody>
      </p:sp>
      <p:sp>
        <p:nvSpPr>
          <p:cNvPr id="158" name="Google Shape;158;p17"/>
          <p:cNvSpPr/>
          <p:nvPr/>
        </p:nvSpPr>
        <p:spPr>
          <a:xfrm>
            <a:off x="3421713" y="2763063"/>
            <a:ext cx="1185000" cy="128100"/>
          </a:xfrm>
          <a:prstGeom prst="parallelogram">
            <a:avLst>
              <a:gd name="adj" fmla="val 96952"/>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999999"/>
              </a:solidFill>
            </a:endParaRPr>
          </a:p>
        </p:txBody>
      </p:sp>
      <p:cxnSp>
        <p:nvCxnSpPr>
          <p:cNvPr id="159" name="Google Shape;159;p17"/>
          <p:cNvCxnSpPr/>
          <p:nvPr/>
        </p:nvCxnSpPr>
        <p:spPr>
          <a:xfrm>
            <a:off x="6135527" y="2082483"/>
            <a:ext cx="639000" cy="660000"/>
          </a:xfrm>
          <a:prstGeom prst="straightConnector1">
            <a:avLst/>
          </a:prstGeom>
          <a:noFill/>
          <a:ln w="9525" cap="flat" cmpd="sng">
            <a:solidFill>
              <a:srgbClr val="999999"/>
            </a:solidFill>
            <a:prstDash val="solid"/>
            <a:round/>
            <a:headEnd type="none" w="med" len="med"/>
            <a:tailEnd type="none" w="med" len="med"/>
          </a:ln>
        </p:spPr>
      </p:cxnSp>
      <p:sp>
        <p:nvSpPr>
          <p:cNvPr id="160" name="Google Shape;160;p17"/>
          <p:cNvSpPr/>
          <p:nvPr/>
        </p:nvSpPr>
        <p:spPr>
          <a:xfrm flipH="1">
            <a:off x="5601947" y="2621483"/>
            <a:ext cx="1185000" cy="128100"/>
          </a:xfrm>
          <a:prstGeom prst="parallelogram">
            <a:avLst>
              <a:gd name="adj" fmla="val 96952"/>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999999"/>
              </a:solidFill>
            </a:endParaRPr>
          </a:p>
        </p:txBody>
      </p:sp>
      <p:sp>
        <p:nvSpPr>
          <p:cNvPr id="161" name="Google Shape;161;p17"/>
          <p:cNvSpPr/>
          <p:nvPr/>
        </p:nvSpPr>
        <p:spPr>
          <a:xfrm>
            <a:off x="5601575" y="2763063"/>
            <a:ext cx="1185000" cy="128100"/>
          </a:xfrm>
          <a:prstGeom prst="parallelogram">
            <a:avLst>
              <a:gd name="adj" fmla="val 96952"/>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999999"/>
              </a:solidFill>
            </a:endParaRPr>
          </a:p>
        </p:txBody>
      </p:sp>
      <p:cxnSp>
        <p:nvCxnSpPr>
          <p:cNvPr id="162" name="Google Shape;162;p17"/>
          <p:cNvCxnSpPr/>
          <p:nvPr/>
        </p:nvCxnSpPr>
        <p:spPr>
          <a:xfrm>
            <a:off x="7227448" y="2082483"/>
            <a:ext cx="639000" cy="660000"/>
          </a:xfrm>
          <a:prstGeom prst="straightConnector1">
            <a:avLst/>
          </a:prstGeom>
          <a:noFill/>
          <a:ln w="9525" cap="flat" cmpd="sng">
            <a:solidFill>
              <a:srgbClr val="999999"/>
            </a:solidFill>
            <a:prstDash val="solid"/>
            <a:round/>
            <a:headEnd type="none" w="med" len="med"/>
            <a:tailEnd type="none" w="med" len="med"/>
          </a:ln>
        </p:spPr>
      </p:cxnSp>
      <p:sp>
        <p:nvSpPr>
          <p:cNvPr id="163" name="Google Shape;163;p17"/>
          <p:cNvSpPr/>
          <p:nvPr/>
        </p:nvSpPr>
        <p:spPr>
          <a:xfrm flipH="1">
            <a:off x="6693868" y="2621483"/>
            <a:ext cx="1185000" cy="128100"/>
          </a:xfrm>
          <a:prstGeom prst="parallelogram">
            <a:avLst>
              <a:gd name="adj" fmla="val 96952"/>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999999"/>
              </a:solidFill>
            </a:endParaRPr>
          </a:p>
        </p:txBody>
      </p:sp>
      <p:sp>
        <p:nvSpPr>
          <p:cNvPr id="164" name="Google Shape;164;p17"/>
          <p:cNvSpPr/>
          <p:nvPr/>
        </p:nvSpPr>
        <p:spPr>
          <a:xfrm>
            <a:off x="6693495" y="2763063"/>
            <a:ext cx="1185000" cy="128100"/>
          </a:xfrm>
          <a:prstGeom prst="parallelogram">
            <a:avLst>
              <a:gd name="adj" fmla="val 96952"/>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999999"/>
              </a:solidFill>
            </a:endParaRPr>
          </a:p>
        </p:txBody>
      </p:sp>
      <p:sp>
        <p:nvSpPr>
          <p:cNvPr id="165" name="Google Shape;165;p17"/>
          <p:cNvSpPr txBox="1"/>
          <p:nvPr/>
        </p:nvSpPr>
        <p:spPr>
          <a:xfrm>
            <a:off x="2369812" y="1860300"/>
            <a:ext cx="1372800" cy="21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latin typeface="Roboto"/>
                <a:ea typeface="Roboto"/>
                <a:cs typeface="Roboto"/>
                <a:sym typeface="Roboto"/>
              </a:rPr>
              <a:t>SEPT 24</a:t>
            </a:r>
            <a:endParaRPr sz="800">
              <a:solidFill>
                <a:schemeClr val="dk2"/>
              </a:solidFill>
              <a:latin typeface="Roboto"/>
              <a:ea typeface="Roboto"/>
              <a:cs typeface="Roboto"/>
              <a:sym typeface="Roboto"/>
            </a:endParaRPr>
          </a:p>
          <a:p>
            <a:pPr marL="0" lvl="0" indent="0" algn="l" rtl="0">
              <a:spcBef>
                <a:spcPts val="1600"/>
              </a:spcBef>
              <a:spcAft>
                <a:spcPts val="1600"/>
              </a:spcAft>
              <a:buNone/>
            </a:pPr>
            <a:endParaRPr sz="800">
              <a:solidFill>
                <a:schemeClr val="dk2"/>
              </a:solidFill>
              <a:latin typeface="Roboto"/>
              <a:ea typeface="Roboto"/>
              <a:cs typeface="Roboto"/>
              <a:sym typeface="Roboto"/>
            </a:endParaRPr>
          </a:p>
        </p:txBody>
      </p:sp>
      <p:sp>
        <p:nvSpPr>
          <p:cNvPr id="166" name="Google Shape;166;p17"/>
          <p:cNvSpPr txBox="1"/>
          <p:nvPr/>
        </p:nvSpPr>
        <p:spPr>
          <a:xfrm>
            <a:off x="4607084" y="1860288"/>
            <a:ext cx="734700" cy="21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latin typeface="Roboto"/>
                <a:ea typeface="Roboto"/>
                <a:cs typeface="Roboto"/>
                <a:sym typeface="Roboto"/>
              </a:rPr>
              <a:t>OCT 22</a:t>
            </a:r>
            <a:endParaRPr sz="800">
              <a:solidFill>
                <a:schemeClr val="dk2"/>
              </a:solidFill>
              <a:latin typeface="Roboto"/>
              <a:ea typeface="Roboto"/>
              <a:cs typeface="Roboto"/>
              <a:sym typeface="Roboto"/>
            </a:endParaRPr>
          </a:p>
          <a:p>
            <a:pPr marL="0" lvl="0" indent="0" algn="l" rtl="0">
              <a:spcBef>
                <a:spcPts val="1600"/>
              </a:spcBef>
              <a:spcAft>
                <a:spcPts val="1600"/>
              </a:spcAft>
              <a:buNone/>
            </a:pPr>
            <a:endParaRPr sz="800">
              <a:solidFill>
                <a:schemeClr val="dk2"/>
              </a:solidFill>
              <a:latin typeface="Roboto"/>
              <a:ea typeface="Roboto"/>
              <a:cs typeface="Roboto"/>
              <a:sym typeface="Roboto"/>
            </a:endParaRPr>
          </a:p>
        </p:txBody>
      </p:sp>
      <p:sp>
        <p:nvSpPr>
          <p:cNvPr id="167" name="Google Shape;167;p17"/>
          <p:cNvSpPr txBox="1"/>
          <p:nvPr/>
        </p:nvSpPr>
        <p:spPr>
          <a:xfrm>
            <a:off x="5709234" y="1860288"/>
            <a:ext cx="734700" cy="21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latin typeface="Roboto"/>
                <a:ea typeface="Roboto"/>
                <a:cs typeface="Roboto"/>
                <a:sym typeface="Roboto"/>
              </a:rPr>
              <a:t>NOV 5</a:t>
            </a:r>
            <a:endParaRPr sz="800">
              <a:solidFill>
                <a:schemeClr val="dk2"/>
              </a:solidFill>
              <a:latin typeface="Roboto"/>
              <a:ea typeface="Roboto"/>
              <a:cs typeface="Roboto"/>
              <a:sym typeface="Roboto"/>
            </a:endParaRPr>
          </a:p>
          <a:p>
            <a:pPr marL="0" lvl="0" indent="0" algn="l" rtl="0">
              <a:spcBef>
                <a:spcPts val="1600"/>
              </a:spcBef>
              <a:spcAft>
                <a:spcPts val="1600"/>
              </a:spcAft>
              <a:buNone/>
            </a:pPr>
            <a:endParaRPr sz="800">
              <a:solidFill>
                <a:schemeClr val="dk2"/>
              </a:solidFill>
              <a:latin typeface="Roboto"/>
              <a:ea typeface="Roboto"/>
              <a:cs typeface="Roboto"/>
              <a:sym typeface="Roboto"/>
            </a:endParaRPr>
          </a:p>
        </p:txBody>
      </p:sp>
      <p:sp>
        <p:nvSpPr>
          <p:cNvPr id="168" name="Google Shape;168;p17"/>
          <p:cNvSpPr txBox="1"/>
          <p:nvPr/>
        </p:nvSpPr>
        <p:spPr>
          <a:xfrm>
            <a:off x="6811371" y="1860288"/>
            <a:ext cx="734700" cy="21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latin typeface="Roboto"/>
                <a:ea typeface="Roboto"/>
                <a:cs typeface="Roboto"/>
                <a:sym typeface="Roboto"/>
              </a:rPr>
              <a:t>DEC 3</a:t>
            </a:r>
            <a:endParaRPr sz="800">
              <a:solidFill>
                <a:schemeClr val="dk2"/>
              </a:solidFill>
              <a:latin typeface="Roboto"/>
              <a:ea typeface="Roboto"/>
              <a:cs typeface="Roboto"/>
              <a:sym typeface="Roboto"/>
            </a:endParaRPr>
          </a:p>
          <a:p>
            <a:pPr marL="0" lvl="0" indent="0" algn="l" rtl="0">
              <a:spcBef>
                <a:spcPts val="1600"/>
              </a:spcBef>
              <a:spcAft>
                <a:spcPts val="1600"/>
              </a:spcAft>
              <a:buNone/>
            </a:pPr>
            <a:endParaRPr sz="800">
              <a:solidFill>
                <a:schemeClr val="dk2"/>
              </a:solidFill>
              <a:latin typeface="Roboto"/>
              <a:ea typeface="Roboto"/>
              <a:cs typeface="Roboto"/>
              <a:sym typeface="Roboto"/>
            </a:endParaRPr>
          </a:p>
        </p:txBody>
      </p:sp>
      <p:cxnSp>
        <p:nvCxnSpPr>
          <p:cNvPr id="169" name="Google Shape;169;p17"/>
          <p:cNvCxnSpPr/>
          <p:nvPr/>
        </p:nvCxnSpPr>
        <p:spPr>
          <a:xfrm>
            <a:off x="5044640" y="2087583"/>
            <a:ext cx="639000" cy="660000"/>
          </a:xfrm>
          <a:prstGeom prst="straightConnector1">
            <a:avLst/>
          </a:prstGeom>
          <a:noFill/>
          <a:ln w="9525" cap="flat" cmpd="sng">
            <a:solidFill>
              <a:schemeClr val="accent1"/>
            </a:solidFill>
            <a:prstDash val="solid"/>
            <a:round/>
            <a:headEnd type="none" w="med" len="med"/>
            <a:tailEnd type="none" w="med" len="med"/>
          </a:ln>
        </p:spPr>
      </p:cxnSp>
      <p:sp>
        <p:nvSpPr>
          <p:cNvPr id="170" name="Google Shape;170;p17"/>
          <p:cNvSpPr/>
          <p:nvPr/>
        </p:nvSpPr>
        <p:spPr>
          <a:xfrm flipH="1">
            <a:off x="4511061" y="2626583"/>
            <a:ext cx="1185000" cy="128100"/>
          </a:xfrm>
          <a:prstGeom prst="parallelogram">
            <a:avLst>
              <a:gd name="adj" fmla="val 96952"/>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999999"/>
              </a:solidFill>
            </a:endParaRPr>
          </a:p>
        </p:txBody>
      </p:sp>
      <p:sp>
        <p:nvSpPr>
          <p:cNvPr id="171" name="Google Shape;171;p17"/>
          <p:cNvSpPr/>
          <p:nvPr/>
        </p:nvSpPr>
        <p:spPr>
          <a:xfrm>
            <a:off x="4510688" y="2768163"/>
            <a:ext cx="1185000" cy="128100"/>
          </a:xfrm>
          <a:prstGeom prst="parallelogram">
            <a:avLst>
              <a:gd name="adj" fmla="val 96952"/>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999999"/>
              </a:solidFill>
            </a:endParaRPr>
          </a:p>
        </p:txBody>
      </p:sp>
      <p:sp>
        <p:nvSpPr>
          <p:cNvPr id="172" name="Google Shape;172;p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Project timeline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Overview</a:t>
            </a:r>
            <a:endParaRPr/>
          </a:p>
        </p:txBody>
      </p:sp>
      <p:sp>
        <p:nvSpPr>
          <p:cNvPr id="178" name="Google Shape;178;p18"/>
          <p:cNvSpPr txBox="1">
            <a:spLocks noGrp="1"/>
          </p:cNvSpPr>
          <p:nvPr>
            <p:ph type="body" idx="1"/>
          </p:nvPr>
        </p:nvSpPr>
        <p:spPr>
          <a:xfrm>
            <a:off x="872200" y="1853850"/>
            <a:ext cx="7133700" cy="3010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400">
                <a:solidFill>
                  <a:schemeClr val="dk2"/>
                </a:solidFill>
              </a:rPr>
              <a:t>Randomness is a critical in ensuring the security of cryptographic systems</a:t>
            </a:r>
            <a:endParaRPr sz="1400">
              <a:solidFill>
                <a:schemeClr val="dk2"/>
              </a:solidFill>
            </a:endParaRPr>
          </a:p>
          <a:p>
            <a:pPr marL="457200" lvl="0" indent="-317500" algn="l" rtl="0">
              <a:spcBef>
                <a:spcPts val="1200"/>
              </a:spcBef>
              <a:spcAft>
                <a:spcPts val="0"/>
              </a:spcAft>
              <a:buClr>
                <a:schemeClr val="dk2"/>
              </a:buClr>
              <a:buSzPts val="1400"/>
              <a:buChar char="❖"/>
            </a:pPr>
            <a:r>
              <a:rPr lang="en-GB" sz="1400">
                <a:solidFill>
                  <a:schemeClr val="dk2"/>
                </a:solidFill>
              </a:rPr>
              <a:t>Used for key generation, padding, nonces, and initialization vectors (IV)</a:t>
            </a:r>
            <a:endParaRPr sz="1400">
              <a:solidFill>
                <a:schemeClr val="dk2"/>
              </a:solidFill>
            </a:endParaRPr>
          </a:p>
          <a:p>
            <a:pPr marL="0" lvl="0" indent="0" algn="l" rtl="0">
              <a:spcBef>
                <a:spcPts val="1200"/>
              </a:spcBef>
              <a:spcAft>
                <a:spcPts val="0"/>
              </a:spcAft>
              <a:buNone/>
            </a:pPr>
            <a:r>
              <a:rPr lang="en-GB" sz="1400">
                <a:solidFill>
                  <a:schemeClr val="dk2"/>
                </a:solidFill>
              </a:rPr>
              <a:t>A sequence of numbers is random if it is unpredictable:</a:t>
            </a:r>
            <a:endParaRPr sz="1400">
              <a:solidFill>
                <a:schemeClr val="dk2"/>
              </a:solidFill>
            </a:endParaRPr>
          </a:p>
          <a:p>
            <a:pPr marL="457200" lvl="0" indent="-317500" algn="l" rtl="0">
              <a:spcBef>
                <a:spcPts val="1200"/>
              </a:spcBef>
              <a:spcAft>
                <a:spcPts val="0"/>
              </a:spcAft>
              <a:buClr>
                <a:schemeClr val="dk2"/>
              </a:buClr>
              <a:buSzPts val="1400"/>
              <a:buAutoNum type="arabicPeriod"/>
            </a:pPr>
            <a:r>
              <a:rPr lang="en-GB" sz="1400">
                <a:solidFill>
                  <a:schemeClr val="dk2"/>
                </a:solidFill>
              </a:rPr>
              <a:t>Knowing previous outputs of sequence do not help in predicting future outputs</a:t>
            </a:r>
            <a:endParaRPr sz="1400">
              <a:solidFill>
                <a:schemeClr val="dk2"/>
              </a:solidFill>
            </a:endParaRPr>
          </a:p>
          <a:p>
            <a:pPr marL="457200" lvl="0" indent="-317500" algn="l" rtl="0">
              <a:spcBef>
                <a:spcPts val="0"/>
              </a:spcBef>
              <a:spcAft>
                <a:spcPts val="0"/>
              </a:spcAft>
              <a:buClr>
                <a:schemeClr val="dk2"/>
              </a:buClr>
              <a:buSzPts val="1400"/>
              <a:buAutoNum type="arabicPeriod"/>
            </a:pPr>
            <a:r>
              <a:rPr lang="en-GB" sz="1400">
                <a:solidFill>
                  <a:schemeClr val="dk2"/>
                </a:solidFill>
              </a:rPr>
              <a:t>Knowing that a sequence is random for certain is impossible</a:t>
            </a:r>
            <a:endParaRPr sz="1400">
              <a:solidFill>
                <a:schemeClr val="dk2"/>
              </a:solidFill>
            </a:endParaRPr>
          </a:p>
          <a:p>
            <a:pPr marL="0" lvl="0" indent="0" algn="l" rtl="0">
              <a:spcBef>
                <a:spcPts val="1200"/>
              </a:spcBef>
              <a:spcAft>
                <a:spcPts val="1200"/>
              </a:spcAft>
              <a:buNone/>
            </a:pPr>
            <a:r>
              <a:rPr lang="en-GB" sz="1400">
                <a:solidFill>
                  <a:schemeClr val="dk2"/>
                </a:solidFill>
              </a:rPr>
              <a:t>Necessary unpredictability can be provided by using external noise sources, but we need a method of approximating the unpredictability of a noise source</a:t>
            </a:r>
            <a:endParaRPr sz="1400">
              <a:solidFill>
                <a:schemeClr val="dk2"/>
              </a:solidFill>
            </a:endParaRPr>
          </a:p>
        </p:txBody>
      </p:sp>
      <p:sp>
        <p:nvSpPr>
          <p:cNvPr id="179" name="Google Shape;179;p18"/>
          <p:cNvSpPr txBox="1"/>
          <p:nvPr/>
        </p:nvSpPr>
        <p:spPr>
          <a:xfrm>
            <a:off x="3449450" y="4248450"/>
            <a:ext cx="4154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b="1" i="1">
              <a:solidFill>
                <a:schemeClr val="dk2"/>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9"/>
          <p:cNvSpPr txBox="1">
            <a:spLocks noGrp="1"/>
          </p:cNvSpPr>
          <p:nvPr>
            <p:ph type="body" idx="1"/>
          </p:nvPr>
        </p:nvSpPr>
        <p:spPr>
          <a:xfrm>
            <a:off x="1005150" y="1853850"/>
            <a:ext cx="7133700" cy="3010200"/>
          </a:xfrm>
          <a:prstGeom prst="rect">
            <a:avLst/>
          </a:prstGeom>
        </p:spPr>
        <p:txBody>
          <a:bodyPr spcFirstLastPara="1" wrap="square" lIns="91425" tIns="91425" rIns="91425" bIns="91425" anchor="t" anchorCtr="0">
            <a:normAutofit fontScale="92500" lnSpcReduction="10000"/>
          </a:bodyPr>
          <a:lstStyle/>
          <a:p>
            <a:pPr marL="457200" lvl="0" indent="-310832" algn="l" rtl="0">
              <a:spcBef>
                <a:spcPts val="0"/>
              </a:spcBef>
              <a:spcAft>
                <a:spcPts val="0"/>
              </a:spcAft>
              <a:buClr>
                <a:schemeClr val="dk2"/>
              </a:buClr>
              <a:buSzPct val="100000"/>
              <a:buChar char="●"/>
            </a:pPr>
            <a:r>
              <a:rPr lang="en-GB" sz="1400">
                <a:solidFill>
                  <a:schemeClr val="dk2"/>
                </a:solidFill>
              </a:rPr>
              <a:t>A Random Number Generator (RNG) can be implemented as a hardware device or software algorithm</a:t>
            </a:r>
            <a:endParaRPr sz="1400">
              <a:solidFill>
                <a:schemeClr val="dk2"/>
              </a:solidFill>
            </a:endParaRPr>
          </a:p>
          <a:p>
            <a:pPr marL="0" lvl="0" indent="0" algn="l" rtl="0">
              <a:spcBef>
                <a:spcPts val="0"/>
              </a:spcBef>
              <a:spcAft>
                <a:spcPts val="0"/>
              </a:spcAft>
              <a:buNone/>
            </a:pPr>
            <a:endParaRPr sz="1400">
              <a:solidFill>
                <a:schemeClr val="dk2"/>
              </a:solidFill>
            </a:endParaRPr>
          </a:p>
          <a:p>
            <a:pPr marL="457200" lvl="0" indent="-310832" algn="l" rtl="0">
              <a:spcBef>
                <a:spcPts val="0"/>
              </a:spcBef>
              <a:spcAft>
                <a:spcPts val="0"/>
              </a:spcAft>
              <a:buClr>
                <a:schemeClr val="dk2"/>
              </a:buClr>
              <a:buSzPct val="100000"/>
              <a:buChar char="●"/>
            </a:pPr>
            <a:r>
              <a:rPr lang="en-GB" sz="1400">
                <a:solidFill>
                  <a:schemeClr val="dk2"/>
                </a:solidFill>
              </a:rPr>
              <a:t>The function of a RNG is to take a probability distribution and generate a number </a:t>
            </a:r>
            <a:endParaRPr sz="1400">
              <a:solidFill>
                <a:schemeClr val="dk2"/>
              </a:solidFill>
            </a:endParaRPr>
          </a:p>
          <a:p>
            <a:pPr marL="0" lvl="0" indent="0" algn="l" rtl="0">
              <a:spcBef>
                <a:spcPts val="0"/>
              </a:spcBef>
              <a:spcAft>
                <a:spcPts val="0"/>
              </a:spcAft>
              <a:buNone/>
            </a:pPr>
            <a:endParaRPr sz="1400">
              <a:solidFill>
                <a:schemeClr val="dk2"/>
              </a:solidFill>
            </a:endParaRPr>
          </a:p>
          <a:p>
            <a:pPr marL="457200" lvl="0" indent="-310832" algn="l" rtl="0">
              <a:spcBef>
                <a:spcPts val="0"/>
              </a:spcBef>
              <a:spcAft>
                <a:spcPts val="0"/>
              </a:spcAft>
              <a:buClr>
                <a:schemeClr val="dk2"/>
              </a:buClr>
              <a:buSzPct val="100000"/>
              <a:buChar char="●"/>
            </a:pPr>
            <a:r>
              <a:rPr lang="en-GB" sz="1400">
                <a:solidFill>
                  <a:schemeClr val="dk2"/>
                </a:solidFill>
              </a:rPr>
              <a:t>A RNG is typically deterministic or a Pseudo Random Number Generator </a:t>
            </a:r>
            <a:endParaRPr sz="1400">
              <a:solidFill>
                <a:schemeClr val="dk2"/>
              </a:solidFill>
            </a:endParaRPr>
          </a:p>
          <a:p>
            <a:pPr marL="914400" lvl="1" indent="-310832" algn="l" rtl="0">
              <a:spcBef>
                <a:spcPts val="0"/>
              </a:spcBef>
              <a:spcAft>
                <a:spcPts val="0"/>
              </a:spcAft>
              <a:buClr>
                <a:schemeClr val="dk2"/>
              </a:buClr>
              <a:buSzPct val="100000"/>
              <a:buChar char="○"/>
            </a:pPr>
            <a:r>
              <a:rPr lang="en-GB" sz="1400">
                <a:solidFill>
                  <a:schemeClr val="dk2"/>
                </a:solidFill>
              </a:rPr>
              <a:t>Given the same input, the PRNG will always produce the same output </a:t>
            </a:r>
            <a:endParaRPr sz="1400">
              <a:solidFill>
                <a:schemeClr val="dk2"/>
              </a:solidFill>
            </a:endParaRPr>
          </a:p>
          <a:p>
            <a:pPr marL="914400" lvl="1" indent="-310832" algn="l" rtl="0">
              <a:spcBef>
                <a:spcPts val="0"/>
              </a:spcBef>
              <a:spcAft>
                <a:spcPts val="0"/>
              </a:spcAft>
              <a:buClr>
                <a:srgbClr val="FF0000"/>
              </a:buClr>
              <a:buSzPct val="100000"/>
              <a:buChar char="○"/>
            </a:pPr>
            <a:r>
              <a:rPr lang="en-GB" sz="1400" i="1">
                <a:solidFill>
                  <a:srgbClr val="FF0000"/>
                </a:solidFill>
              </a:rPr>
              <a:t>Not safe to use in secure cryptographic applications</a:t>
            </a:r>
            <a:endParaRPr sz="1400" i="1">
              <a:solidFill>
                <a:srgbClr val="FF0000"/>
              </a:solidFill>
            </a:endParaRPr>
          </a:p>
          <a:p>
            <a:pPr marL="0" lvl="0" indent="0" algn="l" rtl="0">
              <a:spcBef>
                <a:spcPts val="0"/>
              </a:spcBef>
              <a:spcAft>
                <a:spcPts val="0"/>
              </a:spcAft>
              <a:buNone/>
            </a:pPr>
            <a:endParaRPr sz="1400">
              <a:solidFill>
                <a:schemeClr val="dk2"/>
              </a:solidFill>
            </a:endParaRPr>
          </a:p>
          <a:p>
            <a:pPr marL="457200" lvl="0" indent="-310832" algn="l" rtl="0">
              <a:spcBef>
                <a:spcPts val="0"/>
              </a:spcBef>
              <a:spcAft>
                <a:spcPts val="0"/>
              </a:spcAft>
              <a:buClr>
                <a:schemeClr val="dk2"/>
              </a:buClr>
              <a:buSzPct val="100000"/>
              <a:buChar char="●"/>
            </a:pPr>
            <a:r>
              <a:rPr lang="en-GB" sz="1400">
                <a:solidFill>
                  <a:schemeClr val="dk2"/>
                </a:solidFill>
              </a:rPr>
              <a:t>A non-deterministic RNG should be considered in scenarios in which security is critical</a:t>
            </a:r>
            <a:endParaRPr sz="1400">
              <a:solidFill>
                <a:schemeClr val="dk2"/>
              </a:solidFill>
            </a:endParaRPr>
          </a:p>
          <a:p>
            <a:pPr marL="0" lvl="0" indent="0" algn="l" rtl="0">
              <a:spcBef>
                <a:spcPts val="0"/>
              </a:spcBef>
              <a:spcAft>
                <a:spcPts val="0"/>
              </a:spcAft>
              <a:buNone/>
            </a:pPr>
            <a:endParaRPr sz="1400">
              <a:solidFill>
                <a:schemeClr val="dk2"/>
              </a:solidFill>
            </a:endParaRPr>
          </a:p>
          <a:p>
            <a:pPr marL="457200" lvl="0" indent="-310832" algn="l" rtl="0">
              <a:spcBef>
                <a:spcPts val="0"/>
              </a:spcBef>
              <a:spcAft>
                <a:spcPts val="0"/>
              </a:spcAft>
              <a:buClr>
                <a:schemeClr val="dk2"/>
              </a:buClr>
              <a:buSzPct val="100000"/>
              <a:buChar char="●"/>
            </a:pPr>
            <a:r>
              <a:rPr lang="en-GB" sz="1400">
                <a:solidFill>
                  <a:schemeClr val="dk2"/>
                </a:solidFill>
              </a:rPr>
              <a:t>To achieve an acceptable level of security with a RNG, we need to consider a source of entropy that provides a sufficient amount of randomness</a:t>
            </a:r>
            <a:endParaRPr sz="1400">
              <a:solidFill>
                <a:schemeClr val="dk2"/>
              </a:solidFill>
            </a:endParaRPr>
          </a:p>
        </p:txBody>
      </p:sp>
      <p:sp>
        <p:nvSpPr>
          <p:cNvPr id="185" name="Google Shape;185;p1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Random Number Generation (RNG)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0"/>
          <p:cNvSpPr txBox="1">
            <a:spLocks noGrp="1"/>
          </p:cNvSpPr>
          <p:nvPr>
            <p:ph type="body" idx="1"/>
          </p:nvPr>
        </p:nvSpPr>
        <p:spPr>
          <a:xfrm>
            <a:off x="932950" y="1853850"/>
            <a:ext cx="6088200" cy="30102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2"/>
              </a:buClr>
              <a:buSzPts val="1400"/>
              <a:buChar char="●"/>
            </a:pPr>
            <a:r>
              <a:rPr lang="en-GB">
                <a:solidFill>
                  <a:schemeClr val="dk2"/>
                </a:solidFill>
              </a:rPr>
              <a:t>Entropy is a way to measure </a:t>
            </a:r>
            <a:r>
              <a:rPr lang="en-GB" b="1">
                <a:solidFill>
                  <a:schemeClr val="dk2"/>
                </a:solidFill>
              </a:rPr>
              <a:t>uncertainty</a:t>
            </a:r>
            <a:r>
              <a:rPr lang="en-GB">
                <a:solidFill>
                  <a:schemeClr val="dk2"/>
                </a:solidFill>
              </a:rPr>
              <a:t> or </a:t>
            </a:r>
            <a:r>
              <a:rPr lang="en-GB" b="1">
                <a:solidFill>
                  <a:schemeClr val="dk2"/>
                </a:solidFill>
              </a:rPr>
              <a:t>disorder</a:t>
            </a:r>
            <a:r>
              <a:rPr lang="en-GB">
                <a:solidFill>
                  <a:schemeClr val="dk2"/>
                </a:solidFill>
              </a:rPr>
              <a:t> in a system </a:t>
            </a:r>
            <a:endParaRPr>
              <a:solidFill>
                <a:schemeClr val="dk2"/>
              </a:solidFill>
            </a:endParaRPr>
          </a:p>
          <a:p>
            <a:pPr marL="914400" lvl="1" indent="-317500" algn="l" rtl="0">
              <a:lnSpc>
                <a:spcPct val="100000"/>
              </a:lnSpc>
              <a:spcBef>
                <a:spcPts val="0"/>
              </a:spcBef>
              <a:spcAft>
                <a:spcPts val="0"/>
              </a:spcAft>
              <a:buClr>
                <a:schemeClr val="dk2"/>
              </a:buClr>
              <a:buSzPts val="1400"/>
              <a:buChar char="○"/>
            </a:pPr>
            <a:r>
              <a:rPr lang="en-GB">
                <a:solidFill>
                  <a:srgbClr val="151515"/>
                </a:solidFill>
                <a:highlight>
                  <a:schemeClr val="lt1"/>
                </a:highlight>
              </a:rPr>
              <a:t>The higher the entropy, the lower the certainty</a:t>
            </a:r>
            <a:endParaRPr>
              <a:solidFill>
                <a:srgbClr val="151515"/>
              </a:solidFill>
              <a:highlight>
                <a:schemeClr val="lt1"/>
              </a:highlight>
            </a:endParaRPr>
          </a:p>
          <a:p>
            <a:pPr marL="457200" lvl="0" indent="-317500" algn="l" rtl="0">
              <a:spcBef>
                <a:spcPts val="0"/>
              </a:spcBef>
              <a:spcAft>
                <a:spcPts val="0"/>
              </a:spcAft>
              <a:buClr>
                <a:schemeClr val="dk2"/>
              </a:buClr>
              <a:buSzPts val="1400"/>
              <a:buChar char="●"/>
            </a:pPr>
            <a:r>
              <a:rPr lang="en-GB">
                <a:solidFill>
                  <a:schemeClr val="dk2"/>
                </a:solidFill>
              </a:rPr>
              <a:t>Entropy can be reliably obtained from our surroundings, which is chaotic and uncertain</a:t>
            </a:r>
            <a:endParaRPr>
              <a:solidFill>
                <a:srgbClr val="151515"/>
              </a:solidFill>
              <a:highlight>
                <a:schemeClr val="lt1"/>
              </a:highlight>
            </a:endParaRPr>
          </a:p>
          <a:p>
            <a:pPr marL="457200" lvl="0" indent="-317500" algn="l" rtl="0">
              <a:spcBef>
                <a:spcPts val="0"/>
              </a:spcBef>
              <a:spcAft>
                <a:spcPts val="0"/>
              </a:spcAft>
              <a:buClr>
                <a:schemeClr val="dk2"/>
              </a:buClr>
              <a:buSzPts val="1400"/>
              <a:buChar char="●"/>
            </a:pPr>
            <a:r>
              <a:rPr lang="en-GB" sz="1400">
                <a:solidFill>
                  <a:schemeClr val="dk2"/>
                </a:solidFill>
              </a:rPr>
              <a:t>Shannon Entropy </a:t>
            </a:r>
            <a:endParaRPr sz="1400">
              <a:solidFill>
                <a:schemeClr val="dk2"/>
              </a:solidFill>
            </a:endParaRPr>
          </a:p>
          <a:p>
            <a:pPr marL="914400" lvl="1" indent="-317500" algn="l" rtl="0">
              <a:spcBef>
                <a:spcPts val="0"/>
              </a:spcBef>
              <a:spcAft>
                <a:spcPts val="0"/>
              </a:spcAft>
              <a:buClr>
                <a:schemeClr val="dk2"/>
              </a:buClr>
              <a:buSzPts val="1400"/>
              <a:buChar char="○"/>
            </a:pPr>
            <a:r>
              <a:rPr lang="en-GB" sz="1400">
                <a:solidFill>
                  <a:schemeClr val="dk2"/>
                </a:solidFill>
              </a:rPr>
              <a:t>Average uncertainty of  a space of probabilities </a:t>
            </a:r>
            <a:endParaRPr sz="1400">
              <a:solidFill>
                <a:schemeClr val="dk2"/>
              </a:solidFill>
            </a:endParaRPr>
          </a:p>
          <a:p>
            <a:pPr marL="0" lvl="0" indent="0" algn="l" rtl="0">
              <a:spcBef>
                <a:spcPts val="1200"/>
              </a:spcBef>
              <a:spcAft>
                <a:spcPts val="0"/>
              </a:spcAft>
              <a:buNone/>
            </a:pPr>
            <a:endParaRPr sz="1400">
              <a:solidFill>
                <a:schemeClr val="dk2"/>
              </a:solidFill>
            </a:endParaRPr>
          </a:p>
          <a:p>
            <a:pPr marL="457200" lvl="0" indent="-317500" algn="l" rtl="0">
              <a:spcBef>
                <a:spcPts val="1200"/>
              </a:spcBef>
              <a:spcAft>
                <a:spcPts val="0"/>
              </a:spcAft>
              <a:buClr>
                <a:schemeClr val="dk2"/>
              </a:buClr>
              <a:buSzPts val="1400"/>
              <a:buChar char="●"/>
            </a:pPr>
            <a:r>
              <a:rPr lang="en-GB" sz="1400">
                <a:solidFill>
                  <a:schemeClr val="dk2"/>
                </a:solidFill>
              </a:rPr>
              <a:t>Min entropy 	</a:t>
            </a:r>
            <a:endParaRPr sz="1400">
              <a:solidFill>
                <a:schemeClr val="dk2"/>
              </a:solidFill>
            </a:endParaRPr>
          </a:p>
          <a:p>
            <a:pPr marL="914400" lvl="1" indent="-317500" algn="l" rtl="0">
              <a:spcBef>
                <a:spcPts val="0"/>
              </a:spcBef>
              <a:spcAft>
                <a:spcPts val="0"/>
              </a:spcAft>
              <a:buClr>
                <a:schemeClr val="dk2"/>
              </a:buClr>
              <a:buSzPts val="1400"/>
              <a:buChar char="○"/>
            </a:pPr>
            <a:r>
              <a:rPr lang="en-GB" sz="1400">
                <a:solidFill>
                  <a:schemeClr val="dk2"/>
                </a:solidFill>
              </a:rPr>
              <a:t>Only looking at highest probability</a:t>
            </a:r>
            <a:endParaRPr sz="1400">
              <a:solidFill>
                <a:schemeClr val="dk2"/>
              </a:solidFill>
            </a:endParaRPr>
          </a:p>
        </p:txBody>
      </p:sp>
      <p:sp>
        <p:nvSpPr>
          <p:cNvPr id="191" name="Google Shape;191;p20"/>
          <p:cNvSpPr txBox="1">
            <a:spLocks noGrp="1"/>
          </p:cNvSpPr>
          <p:nvPr>
            <p:ph type="title"/>
          </p:nvPr>
        </p:nvSpPr>
        <p:spPr>
          <a:xfrm>
            <a:off x="7276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Entropy</a:t>
            </a:r>
            <a:endParaRPr/>
          </a:p>
        </p:txBody>
      </p:sp>
      <p:pic>
        <p:nvPicPr>
          <p:cNvPr id="192" name="Google Shape;192;p20"/>
          <p:cNvPicPr preferRelativeResize="0"/>
          <p:nvPr/>
        </p:nvPicPr>
        <p:blipFill>
          <a:blip r:embed="rId3">
            <a:alphaModFix/>
          </a:blip>
          <a:stretch>
            <a:fillRect/>
          </a:stretch>
        </p:blipFill>
        <p:spPr>
          <a:xfrm>
            <a:off x="7093400" y="973200"/>
            <a:ext cx="1817025" cy="2899824"/>
          </a:xfrm>
          <a:prstGeom prst="rect">
            <a:avLst/>
          </a:prstGeom>
          <a:noFill/>
          <a:ln>
            <a:noFill/>
          </a:ln>
        </p:spPr>
      </p:pic>
      <p:sp>
        <p:nvSpPr>
          <p:cNvPr id="193" name="Google Shape;193;p20"/>
          <p:cNvSpPr txBox="1"/>
          <p:nvPr/>
        </p:nvSpPr>
        <p:spPr>
          <a:xfrm>
            <a:off x="7093400" y="3962775"/>
            <a:ext cx="18630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900" i="1">
                <a:solidFill>
                  <a:schemeClr val="dk2"/>
                </a:solidFill>
                <a:highlight>
                  <a:schemeClr val="lt1"/>
                </a:highlight>
                <a:latin typeface="Lato"/>
                <a:ea typeface="Lato"/>
                <a:cs typeface="Lato"/>
                <a:sym typeface="Lato"/>
              </a:rPr>
              <a:t>Used to quantify the similarity or difference in # of</a:t>
            </a:r>
            <a:r>
              <a:rPr lang="en-GB" sz="900" i="1">
                <a:solidFill>
                  <a:schemeClr val="lt1"/>
                </a:solidFill>
                <a:highlight>
                  <a:schemeClr val="lt1"/>
                </a:highlight>
                <a:latin typeface="Lato"/>
                <a:ea typeface="Lato"/>
                <a:cs typeface="Lato"/>
                <a:sym typeface="Lato"/>
              </a:rPr>
              <a:t> </a:t>
            </a:r>
            <a:r>
              <a:rPr lang="en-GB" sz="900" i="1">
                <a:solidFill>
                  <a:srgbClr val="FF9900"/>
                </a:solidFill>
                <a:highlight>
                  <a:schemeClr val="lt1"/>
                </a:highlight>
                <a:latin typeface="Lato"/>
                <a:ea typeface="Lato"/>
                <a:cs typeface="Lato"/>
                <a:sym typeface="Lato"/>
              </a:rPr>
              <a:t>Orange </a:t>
            </a:r>
            <a:r>
              <a:rPr lang="en-GB" sz="900" i="1">
                <a:solidFill>
                  <a:schemeClr val="dk2"/>
                </a:solidFill>
                <a:highlight>
                  <a:schemeClr val="lt1"/>
                </a:highlight>
                <a:latin typeface="Lato"/>
                <a:ea typeface="Lato"/>
                <a:cs typeface="Lato"/>
                <a:sym typeface="Lato"/>
              </a:rPr>
              <a:t>or </a:t>
            </a:r>
            <a:r>
              <a:rPr lang="en-GB" sz="900" i="1">
                <a:solidFill>
                  <a:srgbClr val="2196F3"/>
                </a:solidFill>
                <a:highlight>
                  <a:schemeClr val="lt1"/>
                </a:highlight>
                <a:latin typeface="Lato"/>
                <a:ea typeface="Lato"/>
                <a:cs typeface="Lato"/>
                <a:sym typeface="Lato"/>
              </a:rPr>
              <a:t>Blue </a:t>
            </a:r>
            <a:r>
              <a:rPr lang="en-GB" sz="900" i="1">
                <a:solidFill>
                  <a:schemeClr val="dk2"/>
                </a:solidFill>
                <a:highlight>
                  <a:schemeClr val="lt1"/>
                </a:highlight>
                <a:latin typeface="Lato"/>
                <a:ea typeface="Lato"/>
                <a:cs typeface="Lato"/>
                <a:sym typeface="Lato"/>
              </a:rPr>
              <a:t>chickens in each area</a:t>
            </a:r>
            <a:endParaRPr sz="900" i="1">
              <a:solidFill>
                <a:schemeClr val="dk2"/>
              </a:solidFill>
              <a:highlight>
                <a:schemeClr val="lt1"/>
              </a:highlight>
              <a:latin typeface="Lato"/>
              <a:ea typeface="Lato"/>
              <a:cs typeface="Lato"/>
              <a:sym typeface="Lato"/>
            </a:endParaRPr>
          </a:p>
        </p:txBody>
      </p:sp>
      <p:pic>
        <p:nvPicPr>
          <p:cNvPr id="194" name="Google Shape;194;p20"/>
          <p:cNvPicPr preferRelativeResize="0"/>
          <p:nvPr/>
        </p:nvPicPr>
        <p:blipFill>
          <a:blip r:embed="rId4">
            <a:alphaModFix/>
          </a:blip>
          <a:stretch>
            <a:fillRect/>
          </a:stretch>
        </p:blipFill>
        <p:spPr>
          <a:xfrm>
            <a:off x="1984800" y="3419925"/>
            <a:ext cx="1479825" cy="380525"/>
          </a:xfrm>
          <a:prstGeom prst="rect">
            <a:avLst/>
          </a:prstGeom>
          <a:noFill/>
          <a:ln>
            <a:noFill/>
          </a:ln>
        </p:spPr>
      </p:pic>
      <p:pic>
        <p:nvPicPr>
          <p:cNvPr id="195" name="Google Shape;195;p20"/>
          <p:cNvPicPr preferRelativeResize="0"/>
          <p:nvPr/>
        </p:nvPicPr>
        <p:blipFill>
          <a:blip r:embed="rId5">
            <a:alphaModFix/>
          </a:blip>
          <a:stretch>
            <a:fillRect/>
          </a:stretch>
        </p:blipFill>
        <p:spPr>
          <a:xfrm>
            <a:off x="1984800" y="4418250"/>
            <a:ext cx="1159695" cy="380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1"/>
          <p:cNvSpPr txBox="1">
            <a:spLocks noGrp="1"/>
          </p:cNvSpPr>
          <p:nvPr>
            <p:ph type="title"/>
          </p:nvPr>
        </p:nvSpPr>
        <p:spPr>
          <a:xfrm>
            <a:off x="730000" y="1318650"/>
            <a:ext cx="5210400" cy="1381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Numeric Distributions</a:t>
            </a:r>
            <a:endParaRPr/>
          </a:p>
        </p:txBody>
      </p:sp>
      <p:sp>
        <p:nvSpPr>
          <p:cNvPr id="201" name="Google Shape;201;p21"/>
          <p:cNvSpPr txBox="1">
            <a:spLocks noGrp="1"/>
          </p:cNvSpPr>
          <p:nvPr>
            <p:ph type="body" idx="1"/>
          </p:nvPr>
        </p:nvSpPr>
        <p:spPr>
          <a:xfrm>
            <a:off x="853150" y="1858500"/>
            <a:ext cx="6716700" cy="437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a:solidFill>
                  <a:schemeClr val="dk2"/>
                </a:solidFill>
              </a:rPr>
              <a:t>Datasets simulated for modeling were accumulated through varying distributions.</a:t>
            </a:r>
            <a:endParaRPr>
              <a:solidFill>
                <a:schemeClr val="dk2"/>
              </a:solidFill>
            </a:endParaRPr>
          </a:p>
        </p:txBody>
      </p:sp>
      <p:sp>
        <p:nvSpPr>
          <p:cNvPr id="202" name="Google Shape;202;p21"/>
          <p:cNvSpPr txBox="1">
            <a:spLocks noGrp="1"/>
          </p:cNvSpPr>
          <p:nvPr>
            <p:ph type="body" idx="1"/>
          </p:nvPr>
        </p:nvSpPr>
        <p:spPr>
          <a:xfrm>
            <a:off x="1397300" y="4603400"/>
            <a:ext cx="2544600" cy="40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solidFill>
                  <a:schemeClr val="dk2"/>
                </a:solidFill>
              </a:rPr>
              <a:t>Discrete Uniform Distribution</a:t>
            </a:r>
            <a:endParaRPr>
              <a:solidFill>
                <a:schemeClr val="dk2"/>
              </a:solidFill>
            </a:endParaRPr>
          </a:p>
        </p:txBody>
      </p:sp>
      <p:sp>
        <p:nvSpPr>
          <p:cNvPr id="203" name="Google Shape;203;p21"/>
          <p:cNvSpPr txBox="1">
            <a:spLocks noGrp="1"/>
          </p:cNvSpPr>
          <p:nvPr>
            <p:ph type="body" idx="1"/>
          </p:nvPr>
        </p:nvSpPr>
        <p:spPr>
          <a:xfrm>
            <a:off x="5295500" y="4585400"/>
            <a:ext cx="2544600" cy="43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solidFill>
                  <a:schemeClr val="dk2"/>
                </a:solidFill>
              </a:rPr>
              <a:t>Truncated Normal Distribution</a:t>
            </a:r>
            <a:endParaRPr>
              <a:solidFill>
                <a:schemeClr val="dk2"/>
              </a:solidFill>
            </a:endParaRPr>
          </a:p>
        </p:txBody>
      </p:sp>
      <p:pic>
        <p:nvPicPr>
          <p:cNvPr id="204" name="Google Shape;204;p21"/>
          <p:cNvPicPr preferRelativeResize="0"/>
          <p:nvPr/>
        </p:nvPicPr>
        <p:blipFill>
          <a:blip r:embed="rId3">
            <a:alphaModFix/>
          </a:blip>
          <a:stretch>
            <a:fillRect/>
          </a:stretch>
        </p:blipFill>
        <p:spPr>
          <a:xfrm>
            <a:off x="1033076" y="2333424"/>
            <a:ext cx="3127749" cy="2251975"/>
          </a:xfrm>
          <a:prstGeom prst="rect">
            <a:avLst/>
          </a:prstGeom>
          <a:noFill/>
          <a:ln>
            <a:noFill/>
          </a:ln>
        </p:spPr>
      </p:pic>
      <p:pic>
        <p:nvPicPr>
          <p:cNvPr id="205" name="Google Shape;205;p21"/>
          <p:cNvPicPr preferRelativeResize="0"/>
          <p:nvPr/>
        </p:nvPicPr>
        <p:blipFill>
          <a:blip r:embed="rId4">
            <a:alphaModFix/>
          </a:blip>
          <a:stretch>
            <a:fillRect/>
          </a:stretch>
        </p:blipFill>
        <p:spPr>
          <a:xfrm>
            <a:off x="5086400" y="2282125"/>
            <a:ext cx="3127738" cy="2345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2"/>
          <p:cNvSpPr txBox="1">
            <a:spLocks noGrp="1"/>
          </p:cNvSpPr>
          <p:nvPr>
            <p:ph type="title"/>
          </p:nvPr>
        </p:nvSpPr>
        <p:spPr>
          <a:xfrm>
            <a:off x="730000" y="1318650"/>
            <a:ext cx="5210400" cy="1381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Numeric Distributions</a:t>
            </a:r>
            <a:endParaRPr/>
          </a:p>
        </p:txBody>
      </p:sp>
      <p:sp>
        <p:nvSpPr>
          <p:cNvPr id="211" name="Google Shape;211;p22"/>
          <p:cNvSpPr txBox="1">
            <a:spLocks noGrp="1"/>
          </p:cNvSpPr>
          <p:nvPr>
            <p:ph type="body" idx="1"/>
          </p:nvPr>
        </p:nvSpPr>
        <p:spPr>
          <a:xfrm>
            <a:off x="853150" y="1858500"/>
            <a:ext cx="6716700" cy="437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a:solidFill>
                  <a:schemeClr val="dk2"/>
                </a:solidFill>
              </a:rPr>
              <a:t>Datasets simulated for modeling were accumulated through varying distributions.</a:t>
            </a:r>
            <a:endParaRPr>
              <a:solidFill>
                <a:schemeClr val="dk2"/>
              </a:solidFill>
            </a:endParaRPr>
          </a:p>
        </p:txBody>
      </p:sp>
      <p:sp>
        <p:nvSpPr>
          <p:cNvPr id="212" name="Google Shape;212;p22"/>
          <p:cNvSpPr txBox="1">
            <a:spLocks noGrp="1"/>
          </p:cNvSpPr>
          <p:nvPr>
            <p:ph type="body" idx="1"/>
          </p:nvPr>
        </p:nvSpPr>
        <p:spPr>
          <a:xfrm>
            <a:off x="1692750" y="4395775"/>
            <a:ext cx="1429500" cy="40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solidFill>
                  <a:schemeClr val="dk2"/>
                </a:solidFill>
              </a:rPr>
              <a:t>Markov Model</a:t>
            </a:r>
            <a:endParaRPr>
              <a:solidFill>
                <a:schemeClr val="dk2"/>
              </a:solidFill>
            </a:endParaRPr>
          </a:p>
        </p:txBody>
      </p:sp>
      <p:sp>
        <p:nvSpPr>
          <p:cNvPr id="213" name="Google Shape;213;p22"/>
          <p:cNvSpPr txBox="1">
            <a:spLocks noGrp="1"/>
          </p:cNvSpPr>
          <p:nvPr>
            <p:ph type="body" idx="1"/>
          </p:nvPr>
        </p:nvSpPr>
        <p:spPr>
          <a:xfrm>
            <a:off x="5413550" y="4403325"/>
            <a:ext cx="1893900" cy="43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solidFill>
                  <a:schemeClr val="dk2"/>
                </a:solidFill>
              </a:rPr>
              <a:t>Binomial Distribution</a:t>
            </a:r>
            <a:endParaRPr>
              <a:solidFill>
                <a:schemeClr val="dk2"/>
              </a:solidFill>
            </a:endParaRPr>
          </a:p>
        </p:txBody>
      </p:sp>
      <p:pic>
        <p:nvPicPr>
          <p:cNvPr id="214" name="Google Shape;214;p22"/>
          <p:cNvPicPr preferRelativeResize="0"/>
          <p:nvPr/>
        </p:nvPicPr>
        <p:blipFill>
          <a:blip r:embed="rId3">
            <a:alphaModFix/>
          </a:blip>
          <a:stretch>
            <a:fillRect/>
          </a:stretch>
        </p:blipFill>
        <p:spPr>
          <a:xfrm>
            <a:off x="4504550" y="2571763"/>
            <a:ext cx="3921851" cy="1555675"/>
          </a:xfrm>
          <a:prstGeom prst="rect">
            <a:avLst/>
          </a:prstGeom>
          <a:noFill/>
          <a:ln>
            <a:noFill/>
          </a:ln>
        </p:spPr>
      </p:pic>
      <p:pic>
        <p:nvPicPr>
          <p:cNvPr id="215" name="Google Shape;215;p22"/>
          <p:cNvPicPr preferRelativeResize="0"/>
          <p:nvPr/>
        </p:nvPicPr>
        <p:blipFill>
          <a:blip r:embed="rId4">
            <a:alphaModFix/>
          </a:blip>
          <a:stretch>
            <a:fillRect/>
          </a:stretch>
        </p:blipFill>
        <p:spPr>
          <a:xfrm>
            <a:off x="1027400" y="2245513"/>
            <a:ext cx="2760200" cy="2208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3"/>
          <p:cNvSpPr txBox="1">
            <a:spLocks noGrp="1"/>
          </p:cNvSpPr>
          <p:nvPr>
            <p:ph type="title"/>
          </p:nvPr>
        </p:nvSpPr>
        <p:spPr>
          <a:xfrm>
            <a:off x="1009700" y="1343825"/>
            <a:ext cx="5609700" cy="5985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1600"/>
              </a:spcAft>
              <a:buNone/>
            </a:pPr>
            <a:r>
              <a:rPr lang="en-GB"/>
              <a:t>Linear Regression</a:t>
            </a:r>
            <a:endParaRPr/>
          </a:p>
        </p:txBody>
      </p:sp>
      <p:sp>
        <p:nvSpPr>
          <p:cNvPr id="221" name="Google Shape;221;p23"/>
          <p:cNvSpPr txBox="1"/>
          <p:nvPr/>
        </p:nvSpPr>
        <p:spPr>
          <a:xfrm>
            <a:off x="1082850" y="1894650"/>
            <a:ext cx="6477000" cy="289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rgbClr val="292929"/>
                </a:solidFill>
                <a:highlight>
                  <a:srgbClr val="FFFFFF"/>
                </a:highlight>
                <a:latin typeface="Georgia"/>
                <a:ea typeface="Georgia"/>
                <a:cs typeface="Georgia"/>
                <a:sym typeface="Georgia"/>
              </a:rPr>
              <a:t>In statistics, linear regressio</a:t>
            </a:r>
            <a:r>
              <a:rPr lang="en-GB" sz="1600">
                <a:solidFill>
                  <a:srgbClr val="292929"/>
                </a:solidFill>
                <a:latin typeface="Georgia"/>
                <a:ea typeface="Georgia"/>
                <a:cs typeface="Georgia"/>
                <a:sym typeface="Georgia"/>
              </a:rPr>
              <a:t>n</a:t>
            </a:r>
            <a:r>
              <a:rPr lang="en-GB" sz="1600">
                <a:solidFill>
                  <a:srgbClr val="292929"/>
                </a:solidFill>
                <a:highlight>
                  <a:srgbClr val="FFFFFF"/>
                </a:highlight>
                <a:latin typeface="Georgia"/>
                <a:ea typeface="Georgia"/>
                <a:cs typeface="Georgia"/>
                <a:sym typeface="Georgia"/>
              </a:rPr>
              <a:t> is a linear approach to modelling the relationship between a dependent variable and one or more independent variables. Let </a:t>
            </a:r>
            <a:r>
              <a:rPr lang="en-GB" sz="1600" b="1">
                <a:solidFill>
                  <a:srgbClr val="292929"/>
                </a:solidFill>
                <a:latin typeface="Georgia"/>
                <a:ea typeface="Georgia"/>
                <a:cs typeface="Georgia"/>
                <a:sym typeface="Georgia"/>
              </a:rPr>
              <a:t>X</a:t>
            </a:r>
            <a:r>
              <a:rPr lang="en-GB" sz="1600">
                <a:solidFill>
                  <a:srgbClr val="292929"/>
                </a:solidFill>
                <a:highlight>
                  <a:srgbClr val="FFFFFF"/>
                </a:highlight>
                <a:latin typeface="Georgia"/>
                <a:ea typeface="Georgia"/>
                <a:cs typeface="Georgia"/>
                <a:sym typeface="Georgia"/>
              </a:rPr>
              <a:t> be the independent variable and </a:t>
            </a:r>
            <a:r>
              <a:rPr lang="en-GB" sz="1600" b="1">
                <a:solidFill>
                  <a:srgbClr val="292929"/>
                </a:solidFill>
                <a:latin typeface="Georgia"/>
                <a:ea typeface="Georgia"/>
                <a:cs typeface="Georgia"/>
                <a:sym typeface="Georgia"/>
              </a:rPr>
              <a:t>Y</a:t>
            </a:r>
            <a:r>
              <a:rPr lang="en-GB" sz="1600">
                <a:solidFill>
                  <a:srgbClr val="292929"/>
                </a:solidFill>
                <a:highlight>
                  <a:srgbClr val="FFFFFF"/>
                </a:highlight>
                <a:latin typeface="Georgia"/>
                <a:ea typeface="Georgia"/>
                <a:cs typeface="Georgia"/>
                <a:sym typeface="Georgia"/>
              </a:rPr>
              <a:t> be the dependent variable.</a:t>
            </a:r>
            <a:endParaRPr sz="1600">
              <a:solidFill>
                <a:srgbClr val="292929"/>
              </a:solidFill>
              <a:highlight>
                <a:srgbClr val="FFFFFF"/>
              </a:highlight>
              <a:latin typeface="Georgia"/>
              <a:ea typeface="Georgia"/>
              <a:cs typeface="Georgia"/>
              <a:sym typeface="Georgia"/>
            </a:endParaRPr>
          </a:p>
          <a:p>
            <a:pPr marL="1828800" lvl="0" indent="457200" algn="l" rtl="0">
              <a:spcBef>
                <a:spcPts val="0"/>
              </a:spcBef>
              <a:spcAft>
                <a:spcPts val="0"/>
              </a:spcAft>
              <a:buNone/>
            </a:pPr>
            <a:r>
              <a:rPr lang="en-GB" sz="1600" b="1">
                <a:solidFill>
                  <a:srgbClr val="292929"/>
                </a:solidFill>
                <a:highlight>
                  <a:srgbClr val="FFFFFF"/>
                </a:highlight>
                <a:latin typeface="Georgia"/>
                <a:ea typeface="Georgia"/>
                <a:cs typeface="Georgia"/>
                <a:sym typeface="Georgia"/>
              </a:rPr>
              <a:t>y = mx + c</a:t>
            </a:r>
            <a:endParaRPr sz="1600" b="1">
              <a:solidFill>
                <a:srgbClr val="292929"/>
              </a:solidFill>
              <a:highlight>
                <a:srgbClr val="FFFFFF"/>
              </a:highlight>
              <a:latin typeface="Georgia"/>
              <a:ea typeface="Georgia"/>
              <a:cs typeface="Georgia"/>
              <a:sym typeface="Georgia"/>
            </a:endParaRPr>
          </a:p>
          <a:p>
            <a:pPr marL="0" lvl="0" indent="0" algn="l" rtl="0">
              <a:spcBef>
                <a:spcPts val="0"/>
              </a:spcBef>
              <a:spcAft>
                <a:spcPts val="0"/>
              </a:spcAft>
              <a:buNone/>
            </a:pPr>
            <a:endParaRPr sz="1600">
              <a:solidFill>
                <a:srgbClr val="292929"/>
              </a:solidFill>
              <a:highlight>
                <a:srgbClr val="FFFFFF"/>
              </a:highlight>
              <a:latin typeface="Georgia"/>
              <a:ea typeface="Georgia"/>
              <a:cs typeface="Georgia"/>
              <a:sym typeface="Georgia"/>
            </a:endParaRPr>
          </a:p>
          <a:p>
            <a:pPr marL="0" lvl="0" indent="0" algn="l" rtl="0">
              <a:spcBef>
                <a:spcPts val="0"/>
              </a:spcBef>
              <a:spcAft>
                <a:spcPts val="0"/>
              </a:spcAft>
              <a:buNone/>
            </a:pPr>
            <a:r>
              <a:rPr lang="en-GB" sz="1600">
                <a:solidFill>
                  <a:srgbClr val="292929"/>
                </a:solidFill>
                <a:highlight>
                  <a:srgbClr val="FFFFFF"/>
                </a:highlight>
                <a:latin typeface="Georgia"/>
                <a:ea typeface="Georgia"/>
                <a:cs typeface="Georgia"/>
                <a:sym typeface="Georgia"/>
              </a:rPr>
              <a:t>m : slope of the line</a:t>
            </a:r>
            <a:endParaRPr sz="1600">
              <a:solidFill>
                <a:srgbClr val="292929"/>
              </a:solidFill>
              <a:highlight>
                <a:srgbClr val="FFFFFF"/>
              </a:highlight>
              <a:latin typeface="Georgia"/>
              <a:ea typeface="Georgia"/>
              <a:cs typeface="Georgia"/>
              <a:sym typeface="Georgia"/>
            </a:endParaRPr>
          </a:p>
          <a:p>
            <a:pPr marL="0" lvl="0" indent="0" algn="l" rtl="0">
              <a:spcBef>
                <a:spcPts val="0"/>
              </a:spcBef>
              <a:spcAft>
                <a:spcPts val="0"/>
              </a:spcAft>
              <a:buNone/>
            </a:pPr>
            <a:r>
              <a:rPr lang="en-GB" sz="1600">
                <a:solidFill>
                  <a:srgbClr val="292929"/>
                </a:solidFill>
                <a:highlight>
                  <a:srgbClr val="FFFFFF"/>
                </a:highlight>
                <a:latin typeface="Georgia"/>
                <a:ea typeface="Georgia"/>
                <a:cs typeface="Georgia"/>
                <a:sym typeface="Georgia"/>
              </a:rPr>
              <a:t>c : y intercept</a:t>
            </a:r>
            <a:endParaRPr sz="1600">
              <a:solidFill>
                <a:srgbClr val="292929"/>
              </a:solidFill>
              <a:highlight>
                <a:srgbClr val="FFFFFF"/>
              </a:highlight>
              <a:latin typeface="Georgia"/>
              <a:ea typeface="Georgia"/>
              <a:cs typeface="Georgia"/>
              <a:sym typeface="Georgia"/>
            </a:endParaRPr>
          </a:p>
          <a:p>
            <a:pPr marL="0" lvl="0" indent="0" algn="l" rtl="0">
              <a:spcBef>
                <a:spcPts val="0"/>
              </a:spcBef>
              <a:spcAft>
                <a:spcPts val="0"/>
              </a:spcAft>
              <a:buNone/>
            </a:pPr>
            <a:endParaRPr sz="1600">
              <a:solidFill>
                <a:srgbClr val="292929"/>
              </a:solidFill>
              <a:highlight>
                <a:srgbClr val="FFFFFF"/>
              </a:highlight>
              <a:latin typeface="Georgia"/>
              <a:ea typeface="Georgia"/>
              <a:cs typeface="Georgia"/>
              <a:sym typeface="Georgia"/>
            </a:endParaRPr>
          </a:p>
          <a:p>
            <a:pPr marL="0" lvl="0" indent="0" algn="l" rtl="0">
              <a:spcBef>
                <a:spcPts val="0"/>
              </a:spcBef>
              <a:spcAft>
                <a:spcPts val="0"/>
              </a:spcAft>
              <a:buNone/>
            </a:pPr>
            <a:r>
              <a:rPr lang="en-GB" sz="1600" b="1">
                <a:solidFill>
                  <a:srgbClr val="292929"/>
                </a:solidFill>
                <a:highlight>
                  <a:srgbClr val="FFFFFF"/>
                </a:highlight>
                <a:latin typeface="Georgia"/>
                <a:ea typeface="Georgia"/>
                <a:cs typeface="Georgia"/>
                <a:sym typeface="Georgia"/>
              </a:rPr>
              <a:t>Loss function:</a:t>
            </a:r>
            <a:endParaRPr sz="1600" b="1">
              <a:solidFill>
                <a:srgbClr val="292929"/>
              </a:solidFill>
              <a:highlight>
                <a:srgbClr val="FFFFFF"/>
              </a:highlight>
              <a:latin typeface="Georgia"/>
              <a:ea typeface="Georgia"/>
              <a:cs typeface="Georgia"/>
              <a:sym typeface="Georgia"/>
            </a:endParaRPr>
          </a:p>
          <a:p>
            <a:pPr marL="0" lvl="0" indent="0" algn="l" rtl="0">
              <a:spcBef>
                <a:spcPts val="0"/>
              </a:spcBef>
              <a:spcAft>
                <a:spcPts val="0"/>
              </a:spcAft>
              <a:buNone/>
            </a:pPr>
            <a:r>
              <a:rPr lang="en-GB" sz="1600" b="1">
                <a:solidFill>
                  <a:srgbClr val="292929"/>
                </a:solidFill>
                <a:highlight>
                  <a:srgbClr val="FFFFFF"/>
                </a:highlight>
                <a:latin typeface="Georgia"/>
                <a:ea typeface="Georgia"/>
                <a:cs typeface="Georgia"/>
                <a:sym typeface="Georgia"/>
              </a:rPr>
              <a:t>					</a:t>
            </a:r>
            <a:endParaRPr sz="1600" b="1">
              <a:solidFill>
                <a:srgbClr val="292929"/>
              </a:solidFill>
              <a:highlight>
                <a:srgbClr val="FFFFFF"/>
              </a:highlight>
              <a:latin typeface="Georgia"/>
              <a:ea typeface="Georgia"/>
              <a:cs typeface="Georgia"/>
              <a:sym typeface="Georgia"/>
            </a:endParaRPr>
          </a:p>
        </p:txBody>
      </p:sp>
      <p:pic>
        <p:nvPicPr>
          <p:cNvPr id="222" name="Google Shape;222;p23"/>
          <p:cNvPicPr preferRelativeResize="0"/>
          <p:nvPr/>
        </p:nvPicPr>
        <p:blipFill>
          <a:blip r:embed="rId3">
            <a:alphaModFix/>
          </a:blip>
          <a:stretch>
            <a:fillRect/>
          </a:stretch>
        </p:blipFill>
        <p:spPr>
          <a:xfrm>
            <a:off x="2802350" y="4210050"/>
            <a:ext cx="2857500" cy="933450"/>
          </a:xfrm>
          <a:prstGeom prst="rect">
            <a:avLst/>
          </a:prstGeom>
          <a:noFill/>
          <a:ln>
            <a:noFill/>
          </a:ln>
        </p:spPr>
      </p:pic>
      <p:pic>
        <p:nvPicPr>
          <p:cNvPr id="223" name="Google Shape;223;p23"/>
          <p:cNvPicPr preferRelativeResize="0"/>
          <p:nvPr/>
        </p:nvPicPr>
        <p:blipFill>
          <a:blip r:embed="rId4">
            <a:alphaModFix/>
          </a:blip>
          <a:stretch>
            <a:fillRect/>
          </a:stretch>
        </p:blipFill>
        <p:spPr>
          <a:xfrm>
            <a:off x="5614725" y="2827575"/>
            <a:ext cx="3268575" cy="2163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4"/>
          <p:cNvSpPr txBox="1">
            <a:spLocks noGrp="1"/>
          </p:cNvSpPr>
          <p:nvPr>
            <p:ph type="title"/>
          </p:nvPr>
        </p:nvSpPr>
        <p:spPr>
          <a:xfrm>
            <a:off x="789125" y="561775"/>
            <a:ext cx="5609700" cy="5985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1600"/>
              </a:spcAft>
              <a:buNone/>
            </a:pPr>
            <a:r>
              <a:rPr lang="en-GB"/>
              <a:t>Gradient Descent</a:t>
            </a:r>
            <a:endParaRPr/>
          </a:p>
        </p:txBody>
      </p:sp>
      <p:sp>
        <p:nvSpPr>
          <p:cNvPr id="229" name="Google Shape;229;p24"/>
          <p:cNvSpPr txBox="1"/>
          <p:nvPr/>
        </p:nvSpPr>
        <p:spPr>
          <a:xfrm>
            <a:off x="1082850" y="1894650"/>
            <a:ext cx="64770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b="1">
              <a:solidFill>
                <a:srgbClr val="292929"/>
              </a:solidFill>
              <a:highlight>
                <a:srgbClr val="FFFFFF"/>
              </a:highlight>
              <a:latin typeface="Georgia"/>
              <a:ea typeface="Georgia"/>
              <a:cs typeface="Georgia"/>
              <a:sym typeface="Georgia"/>
            </a:endParaRPr>
          </a:p>
          <a:p>
            <a:pPr marL="0" lvl="0" indent="0" algn="l" rtl="0">
              <a:spcBef>
                <a:spcPts val="0"/>
              </a:spcBef>
              <a:spcAft>
                <a:spcPts val="0"/>
              </a:spcAft>
              <a:buNone/>
            </a:pPr>
            <a:r>
              <a:rPr lang="en-GB" sz="1600" b="1">
                <a:solidFill>
                  <a:srgbClr val="292929"/>
                </a:solidFill>
                <a:highlight>
                  <a:srgbClr val="FFFFFF"/>
                </a:highlight>
                <a:latin typeface="Georgia"/>
                <a:ea typeface="Georgia"/>
                <a:cs typeface="Georgia"/>
                <a:sym typeface="Georgia"/>
              </a:rPr>
              <a:t>					</a:t>
            </a:r>
            <a:endParaRPr sz="1600" b="1">
              <a:solidFill>
                <a:srgbClr val="292929"/>
              </a:solidFill>
              <a:highlight>
                <a:srgbClr val="FFFFFF"/>
              </a:highlight>
              <a:latin typeface="Georgia"/>
              <a:ea typeface="Georgia"/>
              <a:cs typeface="Georgia"/>
              <a:sym typeface="Georgia"/>
            </a:endParaRPr>
          </a:p>
        </p:txBody>
      </p:sp>
      <p:sp>
        <p:nvSpPr>
          <p:cNvPr id="230" name="Google Shape;230;p24"/>
          <p:cNvSpPr txBox="1"/>
          <p:nvPr/>
        </p:nvSpPr>
        <p:spPr>
          <a:xfrm>
            <a:off x="119270" y="1794399"/>
            <a:ext cx="4622100" cy="264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dirty="0">
                <a:solidFill>
                  <a:srgbClr val="292929"/>
                </a:solidFill>
                <a:highlight>
                  <a:srgbClr val="FFFFFF"/>
                </a:highlight>
                <a:latin typeface="Georgia"/>
                <a:ea typeface="Georgia"/>
                <a:cs typeface="Georgia"/>
                <a:sym typeface="Georgia"/>
              </a:rPr>
              <a:t>Let </a:t>
            </a:r>
            <a:r>
              <a:rPr lang="en-GB" sz="1600" b="1" dirty="0">
                <a:solidFill>
                  <a:srgbClr val="292929"/>
                </a:solidFill>
                <a:highlight>
                  <a:srgbClr val="FFFFFF"/>
                </a:highlight>
                <a:latin typeface="Georgia"/>
                <a:ea typeface="Georgia"/>
                <a:cs typeface="Georgia"/>
                <a:sym typeface="Georgia"/>
              </a:rPr>
              <a:t>m = 0</a:t>
            </a:r>
            <a:r>
              <a:rPr lang="en-GB" sz="1600" dirty="0">
                <a:solidFill>
                  <a:srgbClr val="292929"/>
                </a:solidFill>
                <a:highlight>
                  <a:srgbClr val="FFFFFF"/>
                </a:highlight>
                <a:latin typeface="Georgia"/>
                <a:ea typeface="Georgia"/>
                <a:cs typeface="Georgia"/>
                <a:sym typeface="Georgia"/>
              </a:rPr>
              <a:t>, </a:t>
            </a:r>
            <a:r>
              <a:rPr lang="en-GB" sz="1600" b="1" dirty="0">
                <a:solidFill>
                  <a:srgbClr val="292929"/>
                </a:solidFill>
                <a:highlight>
                  <a:srgbClr val="FFFFFF"/>
                </a:highlight>
                <a:latin typeface="Georgia"/>
                <a:ea typeface="Georgia"/>
                <a:cs typeface="Georgia"/>
                <a:sym typeface="Georgia"/>
              </a:rPr>
              <a:t>c = 0</a:t>
            </a:r>
            <a:r>
              <a:rPr lang="en-GB" sz="1600" dirty="0">
                <a:solidFill>
                  <a:srgbClr val="292929"/>
                </a:solidFill>
                <a:highlight>
                  <a:srgbClr val="FFFFFF"/>
                </a:highlight>
                <a:latin typeface="Georgia"/>
                <a:ea typeface="Georgia"/>
                <a:cs typeface="Georgia"/>
                <a:sym typeface="Georgia"/>
              </a:rPr>
              <a:t>. Let L be our learning rate </a:t>
            </a:r>
          </a:p>
          <a:p>
            <a:pPr marL="0" lvl="0" indent="0" algn="l" rtl="0">
              <a:spcBef>
                <a:spcPts val="0"/>
              </a:spcBef>
              <a:spcAft>
                <a:spcPts val="0"/>
              </a:spcAft>
              <a:buNone/>
            </a:pPr>
            <a:r>
              <a:rPr lang="en-GB" sz="1600" dirty="0">
                <a:solidFill>
                  <a:srgbClr val="292929"/>
                </a:solidFill>
                <a:highlight>
                  <a:srgbClr val="FFFFFF"/>
                </a:highlight>
                <a:latin typeface="Georgia"/>
                <a:ea typeface="Georgia"/>
                <a:cs typeface="Georgia"/>
                <a:sym typeface="Georgia"/>
              </a:rPr>
              <a:t>(0.01 for good accuracy)</a:t>
            </a:r>
            <a:endParaRPr sz="1600" dirty="0">
              <a:solidFill>
                <a:srgbClr val="292929"/>
              </a:solidFill>
              <a:highlight>
                <a:srgbClr val="FFFFFF"/>
              </a:highlight>
              <a:latin typeface="Georgia"/>
              <a:ea typeface="Georgia"/>
              <a:cs typeface="Georgia"/>
              <a:sym typeface="Georgia"/>
            </a:endParaRPr>
          </a:p>
          <a:p>
            <a:pPr marL="0" lvl="0" indent="0" algn="l" rtl="0">
              <a:spcBef>
                <a:spcPts val="0"/>
              </a:spcBef>
              <a:spcAft>
                <a:spcPts val="0"/>
              </a:spcAft>
              <a:buNone/>
            </a:pPr>
            <a:endParaRPr sz="1600" dirty="0">
              <a:solidFill>
                <a:srgbClr val="292929"/>
              </a:solidFill>
              <a:highlight>
                <a:srgbClr val="FFFFFF"/>
              </a:highlight>
              <a:latin typeface="Georgia"/>
              <a:ea typeface="Georgia"/>
              <a:cs typeface="Georgia"/>
              <a:sym typeface="Georgia"/>
            </a:endParaRPr>
          </a:p>
          <a:p>
            <a:pPr marL="457200" lvl="0" indent="-330200" algn="l" rtl="0">
              <a:spcBef>
                <a:spcPts val="0"/>
              </a:spcBef>
              <a:spcAft>
                <a:spcPts val="0"/>
              </a:spcAft>
              <a:buClr>
                <a:srgbClr val="222222"/>
              </a:buClr>
              <a:buSzPts val="1600"/>
              <a:buFont typeface="Georgia"/>
              <a:buChar char="-"/>
            </a:pPr>
            <a:r>
              <a:rPr lang="en-GB" sz="1600" dirty="0">
                <a:solidFill>
                  <a:srgbClr val="222222"/>
                </a:solidFill>
                <a:highlight>
                  <a:srgbClr val="FFFFFF"/>
                </a:highlight>
                <a:latin typeface="Georgia"/>
                <a:ea typeface="Georgia"/>
                <a:cs typeface="Georgia"/>
                <a:sym typeface="Georgia"/>
              </a:rPr>
              <a:t>Learning rate gives the rate of speed where the gradient moves during gradient descent. Setting it too high would make your path unstable, too low would make convergence slow. Put it to zero means your model isn’t learning anything from the gradients.</a:t>
            </a:r>
            <a:endParaRPr sz="1600" dirty="0">
              <a:solidFill>
                <a:srgbClr val="292929"/>
              </a:solidFill>
              <a:highlight>
                <a:srgbClr val="FFFFFF"/>
              </a:highlight>
              <a:latin typeface="Georgia"/>
              <a:ea typeface="Georgia"/>
              <a:cs typeface="Georgia"/>
              <a:sym typeface="Georgia"/>
            </a:endParaRPr>
          </a:p>
          <a:p>
            <a:pPr marL="0" lvl="0" indent="0" algn="l" rtl="0">
              <a:spcBef>
                <a:spcPts val="0"/>
              </a:spcBef>
              <a:spcAft>
                <a:spcPts val="0"/>
              </a:spcAft>
              <a:buNone/>
            </a:pPr>
            <a:endParaRPr sz="1600" dirty="0">
              <a:solidFill>
                <a:srgbClr val="292929"/>
              </a:solidFill>
              <a:highlight>
                <a:srgbClr val="FFFFFF"/>
              </a:highlight>
              <a:latin typeface="Georgia"/>
              <a:ea typeface="Georgia"/>
              <a:cs typeface="Georgia"/>
              <a:sym typeface="Georgia"/>
            </a:endParaRPr>
          </a:p>
        </p:txBody>
      </p:sp>
      <p:pic>
        <p:nvPicPr>
          <p:cNvPr id="231" name="Google Shape;231;p24"/>
          <p:cNvPicPr preferRelativeResize="0"/>
          <p:nvPr/>
        </p:nvPicPr>
        <p:blipFill>
          <a:blip r:embed="rId3">
            <a:alphaModFix/>
          </a:blip>
          <a:stretch>
            <a:fillRect/>
          </a:stretch>
        </p:blipFill>
        <p:spPr>
          <a:xfrm>
            <a:off x="5025200" y="1702900"/>
            <a:ext cx="4118799" cy="2738999"/>
          </a:xfrm>
          <a:prstGeom prst="rect">
            <a:avLst/>
          </a:prstGeom>
          <a:noFill/>
          <a:ln>
            <a:noFill/>
          </a:ln>
        </p:spPr>
      </p:pic>
      <p:sp>
        <p:nvSpPr>
          <p:cNvPr id="232" name="Google Shape;232;p24"/>
          <p:cNvSpPr txBox="1"/>
          <p:nvPr/>
        </p:nvSpPr>
        <p:spPr>
          <a:xfrm>
            <a:off x="0" y="1311913"/>
            <a:ext cx="5775300" cy="4311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SzPts val="1600"/>
              <a:buFont typeface="Georgia"/>
              <a:buAutoNum type="arabicPeriod"/>
            </a:pPr>
            <a:r>
              <a:rPr lang="en-GB" sz="1600" b="1">
                <a:latin typeface="Georgia"/>
                <a:ea typeface="Georgia"/>
                <a:cs typeface="Georgia"/>
                <a:sym typeface="Georgia"/>
              </a:rPr>
              <a:t>Hypothesis</a:t>
            </a:r>
            <a:endParaRPr sz="1600" b="1">
              <a:latin typeface="Georgia"/>
              <a:ea typeface="Georgia"/>
              <a:cs typeface="Georgia"/>
              <a:sym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p25"/>
          <p:cNvPicPr preferRelativeResize="0"/>
          <p:nvPr/>
        </p:nvPicPr>
        <p:blipFill>
          <a:blip r:embed="rId3">
            <a:alphaModFix/>
          </a:blip>
          <a:stretch>
            <a:fillRect/>
          </a:stretch>
        </p:blipFill>
        <p:spPr>
          <a:xfrm>
            <a:off x="511350" y="1373525"/>
            <a:ext cx="3445526" cy="2707200"/>
          </a:xfrm>
          <a:prstGeom prst="rect">
            <a:avLst/>
          </a:prstGeom>
          <a:noFill/>
          <a:ln>
            <a:noFill/>
          </a:ln>
        </p:spPr>
      </p:pic>
      <p:pic>
        <p:nvPicPr>
          <p:cNvPr id="238" name="Google Shape;238;p25"/>
          <p:cNvPicPr preferRelativeResize="0"/>
          <p:nvPr/>
        </p:nvPicPr>
        <p:blipFill>
          <a:blip r:embed="rId4">
            <a:alphaModFix/>
          </a:blip>
          <a:stretch>
            <a:fillRect/>
          </a:stretch>
        </p:blipFill>
        <p:spPr>
          <a:xfrm>
            <a:off x="4862775" y="1345962"/>
            <a:ext cx="3393549" cy="2762324"/>
          </a:xfrm>
          <a:prstGeom prst="rect">
            <a:avLst/>
          </a:prstGeom>
          <a:noFill/>
          <a:ln>
            <a:noFill/>
          </a:ln>
        </p:spPr>
      </p:pic>
      <p:pic>
        <p:nvPicPr>
          <p:cNvPr id="239" name="Google Shape;239;p25"/>
          <p:cNvPicPr preferRelativeResize="0"/>
          <p:nvPr/>
        </p:nvPicPr>
        <p:blipFill>
          <a:blip r:embed="rId5">
            <a:alphaModFix/>
          </a:blip>
          <a:stretch>
            <a:fillRect/>
          </a:stretch>
        </p:blipFill>
        <p:spPr>
          <a:xfrm>
            <a:off x="2719150" y="4382462"/>
            <a:ext cx="1426044" cy="730413"/>
          </a:xfrm>
          <a:prstGeom prst="rect">
            <a:avLst/>
          </a:prstGeom>
          <a:noFill/>
          <a:ln>
            <a:noFill/>
          </a:ln>
        </p:spPr>
      </p:pic>
      <p:sp>
        <p:nvSpPr>
          <p:cNvPr id="240" name="Google Shape;240;p25"/>
          <p:cNvSpPr txBox="1"/>
          <p:nvPr/>
        </p:nvSpPr>
        <p:spPr>
          <a:xfrm>
            <a:off x="0" y="4261200"/>
            <a:ext cx="5775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latin typeface="Georgia"/>
                <a:ea typeface="Georgia"/>
                <a:cs typeface="Georgia"/>
                <a:sym typeface="Georgia"/>
              </a:rPr>
              <a:t>3. Update value m and c</a:t>
            </a:r>
            <a:endParaRPr b="1">
              <a:latin typeface="Georgia"/>
              <a:ea typeface="Georgia"/>
              <a:cs typeface="Georgia"/>
              <a:sym typeface="Georgia"/>
            </a:endParaRPr>
          </a:p>
        </p:txBody>
      </p:sp>
      <p:sp>
        <p:nvSpPr>
          <p:cNvPr id="241" name="Google Shape;241;p25"/>
          <p:cNvSpPr txBox="1"/>
          <p:nvPr/>
        </p:nvSpPr>
        <p:spPr>
          <a:xfrm>
            <a:off x="0" y="520350"/>
            <a:ext cx="57753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latin typeface="Georgia"/>
                <a:ea typeface="Georgia"/>
                <a:cs typeface="Georgia"/>
                <a:sym typeface="Georgia"/>
              </a:rPr>
              <a:t>2. Calculate partial derivative of cost function with respect to m and c</a:t>
            </a:r>
            <a:endParaRPr b="1">
              <a:latin typeface="Georgia"/>
              <a:ea typeface="Georgia"/>
              <a:cs typeface="Georgia"/>
              <a:sym typeface="Georgi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6"/>
          <p:cNvSpPr txBox="1">
            <a:spLocks noGrp="1"/>
          </p:cNvSpPr>
          <p:nvPr>
            <p:ph type="title"/>
          </p:nvPr>
        </p:nvSpPr>
        <p:spPr>
          <a:xfrm>
            <a:off x="839275" y="521675"/>
            <a:ext cx="7121700" cy="8919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1600"/>
              </a:spcAft>
              <a:buNone/>
            </a:pPr>
            <a:r>
              <a:rPr lang="en-GB"/>
              <a:t>Linear Regression with Gradient Descent</a:t>
            </a:r>
            <a:endParaRPr/>
          </a:p>
        </p:txBody>
      </p:sp>
      <p:pic>
        <p:nvPicPr>
          <p:cNvPr id="247" name="Google Shape;247;p26"/>
          <p:cNvPicPr preferRelativeResize="0"/>
          <p:nvPr/>
        </p:nvPicPr>
        <p:blipFill>
          <a:blip r:embed="rId3">
            <a:alphaModFix/>
          </a:blip>
          <a:stretch>
            <a:fillRect/>
          </a:stretch>
        </p:blipFill>
        <p:spPr>
          <a:xfrm>
            <a:off x="1009700" y="2024525"/>
            <a:ext cx="7395000" cy="2896375"/>
          </a:xfrm>
          <a:prstGeom prst="rect">
            <a:avLst/>
          </a:prstGeom>
          <a:noFill/>
          <a:ln>
            <a:noFill/>
          </a:ln>
        </p:spPr>
      </p:pic>
      <p:sp>
        <p:nvSpPr>
          <p:cNvPr id="248" name="Google Shape;248;p26"/>
          <p:cNvSpPr txBox="1"/>
          <p:nvPr/>
        </p:nvSpPr>
        <p:spPr>
          <a:xfrm>
            <a:off x="0" y="1350475"/>
            <a:ext cx="5775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latin typeface="Georgia"/>
                <a:ea typeface="Georgia"/>
                <a:cs typeface="Georgia"/>
                <a:sym typeface="Georgia"/>
              </a:rPr>
              <a:t>4. Repeat until cost function (error) is small</a:t>
            </a:r>
            <a:endParaRPr b="1">
              <a:latin typeface="Georgia"/>
              <a:ea typeface="Georgia"/>
              <a:cs typeface="Georgia"/>
              <a:sym typeface="Georg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Logistic Regression</a:t>
            </a:r>
            <a:endParaRPr/>
          </a:p>
        </p:txBody>
      </p:sp>
      <p:sp>
        <p:nvSpPr>
          <p:cNvPr id="254" name="Google Shape;254;p27"/>
          <p:cNvSpPr txBox="1">
            <a:spLocks noGrp="1"/>
          </p:cNvSpPr>
          <p:nvPr>
            <p:ph type="body" idx="1"/>
          </p:nvPr>
        </p:nvSpPr>
        <p:spPr>
          <a:xfrm>
            <a:off x="412975" y="2039350"/>
            <a:ext cx="5264400" cy="22326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Clr>
                <a:schemeClr val="dk2"/>
              </a:buClr>
              <a:buSzPts val="1300"/>
              <a:buChar char="●"/>
            </a:pPr>
            <a:r>
              <a:rPr lang="en-GB">
                <a:solidFill>
                  <a:schemeClr val="dk2"/>
                </a:solidFill>
              </a:rPr>
              <a:t>A supervised ML algorithmic technique used to solve classification problems</a:t>
            </a:r>
            <a:endParaRPr>
              <a:solidFill>
                <a:schemeClr val="dk2"/>
              </a:solidFill>
            </a:endParaRPr>
          </a:p>
          <a:p>
            <a:pPr marL="457200" lvl="0" indent="-311150" algn="l" rtl="0">
              <a:spcBef>
                <a:spcPts val="0"/>
              </a:spcBef>
              <a:spcAft>
                <a:spcPts val="0"/>
              </a:spcAft>
              <a:buClr>
                <a:schemeClr val="dk2"/>
              </a:buClr>
              <a:buSzPts val="1300"/>
              <a:buChar char="●"/>
            </a:pPr>
            <a:r>
              <a:rPr lang="en-GB">
                <a:solidFill>
                  <a:schemeClr val="dk2"/>
                </a:solidFill>
              </a:rPr>
              <a:t>Used to model a certain class or event such as pass/fail, win/lose, 1/0 </a:t>
            </a:r>
            <a:endParaRPr>
              <a:solidFill>
                <a:schemeClr val="dk2"/>
              </a:solidFill>
            </a:endParaRPr>
          </a:p>
          <a:p>
            <a:pPr marL="457200" lvl="0" indent="-311150" algn="l" rtl="0">
              <a:spcBef>
                <a:spcPts val="0"/>
              </a:spcBef>
              <a:spcAft>
                <a:spcPts val="0"/>
              </a:spcAft>
              <a:buClr>
                <a:schemeClr val="dk2"/>
              </a:buClr>
              <a:buSzPts val="1300"/>
              <a:buChar char="●"/>
            </a:pPr>
            <a:r>
              <a:rPr lang="en-GB">
                <a:solidFill>
                  <a:schemeClr val="dk2"/>
                </a:solidFill>
              </a:rPr>
              <a:t>Predicted value is categorical</a:t>
            </a:r>
            <a:endParaRPr>
              <a:solidFill>
                <a:schemeClr val="dk2"/>
              </a:solidFill>
            </a:endParaRPr>
          </a:p>
          <a:p>
            <a:pPr marL="457200" lvl="0" indent="-311150" algn="l" rtl="0">
              <a:spcBef>
                <a:spcPts val="0"/>
              </a:spcBef>
              <a:spcAft>
                <a:spcPts val="0"/>
              </a:spcAft>
              <a:buClr>
                <a:schemeClr val="dk2"/>
              </a:buClr>
              <a:buSzPts val="1300"/>
              <a:buChar char="●"/>
            </a:pPr>
            <a:r>
              <a:rPr lang="en-GB">
                <a:solidFill>
                  <a:schemeClr val="dk2"/>
                </a:solidFill>
              </a:rPr>
              <a:t>2 Types: Binary Classification or MultiClass Classification</a:t>
            </a:r>
            <a:endParaRPr>
              <a:solidFill>
                <a:schemeClr val="dk2"/>
              </a:solidFill>
            </a:endParaRPr>
          </a:p>
          <a:p>
            <a:pPr marL="457200" lvl="0" indent="-311150" algn="l" rtl="0">
              <a:spcBef>
                <a:spcPts val="0"/>
              </a:spcBef>
              <a:spcAft>
                <a:spcPts val="0"/>
              </a:spcAft>
              <a:buClr>
                <a:schemeClr val="dk2"/>
              </a:buClr>
              <a:buSzPts val="1300"/>
              <a:buChar char="●"/>
            </a:pPr>
            <a:r>
              <a:rPr lang="en-GB">
                <a:solidFill>
                  <a:schemeClr val="dk2"/>
                </a:solidFill>
              </a:rPr>
              <a:t>Uses Sigmoid (aka Logistic) Function</a:t>
            </a:r>
            <a:endParaRPr>
              <a:solidFill>
                <a:schemeClr val="dk2"/>
              </a:solidFill>
            </a:endParaRPr>
          </a:p>
          <a:p>
            <a:pPr marL="457200" lvl="0" indent="-311150" algn="l" rtl="0">
              <a:spcBef>
                <a:spcPts val="0"/>
              </a:spcBef>
              <a:spcAft>
                <a:spcPts val="0"/>
              </a:spcAft>
              <a:buClr>
                <a:schemeClr val="dk2"/>
              </a:buClr>
              <a:buSzPts val="1300"/>
              <a:buChar char="●"/>
            </a:pPr>
            <a:r>
              <a:rPr lang="en-GB">
                <a:solidFill>
                  <a:schemeClr val="dk2"/>
                </a:solidFill>
              </a:rPr>
              <a:t>Unlike Linear Regression which provides a continuous output, Logistic Regression provides a discrete one</a:t>
            </a:r>
            <a:endParaRPr>
              <a:solidFill>
                <a:schemeClr val="dk2"/>
              </a:solidFill>
            </a:endParaRPr>
          </a:p>
        </p:txBody>
      </p:sp>
      <p:pic>
        <p:nvPicPr>
          <p:cNvPr id="255" name="Google Shape;255;p27"/>
          <p:cNvPicPr preferRelativeResize="0"/>
          <p:nvPr/>
        </p:nvPicPr>
        <p:blipFill>
          <a:blip r:embed="rId3">
            <a:alphaModFix/>
          </a:blip>
          <a:stretch>
            <a:fillRect/>
          </a:stretch>
        </p:blipFill>
        <p:spPr>
          <a:xfrm>
            <a:off x="7126825" y="2957100"/>
            <a:ext cx="1722000" cy="806925"/>
          </a:xfrm>
          <a:prstGeom prst="rect">
            <a:avLst/>
          </a:prstGeom>
          <a:noFill/>
          <a:ln>
            <a:noFill/>
          </a:ln>
        </p:spPr>
      </p:pic>
      <p:pic>
        <p:nvPicPr>
          <p:cNvPr id="256" name="Google Shape;256;p27"/>
          <p:cNvPicPr preferRelativeResize="0"/>
          <p:nvPr/>
        </p:nvPicPr>
        <p:blipFill>
          <a:blip r:embed="rId4">
            <a:alphaModFix/>
          </a:blip>
          <a:stretch>
            <a:fillRect/>
          </a:stretch>
        </p:blipFill>
        <p:spPr>
          <a:xfrm>
            <a:off x="5760825" y="657375"/>
            <a:ext cx="3169192" cy="21936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8"/>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Progress and Next Steps</a:t>
            </a:r>
            <a:endParaRPr/>
          </a:p>
        </p:txBody>
      </p:sp>
      <p:sp>
        <p:nvSpPr>
          <p:cNvPr id="262" name="Google Shape;262;p28"/>
          <p:cNvSpPr txBox="1"/>
          <p:nvPr/>
        </p:nvSpPr>
        <p:spPr>
          <a:xfrm>
            <a:off x="959350" y="1853850"/>
            <a:ext cx="56280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dirty="0">
                <a:latin typeface="Lato"/>
                <a:ea typeface="Lato"/>
                <a:cs typeface="Lato"/>
                <a:sym typeface="Lato"/>
              </a:rPr>
              <a:t>Current Progress:</a:t>
            </a:r>
            <a:endParaRPr sz="1200" dirty="0">
              <a:latin typeface="Lato"/>
              <a:ea typeface="Lato"/>
              <a:cs typeface="Lato"/>
              <a:sym typeface="Lato"/>
            </a:endParaRPr>
          </a:p>
          <a:p>
            <a:pPr marL="457200" lvl="0" indent="-304800" algn="l" rtl="0">
              <a:spcBef>
                <a:spcPts val="0"/>
              </a:spcBef>
              <a:spcAft>
                <a:spcPts val="0"/>
              </a:spcAft>
              <a:buSzPts val="1200"/>
              <a:buFont typeface="Lato"/>
              <a:buChar char="●"/>
            </a:pPr>
            <a:r>
              <a:rPr lang="en-GB" sz="1200" dirty="0">
                <a:latin typeface="Lato"/>
                <a:ea typeface="Lato"/>
                <a:cs typeface="Lato"/>
                <a:sym typeface="Lato"/>
              </a:rPr>
              <a:t>Google </a:t>
            </a:r>
            <a:r>
              <a:rPr lang="en-GB" sz="1200" dirty="0" err="1">
                <a:latin typeface="Lato"/>
                <a:ea typeface="Lato"/>
                <a:cs typeface="Lato"/>
                <a:sym typeface="Lato"/>
              </a:rPr>
              <a:t>colab</a:t>
            </a:r>
            <a:r>
              <a:rPr lang="en-GB" sz="1200" dirty="0">
                <a:latin typeface="Lato"/>
                <a:ea typeface="Lato"/>
                <a:cs typeface="Lato"/>
                <a:sym typeface="Lato"/>
              </a:rPr>
              <a:t> instance used to run numeric distribution data (CSV files with 1,000,000 rows of binary data)</a:t>
            </a:r>
            <a:endParaRPr sz="1200" dirty="0">
              <a:latin typeface="Lato"/>
              <a:ea typeface="Lato"/>
              <a:cs typeface="Lato"/>
              <a:sym typeface="Lato"/>
            </a:endParaRPr>
          </a:p>
          <a:p>
            <a:pPr marL="457200" lvl="0" indent="-304800" algn="l" rtl="0">
              <a:spcBef>
                <a:spcPts val="0"/>
              </a:spcBef>
              <a:spcAft>
                <a:spcPts val="0"/>
              </a:spcAft>
              <a:buSzPts val="1200"/>
              <a:buFont typeface="Lato"/>
              <a:buChar char="●"/>
            </a:pPr>
            <a:r>
              <a:rPr lang="en-GB" sz="1200" dirty="0">
                <a:latin typeface="Lato"/>
                <a:ea typeface="Lato"/>
                <a:cs typeface="Lato"/>
                <a:sym typeface="Lato"/>
              </a:rPr>
              <a:t>Starting out with a truncated Binomial distribution file with only 10,000 (</a:t>
            </a:r>
            <a:r>
              <a:rPr lang="en-GB" sz="1200" dirty="0" err="1">
                <a:latin typeface="Lato"/>
                <a:ea typeface="Lato"/>
                <a:cs typeface="Lato"/>
                <a:sym typeface="Lato"/>
              </a:rPr>
              <a:t>colab</a:t>
            </a:r>
            <a:r>
              <a:rPr lang="en-GB" sz="1200" dirty="0">
                <a:latin typeface="Lato"/>
                <a:ea typeface="Lato"/>
                <a:cs typeface="Lato"/>
                <a:sym typeface="Lato"/>
              </a:rPr>
              <a:t> resource limitation)</a:t>
            </a:r>
            <a:endParaRPr sz="1200" dirty="0">
              <a:latin typeface="Lato"/>
              <a:ea typeface="Lato"/>
              <a:cs typeface="Lato"/>
              <a:sym typeface="Lato"/>
            </a:endParaRPr>
          </a:p>
          <a:p>
            <a:pPr marL="457200" lvl="0" indent="-304800" algn="l" rtl="0">
              <a:spcBef>
                <a:spcPts val="0"/>
              </a:spcBef>
              <a:spcAft>
                <a:spcPts val="0"/>
              </a:spcAft>
              <a:buSzPts val="1200"/>
              <a:buFont typeface="Lato"/>
              <a:buChar char="●"/>
            </a:pPr>
            <a:r>
              <a:rPr lang="en-GB" sz="1200" dirty="0">
                <a:latin typeface="Lato"/>
                <a:ea typeface="Lato"/>
                <a:cs typeface="Lato"/>
                <a:sym typeface="Lato"/>
              </a:rPr>
              <a:t>CSV file taken and dissected into 4 independent (X1, X2, X3, X4) and 1 dependent (Y) variables and put into a python </a:t>
            </a:r>
            <a:r>
              <a:rPr lang="en-GB" sz="1200" dirty="0" err="1">
                <a:latin typeface="Lato"/>
                <a:ea typeface="Lato"/>
                <a:cs typeface="Lato"/>
                <a:sym typeface="Lato"/>
              </a:rPr>
              <a:t>dataframe</a:t>
            </a:r>
            <a:r>
              <a:rPr lang="en-GB" sz="1200" dirty="0">
                <a:latin typeface="Lato"/>
                <a:ea typeface="Lato"/>
                <a:cs typeface="Lato"/>
                <a:sym typeface="Lato"/>
              </a:rPr>
              <a:t> (500 X 5)</a:t>
            </a:r>
            <a:endParaRPr sz="1200" dirty="0">
              <a:latin typeface="Lato"/>
              <a:ea typeface="Lato"/>
              <a:cs typeface="Lato"/>
              <a:sym typeface="Lato"/>
            </a:endParaRPr>
          </a:p>
        </p:txBody>
      </p:sp>
      <p:pic>
        <p:nvPicPr>
          <p:cNvPr id="263" name="Google Shape;263;p28"/>
          <p:cNvPicPr preferRelativeResize="0"/>
          <p:nvPr/>
        </p:nvPicPr>
        <p:blipFill>
          <a:blip r:embed="rId3">
            <a:alphaModFix/>
          </a:blip>
          <a:stretch>
            <a:fillRect/>
          </a:stretch>
        </p:blipFill>
        <p:spPr>
          <a:xfrm>
            <a:off x="6795475" y="1527550"/>
            <a:ext cx="1986125" cy="1860625"/>
          </a:xfrm>
          <a:prstGeom prst="rect">
            <a:avLst/>
          </a:prstGeom>
          <a:noFill/>
          <a:ln>
            <a:noFill/>
          </a:ln>
        </p:spPr>
      </p:pic>
      <p:sp>
        <p:nvSpPr>
          <p:cNvPr id="264" name="Google Shape;264;p28"/>
          <p:cNvSpPr txBox="1"/>
          <p:nvPr/>
        </p:nvSpPr>
        <p:spPr>
          <a:xfrm>
            <a:off x="959350" y="3331350"/>
            <a:ext cx="59166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a:latin typeface="Lato"/>
                <a:ea typeface="Lato"/>
                <a:cs typeface="Lato"/>
                <a:sym typeface="Lato"/>
              </a:rPr>
              <a:t>Next Steps:</a:t>
            </a:r>
            <a:endParaRPr sz="1200">
              <a:latin typeface="Lato"/>
              <a:ea typeface="Lato"/>
              <a:cs typeface="Lato"/>
              <a:sym typeface="Lato"/>
            </a:endParaRPr>
          </a:p>
          <a:p>
            <a:pPr marL="457200" lvl="0" indent="-304800" algn="l" rtl="0">
              <a:spcBef>
                <a:spcPts val="0"/>
              </a:spcBef>
              <a:spcAft>
                <a:spcPts val="0"/>
              </a:spcAft>
              <a:buSzPts val="1200"/>
              <a:buFont typeface="Lato"/>
              <a:buChar char="●"/>
            </a:pPr>
            <a:r>
              <a:rPr lang="en-GB" sz="1200">
                <a:latin typeface="Lato"/>
                <a:ea typeface="Lato"/>
                <a:cs typeface="Lato"/>
                <a:sym typeface="Lato"/>
              </a:rPr>
              <a:t>All columns in dataframe to be converted into integer value and used in linear and logistic regression techniques described</a:t>
            </a:r>
            <a:endParaRPr sz="1200">
              <a:latin typeface="Lato"/>
              <a:ea typeface="Lato"/>
              <a:cs typeface="Lato"/>
              <a:sym typeface="Lato"/>
            </a:endParaRPr>
          </a:p>
          <a:p>
            <a:pPr marL="457200" lvl="0" indent="-304800" algn="l" rtl="0">
              <a:spcBef>
                <a:spcPts val="0"/>
              </a:spcBef>
              <a:spcAft>
                <a:spcPts val="0"/>
              </a:spcAft>
              <a:buSzPts val="1200"/>
              <a:buFont typeface="Lato"/>
              <a:buChar char="●"/>
            </a:pPr>
            <a:r>
              <a:rPr lang="en-GB" sz="1200">
                <a:latin typeface="Lato"/>
                <a:ea typeface="Lato"/>
                <a:cs typeface="Lato"/>
                <a:sym typeface="Lato"/>
              </a:rPr>
              <a:t>Generate basic accuracy metrics (Using a confusion matrix)</a:t>
            </a:r>
            <a:endParaRPr sz="1200">
              <a:latin typeface="Lato"/>
              <a:ea typeface="Lato"/>
              <a:cs typeface="Lato"/>
              <a:sym typeface="Lato"/>
            </a:endParaRPr>
          </a:p>
          <a:p>
            <a:pPr marL="457200" lvl="0" indent="-304800" algn="l" rtl="0">
              <a:spcBef>
                <a:spcPts val="0"/>
              </a:spcBef>
              <a:spcAft>
                <a:spcPts val="0"/>
              </a:spcAft>
              <a:buSzPts val="1200"/>
              <a:buFont typeface="Lato"/>
              <a:buChar char="●"/>
            </a:pPr>
            <a:r>
              <a:rPr lang="en-GB" sz="1200">
                <a:latin typeface="Lato"/>
                <a:ea typeface="Lato"/>
                <a:cs typeface="Lato"/>
                <a:sym typeface="Lato"/>
              </a:rPr>
              <a:t>Produce a receiver operating characteristic (ROC) for visualization (AUC..etc.)</a:t>
            </a:r>
            <a:endParaRPr sz="1200">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9"/>
          <p:cNvSpPr txBox="1">
            <a:spLocks noGrp="1"/>
          </p:cNvSpPr>
          <p:nvPr>
            <p:ph type="title"/>
          </p:nvPr>
        </p:nvSpPr>
        <p:spPr>
          <a:xfrm>
            <a:off x="645300" y="1833775"/>
            <a:ext cx="3063300" cy="692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Thank you!</a:t>
            </a:r>
            <a:endParaRPr/>
          </a:p>
        </p:txBody>
      </p:sp>
      <p:pic>
        <p:nvPicPr>
          <p:cNvPr id="270" name="Google Shape;270;p29"/>
          <p:cNvPicPr preferRelativeResize="0"/>
          <p:nvPr/>
        </p:nvPicPr>
        <p:blipFill>
          <a:blip r:embed="rId3">
            <a:alphaModFix/>
          </a:blip>
          <a:stretch>
            <a:fillRect/>
          </a:stretch>
        </p:blipFill>
        <p:spPr>
          <a:xfrm>
            <a:off x="3467200" y="1502550"/>
            <a:ext cx="5130599" cy="3305621"/>
          </a:xfrm>
          <a:prstGeom prst="rect">
            <a:avLst/>
          </a:prstGeom>
          <a:noFill/>
          <a:ln>
            <a:noFill/>
          </a:ln>
        </p:spPr>
      </p:pic>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871</Words>
  <Application>Microsoft Macintosh PowerPoint</Application>
  <PresentationFormat>On-screen Show (16:9)</PresentationFormat>
  <Paragraphs>128</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Lato</vt:lpstr>
      <vt:lpstr>Arial</vt:lpstr>
      <vt:lpstr>Georgia</vt:lpstr>
      <vt:lpstr>Raleway</vt:lpstr>
      <vt:lpstr>Roboto</vt:lpstr>
      <vt:lpstr>Streamline</vt:lpstr>
      <vt:lpstr>Black Box Entropy Estimation</vt:lpstr>
      <vt:lpstr>Agenda</vt:lpstr>
      <vt:lpstr>Project timeline</vt:lpstr>
      <vt:lpstr>Overview</vt:lpstr>
      <vt:lpstr>Random Number Generation (RNG)</vt:lpstr>
      <vt:lpstr>Entropy</vt:lpstr>
      <vt:lpstr>Numeric Distributions</vt:lpstr>
      <vt:lpstr>Numeric Distributions</vt:lpstr>
      <vt:lpstr>Linear Regression</vt:lpstr>
      <vt:lpstr>Gradient Descent</vt:lpstr>
      <vt:lpstr>PowerPoint Presentation</vt:lpstr>
      <vt:lpstr>Linear Regression with Gradient Descent</vt:lpstr>
      <vt:lpstr>Logistic Regression</vt:lpstr>
      <vt:lpstr>Progress and Next Steps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Entropy Estimation</dc:title>
  <cp:lastModifiedBy>Omar Abbas</cp:lastModifiedBy>
  <cp:revision>2</cp:revision>
  <dcterms:modified xsi:type="dcterms:W3CDTF">2021-10-22T00:37:03Z</dcterms:modified>
</cp:coreProperties>
</file>