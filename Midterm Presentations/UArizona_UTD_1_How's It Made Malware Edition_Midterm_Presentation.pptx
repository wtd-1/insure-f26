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9144000" cy="5143500" type="screen16x9"/>
  <p:notesSz cx="6858000" cy="9144000"/>
  <p:embeddedFontLst>
    <p:embeddedFont>
      <p:font typeface="Lato" panose="020F0502020204030203" pitchFamily="34" charset="0"/>
      <p:regular r:id="rId28"/>
      <p:bold r:id="rId29"/>
      <p:italic r:id="rId30"/>
      <p:boldItalic r:id="rId31"/>
    </p:embeddedFont>
    <p:embeddedFont>
      <p:font typeface="Montserrat" panose="000005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C93071-435D-4BF2-BFC7-672637385921}">
  <a:tblStyle styleId="{20C93071-435D-4BF2-BFC7-672637385921}"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4C9BB423-20A0-4EAA-BFA5-2150587C5572}"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6C3D0141-AA6B-4E14-BAF0-DB45B88AA1E9}"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418"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7.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6.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5.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11f112255b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11f112255b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11f112255b9_2_1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g11f112255b9_2_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Tim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11f112255b9_2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1" name="Google Shape;271;g11f112255b9_2_1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457200" algn="l"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Jacob -&gt; Tri -&gt; Tim -&gt; Abhi</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11f112255b9_2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 name="Google Shape;278;g11f112255b9_2_1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Abhi</a:t>
            </a:r>
            <a:endParaRPr sz="1200">
              <a:solidFill>
                <a:schemeClr val="dk1"/>
              </a:solidFill>
              <a:latin typeface="Times New Roman"/>
              <a:ea typeface="Times New Roman"/>
              <a:cs typeface="Times New Roman"/>
              <a:sym typeface="Times New Roman"/>
            </a:endParaRPr>
          </a:p>
          <a:p>
            <a:pPr marL="0" lvl="0" indent="457200" algn="l" rtl="0">
              <a:lnSpc>
                <a:spcPct val="115000"/>
              </a:lnSpc>
              <a:spcBef>
                <a:spcPts val="0"/>
              </a:spcBef>
              <a:spcAft>
                <a:spcPts val="0"/>
              </a:spcAft>
              <a:buClr>
                <a:schemeClr val="dk1"/>
              </a:buClr>
              <a:buSzPts val="1100"/>
              <a:buFont typeface="Arial"/>
              <a:buNone/>
            </a:pP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Overall, this project aims to create a malware analysis tool that simplifies the analysis process by finding and digesting information endemic to all malware samples, such as compiler toolmarks, library functions, and code transforms. Designing such a tool will require a new line of thought in analyzing malware samples; specifically, the team will integrate our findings and existing techniques with MITRE’s Malware Development Life Cycle (MDLC). By conducting research to understand how information artifacts specific to various toolchains and design decisions impact the analysis process, the team could develop a tool that is both a massive boon to analysis efficacy and advance the industry’s understanding and use of these artifacts. </a:t>
            </a:r>
            <a:endParaRPr sz="1200">
              <a:solidFill>
                <a:schemeClr val="dk1"/>
              </a:solidFill>
            </a:endParaRPr>
          </a:p>
          <a:p>
            <a:pPr marL="0" lvl="0" indent="457200" algn="l" rtl="0">
              <a:lnSpc>
                <a:spcPct val="115000"/>
              </a:lnSpc>
              <a:spcBef>
                <a:spcPts val="0"/>
              </a:spcBef>
              <a:spcAft>
                <a:spcPts val="0"/>
              </a:spcAft>
              <a:buClr>
                <a:schemeClr val="dk1"/>
              </a:buClr>
              <a:buSzPts val="1100"/>
              <a:buFont typeface="Arial"/>
              <a:buNone/>
            </a:pPr>
            <a:endParaRPr sz="1200">
              <a:solidFill>
                <a:schemeClr val="dk1"/>
              </a:solidFill>
              <a:latin typeface="Times New Roman"/>
              <a:ea typeface="Times New Roman"/>
              <a:cs typeface="Times New Roman"/>
              <a:sym typeface="Times New Roman"/>
            </a:endParaRPr>
          </a:p>
          <a:p>
            <a:pPr marL="0" lvl="0" indent="457200" algn="l" rtl="0">
              <a:lnSpc>
                <a:spcPct val="115000"/>
              </a:lnSpc>
              <a:spcBef>
                <a:spcPts val="0"/>
              </a:spcBef>
              <a:spcAft>
                <a:spcPts val="300"/>
              </a:spcAft>
              <a:buClr>
                <a:schemeClr val="dk1"/>
              </a:buClr>
              <a:buSzPts val="1100"/>
              <a:buFont typeface="Arial"/>
              <a:buNone/>
            </a:pP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11f09532809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5" name="Google Shape;285;g11f09532809_3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457200" algn="l"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Tri </a:t>
            </a:r>
            <a:endParaRPr sz="1200">
              <a:solidFill>
                <a:schemeClr val="dk1"/>
              </a:solidFill>
              <a:latin typeface="Times New Roman"/>
              <a:ea typeface="Times New Roman"/>
              <a:cs typeface="Times New Roman"/>
              <a:sym typeface="Times New Roman"/>
            </a:endParaRPr>
          </a:p>
          <a:p>
            <a:pPr marL="0" lvl="0" indent="457200" algn="l" rtl="0">
              <a:lnSpc>
                <a:spcPct val="115000"/>
              </a:lnSpc>
              <a:spcBef>
                <a:spcPts val="300"/>
              </a:spcBef>
              <a:spcAft>
                <a:spcPts val="3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team intends to create a tool that can identify toolmarks, utilizing either novel methods developed by the team or already existing analysis solutions, and correlate these toolmarks to the MDLC. By identifying toolmarks, the tool will lend itself to performing more efficient and thorough analysis of malicious binaries. Because many malware samples collected today often employ many thousands of functions and hundreds to thousands of library and compiler functions, being able to identify the location and type of functions imparted by the malware author’s toolchain will be essential to achieving more efficiency in analysis. Moreover, if these toolmarks were to be analyzed and integrated into the six adversary steps of the MDLC, a more attack-centric view of analysis would be fostered. By fostering an attacker-centric view during analysis, the tool will help perform the collect and analyze steps of the MDLC and will thus influence users to place themselves into the attacker’s point of view in developing the malware. This could further improve analysis efficiency, especially if paired with pertinent cyber threat intelligence, and is a feature that has not been implemented in commercial reverse engineering tools to date. Regarding format, the team aims to either create a standalone tool that implements the aforementioned features or create a plugin for a major tool, such as IDAPro, to accomplish the overall goal.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11f112255b9_2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2" name="Google Shape;322;g11f112255b9_2_1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Jacob</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Research project plan uses a four phased approach. The first phase of the project entailed researching current solutions to determine compiler provenance information and statically-linked function information, current major malware techniques to implement and toolchains to employ when creating our ground truth test samples, appropriate code-sharing and test environments to employ, and whether or not it would be more appropriate to develop a standalone tool or a plugin for existing tools. The end result of this phase was a course of action to complete the next three phases. Phase Two is the group development of the test samples that will be fed to the team’s final project. The team will develop these samples to the TD’s requirements and use them to fuel phases 3 and 4. Phase Three will compose of the development of a prototype of the final product tailored around the products from phase two. Phase Four will continue Phase Three’s progress by fine-tuning our detection methodology and smoothing out the user interface and output of the tool.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11f112255b9_2_1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0" name="Google Shape;330;g11f112255b9_2_1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Tim</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11f112255b9_2_1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8" name="Google Shape;338;g11f112255b9_2_1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Tri: Phase 1 and 2, Jacob: Phase 3 and 4</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11f112255b9_2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5" name="Google Shape;345;g11f112255b9_2_2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200"/>
              </a:spcBef>
              <a:spcAft>
                <a:spcPts val="0"/>
              </a:spcAft>
              <a:buSzPts val="1100"/>
              <a:buNone/>
            </a:pPr>
            <a:r>
              <a:rPr lang="en" sz="1300">
                <a:solidFill>
                  <a:schemeClr val="dk1"/>
                </a:solidFill>
                <a:latin typeface="Lato"/>
                <a:ea typeface="Lato"/>
                <a:cs typeface="Lato"/>
                <a:sym typeface="Lato"/>
              </a:rPr>
              <a:t>Abhi</a:t>
            </a:r>
            <a:endParaRPr sz="1300">
              <a:solidFill>
                <a:schemeClr val="dk1"/>
              </a:solidFill>
              <a:latin typeface="Lato"/>
              <a:ea typeface="Lato"/>
              <a:cs typeface="Lato"/>
              <a:sym typeface="Lato"/>
            </a:endParaRPr>
          </a:p>
          <a:p>
            <a:pPr marL="0" lvl="0" indent="0" algn="l" rtl="0">
              <a:lnSpc>
                <a:spcPct val="100000"/>
              </a:lnSpc>
              <a:spcBef>
                <a:spcPts val="1200"/>
              </a:spcBef>
              <a:spcAft>
                <a:spcPts val="0"/>
              </a:spcAft>
              <a:buSzPts val="1100"/>
              <a:buNone/>
            </a:pPr>
            <a:r>
              <a:rPr lang="en" sz="1300">
                <a:solidFill>
                  <a:schemeClr val="dk1"/>
                </a:solidFill>
                <a:latin typeface="Lato"/>
                <a:ea typeface="Lato"/>
                <a:cs typeface="Lato"/>
                <a:sym typeface="Lato"/>
              </a:rPr>
              <a:t>Phase 2 - Malware Sample Requirements</a:t>
            </a:r>
            <a:endParaRPr sz="1300">
              <a:solidFill>
                <a:schemeClr val="dk1"/>
              </a:solidFill>
              <a:latin typeface="Lato"/>
              <a:ea typeface="Lato"/>
              <a:cs typeface="Lato"/>
              <a:sym typeface="Lato"/>
            </a:endParaRPr>
          </a:p>
          <a:p>
            <a:pPr marL="0" lvl="0" indent="0" algn="l" rtl="0">
              <a:lnSpc>
                <a:spcPct val="115000"/>
              </a:lnSpc>
              <a:spcBef>
                <a:spcPts val="0"/>
              </a:spcBef>
              <a:spcAft>
                <a:spcPts val="0"/>
              </a:spcAft>
              <a:buSzPts val="1100"/>
              <a:buNone/>
            </a:pPr>
            <a:r>
              <a:rPr lang="en" sz="1300">
                <a:solidFill>
                  <a:schemeClr val="dk1"/>
                </a:solidFill>
                <a:latin typeface="Lato"/>
                <a:ea typeface="Lato"/>
                <a:cs typeface="Lato"/>
                <a:sym typeface="Lato"/>
              </a:rPr>
              <a:t>Build a persistent remote access capability for the following: </a:t>
            </a:r>
            <a:endParaRPr sz="1300">
              <a:solidFill>
                <a:schemeClr val="dk1"/>
              </a:solidFill>
              <a:latin typeface="Lato"/>
              <a:ea typeface="Lato"/>
              <a:cs typeface="Lato"/>
              <a:sym typeface="Lato"/>
            </a:endParaRPr>
          </a:p>
          <a:p>
            <a:pPr marL="0" lvl="0" indent="457200" algn="l" rtl="0">
              <a:lnSpc>
                <a:spcPct val="115000"/>
              </a:lnSpc>
              <a:spcBef>
                <a:spcPts val="0"/>
              </a:spcBef>
              <a:spcAft>
                <a:spcPts val="0"/>
              </a:spcAft>
              <a:buSzPts val="1100"/>
              <a:buNone/>
            </a:pPr>
            <a:r>
              <a:rPr lang="en" sz="1300">
                <a:solidFill>
                  <a:schemeClr val="dk1"/>
                </a:solidFill>
                <a:latin typeface="Lato"/>
                <a:ea typeface="Lato"/>
                <a:cs typeface="Lato"/>
                <a:sym typeface="Lato"/>
              </a:rPr>
              <a:t>list files and directories on the system </a:t>
            </a:r>
            <a:endParaRPr sz="1300">
              <a:solidFill>
                <a:schemeClr val="dk1"/>
              </a:solidFill>
              <a:latin typeface="Lato"/>
              <a:ea typeface="Lato"/>
              <a:cs typeface="Lato"/>
              <a:sym typeface="Lato"/>
            </a:endParaRPr>
          </a:p>
          <a:p>
            <a:pPr marL="457200" lvl="0" indent="0" algn="l" rtl="0">
              <a:lnSpc>
                <a:spcPct val="115000"/>
              </a:lnSpc>
              <a:spcBef>
                <a:spcPts val="0"/>
              </a:spcBef>
              <a:spcAft>
                <a:spcPts val="0"/>
              </a:spcAft>
              <a:buSzPts val="1100"/>
              <a:buNone/>
            </a:pPr>
            <a:r>
              <a:rPr lang="en" sz="1300">
                <a:solidFill>
                  <a:schemeClr val="dk1"/>
                </a:solidFill>
                <a:latin typeface="Lato"/>
                <a:ea typeface="Lato"/>
                <a:cs typeface="Lato"/>
                <a:sym typeface="Lato"/>
              </a:rPr>
              <a:t>transfer a file from the controller to the implant and vice versa</a:t>
            </a:r>
            <a:endParaRPr sz="1300">
              <a:solidFill>
                <a:schemeClr val="dk1"/>
              </a:solidFill>
              <a:latin typeface="Lato"/>
              <a:ea typeface="Lato"/>
              <a:cs typeface="Lato"/>
              <a:sym typeface="Lato"/>
            </a:endParaRPr>
          </a:p>
          <a:p>
            <a:pPr marL="0" lvl="0" indent="457200" algn="l" rtl="0">
              <a:lnSpc>
                <a:spcPct val="115000"/>
              </a:lnSpc>
              <a:spcBef>
                <a:spcPts val="0"/>
              </a:spcBef>
              <a:spcAft>
                <a:spcPts val="0"/>
              </a:spcAft>
              <a:buSzPts val="1100"/>
              <a:buNone/>
            </a:pPr>
            <a:r>
              <a:rPr lang="en" sz="1300">
                <a:solidFill>
                  <a:schemeClr val="dk1"/>
                </a:solidFill>
                <a:latin typeface="Lato"/>
                <a:ea typeface="Lato"/>
                <a:cs typeface="Lato"/>
                <a:sym typeface="Lato"/>
              </a:rPr>
              <a:t>execute a file, with optional command-line arguments  </a:t>
            </a:r>
            <a:endParaRPr sz="1300">
              <a:solidFill>
                <a:schemeClr val="dk1"/>
              </a:solidFill>
              <a:latin typeface="Lato"/>
              <a:ea typeface="Lato"/>
              <a:cs typeface="Lato"/>
              <a:sym typeface="Lato"/>
            </a:endParaRPr>
          </a:p>
          <a:p>
            <a:pPr marL="0" lvl="0" indent="457200" algn="l" rtl="0">
              <a:lnSpc>
                <a:spcPct val="115000"/>
              </a:lnSpc>
              <a:spcBef>
                <a:spcPts val="0"/>
              </a:spcBef>
              <a:spcAft>
                <a:spcPts val="0"/>
              </a:spcAft>
              <a:buSzPts val="1100"/>
              <a:buNone/>
            </a:pPr>
            <a:r>
              <a:rPr lang="en" sz="1300">
                <a:solidFill>
                  <a:schemeClr val="dk1"/>
                </a:solidFill>
                <a:latin typeface="Lato"/>
                <a:ea typeface="Lato"/>
                <a:cs typeface="Lato"/>
                <a:sym typeface="Lato"/>
              </a:rPr>
              <a:t>send commands to a command shell (cmd.exe) and see the result; e.g. "dir" would show a directory listing in the current directory </a:t>
            </a:r>
            <a:endParaRPr sz="1300">
              <a:solidFill>
                <a:schemeClr val="dk1"/>
              </a:solidFill>
              <a:latin typeface="Lato"/>
              <a:ea typeface="Lato"/>
              <a:cs typeface="Lato"/>
              <a:sym typeface="Lato"/>
            </a:endParaRPr>
          </a:p>
          <a:p>
            <a:pPr marL="0" lvl="0" indent="0" algn="l" rtl="0">
              <a:lnSpc>
                <a:spcPct val="115000"/>
              </a:lnSpc>
              <a:spcBef>
                <a:spcPts val="0"/>
              </a:spcBef>
              <a:spcAft>
                <a:spcPts val="0"/>
              </a:spcAft>
              <a:buClr>
                <a:schemeClr val="dk1"/>
              </a:buClr>
              <a:buSzPts val="1100"/>
              <a:buFont typeface="Arial"/>
              <a:buNone/>
            </a:pPr>
            <a:r>
              <a:rPr lang="en" sz="1300">
                <a:solidFill>
                  <a:schemeClr val="dk1"/>
                </a:solidFill>
                <a:latin typeface="Lato"/>
                <a:ea typeface="Lato"/>
                <a:cs typeface="Lato"/>
                <a:sym typeface="Lato"/>
              </a:rPr>
              <a:t>The capability should obfuscate the network traffic based on a provided key (ASCII string). So that each build of an implant could in theory have a different key. The capability should include obfuscations and other techniques necessary to prevent simple anti-virus and sandbox detection. The capability should include obfuscations of the code and data to prevent simple manual analysis (static disassembly and debugging).</a:t>
            </a:r>
            <a:endParaRPr sz="1300">
              <a:solidFill>
                <a:schemeClr val="dk1"/>
              </a:solidFill>
              <a:latin typeface="Lato"/>
              <a:ea typeface="Lato"/>
              <a:cs typeface="Lato"/>
              <a:sym typeface="Lato"/>
            </a:endParaRPr>
          </a:p>
          <a:p>
            <a:pPr marL="0" lvl="0" indent="0" algn="l" rtl="0">
              <a:lnSpc>
                <a:spcPct val="100000"/>
              </a:lnSpc>
              <a:spcBef>
                <a:spcPts val="1200"/>
              </a:spcBef>
              <a:spcAft>
                <a:spcPts val="0"/>
              </a:spcAft>
              <a:buSzPts val="1100"/>
              <a:buNone/>
            </a:pPr>
            <a:endParaRPr sz="1300">
              <a:solidFill>
                <a:schemeClr val="dk1"/>
              </a:solidFill>
              <a:latin typeface="Lato"/>
              <a:ea typeface="Lato"/>
              <a:cs typeface="Lato"/>
              <a:sym typeface="La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11f112255b9_2_2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1" name="Google Shape;381;g11f112255b9_2_2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Tri</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11f112255b9_2_2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9" name="Google Shape;389;g11f112255b9_2_2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Abhi</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11f112255b9_2_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7" name="Google Shape;397;g11f112255b9_2_2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Tim</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r>
              <a:rPr lang="en"/>
              <a:t>Our research has narrowed to six main techniques in use by major threat actors</a:t>
            </a:r>
            <a:endParaRPr/>
          </a:p>
          <a:p>
            <a:pPr marL="0" lvl="0" indent="0" algn="l" rtl="0">
              <a:lnSpc>
                <a:spcPct val="100000"/>
              </a:lnSpc>
              <a:spcBef>
                <a:spcPts val="0"/>
              </a:spcBef>
              <a:spcAft>
                <a:spcPts val="0"/>
              </a:spcAft>
              <a:buClr>
                <a:schemeClr val="dk1"/>
              </a:buClr>
              <a:buSzPts val="1100"/>
              <a:buFont typeface="Arial"/>
              <a:buNone/>
            </a:pPr>
            <a:r>
              <a:rPr lang="en"/>
              <a:t>File Exfiltration: Steals files from infected system and sends the files the attacker</a:t>
            </a:r>
            <a:endParaRPr/>
          </a:p>
          <a:p>
            <a:pPr marL="0" lvl="0" indent="0" algn="l" rtl="0">
              <a:lnSpc>
                <a:spcPct val="100000"/>
              </a:lnSpc>
              <a:spcBef>
                <a:spcPts val="0"/>
              </a:spcBef>
              <a:spcAft>
                <a:spcPts val="0"/>
              </a:spcAft>
              <a:buClr>
                <a:schemeClr val="dk1"/>
              </a:buClr>
              <a:buSzPts val="1100"/>
              <a:buFont typeface="Arial"/>
              <a:buNone/>
            </a:pPr>
            <a:r>
              <a:rPr lang="en"/>
              <a:t>Dropper: Use of a first stage malware payload to deliver another payload </a:t>
            </a:r>
            <a:endParaRPr/>
          </a:p>
          <a:p>
            <a:pPr marL="0" lvl="0" indent="0" algn="l" rtl="0">
              <a:lnSpc>
                <a:spcPct val="100000"/>
              </a:lnSpc>
              <a:spcBef>
                <a:spcPts val="0"/>
              </a:spcBef>
              <a:spcAft>
                <a:spcPts val="0"/>
              </a:spcAft>
              <a:buClr>
                <a:schemeClr val="dk1"/>
              </a:buClr>
              <a:buSzPts val="1100"/>
              <a:buFont typeface="Arial"/>
              <a:buNone/>
            </a:pPr>
            <a:r>
              <a:rPr lang="en"/>
              <a:t>Keylogging: Tracking users’ keystrokes for later viewing</a:t>
            </a:r>
            <a:endParaRPr/>
          </a:p>
          <a:p>
            <a:pPr marL="0" lvl="0" indent="0" algn="l" rtl="0">
              <a:lnSpc>
                <a:spcPct val="100000"/>
              </a:lnSpc>
              <a:spcBef>
                <a:spcPts val="0"/>
              </a:spcBef>
              <a:spcAft>
                <a:spcPts val="0"/>
              </a:spcAft>
              <a:buClr>
                <a:schemeClr val="dk1"/>
              </a:buClr>
              <a:buSzPts val="1100"/>
              <a:buFont typeface="Arial"/>
              <a:buNone/>
            </a:pPr>
            <a:r>
              <a:rPr lang="en"/>
              <a:t>Persistence: Methods by which the malware survives reboots and system power downs </a:t>
            </a:r>
            <a:endParaRPr/>
          </a:p>
          <a:p>
            <a:pPr marL="0" lvl="0" indent="0" algn="l" rtl="0">
              <a:lnSpc>
                <a:spcPct val="100000"/>
              </a:lnSpc>
              <a:spcBef>
                <a:spcPts val="0"/>
              </a:spcBef>
              <a:spcAft>
                <a:spcPts val="0"/>
              </a:spcAft>
              <a:buClr>
                <a:schemeClr val="dk1"/>
              </a:buClr>
              <a:buSzPts val="1100"/>
              <a:buFont typeface="Arial"/>
              <a:buNone/>
            </a:pPr>
            <a:r>
              <a:rPr lang="en"/>
              <a:t>Anti-Analysis/Evasion Mechanisms: Various methods by which malware evades detection and hampers malware analysis techniques  </a:t>
            </a:r>
            <a:endParaRPr/>
          </a:p>
          <a:p>
            <a:pPr marL="0" lvl="0" indent="0" algn="l" rtl="0">
              <a:lnSpc>
                <a:spcPct val="100000"/>
              </a:lnSpc>
              <a:spcBef>
                <a:spcPts val="0"/>
              </a:spcBef>
              <a:spcAft>
                <a:spcPts val="0"/>
              </a:spcAft>
              <a:buClr>
                <a:schemeClr val="dk1"/>
              </a:buClr>
              <a:buSzPts val="1100"/>
              <a:buFont typeface="Arial"/>
              <a:buNone/>
            </a:pPr>
            <a:r>
              <a:rPr lang="en"/>
              <a:t>Command and Control (C2) : How an attacker issues commands to the malware once the malware is loaded onto a machine </a:t>
            </a:r>
            <a:endParaRPr/>
          </a:p>
          <a:p>
            <a:pPr marL="0" lvl="0" indent="0" algn="l" rtl="0">
              <a:lnSpc>
                <a:spcPct val="100000"/>
              </a:lnSpc>
              <a:spcBef>
                <a:spcPts val="0"/>
              </a:spcBef>
              <a:spcAft>
                <a:spcPts val="0"/>
              </a:spcAft>
              <a:buClr>
                <a:schemeClr val="dk1"/>
              </a:buClr>
              <a:buSzPts val="1100"/>
              <a:buFont typeface="Arial"/>
              <a:buNone/>
            </a:pPr>
            <a:r>
              <a:rPr lang="en"/>
              <a:t>After researching these capabilities, the team TD issued the list of requirements </a:t>
            </a:r>
            <a:endParaRPr/>
          </a:p>
          <a:p>
            <a:pPr marL="0" lvl="0" indent="0" algn="l" rtl="0">
              <a:lnSpc>
                <a:spcPct val="100000"/>
              </a:lnSpc>
              <a:spcBef>
                <a:spcPts val="0"/>
              </a:spcBef>
              <a:spcAft>
                <a:spcPts val="0"/>
              </a:spcAft>
              <a:buClr>
                <a:schemeClr val="dk1"/>
              </a:buClr>
              <a:buSzPts val="1100"/>
              <a:buFont typeface="Arial"/>
              <a:buNone/>
            </a:pPr>
            <a:r>
              <a:rPr lang="en"/>
              <a:t>We have to implement file exfiltration, persistence, anti-analysis, and C2</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11f112255b9_2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8" name="Google Shape;418;g11f112255b9_2_2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Tri</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r>
              <a:rPr lang="en"/>
              <a:t>Toolmarks </a:t>
            </a:r>
            <a:endParaRPr/>
          </a:p>
          <a:p>
            <a:pPr marL="0" lvl="0" indent="0" algn="l" rtl="0">
              <a:lnSpc>
                <a:spcPct val="100000"/>
              </a:lnSpc>
              <a:spcBef>
                <a:spcPts val="0"/>
              </a:spcBef>
              <a:spcAft>
                <a:spcPts val="0"/>
              </a:spcAft>
              <a:buClr>
                <a:schemeClr val="dk1"/>
              </a:buClr>
              <a:buSzPts val="1100"/>
              <a:buFont typeface="Arial"/>
              <a:buNone/>
            </a:pPr>
            <a:r>
              <a:rPr lang="en"/>
              <a:t>Any piece of information left behind by the software toolchain used to build a piece of software</a:t>
            </a:r>
            <a:endParaRPr/>
          </a:p>
          <a:p>
            <a:pPr marL="0" lvl="0" indent="0" algn="l" rtl="0">
              <a:lnSpc>
                <a:spcPct val="100000"/>
              </a:lnSpc>
              <a:spcBef>
                <a:spcPts val="0"/>
              </a:spcBef>
              <a:spcAft>
                <a:spcPts val="0"/>
              </a:spcAft>
              <a:buClr>
                <a:schemeClr val="dk1"/>
              </a:buClr>
              <a:buSzPts val="1100"/>
              <a:buFont typeface="Arial"/>
              <a:buNone/>
            </a:pPr>
            <a:r>
              <a:rPr lang="en"/>
              <a:t>Examples: Portable Executable metadata, compiler functions, linked library code </a:t>
            </a:r>
            <a:endParaRPr/>
          </a:p>
          <a:p>
            <a:pPr marL="0" lvl="0" indent="0" algn="l" rtl="0">
              <a:lnSpc>
                <a:spcPct val="100000"/>
              </a:lnSpc>
              <a:spcBef>
                <a:spcPts val="0"/>
              </a:spcBef>
              <a:spcAft>
                <a:spcPts val="0"/>
              </a:spcAft>
              <a:buClr>
                <a:schemeClr val="dk1"/>
              </a:buClr>
              <a:buSzPts val="1100"/>
              <a:buFont typeface="Arial"/>
              <a:buNone/>
            </a:pPr>
            <a:r>
              <a:rPr lang="en"/>
              <a:t>Toolmarks are essential clues for analyzing and reverse engineering any software </a:t>
            </a:r>
            <a:endParaRPr/>
          </a:p>
          <a:p>
            <a:pPr marL="0" lvl="0" indent="0" algn="l" rtl="0">
              <a:lnSpc>
                <a:spcPct val="100000"/>
              </a:lnSpc>
              <a:spcBef>
                <a:spcPts val="0"/>
              </a:spcBef>
              <a:spcAft>
                <a:spcPts val="0"/>
              </a:spcAft>
              <a:buSzPts val="1100"/>
              <a:buNone/>
            </a:pPr>
            <a:r>
              <a:rPr lang="en"/>
              <a:t>Main research focus for the team is to figure out which toolmarks are important to our goal</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Compiler Provenance </a:t>
            </a:r>
            <a:endParaRPr/>
          </a:p>
          <a:p>
            <a:pPr marL="0" lvl="0" indent="0" algn="l" rtl="0">
              <a:lnSpc>
                <a:spcPct val="100000"/>
              </a:lnSpc>
              <a:spcBef>
                <a:spcPts val="0"/>
              </a:spcBef>
              <a:spcAft>
                <a:spcPts val="0"/>
              </a:spcAft>
              <a:buClr>
                <a:schemeClr val="dk1"/>
              </a:buClr>
              <a:buSzPts val="1100"/>
              <a:buFont typeface="Arial"/>
              <a:buNone/>
            </a:pPr>
            <a:r>
              <a:rPr lang="en"/>
              <a:t>Information contained in a piece of software about the compiler; essentially compiler toolmarks</a:t>
            </a:r>
            <a:endParaRPr/>
          </a:p>
          <a:p>
            <a:pPr marL="0" lvl="0" indent="0" algn="l" rtl="0">
              <a:lnSpc>
                <a:spcPct val="100000"/>
              </a:lnSpc>
              <a:spcBef>
                <a:spcPts val="0"/>
              </a:spcBef>
              <a:spcAft>
                <a:spcPts val="0"/>
              </a:spcAft>
              <a:buClr>
                <a:schemeClr val="dk1"/>
              </a:buClr>
              <a:buSzPts val="1100"/>
              <a:buFont typeface="Arial"/>
              <a:buNone/>
            </a:pPr>
            <a:r>
              <a:rPr lang="en"/>
              <a:t>Examples: compiler family, compiler version, optimization level, and compiler-related functions</a:t>
            </a:r>
            <a:endParaRPr/>
          </a:p>
          <a:p>
            <a:pPr marL="0" lvl="0" indent="0" algn="l" rtl="0">
              <a:lnSpc>
                <a:spcPct val="100000"/>
              </a:lnSpc>
              <a:spcBef>
                <a:spcPts val="0"/>
              </a:spcBef>
              <a:spcAft>
                <a:spcPts val="0"/>
              </a:spcAft>
              <a:buClr>
                <a:schemeClr val="dk1"/>
              </a:buClr>
              <a:buSzPts val="1100"/>
              <a:buFont typeface="Arial"/>
              <a:buNone/>
            </a:pPr>
            <a:r>
              <a:rPr lang="en"/>
              <a:t>Relatively unexplored topic</a:t>
            </a:r>
            <a:endParaRPr/>
          </a:p>
          <a:p>
            <a:pPr marL="0" lvl="0" indent="0" algn="l" rtl="0">
              <a:lnSpc>
                <a:spcPct val="100000"/>
              </a:lnSpc>
              <a:spcBef>
                <a:spcPts val="0"/>
              </a:spcBef>
              <a:spcAft>
                <a:spcPts val="0"/>
              </a:spcAft>
              <a:buSzPts val="1100"/>
              <a:buNone/>
            </a:pPr>
            <a:r>
              <a:rPr lang="en"/>
              <a:t>Few general papers published and mostly specialized information</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Main research focus for the team is to figure how we can determine provenance and if it is feasible for us to employ</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11f112255b9_2_2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g11f112255b9_2_2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Tri</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r>
              <a:rPr lang="en"/>
              <a:t>Software needs library functions to call upon to abstract lower-level functions </a:t>
            </a:r>
            <a:endParaRPr/>
          </a:p>
          <a:p>
            <a:pPr marL="0" lvl="0" indent="0" algn="l" rtl="0">
              <a:lnSpc>
                <a:spcPct val="100000"/>
              </a:lnSpc>
              <a:spcBef>
                <a:spcPts val="0"/>
              </a:spcBef>
              <a:spcAft>
                <a:spcPts val="0"/>
              </a:spcAft>
              <a:buClr>
                <a:schemeClr val="dk1"/>
              </a:buClr>
              <a:buSzPts val="1100"/>
              <a:buFont typeface="Arial"/>
              <a:buNone/>
            </a:pPr>
            <a:r>
              <a:rPr lang="en"/>
              <a:t>Malware uses these library functions to implement malicious actions </a:t>
            </a:r>
            <a:endParaRPr/>
          </a:p>
          <a:p>
            <a:pPr marL="0" lvl="0" indent="0" algn="l" rtl="0">
              <a:lnSpc>
                <a:spcPct val="100000"/>
              </a:lnSpc>
              <a:spcBef>
                <a:spcPts val="0"/>
              </a:spcBef>
              <a:spcAft>
                <a:spcPts val="0"/>
              </a:spcAft>
              <a:buClr>
                <a:schemeClr val="dk1"/>
              </a:buClr>
              <a:buSzPts val="1100"/>
              <a:buFont typeface="Arial"/>
              <a:buNone/>
            </a:pPr>
            <a:r>
              <a:rPr lang="en"/>
              <a:t>As such, libraries can act as toolmarks to analyze </a:t>
            </a:r>
            <a:endParaRPr/>
          </a:p>
          <a:p>
            <a:pPr marL="0" lvl="0" indent="0" algn="l" rtl="0">
              <a:lnSpc>
                <a:spcPct val="100000"/>
              </a:lnSpc>
              <a:spcBef>
                <a:spcPts val="0"/>
              </a:spcBef>
              <a:spcAft>
                <a:spcPts val="0"/>
              </a:spcAft>
              <a:buSzPts val="1100"/>
              <a:buNone/>
            </a:pPr>
            <a:r>
              <a:rPr lang="en"/>
              <a:t>Examples: Windows API function calls, ANSI C header functions calls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Reliable Statically-Linked Library code detection is already available </a:t>
            </a:r>
            <a:endParaRPr/>
          </a:p>
          <a:p>
            <a:pPr marL="0" lvl="0" indent="0" algn="l" rtl="0">
              <a:lnSpc>
                <a:spcPct val="100000"/>
              </a:lnSpc>
              <a:spcBef>
                <a:spcPts val="0"/>
              </a:spcBef>
              <a:spcAft>
                <a:spcPts val="0"/>
              </a:spcAft>
              <a:buClr>
                <a:schemeClr val="dk1"/>
              </a:buClr>
              <a:buSzPts val="1100"/>
              <a:buFont typeface="Arial"/>
              <a:buNone/>
            </a:pPr>
            <a:r>
              <a:rPr lang="en"/>
              <a:t>Detailed in the two compiler provenance papers mentioned before</a:t>
            </a:r>
            <a:endParaRPr/>
          </a:p>
          <a:p>
            <a:pPr marL="0" lvl="0" indent="0" algn="l" rtl="0">
              <a:lnSpc>
                <a:spcPct val="100000"/>
              </a:lnSpc>
              <a:spcBef>
                <a:spcPts val="0"/>
              </a:spcBef>
              <a:spcAft>
                <a:spcPts val="0"/>
              </a:spcAft>
              <a:buSzPts val="1100"/>
              <a:buNone/>
            </a:pPr>
            <a:r>
              <a:rPr lang="en"/>
              <a:t>Most widely used detection model: IDA Pro FLIRT Signatures </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Main research application for the project is figuring out how to employ FLIRT or similar solutions in our tools </a:t>
            </a:r>
            <a:endParaRPr/>
          </a:p>
          <a:p>
            <a:pPr marL="0" lvl="0" indent="0" algn="l" rtl="0">
              <a:lnSpc>
                <a:spcPct val="100000"/>
              </a:lnSpc>
              <a:spcBef>
                <a:spcPts val="0"/>
              </a:spcBef>
              <a:spcAft>
                <a:spcPts val="0"/>
              </a:spcAft>
              <a:buClr>
                <a:schemeClr val="dk1"/>
              </a:buClr>
              <a:buSzPts val="1100"/>
              <a:buFont typeface="Arial"/>
              <a:buNone/>
            </a:pPr>
            <a:r>
              <a:rPr lang="en"/>
              <a:t>This research is ongoing; many solutions to review and only one or two to use in the final product</a:t>
            </a:r>
            <a:endParaRPr/>
          </a:p>
          <a:p>
            <a:pPr marL="0" lvl="0" indent="0" algn="l" rtl="0">
              <a:lnSpc>
                <a:spcPct val="100000"/>
              </a:lnSpc>
              <a:spcBef>
                <a:spcPts val="0"/>
              </a:spcBef>
              <a:spcAft>
                <a:spcPts val="0"/>
              </a:spcAft>
              <a:buClr>
                <a:schemeClr val="dk1"/>
              </a:buClr>
              <a:buSzPts val="1100"/>
              <a:buFont typeface="Arial"/>
              <a:buNone/>
            </a:pPr>
            <a:r>
              <a:rPr lang="en"/>
              <a:t>Similar tools that exist: Radare2, Rizin, and Nucleus  </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11f112255b9_2_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g11f112255b9_2_3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Jacob</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r>
              <a:rPr lang="en"/>
              <a:t>New MITRE methodology for categorizing identified toolmarks and capabilities during malware analysis</a:t>
            </a:r>
            <a:endParaRPr/>
          </a:p>
          <a:p>
            <a:pPr marL="0" lvl="0" indent="0" algn="l" rtl="0">
              <a:lnSpc>
                <a:spcPct val="100000"/>
              </a:lnSpc>
              <a:spcBef>
                <a:spcPts val="0"/>
              </a:spcBef>
              <a:spcAft>
                <a:spcPts val="0"/>
              </a:spcAft>
              <a:buClr>
                <a:schemeClr val="dk1"/>
              </a:buClr>
              <a:buSzPts val="1100"/>
              <a:buFont typeface="Arial"/>
              <a:buNone/>
            </a:pPr>
            <a:r>
              <a:rPr lang="en"/>
              <a:t>Only Available Paper: Malware similarity analysis: An adversary perspective, Posluszny, 2020</a:t>
            </a:r>
            <a:endParaRPr/>
          </a:p>
          <a:p>
            <a:pPr marL="0" lvl="0" indent="0" algn="l" rtl="0">
              <a:lnSpc>
                <a:spcPct val="100000"/>
              </a:lnSpc>
              <a:spcBef>
                <a:spcPts val="0"/>
              </a:spcBef>
              <a:spcAft>
                <a:spcPts val="0"/>
              </a:spcAft>
              <a:buSzPts val="1100"/>
              <a:buNone/>
            </a:pPr>
            <a:r>
              <a:rPr lang="en"/>
              <a:t>8-Phased Approach: 6 Attacker Phases and 2 Analyst Phases </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Attacker Phases: Requirements -&gt; Design -&gt; Code -&gt; Build -&gt; Configure -&gt; Package</a:t>
            </a:r>
            <a:endParaRPr/>
          </a:p>
          <a:p>
            <a:pPr marL="0" lvl="0" indent="0" algn="l" rtl="0">
              <a:lnSpc>
                <a:spcPct val="100000"/>
              </a:lnSpc>
              <a:spcBef>
                <a:spcPts val="0"/>
              </a:spcBef>
              <a:spcAft>
                <a:spcPts val="0"/>
              </a:spcAft>
              <a:buClr>
                <a:schemeClr val="dk1"/>
              </a:buClr>
              <a:buSzPts val="1100"/>
              <a:buFont typeface="Arial"/>
              <a:buNone/>
            </a:pPr>
            <a:r>
              <a:rPr lang="en"/>
              <a:t>Each attacker phases also includes OPSEC transformation performed to enhance attacker’s security</a:t>
            </a:r>
            <a:endParaRPr/>
          </a:p>
          <a:p>
            <a:pPr marL="0" lvl="0" indent="0" algn="l" rtl="0">
              <a:lnSpc>
                <a:spcPct val="100000"/>
              </a:lnSpc>
              <a:spcBef>
                <a:spcPts val="0"/>
              </a:spcBef>
              <a:spcAft>
                <a:spcPts val="0"/>
              </a:spcAft>
              <a:buClr>
                <a:schemeClr val="dk1"/>
              </a:buClr>
              <a:buSzPts val="1100"/>
              <a:buFont typeface="Arial"/>
              <a:buNone/>
            </a:pPr>
            <a:r>
              <a:rPr lang="en"/>
              <a:t>Analyst Phases: Collect -&gt; Analyze </a:t>
            </a:r>
            <a:endParaRPr/>
          </a:p>
          <a:p>
            <a:pPr marL="0" lvl="0" indent="0" algn="l" rtl="0">
              <a:lnSpc>
                <a:spcPct val="100000"/>
              </a:lnSpc>
              <a:spcBef>
                <a:spcPts val="0"/>
              </a:spcBef>
              <a:spcAft>
                <a:spcPts val="0"/>
              </a:spcAft>
              <a:buSzPts val="1100"/>
              <a:buNone/>
            </a:pPr>
            <a:r>
              <a:rPr lang="en"/>
              <a:t>This is where our actions occur; we must use these two phases and rebuild the attacker side </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Intended as a new way of thinking about malware similarity </a:t>
            </a:r>
            <a:endParaRPr/>
          </a:p>
          <a:p>
            <a:pPr marL="0" lvl="0" indent="0" algn="l" rtl="0">
              <a:lnSpc>
                <a:spcPct val="100000"/>
              </a:lnSpc>
              <a:spcBef>
                <a:spcPts val="0"/>
              </a:spcBef>
              <a:spcAft>
                <a:spcPts val="0"/>
              </a:spcAft>
              <a:buClr>
                <a:schemeClr val="dk1"/>
              </a:buClr>
              <a:buSzPts val="1100"/>
              <a:buFont typeface="Arial"/>
              <a:buNone/>
            </a:pPr>
            <a:r>
              <a:rPr lang="en"/>
              <a:t>Rebuilding the attacker phases also allows an analyst to gain insight as to how a malware sample was engineered </a:t>
            </a:r>
            <a:endParaRPr/>
          </a:p>
          <a:p>
            <a:pPr marL="0" lvl="0" indent="0" algn="l" rtl="0">
              <a:lnSpc>
                <a:spcPct val="100000"/>
              </a:lnSpc>
              <a:spcBef>
                <a:spcPts val="0"/>
              </a:spcBef>
              <a:spcAft>
                <a:spcPts val="0"/>
              </a:spcAft>
              <a:buClr>
                <a:schemeClr val="dk1"/>
              </a:buClr>
              <a:buSzPts val="1100"/>
              <a:buFont typeface="Arial"/>
              <a:buNone/>
            </a:pPr>
            <a:r>
              <a:rPr lang="en"/>
              <a:t>By building understanding and emulating the attacker’s headspace, analysis can be made quicker and more efficient </a:t>
            </a:r>
            <a:endParaRPr/>
          </a:p>
          <a:p>
            <a:pPr marL="0" lvl="0" indent="0" algn="l" rtl="0">
              <a:lnSpc>
                <a:spcPct val="100000"/>
              </a:lnSpc>
              <a:spcBef>
                <a:spcPts val="0"/>
              </a:spcBef>
              <a:spcAft>
                <a:spcPts val="0"/>
              </a:spcAft>
              <a:buClr>
                <a:schemeClr val="dk1"/>
              </a:buClr>
              <a:buSzPts val="1100"/>
              <a:buFont typeface="Arial"/>
              <a:buNone/>
            </a:pPr>
            <a:r>
              <a:rPr lang="en"/>
              <a:t>Intended to integrate with existing frameworks </a:t>
            </a:r>
            <a:endParaRPr/>
          </a:p>
          <a:p>
            <a:pPr marL="0" lvl="0" indent="0" algn="l" rtl="0">
              <a:lnSpc>
                <a:spcPct val="100000"/>
              </a:lnSpc>
              <a:spcBef>
                <a:spcPts val="0"/>
              </a:spcBef>
              <a:spcAft>
                <a:spcPts val="0"/>
              </a:spcAft>
              <a:buClr>
                <a:schemeClr val="dk1"/>
              </a:buClr>
              <a:buSzPts val="1100"/>
              <a:buFont typeface="Arial"/>
              <a:buNone/>
            </a:pPr>
            <a:r>
              <a:rPr lang="en"/>
              <a:t>Current standard describes how the MDLC meshes with the Diamond Model of Intrusion Analysis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11f112255b9_2_3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1" name="Google Shape;481;g11f112255b9_2_3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Jacob</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11f112255b9_2_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0" name="Google Shape;490;g11f112255b9_2_3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Abhi</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11f112255b9_2_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7" name="Google Shape;497;g11f112255b9_2_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Tim</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11f112255b9_2_3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4" name="Google Shape;504;g11f112255b9_2_3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Tim</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11f112255b9_2_3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1" name="Google Shape;511;g11f112255b9_2_3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Add any new references needed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11f112255b9_2_3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8" name="Google Shape;518;g11f112255b9_2_3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11f112255b9_2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5" name="Google Shape;525;g11f112255b9_2_3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Add any new references needed</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11f112255b9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11f112255b9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11f112255b9_2_3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g11f112255b9_2_3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4"/>
        <p:cNvGrpSpPr/>
        <p:nvPr/>
      </p:nvGrpSpPr>
      <p:grpSpPr>
        <a:xfrm>
          <a:off x="0" y="0"/>
          <a:ext cx="0" cy="0"/>
          <a:chOff x="0" y="0"/>
          <a:chExt cx="0" cy="0"/>
        </a:xfrm>
      </p:grpSpPr>
      <p:sp>
        <p:nvSpPr>
          <p:cNvPr id="135" name="Google Shape;135;p14"/>
          <p:cNvSpPr/>
          <p:nvPr/>
        </p:nvSpPr>
        <p:spPr>
          <a:xfrm rot="5400000">
            <a:off x="7500300" y="505"/>
            <a:ext cx="1643700" cy="1643700"/>
          </a:xfrm>
          <a:prstGeom prst="diagStripe">
            <a:avLst>
              <a:gd name="adj" fmla="val 0"/>
            </a:avLst>
          </a:prstGeom>
          <a:solidFill>
            <a:schemeClr val="lt1">
              <a:alpha val="2745"/>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p14"/>
          <p:cNvGrpSpPr/>
          <p:nvPr/>
        </p:nvGrpSpPr>
        <p:grpSpPr>
          <a:xfrm>
            <a:off x="0" y="490"/>
            <a:ext cx="5153705" cy="5134399"/>
            <a:chOff x="0" y="75"/>
            <a:chExt cx="5153705" cy="5152950"/>
          </a:xfrm>
        </p:grpSpPr>
        <p:sp>
          <p:nvSpPr>
            <p:cNvPr id="137" name="Google Shape;137;p14"/>
            <p:cNvSpPr/>
            <p:nvPr/>
          </p:nvSpPr>
          <p:spPr>
            <a:xfrm rot="-5400000">
              <a:off x="455" y="-225"/>
              <a:ext cx="5152800" cy="5153700"/>
            </a:xfrm>
            <a:prstGeom prst="diagStripe">
              <a:avLst>
                <a:gd name="adj" fmla="val 50000"/>
              </a:avLst>
            </a:prstGeom>
            <a:solidFill>
              <a:schemeClr val="lt1">
                <a:alpha val="2745"/>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14"/>
            <p:cNvSpPr/>
            <p:nvPr/>
          </p:nvSpPr>
          <p:spPr>
            <a:xfrm rot="-5400000">
              <a:off x="150" y="1145825"/>
              <a:ext cx="3996600" cy="3996900"/>
            </a:xfrm>
            <a:prstGeom prst="diagStripe">
              <a:avLst>
                <a:gd name="adj" fmla="val 58774"/>
              </a:avLst>
            </a:prstGeom>
            <a:solidFill>
              <a:schemeClr val="lt1">
                <a:alpha val="2745"/>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14"/>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14"/>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1" name="Google Shape;141;p14"/>
          <p:cNvSpPr txBox="1">
            <a:spLocks noGrp="1"/>
          </p:cNvSpPr>
          <p:nvPr>
            <p:ph type="ctrTitle"/>
          </p:nvPr>
        </p:nvSpPr>
        <p:spPr>
          <a:xfrm>
            <a:off x="3537150" y="1578400"/>
            <a:ext cx="5017500" cy="1578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a:endParaRPr/>
          </a:p>
        </p:txBody>
      </p:sp>
      <p:sp>
        <p:nvSpPr>
          <p:cNvPr id="142" name="Google Shape;142;p14"/>
          <p:cNvSpPr txBox="1">
            <a:spLocks noGrp="1"/>
          </p:cNvSpPr>
          <p:nvPr>
            <p:ph type="subTitle" idx="1"/>
          </p:nvPr>
        </p:nvSpPr>
        <p:spPr>
          <a:xfrm>
            <a:off x="5083950" y="3924925"/>
            <a:ext cx="3470700" cy="506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a:endParaRPr/>
          </a:p>
        </p:txBody>
      </p:sp>
      <p:sp>
        <p:nvSpPr>
          <p:cNvPr id="143" name="Google Shape;14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4"/>
        <p:cNvGrpSpPr/>
        <p:nvPr/>
      </p:nvGrpSpPr>
      <p:grpSpPr>
        <a:xfrm>
          <a:off x="0" y="0"/>
          <a:ext cx="0" cy="0"/>
          <a:chOff x="0" y="0"/>
          <a:chExt cx="0" cy="0"/>
        </a:xfrm>
      </p:grpSpPr>
      <p:grpSp>
        <p:nvGrpSpPr>
          <p:cNvPr id="145" name="Google Shape;145;p15"/>
          <p:cNvGrpSpPr/>
          <p:nvPr/>
        </p:nvGrpSpPr>
        <p:grpSpPr>
          <a:xfrm>
            <a:off x="0" y="381001"/>
            <a:ext cx="1037850" cy="1016288"/>
            <a:chOff x="0" y="381001"/>
            <a:chExt cx="1037850" cy="1016288"/>
          </a:xfrm>
        </p:grpSpPr>
        <p:sp>
          <p:nvSpPr>
            <p:cNvPr id="146" name="Google Shape;146;p1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1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8" name="Google Shape;148;p15"/>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49" name="Google Shape;149;p15"/>
          <p:cNvSpPr txBox="1">
            <a:spLocks noGrp="1"/>
          </p:cNvSpPr>
          <p:nvPr>
            <p:ph type="body" idx="1"/>
          </p:nvPr>
        </p:nvSpPr>
        <p:spPr>
          <a:xfrm>
            <a:off x="1297500" y="1567550"/>
            <a:ext cx="7038900" cy="29112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150" name="Google Shape;15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1"/>
        <p:cNvGrpSpPr/>
        <p:nvPr/>
      </p:nvGrpSpPr>
      <p:grpSpPr>
        <a:xfrm>
          <a:off x="0" y="0"/>
          <a:ext cx="0" cy="0"/>
          <a:chOff x="0" y="0"/>
          <a:chExt cx="0" cy="0"/>
        </a:xfrm>
      </p:grpSpPr>
      <p:grpSp>
        <p:nvGrpSpPr>
          <p:cNvPr id="152" name="Google Shape;152;p16"/>
          <p:cNvGrpSpPr/>
          <p:nvPr/>
        </p:nvGrpSpPr>
        <p:grpSpPr>
          <a:xfrm>
            <a:off x="4406400" y="0"/>
            <a:ext cx="4737600" cy="5143065"/>
            <a:chOff x="4406400" y="0"/>
            <a:chExt cx="4737600" cy="5143065"/>
          </a:xfrm>
        </p:grpSpPr>
        <p:sp>
          <p:nvSpPr>
            <p:cNvPr id="153" name="Google Shape;153;p16"/>
            <p:cNvSpPr/>
            <p:nvPr/>
          </p:nvSpPr>
          <p:spPr>
            <a:xfrm rot="5400000">
              <a:off x="4408200" y="-1800"/>
              <a:ext cx="4734000" cy="4737600"/>
            </a:xfrm>
            <a:prstGeom prst="diagStripe">
              <a:avLst>
                <a:gd name="adj" fmla="val 49469"/>
              </a:avLst>
            </a:prstGeom>
            <a:solidFill>
              <a:schemeClr val="lt1">
                <a:alpha val="3137"/>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16"/>
            <p:cNvSpPr/>
            <p:nvPr/>
          </p:nvSpPr>
          <p:spPr>
            <a:xfrm rot="5400000">
              <a:off x="4841125" y="5700"/>
              <a:ext cx="4298100" cy="4286700"/>
            </a:xfrm>
            <a:prstGeom prst="diagStripe">
              <a:avLst>
                <a:gd name="adj" fmla="val 0"/>
              </a:avLst>
            </a:prstGeom>
            <a:solidFill>
              <a:schemeClr val="lt1">
                <a:alpha val="3137"/>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16"/>
            <p:cNvSpPr/>
            <p:nvPr/>
          </p:nvSpPr>
          <p:spPr>
            <a:xfrm rot="-5400000">
              <a:off x="5618399" y="1236468"/>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16"/>
            <p:cNvSpPr/>
            <p:nvPr/>
          </p:nvSpPr>
          <p:spPr>
            <a:xfrm flipH="1">
              <a:off x="5849857" y="1443956"/>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16"/>
            <p:cNvSpPr/>
            <p:nvPr/>
          </p:nvSpPr>
          <p:spPr>
            <a:xfrm rot="-5400000">
              <a:off x="5987081" y="2469465"/>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16"/>
            <p:cNvSpPr/>
            <p:nvPr/>
          </p:nvSpPr>
          <p:spPr>
            <a:xfrm flipH="1">
              <a:off x="6222115" y="2676953"/>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16"/>
            <p:cNvSpPr/>
            <p:nvPr/>
          </p:nvSpPr>
          <p:spPr>
            <a:xfrm rot="-5400000">
              <a:off x="6675341" y="1862018"/>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16"/>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16"/>
            <p:cNvSpPr/>
            <p:nvPr/>
          </p:nvSpPr>
          <p:spPr>
            <a:xfrm rot="-5400000">
              <a:off x="6861141" y="2477810"/>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16"/>
            <p:cNvSpPr/>
            <p:nvPr/>
          </p:nvSpPr>
          <p:spPr>
            <a:xfrm flipH="1">
              <a:off x="7965266" y="2692963"/>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16"/>
            <p:cNvSpPr/>
            <p:nvPr/>
          </p:nvSpPr>
          <p:spPr>
            <a:xfrm flipH="1">
              <a:off x="8145082" y="3308755"/>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16"/>
            <p:cNvSpPr/>
            <p:nvPr/>
          </p:nvSpPr>
          <p:spPr>
            <a:xfrm rot="-5400000">
              <a:off x="7047599" y="3095015"/>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16"/>
            <p:cNvSpPr/>
            <p:nvPr/>
          </p:nvSpPr>
          <p:spPr>
            <a:xfrm flipH="1">
              <a:off x="7276649" y="3302502"/>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16"/>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16"/>
            <p:cNvSpPr/>
            <p:nvPr/>
          </p:nvSpPr>
          <p:spPr>
            <a:xfrm flipH="1">
              <a:off x="7462448" y="3918294"/>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16"/>
            <p:cNvSpPr/>
            <p:nvPr/>
          </p:nvSpPr>
          <p:spPr>
            <a:xfrm rot="-5400000">
              <a:off x="8102491" y="3718473"/>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16"/>
            <p:cNvSpPr/>
            <p:nvPr/>
          </p:nvSpPr>
          <p:spPr>
            <a:xfrm flipH="1">
              <a:off x="8334533" y="3925960"/>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16"/>
            <p:cNvSpPr/>
            <p:nvPr/>
          </p:nvSpPr>
          <p:spPr>
            <a:xfrm rot="-5400000">
              <a:off x="8288290" y="4334265"/>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1" name="Google Shape;171;p16"/>
          <p:cNvSpPr txBox="1">
            <a:spLocks noGrp="1"/>
          </p:cNvSpPr>
          <p:nvPr>
            <p:ph type="title"/>
          </p:nvPr>
        </p:nvSpPr>
        <p:spPr>
          <a:xfrm>
            <a:off x="823850" y="2053000"/>
            <a:ext cx="4587000" cy="1148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2" name="Google Shape;172;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3"/>
        <p:cNvGrpSpPr/>
        <p:nvPr/>
      </p:nvGrpSpPr>
      <p:grpSpPr>
        <a:xfrm>
          <a:off x="0" y="0"/>
          <a:ext cx="0" cy="0"/>
          <a:chOff x="0" y="0"/>
          <a:chExt cx="0" cy="0"/>
        </a:xfrm>
      </p:grpSpPr>
      <p:grpSp>
        <p:nvGrpSpPr>
          <p:cNvPr id="174" name="Google Shape;174;p17"/>
          <p:cNvGrpSpPr/>
          <p:nvPr/>
        </p:nvGrpSpPr>
        <p:grpSpPr>
          <a:xfrm>
            <a:off x="0" y="381001"/>
            <a:ext cx="1037850" cy="1016288"/>
            <a:chOff x="0" y="381001"/>
            <a:chExt cx="1037850" cy="1016288"/>
          </a:xfrm>
        </p:grpSpPr>
        <p:sp>
          <p:nvSpPr>
            <p:cNvPr id="175" name="Google Shape;175;p1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1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7" name="Google Shape;177;p17"/>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78" name="Google Shape;178;p17"/>
          <p:cNvSpPr txBox="1">
            <a:spLocks noGrp="1"/>
          </p:cNvSpPr>
          <p:nvPr>
            <p:ph type="body" idx="1"/>
          </p:nvPr>
        </p:nvSpPr>
        <p:spPr>
          <a:xfrm>
            <a:off x="1297500" y="1567550"/>
            <a:ext cx="3403200" cy="29112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179" name="Google Shape;179;p17"/>
          <p:cNvSpPr txBox="1">
            <a:spLocks noGrp="1"/>
          </p:cNvSpPr>
          <p:nvPr>
            <p:ph type="body" idx="2"/>
          </p:nvPr>
        </p:nvSpPr>
        <p:spPr>
          <a:xfrm>
            <a:off x="4933221" y="1567550"/>
            <a:ext cx="3403200" cy="29112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180" name="Google Shape;180;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1"/>
        <p:cNvGrpSpPr/>
        <p:nvPr/>
      </p:nvGrpSpPr>
      <p:grpSpPr>
        <a:xfrm>
          <a:off x="0" y="0"/>
          <a:ext cx="0" cy="0"/>
          <a:chOff x="0" y="0"/>
          <a:chExt cx="0" cy="0"/>
        </a:xfrm>
      </p:grpSpPr>
      <p:grpSp>
        <p:nvGrpSpPr>
          <p:cNvPr id="182" name="Google Shape;182;p18"/>
          <p:cNvGrpSpPr/>
          <p:nvPr/>
        </p:nvGrpSpPr>
        <p:grpSpPr>
          <a:xfrm>
            <a:off x="0" y="381001"/>
            <a:ext cx="1037850" cy="1016288"/>
            <a:chOff x="0" y="381001"/>
            <a:chExt cx="1037850" cy="1016288"/>
          </a:xfrm>
        </p:grpSpPr>
        <p:sp>
          <p:nvSpPr>
            <p:cNvPr id="183" name="Google Shape;183;p18"/>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18"/>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85" name="Google Shape;185;p18"/>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86" name="Google Shape;186;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87"/>
        <p:cNvGrpSpPr/>
        <p:nvPr/>
      </p:nvGrpSpPr>
      <p:grpSpPr>
        <a:xfrm>
          <a:off x="0" y="0"/>
          <a:ext cx="0" cy="0"/>
          <a:chOff x="0" y="0"/>
          <a:chExt cx="0" cy="0"/>
        </a:xfrm>
      </p:grpSpPr>
      <p:grpSp>
        <p:nvGrpSpPr>
          <p:cNvPr id="188" name="Google Shape;188;p19"/>
          <p:cNvGrpSpPr/>
          <p:nvPr/>
        </p:nvGrpSpPr>
        <p:grpSpPr>
          <a:xfrm>
            <a:off x="0" y="381001"/>
            <a:ext cx="1037850" cy="1016288"/>
            <a:chOff x="0" y="381001"/>
            <a:chExt cx="1037850" cy="1016288"/>
          </a:xfrm>
        </p:grpSpPr>
        <p:sp>
          <p:nvSpPr>
            <p:cNvPr id="189" name="Google Shape;189;p1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1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1" name="Google Shape;191;p19"/>
          <p:cNvSpPr txBox="1">
            <a:spLocks noGrp="1"/>
          </p:cNvSpPr>
          <p:nvPr>
            <p:ph type="title"/>
          </p:nvPr>
        </p:nvSpPr>
        <p:spPr>
          <a:xfrm>
            <a:off x="1297500" y="393750"/>
            <a:ext cx="3798900" cy="1493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92" name="Google Shape;192;p19"/>
          <p:cNvSpPr txBox="1">
            <a:spLocks noGrp="1"/>
          </p:cNvSpPr>
          <p:nvPr>
            <p:ph type="body" idx="1"/>
          </p:nvPr>
        </p:nvSpPr>
        <p:spPr>
          <a:xfrm>
            <a:off x="1297500" y="1972550"/>
            <a:ext cx="3798900" cy="24159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193" name="Google Shape;193;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94"/>
        <p:cNvGrpSpPr/>
        <p:nvPr/>
      </p:nvGrpSpPr>
      <p:grpSpPr>
        <a:xfrm>
          <a:off x="0" y="0"/>
          <a:ext cx="0" cy="0"/>
          <a:chOff x="0" y="0"/>
          <a:chExt cx="0" cy="0"/>
        </a:xfrm>
      </p:grpSpPr>
      <p:grpSp>
        <p:nvGrpSpPr>
          <p:cNvPr id="195" name="Google Shape;195;p20"/>
          <p:cNvGrpSpPr/>
          <p:nvPr/>
        </p:nvGrpSpPr>
        <p:grpSpPr>
          <a:xfrm>
            <a:off x="4406400" y="0"/>
            <a:ext cx="4737600" cy="5143500"/>
            <a:chOff x="4406400" y="0"/>
            <a:chExt cx="4737600" cy="5143500"/>
          </a:xfrm>
        </p:grpSpPr>
        <p:sp>
          <p:nvSpPr>
            <p:cNvPr id="196" name="Google Shape;196;p20"/>
            <p:cNvSpPr/>
            <p:nvPr/>
          </p:nvSpPr>
          <p:spPr>
            <a:xfrm rot="5400000">
              <a:off x="4407900" y="-1500"/>
              <a:ext cx="4734600" cy="4737600"/>
            </a:xfrm>
            <a:prstGeom prst="diagStripe">
              <a:avLst>
                <a:gd name="adj" fmla="val 49469"/>
              </a:avLst>
            </a:prstGeom>
            <a:solidFill>
              <a:schemeClr val="lt1">
                <a:alpha val="3137"/>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20"/>
            <p:cNvSpPr/>
            <p:nvPr/>
          </p:nvSpPr>
          <p:spPr>
            <a:xfrm rot="5400000">
              <a:off x="4840825" y="6000"/>
              <a:ext cx="4298700" cy="4286700"/>
            </a:xfrm>
            <a:prstGeom prst="diagStripe">
              <a:avLst>
                <a:gd name="adj" fmla="val 0"/>
              </a:avLst>
            </a:prstGeom>
            <a:solidFill>
              <a:schemeClr val="lt1">
                <a:alpha val="3137"/>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p20"/>
            <p:cNvSpPr/>
            <p:nvPr/>
          </p:nvSpPr>
          <p:spPr>
            <a:xfrm rot="-5400000">
              <a:off x="5618399" y="1236641"/>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 name="Google Shape;199;p20"/>
            <p:cNvSpPr/>
            <p:nvPr/>
          </p:nvSpPr>
          <p:spPr>
            <a:xfrm flipH="1">
              <a:off x="5849857" y="1444078"/>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p20"/>
            <p:cNvSpPr/>
            <p:nvPr/>
          </p:nvSpPr>
          <p:spPr>
            <a:xfrm rot="-5400000">
              <a:off x="5987081" y="2469743"/>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20"/>
            <p:cNvSpPr/>
            <p:nvPr/>
          </p:nvSpPr>
          <p:spPr>
            <a:xfrm flipH="1">
              <a:off x="6222115" y="2677179"/>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p20"/>
            <p:cNvSpPr/>
            <p:nvPr/>
          </p:nvSpPr>
          <p:spPr>
            <a:xfrm rot="-5400000">
              <a:off x="6675341" y="1862244"/>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p20"/>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p20"/>
            <p:cNvSpPr/>
            <p:nvPr/>
          </p:nvSpPr>
          <p:spPr>
            <a:xfrm rot="-5400000">
              <a:off x="6861141" y="2478088"/>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20"/>
            <p:cNvSpPr/>
            <p:nvPr/>
          </p:nvSpPr>
          <p:spPr>
            <a:xfrm flipH="1">
              <a:off x="7965266" y="2693191"/>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20"/>
            <p:cNvSpPr/>
            <p:nvPr/>
          </p:nvSpPr>
          <p:spPr>
            <a:xfrm flipH="1">
              <a:off x="8145082" y="3309036"/>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20"/>
            <p:cNvSpPr/>
            <p:nvPr/>
          </p:nvSpPr>
          <p:spPr>
            <a:xfrm rot="-5400000">
              <a:off x="7047599" y="3095345"/>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p20"/>
            <p:cNvSpPr/>
            <p:nvPr/>
          </p:nvSpPr>
          <p:spPr>
            <a:xfrm flipH="1">
              <a:off x="7276649" y="3302781"/>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20"/>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20"/>
            <p:cNvSpPr/>
            <p:nvPr/>
          </p:nvSpPr>
          <p:spPr>
            <a:xfrm flipH="1">
              <a:off x="7462448" y="3918625"/>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20"/>
            <p:cNvSpPr/>
            <p:nvPr/>
          </p:nvSpPr>
          <p:spPr>
            <a:xfrm rot="-5400000">
              <a:off x="8102491" y="3718856"/>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20"/>
            <p:cNvSpPr/>
            <p:nvPr/>
          </p:nvSpPr>
          <p:spPr>
            <a:xfrm flipH="1">
              <a:off x="8334533" y="3926292"/>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20"/>
            <p:cNvSpPr/>
            <p:nvPr/>
          </p:nvSpPr>
          <p:spPr>
            <a:xfrm rot="-5400000">
              <a:off x="8288290" y="4334700"/>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4" name="Google Shape;214;p20"/>
          <p:cNvSpPr txBox="1">
            <a:spLocks noGrp="1"/>
          </p:cNvSpPr>
          <p:nvPr>
            <p:ph type="title"/>
          </p:nvPr>
        </p:nvSpPr>
        <p:spPr>
          <a:xfrm>
            <a:off x="823850" y="866775"/>
            <a:ext cx="4587000" cy="3521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15" name="Google Shape;215;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16"/>
        <p:cNvGrpSpPr/>
        <p:nvPr/>
      </p:nvGrpSpPr>
      <p:grpSpPr>
        <a:xfrm>
          <a:off x="0" y="0"/>
          <a:ext cx="0" cy="0"/>
          <a:chOff x="0" y="0"/>
          <a:chExt cx="0" cy="0"/>
        </a:xfrm>
      </p:grpSpPr>
      <p:grpSp>
        <p:nvGrpSpPr>
          <p:cNvPr id="217" name="Google Shape;217;p21"/>
          <p:cNvGrpSpPr/>
          <p:nvPr/>
        </p:nvGrpSpPr>
        <p:grpSpPr>
          <a:xfrm>
            <a:off x="0" y="381001"/>
            <a:ext cx="1037850" cy="1016288"/>
            <a:chOff x="0" y="381001"/>
            <a:chExt cx="1037850" cy="1016288"/>
          </a:xfrm>
        </p:grpSpPr>
        <p:sp>
          <p:nvSpPr>
            <p:cNvPr id="218" name="Google Shape;218;p21"/>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21"/>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0" name="Google Shape;220;p21"/>
          <p:cNvSpPr txBox="1">
            <a:spLocks noGrp="1"/>
          </p:cNvSpPr>
          <p:nvPr>
            <p:ph type="title"/>
          </p:nvPr>
        </p:nvSpPr>
        <p:spPr>
          <a:xfrm>
            <a:off x="1297500" y="1658325"/>
            <a:ext cx="3036300" cy="1751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21" name="Google Shape;221;p21"/>
          <p:cNvSpPr txBox="1">
            <a:spLocks noGrp="1"/>
          </p:cNvSpPr>
          <p:nvPr>
            <p:ph type="subTitle" idx="1"/>
          </p:nvPr>
        </p:nvSpPr>
        <p:spPr>
          <a:xfrm>
            <a:off x="1297500" y="3538000"/>
            <a:ext cx="3036300" cy="506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a:endParaRPr/>
          </a:p>
        </p:txBody>
      </p:sp>
      <p:sp>
        <p:nvSpPr>
          <p:cNvPr id="222" name="Google Shape;222;p21"/>
          <p:cNvSpPr txBox="1">
            <a:spLocks noGrp="1"/>
          </p:cNvSpPr>
          <p:nvPr>
            <p:ph type="body" idx="2"/>
          </p:nvPr>
        </p:nvSpPr>
        <p:spPr>
          <a:xfrm>
            <a:off x="4648200" y="1696600"/>
            <a:ext cx="3676800" cy="234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23" name="Google Shape;223;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4"/>
        <p:cNvGrpSpPr/>
        <p:nvPr/>
      </p:nvGrpSpPr>
      <p:grpSpPr>
        <a:xfrm>
          <a:off x="0" y="0"/>
          <a:ext cx="0" cy="0"/>
          <a:chOff x="0" y="0"/>
          <a:chExt cx="0" cy="0"/>
        </a:xfrm>
      </p:grpSpPr>
      <p:grpSp>
        <p:nvGrpSpPr>
          <p:cNvPr id="225" name="Google Shape;225;p22"/>
          <p:cNvGrpSpPr/>
          <p:nvPr/>
        </p:nvGrpSpPr>
        <p:grpSpPr>
          <a:xfrm>
            <a:off x="0" y="4128572"/>
            <a:ext cx="698925" cy="684657"/>
            <a:chOff x="0" y="3785672"/>
            <a:chExt cx="698925" cy="684657"/>
          </a:xfrm>
        </p:grpSpPr>
        <p:sp>
          <p:nvSpPr>
            <p:cNvPr id="226" name="Google Shape;226;p22"/>
            <p:cNvSpPr/>
            <p:nvPr/>
          </p:nvSpPr>
          <p:spPr>
            <a:xfrm rot="-5400000">
              <a:off x="0" y="3785672"/>
              <a:ext cx="544800" cy="544800"/>
            </a:xfrm>
            <a:prstGeom prst="diagStripe">
              <a:avLst>
                <a:gd name="adj" fmla="val 50000"/>
              </a:avLst>
            </a:prstGeom>
            <a:solidFill>
              <a:schemeClr val="lt1">
                <a:alpha val="941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22"/>
            <p:cNvSpPr/>
            <p:nvPr/>
          </p:nvSpPr>
          <p:spPr>
            <a:xfrm flipH="1">
              <a:off x="154125" y="3925529"/>
              <a:ext cx="544800" cy="544800"/>
            </a:xfrm>
            <a:prstGeom prst="diagStripe">
              <a:avLst>
                <a:gd name="adj" fmla="val 50000"/>
              </a:avLst>
            </a:prstGeom>
            <a:solidFill>
              <a:schemeClr val="lt1">
                <a:alpha val="941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8" name="Google Shape;228;p22"/>
          <p:cNvSpPr txBox="1">
            <a:spLocks noGrp="1"/>
          </p:cNvSpPr>
          <p:nvPr>
            <p:ph type="body" idx="1"/>
          </p:nvPr>
        </p:nvSpPr>
        <p:spPr>
          <a:xfrm>
            <a:off x="812725" y="4305375"/>
            <a:ext cx="6936000" cy="523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229" name="Google Shape;229;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30"/>
        <p:cNvGrpSpPr/>
        <p:nvPr/>
      </p:nvGrpSpPr>
      <p:grpSpPr>
        <a:xfrm>
          <a:off x="0" y="0"/>
          <a:ext cx="0" cy="0"/>
          <a:chOff x="0" y="0"/>
          <a:chExt cx="0" cy="0"/>
        </a:xfrm>
      </p:grpSpPr>
      <p:grpSp>
        <p:nvGrpSpPr>
          <p:cNvPr id="231" name="Google Shape;231;p23"/>
          <p:cNvGrpSpPr/>
          <p:nvPr/>
        </p:nvGrpSpPr>
        <p:grpSpPr>
          <a:xfrm>
            <a:off x="4406400" y="0"/>
            <a:ext cx="4737600" cy="5143065"/>
            <a:chOff x="4406400" y="0"/>
            <a:chExt cx="4737600" cy="5143065"/>
          </a:xfrm>
        </p:grpSpPr>
        <p:sp>
          <p:nvSpPr>
            <p:cNvPr id="232" name="Google Shape;232;p23"/>
            <p:cNvSpPr/>
            <p:nvPr/>
          </p:nvSpPr>
          <p:spPr>
            <a:xfrm rot="5400000">
              <a:off x="4408200" y="-1800"/>
              <a:ext cx="4734000" cy="4737600"/>
            </a:xfrm>
            <a:prstGeom prst="diagStripe">
              <a:avLst>
                <a:gd name="adj" fmla="val 49469"/>
              </a:avLst>
            </a:prstGeom>
            <a:solidFill>
              <a:schemeClr val="lt1">
                <a:alpha val="3137"/>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p23"/>
            <p:cNvSpPr/>
            <p:nvPr/>
          </p:nvSpPr>
          <p:spPr>
            <a:xfrm rot="5400000">
              <a:off x="4841125" y="5700"/>
              <a:ext cx="4298100" cy="4286700"/>
            </a:xfrm>
            <a:prstGeom prst="diagStripe">
              <a:avLst>
                <a:gd name="adj" fmla="val 0"/>
              </a:avLst>
            </a:prstGeom>
            <a:solidFill>
              <a:schemeClr val="lt1">
                <a:alpha val="3137"/>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 name="Google Shape;234;p23"/>
            <p:cNvSpPr/>
            <p:nvPr/>
          </p:nvSpPr>
          <p:spPr>
            <a:xfrm rot="-5400000">
              <a:off x="5618399" y="1236468"/>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 name="Google Shape;235;p23"/>
            <p:cNvSpPr/>
            <p:nvPr/>
          </p:nvSpPr>
          <p:spPr>
            <a:xfrm flipH="1">
              <a:off x="5849857" y="1443956"/>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p23"/>
            <p:cNvSpPr/>
            <p:nvPr/>
          </p:nvSpPr>
          <p:spPr>
            <a:xfrm rot="-5400000">
              <a:off x="5987081" y="2469465"/>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23"/>
            <p:cNvSpPr/>
            <p:nvPr/>
          </p:nvSpPr>
          <p:spPr>
            <a:xfrm flipH="1">
              <a:off x="6222115" y="2676953"/>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23"/>
            <p:cNvSpPr/>
            <p:nvPr/>
          </p:nvSpPr>
          <p:spPr>
            <a:xfrm rot="-5400000">
              <a:off x="6675341" y="1862018"/>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p2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23"/>
            <p:cNvSpPr/>
            <p:nvPr/>
          </p:nvSpPr>
          <p:spPr>
            <a:xfrm rot="-5400000">
              <a:off x="6861141" y="2477810"/>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23"/>
            <p:cNvSpPr/>
            <p:nvPr/>
          </p:nvSpPr>
          <p:spPr>
            <a:xfrm flipH="1">
              <a:off x="7965266" y="2692963"/>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23"/>
            <p:cNvSpPr/>
            <p:nvPr/>
          </p:nvSpPr>
          <p:spPr>
            <a:xfrm flipH="1">
              <a:off x="8145082" y="3308755"/>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p23"/>
            <p:cNvSpPr/>
            <p:nvPr/>
          </p:nvSpPr>
          <p:spPr>
            <a:xfrm rot="-5400000">
              <a:off x="7047599" y="3095015"/>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23"/>
            <p:cNvSpPr/>
            <p:nvPr/>
          </p:nvSpPr>
          <p:spPr>
            <a:xfrm flipH="1">
              <a:off x="7276649" y="3302502"/>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2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23"/>
            <p:cNvSpPr/>
            <p:nvPr/>
          </p:nvSpPr>
          <p:spPr>
            <a:xfrm flipH="1">
              <a:off x="7462448" y="3918294"/>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23"/>
            <p:cNvSpPr/>
            <p:nvPr/>
          </p:nvSpPr>
          <p:spPr>
            <a:xfrm rot="-5400000">
              <a:off x="8102491" y="3718473"/>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23"/>
            <p:cNvSpPr/>
            <p:nvPr/>
          </p:nvSpPr>
          <p:spPr>
            <a:xfrm flipH="1">
              <a:off x="8334533" y="3925960"/>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23"/>
            <p:cNvSpPr/>
            <p:nvPr/>
          </p:nvSpPr>
          <p:spPr>
            <a:xfrm rot="-5400000">
              <a:off x="8288290" y="4334265"/>
              <a:ext cx="808800" cy="808800"/>
            </a:xfrm>
            <a:prstGeom prst="diagStripe">
              <a:avLst>
                <a:gd name="adj" fmla="val 50000"/>
              </a:avLst>
            </a:prstGeom>
            <a:solidFill>
              <a:schemeClr val="lt1">
                <a:alpha val="705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0" name="Google Shape;250;p23"/>
          <p:cNvSpPr txBox="1">
            <a:spLocks noGrp="1"/>
          </p:cNvSpPr>
          <p:nvPr>
            <p:ph type="title" hasCustomPrompt="1"/>
          </p:nvPr>
        </p:nvSpPr>
        <p:spPr>
          <a:xfrm>
            <a:off x="823850" y="1284675"/>
            <a:ext cx="4776000" cy="1300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251" name="Google Shape;251;p23"/>
          <p:cNvSpPr txBox="1">
            <a:spLocks noGrp="1"/>
          </p:cNvSpPr>
          <p:nvPr>
            <p:ph type="body" idx="1"/>
          </p:nvPr>
        </p:nvSpPr>
        <p:spPr>
          <a:xfrm>
            <a:off x="823850" y="2643124"/>
            <a:ext cx="4776000" cy="12189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52" name="Google Shape;25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53"/>
        <p:cNvGrpSpPr/>
        <p:nvPr/>
      </p:nvGrpSpPr>
      <p:grpSpPr>
        <a:xfrm>
          <a:off x="0" y="0"/>
          <a:ext cx="0" cy="0"/>
          <a:chOff x="0" y="0"/>
          <a:chExt cx="0" cy="0"/>
        </a:xfrm>
      </p:grpSpPr>
      <p:sp>
        <p:nvSpPr>
          <p:cNvPr id="254" name="Google Shape;25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130"/>
        <p:cNvGrpSpPr/>
        <p:nvPr/>
      </p:nvGrpSpPr>
      <p:grpSpPr>
        <a:xfrm>
          <a:off x="0" y="0"/>
          <a:ext cx="0" cy="0"/>
          <a:chOff x="0" y="0"/>
          <a:chExt cx="0" cy="0"/>
        </a:xfrm>
      </p:grpSpPr>
      <p:sp>
        <p:nvSpPr>
          <p:cNvPr id="131" name="Google Shape;13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endParaRPr/>
          </a:p>
        </p:txBody>
      </p:sp>
      <p:sp>
        <p:nvSpPr>
          <p:cNvPr id="132" name="Google Shape;13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lt1"/>
              </a:buClr>
              <a:buSzPts val="1300"/>
              <a:buFont typeface="Lato"/>
              <a:buChar char="●"/>
              <a:defRPr sz="1300" b="0" i="0" u="none" strike="noStrike" cap="none">
                <a:solidFill>
                  <a:schemeClr val="lt1"/>
                </a:solidFill>
                <a:latin typeface="Lato"/>
                <a:ea typeface="Lato"/>
                <a:cs typeface="Lato"/>
                <a:sym typeface="Lato"/>
              </a:defRPr>
            </a:lvl1pPr>
            <a:lvl2pPr marL="914400" marR="0" lvl="1"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2pPr>
            <a:lvl3pPr marL="1371600" marR="0" lvl="2"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3pPr>
            <a:lvl4pPr marL="1828800" marR="0" lvl="3"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4pPr>
            <a:lvl5pPr marL="2286000" marR="0" lvl="4"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5pPr>
            <a:lvl6pPr marL="2743200" marR="0" lvl="5"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6pPr>
            <a:lvl7pPr marL="3200400" marR="0" lvl="6"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7pPr>
            <a:lvl8pPr marL="3657600" marR="0" lvl="7"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8pPr>
            <a:lvl9pPr marL="4114800" marR="0" lvl="8"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9pPr>
          </a:lstStyle>
          <a:p>
            <a:endParaRPr/>
          </a:p>
        </p:txBody>
      </p:sp>
      <p:sp>
        <p:nvSpPr>
          <p:cNvPr id="133" name="Google Shape;13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5"/>
          <p:cNvSpPr txBox="1">
            <a:spLocks noGrp="1"/>
          </p:cNvSpPr>
          <p:nvPr>
            <p:ph type="ctrTitle"/>
          </p:nvPr>
        </p:nvSpPr>
        <p:spPr>
          <a:xfrm>
            <a:off x="3537150" y="587325"/>
            <a:ext cx="5017500" cy="157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200"/>
              <a:t>Team Binary Sunrise Midterm Presentation</a:t>
            </a:r>
            <a:endParaRPr sz="3200"/>
          </a:p>
        </p:txBody>
      </p:sp>
      <p:sp>
        <p:nvSpPr>
          <p:cNvPr id="260" name="Google Shape;260;p25"/>
          <p:cNvSpPr txBox="1">
            <a:spLocks noGrp="1"/>
          </p:cNvSpPr>
          <p:nvPr>
            <p:ph type="subTitle" idx="1"/>
          </p:nvPr>
        </p:nvSpPr>
        <p:spPr>
          <a:xfrm>
            <a:off x="3293099" y="1921050"/>
            <a:ext cx="5722111" cy="2961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dirty="0"/>
              <a:t>Jacob Staggs - Graduate Second Semester - jastaggs@email.arizona.edu</a:t>
            </a: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en" dirty="0"/>
              <a:t>Timothy Colvert - Graduate Second Semester- tcolvert@email.arizona.edu</a:t>
            </a: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en" dirty="0"/>
              <a:t>Tri Nguyen - Undergraduate Sixth Semester - txn180008@utdallas.edu</a:t>
            </a: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en" dirty="0"/>
              <a:t>Abhijeet Dabas - Graduate Third Semester - abhid@email.arizona.edu</a:t>
            </a: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en" dirty="0"/>
              <a:t>Project - How It’s Made: Malware Edition</a:t>
            </a:r>
            <a:endParaRPr dirty="0"/>
          </a:p>
          <a:p>
            <a:pPr marL="0" lvl="0" indent="0" algn="l" rtl="0">
              <a:spcBef>
                <a:spcPts val="0"/>
              </a:spcBef>
              <a:spcAft>
                <a:spcPts val="0"/>
              </a:spcAft>
              <a:buNone/>
            </a:pPr>
            <a:endParaRPr dirty="0"/>
          </a:p>
          <a:p>
            <a:pPr marL="0" lvl="0" indent="0" algn="ctr" rtl="0">
              <a:spcBef>
                <a:spcPts val="0"/>
              </a:spcBef>
              <a:spcAft>
                <a:spcPts val="0"/>
              </a:spcAft>
              <a:buNone/>
            </a:pPr>
            <a:r>
              <a:rPr lang="en" dirty="0"/>
              <a:t>Schools - University of Arizona and University of Texas at Dallas</a:t>
            </a: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en" dirty="0"/>
              <a:t>Presentation Date - March 25, 2022</a:t>
            </a:r>
            <a:endParaRPr dirty="0"/>
          </a:p>
        </p:txBody>
      </p:sp>
      <p:pic>
        <p:nvPicPr>
          <p:cNvPr id="261" name="Google Shape;261;p25"/>
          <p:cNvPicPr preferRelativeResize="0"/>
          <p:nvPr/>
        </p:nvPicPr>
        <p:blipFill>
          <a:blip r:embed="rId3">
            <a:alphaModFix/>
          </a:blip>
          <a:stretch>
            <a:fillRect/>
          </a:stretch>
        </p:blipFill>
        <p:spPr>
          <a:xfrm>
            <a:off x="65600" y="2923100"/>
            <a:ext cx="3232350" cy="215951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6"/>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Agenda</a:t>
            </a:r>
            <a:endParaRPr/>
          </a:p>
        </p:txBody>
      </p:sp>
      <p:sp>
        <p:nvSpPr>
          <p:cNvPr id="267" name="Google Shape;267;p26"/>
          <p:cNvSpPr txBox="1">
            <a:spLocks noGrp="1"/>
          </p:cNvSpPr>
          <p:nvPr>
            <p:ph type="body" idx="1"/>
          </p:nvPr>
        </p:nvSpPr>
        <p:spPr>
          <a:xfrm>
            <a:off x="1297500" y="946825"/>
            <a:ext cx="7038900" cy="3523200"/>
          </a:xfrm>
          <a:prstGeom prst="rect">
            <a:avLst/>
          </a:prstGeom>
          <a:noFill/>
          <a:ln>
            <a:noFill/>
          </a:ln>
        </p:spPr>
        <p:txBody>
          <a:bodyPr spcFirstLastPara="1" wrap="square" lIns="91425" tIns="91425" rIns="91425" bIns="91425" anchor="t" anchorCtr="0">
            <a:normAutofit/>
          </a:bodyPr>
          <a:lstStyle/>
          <a:p>
            <a:pPr marL="457200" lvl="0" indent="-311150" algn="l" rtl="0">
              <a:lnSpc>
                <a:spcPct val="115000"/>
              </a:lnSpc>
              <a:spcBef>
                <a:spcPts val="0"/>
              </a:spcBef>
              <a:spcAft>
                <a:spcPts val="0"/>
              </a:spcAft>
              <a:buSzPts val="1300"/>
              <a:buChar char="●"/>
            </a:pPr>
            <a:r>
              <a:rPr lang="en"/>
              <a:t>Project Introduction</a:t>
            </a:r>
            <a:endParaRPr/>
          </a:p>
          <a:p>
            <a:pPr marL="914400" lvl="1" indent="-298450" algn="l" rtl="0">
              <a:lnSpc>
                <a:spcPct val="115000"/>
              </a:lnSpc>
              <a:spcBef>
                <a:spcPts val="0"/>
              </a:spcBef>
              <a:spcAft>
                <a:spcPts val="0"/>
              </a:spcAft>
              <a:buSzPts val="1100"/>
              <a:buChar char="○"/>
            </a:pPr>
            <a:r>
              <a:rPr lang="en"/>
              <a:t>Biographies</a:t>
            </a:r>
            <a:endParaRPr/>
          </a:p>
          <a:p>
            <a:pPr marL="914400" lvl="1" indent="-298450" algn="l" rtl="0">
              <a:lnSpc>
                <a:spcPct val="115000"/>
              </a:lnSpc>
              <a:spcBef>
                <a:spcPts val="0"/>
              </a:spcBef>
              <a:spcAft>
                <a:spcPts val="0"/>
              </a:spcAft>
              <a:buSzPts val="1100"/>
              <a:buChar char="○"/>
            </a:pPr>
            <a:r>
              <a:rPr lang="en"/>
              <a:t>Problem Statement</a:t>
            </a:r>
            <a:endParaRPr/>
          </a:p>
          <a:p>
            <a:pPr marL="914400" lvl="1" indent="-298450" algn="l" rtl="0">
              <a:lnSpc>
                <a:spcPct val="115000"/>
              </a:lnSpc>
              <a:spcBef>
                <a:spcPts val="0"/>
              </a:spcBef>
              <a:spcAft>
                <a:spcPts val="0"/>
              </a:spcAft>
              <a:buSzPts val="1100"/>
              <a:buChar char="○"/>
            </a:pPr>
            <a:r>
              <a:rPr lang="en"/>
              <a:t>Project Objectives</a:t>
            </a:r>
            <a:endParaRPr/>
          </a:p>
          <a:p>
            <a:pPr marL="457200" lvl="0" indent="-311150" algn="l" rtl="0">
              <a:lnSpc>
                <a:spcPct val="115000"/>
              </a:lnSpc>
              <a:spcBef>
                <a:spcPts val="0"/>
              </a:spcBef>
              <a:spcAft>
                <a:spcPts val="0"/>
              </a:spcAft>
              <a:buSzPts val="1300"/>
              <a:buChar char="●"/>
            </a:pPr>
            <a:r>
              <a:rPr lang="en"/>
              <a:t>Research Plan and Progress to Date</a:t>
            </a:r>
            <a:endParaRPr/>
          </a:p>
          <a:p>
            <a:pPr marL="914400" lvl="1" indent="-298450" algn="l" rtl="0">
              <a:lnSpc>
                <a:spcPct val="115000"/>
              </a:lnSpc>
              <a:spcBef>
                <a:spcPts val="0"/>
              </a:spcBef>
              <a:spcAft>
                <a:spcPts val="0"/>
              </a:spcAft>
              <a:buSzPts val="1100"/>
              <a:buChar char="○"/>
            </a:pPr>
            <a:r>
              <a:rPr lang="en"/>
              <a:t>Plan Summary</a:t>
            </a:r>
            <a:endParaRPr/>
          </a:p>
          <a:p>
            <a:pPr marL="914400" lvl="1" indent="-298450" algn="l" rtl="0">
              <a:lnSpc>
                <a:spcPct val="115000"/>
              </a:lnSpc>
              <a:spcBef>
                <a:spcPts val="0"/>
              </a:spcBef>
              <a:spcAft>
                <a:spcPts val="0"/>
              </a:spcAft>
              <a:buSzPts val="1100"/>
              <a:buChar char="○"/>
            </a:pPr>
            <a:r>
              <a:rPr lang="en"/>
              <a:t>Deliverables</a:t>
            </a:r>
            <a:endParaRPr/>
          </a:p>
          <a:p>
            <a:pPr marL="914400" lvl="1" indent="-298450" algn="l" rtl="0">
              <a:lnSpc>
                <a:spcPct val="115000"/>
              </a:lnSpc>
              <a:spcBef>
                <a:spcPts val="0"/>
              </a:spcBef>
              <a:spcAft>
                <a:spcPts val="0"/>
              </a:spcAft>
              <a:buSzPts val="1100"/>
              <a:buChar char="○"/>
            </a:pPr>
            <a:r>
              <a:rPr lang="en"/>
              <a:t>Progress to Date</a:t>
            </a:r>
            <a:endParaRPr/>
          </a:p>
          <a:p>
            <a:pPr marL="457200" lvl="0" indent="-311150" algn="l" rtl="0">
              <a:lnSpc>
                <a:spcPct val="115000"/>
              </a:lnSpc>
              <a:spcBef>
                <a:spcPts val="0"/>
              </a:spcBef>
              <a:spcAft>
                <a:spcPts val="0"/>
              </a:spcAft>
              <a:buSzPts val="1300"/>
              <a:buChar char="●"/>
            </a:pPr>
            <a:r>
              <a:rPr lang="en"/>
              <a:t>Summary of any Results/Conclusions to Date</a:t>
            </a:r>
            <a:endParaRPr/>
          </a:p>
          <a:p>
            <a:pPr marL="457200" lvl="0" indent="-311150" algn="l" rtl="0">
              <a:lnSpc>
                <a:spcPct val="115000"/>
              </a:lnSpc>
              <a:spcBef>
                <a:spcPts val="0"/>
              </a:spcBef>
              <a:spcAft>
                <a:spcPts val="0"/>
              </a:spcAft>
              <a:buSzPts val="1300"/>
              <a:buChar char="●"/>
            </a:pPr>
            <a:r>
              <a:rPr lang="en"/>
              <a:t>Issues and Challenges</a:t>
            </a:r>
            <a:endParaRPr/>
          </a:p>
          <a:p>
            <a:pPr marL="914400" lvl="1" indent="-298450" algn="l" rtl="0">
              <a:lnSpc>
                <a:spcPct val="115000"/>
              </a:lnSpc>
              <a:spcBef>
                <a:spcPts val="0"/>
              </a:spcBef>
              <a:spcAft>
                <a:spcPts val="0"/>
              </a:spcAft>
              <a:buSzPts val="1100"/>
              <a:buChar char="○"/>
            </a:pPr>
            <a:r>
              <a:rPr lang="en"/>
              <a:t>Risks and Mitigation</a:t>
            </a:r>
            <a:endParaRPr/>
          </a:p>
          <a:p>
            <a:pPr marL="457200" lvl="0" indent="-311150" algn="l" rtl="0">
              <a:lnSpc>
                <a:spcPct val="115000"/>
              </a:lnSpc>
              <a:spcBef>
                <a:spcPts val="0"/>
              </a:spcBef>
              <a:spcAft>
                <a:spcPts val="0"/>
              </a:spcAft>
              <a:buSzPts val="1300"/>
              <a:buChar char="●"/>
            </a:pPr>
            <a:r>
              <a:rPr lang="en"/>
              <a:t>Bibliography</a:t>
            </a:r>
            <a:endParaRPr/>
          </a:p>
          <a:p>
            <a:pPr marL="457200" lvl="0" indent="-311150" algn="l" rtl="0">
              <a:lnSpc>
                <a:spcPct val="115000"/>
              </a:lnSpc>
              <a:spcBef>
                <a:spcPts val="0"/>
              </a:spcBef>
              <a:spcAft>
                <a:spcPts val="0"/>
              </a:spcAft>
              <a:buSzPts val="1300"/>
              <a:buChar char="●"/>
            </a:pPr>
            <a:r>
              <a:rPr lang="en"/>
              <a:t>Appendices</a:t>
            </a:r>
            <a:endParaRPr/>
          </a:p>
          <a:p>
            <a:pPr marL="914400" lvl="1" indent="-298450" algn="l" rtl="0">
              <a:lnSpc>
                <a:spcPct val="115000"/>
              </a:lnSpc>
              <a:spcBef>
                <a:spcPts val="0"/>
              </a:spcBef>
              <a:spcAft>
                <a:spcPts val="0"/>
              </a:spcAft>
              <a:buSzPts val="1100"/>
              <a:buChar char="○"/>
            </a:pPr>
            <a:r>
              <a:rPr lang="en"/>
              <a:t>Acronyms </a:t>
            </a:r>
            <a:endParaRPr/>
          </a:p>
          <a:p>
            <a:pPr marL="914400" lvl="1" indent="-298450" algn="l" rtl="0">
              <a:lnSpc>
                <a:spcPct val="115000"/>
              </a:lnSpc>
              <a:spcBef>
                <a:spcPts val="0"/>
              </a:spcBef>
              <a:spcAft>
                <a:spcPts val="0"/>
              </a:spcAft>
              <a:buSzPts val="1100"/>
              <a:buChar char="○"/>
            </a:pPr>
            <a:r>
              <a:rPr lang="en"/>
              <a:t>Terms and Definitions</a:t>
            </a:r>
            <a:endParaRPr/>
          </a:p>
        </p:txBody>
      </p:sp>
      <p:pic>
        <p:nvPicPr>
          <p:cNvPr id="268" name="Google Shape;268;p26"/>
          <p:cNvPicPr preferRelativeResize="0"/>
          <p:nvPr/>
        </p:nvPicPr>
        <p:blipFill rotWithShape="1">
          <a:blip r:embed="rId3">
            <a:alphaModFix/>
          </a:blip>
          <a:srcRect/>
          <a:stretch/>
        </p:blipFill>
        <p:spPr>
          <a:xfrm>
            <a:off x="497563" y="4596225"/>
            <a:ext cx="8148867" cy="359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7"/>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Introduction: Investigator Biographies</a:t>
            </a:r>
            <a:endParaRPr/>
          </a:p>
        </p:txBody>
      </p:sp>
      <p:pic>
        <p:nvPicPr>
          <p:cNvPr id="274" name="Google Shape;274;p27"/>
          <p:cNvPicPr preferRelativeResize="0"/>
          <p:nvPr/>
        </p:nvPicPr>
        <p:blipFill rotWithShape="1">
          <a:blip r:embed="rId3">
            <a:alphaModFix/>
          </a:blip>
          <a:srcRect/>
          <a:stretch/>
        </p:blipFill>
        <p:spPr>
          <a:xfrm>
            <a:off x="497563" y="4648625"/>
            <a:ext cx="8148867" cy="359950"/>
          </a:xfrm>
          <a:prstGeom prst="rect">
            <a:avLst/>
          </a:prstGeom>
          <a:noFill/>
          <a:ln>
            <a:noFill/>
          </a:ln>
        </p:spPr>
      </p:pic>
      <p:graphicFrame>
        <p:nvGraphicFramePr>
          <p:cNvPr id="275" name="Google Shape;275;p27"/>
          <p:cNvGraphicFramePr/>
          <p:nvPr/>
        </p:nvGraphicFramePr>
        <p:xfrm>
          <a:off x="1197450" y="1336700"/>
          <a:ext cx="7239000" cy="2865060"/>
        </p:xfrm>
        <a:graphic>
          <a:graphicData uri="http://schemas.openxmlformats.org/drawingml/2006/table">
            <a:tbl>
              <a:tblPr>
                <a:noFill/>
                <a:tableStyleId>{20C93071-435D-4BF2-BFC7-672637385921}</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1414325">
                <a:tc>
                  <a:txBody>
                    <a:bodyPr/>
                    <a:lstStyle/>
                    <a:p>
                      <a:pPr marL="0" marR="0" lvl="0" indent="0" algn="l" rtl="0">
                        <a:lnSpc>
                          <a:spcPct val="100000"/>
                        </a:lnSpc>
                        <a:spcBef>
                          <a:spcPts val="0"/>
                        </a:spcBef>
                        <a:spcAft>
                          <a:spcPts val="0"/>
                        </a:spcAft>
                        <a:buClr>
                          <a:srgbClr val="000000"/>
                        </a:buClr>
                        <a:buSzPts val="1200"/>
                        <a:buFont typeface="Arial"/>
                        <a:buNone/>
                      </a:pPr>
                      <a:r>
                        <a:rPr lang="en" sz="1200" u="sng" strike="noStrike" cap="none">
                          <a:solidFill>
                            <a:schemeClr val="lt1"/>
                          </a:solidFill>
                          <a:latin typeface="Lato"/>
                          <a:ea typeface="Lato"/>
                          <a:cs typeface="Lato"/>
                          <a:sym typeface="Lato"/>
                        </a:rPr>
                        <a:t>Abhijeet Dabas</a:t>
                      </a:r>
                      <a:r>
                        <a:rPr lang="en" sz="1200" u="none" strike="noStrike" cap="none">
                          <a:solidFill>
                            <a:schemeClr val="lt1"/>
                          </a:solidFill>
                          <a:latin typeface="Lato"/>
                          <a:ea typeface="Lato"/>
                          <a:cs typeface="Lato"/>
                          <a:sym typeface="Lato"/>
                        </a:rPr>
                        <a:t> - abhid@email.arizona.edu</a:t>
                      </a:r>
                      <a:endParaRPr sz="1200" u="none" strike="noStrike" cap="none">
                        <a:solidFill>
                          <a:schemeClr val="l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1000"/>
                        <a:buFont typeface="Arial"/>
                        <a:buNone/>
                      </a:pPr>
                      <a:endParaRPr sz="1000" u="none" strike="noStrike" cap="none">
                        <a:solidFill>
                          <a:schemeClr val="lt1"/>
                        </a:solidFill>
                        <a:latin typeface="Lato"/>
                        <a:ea typeface="Lato"/>
                        <a:cs typeface="Lato"/>
                        <a:sym typeface="Lato"/>
                      </a:endParaRPr>
                    </a:p>
                    <a:p>
                      <a:pPr marL="457200" marR="0" lvl="0" indent="-292100" algn="l" rtl="0">
                        <a:lnSpc>
                          <a:spcPct val="100000"/>
                        </a:lnSpc>
                        <a:spcBef>
                          <a:spcPts val="0"/>
                        </a:spcBef>
                        <a:spcAft>
                          <a:spcPts val="0"/>
                        </a:spcAft>
                        <a:buClr>
                          <a:schemeClr val="lt1"/>
                        </a:buClr>
                        <a:buSzPts val="1000"/>
                        <a:buFont typeface="Lato"/>
                        <a:buChar char="●"/>
                      </a:pPr>
                      <a:r>
                        <a:rPr lang="en" sz="1000" u="none" strike="noStrike" cap="none">
                          <a:solidFill>
                            <a:schemeClr val="lt1"/>
                          </a:solidFill>
                          <a:latin typeface="Lato"/>
                          <a:ea typeface="Lato"/>
                          <a:cs typeface="Lato"/>
                          <a:sym typeface="Lato"/>
                        </a:rPr>
                        <a:t>Bachelor’s Degree in Business Administration. </a:t>
                      </a:r>
                      <a:endParaRPr sz="1000" u="none" strike="noStrike" cap="none">
                        <a:solidFill>
                          <a:schemeClr val="lt1"/>
                        </a:solidFill>
                        <a:latin typeface="Lato"/>
                        <a:ea typeface="Lato"/>
                        <a:cs typeface="Lato"/>
                        <a:sym typeface="Lato"/>
                      </a:endParaRPr>
                    </a:p>
                    <a:p>
                      <a:pPr marL="457200" marR="0" lvl="0" indent="-292100" algn="l" rtl="0">
                        <a:lnSpc>
                          <a:spcPct val="100000"/>
                        </a:lnSpc>
                        <a:spcBef>
                          <a:spcPts val="0"/>
                        </a:spcBef>
                        <a:spcAft>
                          <a:spcPts val="0"/>
                        </a:spcAft>
                        <a:buClr>
                          <a:schemeClr val="lt1"/>
                        </a:buClr>
                        <a:buSzPts val="1000"/>
                        <a:buFont typeface="Lato"/>
                        <a:buChar char="●"/>
                      </a:pPr>
                      <a:r>
                        <a:rPr lang="en" sz="1000" u="none" strike="noStrike" cap="none">
                          <a:solidFill>
                            <a:schemeClr val="lt1"/>
                          </a:solidFill>
                          <a:latin typeface="Lato"/>
                          <a:ea typeface="Lato"/>
                          <a:cs typeface="Lato"/>
                          <a:sym typeface="Lato"/>
                        </a:rPr>
                        <a:t>Worked in Information Security for banking and insurance industries</a:t>
                      </a:r>
                      <a:endParaRPr sz="1000" u="none" strike="noStrike" cap="none">
                        <a:solidFill>
                          <a:schemeClr val="lt1"/>
                        </a:solidFill>
                        <a:latin typeface="Lato"/>
                        <a:ea typeface="Lato"/>
                        <a:cs typeface="Lato"/>
                        <a:sym typeface="Lato"/>
                      </a:endParaRPr>
                    </a:p>
                    <a:p>
                      <a:pPr marL="457200" marR="0" lvl="0" indent="-292100" algn="l" rtl="0">
                        <a:lnSpc>
                          <a:spcPct val="100000"/>
                        </a:lnSpc>
                        <a:spcBef>
                          <a:spcPts val="0"/>
                        </a:spcBef>
                        <a:spcAft>
                          <a:spcPts val="0"/>
                        </a:spcAft>
                        <a:buClr>
                          <a:schemeClr val="lt1"/>
                        </a:buClr>
                        <a:buSzPts val="1000"/>
                        <a:buFont typeface="Lato"/>
                        <a:buChar char="●"/>
                      </a:pPr>
                      <a:r>
                        <a:rPr lang="en" sz="1000" u="none" strike="noStrike" cap="none">
                          <a:solidFill>
                            <a:schemeClr val="lt1"/>
                          </a:solidFill>
                          <a:latin typeface="Lato"/>
                          <a:ea typeface="Lato"/>
                          <a:cs typeface="Lato"/>
                          <a:sym typeface="Lato"/>
                        </a:rPr>
                        <a:t>Skilled in networking, risk analysis, data mining, and machine learning</a:t>
                      </a:r>
                      <a:endParaRPr sz="1000" u="none" strike="noStrike" cap="none">
                        <a:solidFill>
                          <a:schemeClr val="l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1000"/>
                        <a:buFont typeface="Arial"/>
                        <a:buNone/>
                      </a:pPr>
                      <a:endParaRPr sz="1000" u="none" strike="noStrike" cap="none">
                        <a:solidFill>
                          <a:schemeClr val="lt1"/>
                        </a:solidFill>
                        <a:latin typeface="Lato"/>
                        <a:ea typeface="Lato"/>
                        <a:cs typeface="Lato"/>
                        <a:sym typeface="Lat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en" sz="1200" u="sng" strike="noStrike" cap="none">
                          <a:solidFill>
                            <a:schemeClr val="lt1"/>
                          </a:solidFill>
                          <a:latin typeface="Lato"/>
                          <a:ea typeface="Lato"/>
                          <a:cs typeface="Lato"/>
                          <a:sym typeface="Lato"/>
                        </a:rPr>
                        <a:t>Jacob Staggs</a:t>
                      </a:r>
                      <a:r>
                        <a:rPr lang="en" sz="1200" u="none" strike="noStrike" cap="none">
                          <a:solidFill>
                            <a:schemeClr val="lt1"/>
                          </a:solidFill>
                          <a:latin typeface="Lato"/>
                          <a:ea typeface="Lato"/>
                          <a:cs typeface="Lato"/>
                          <a:sym typeface="Lato"/>
                        </a:rPr>
                        <a:t> - jastaggs@email.arizona.edu</a:t>
                      </a:r>
                      <a:endParaRPr sz="1200" u="none" strike="noStrike" cap="none">
                        <a:solidFill>
                          <a:schemeClr val="l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1000"/>
                        <a:buFont typeface="Arial"/>
                        <a:buNone/>
                      </a:pPr>
                      <a:endParaRPr sz="1000" u="none" strike="noStrike" cap="none">
                        <a:solidFill>
                          <a:schemeClr val="lt1"/>
                        </a:solidFill>
                        <a:latin typeface="Lato"/>
                        <a:ea typeface="Lato"/>
                        <a:cs typeface="Lato"/>
                        <a:sym typeface="Lato"/>
                      </a:endParaRPr>
                    </a:p>
                    <a:p>
                      <a:pPr marL="457200" marR="0" lvl="0" indent="-292100" algn="l" rtl="0">
                        <a:lnSpc>
                          <a:spcPct val="100000"/>
                        </a:lnSpc>
                        <a:spcBef>
                          <a:spcPts val="0"/>
                        </a:spcBef>
                        <a:spcAft>
                          <a:spcPts val="0"/>
                        </a:spcAft>
                        <a:buClr>
                          <a:schemeClr val="lt1"/>
                        </a:buClr>
                        <a:buSzPts val="1000"/>
                        <a:buFont typeface="Lato"/>
                        <a:buChar char="●"/>
                      </a:pPr>
                      <a:r>
                        <a:rPr lang="en" sz="1000" u="none" strike="noStrike" cap="none">
                          <a:solidFill>
                            <a:schemeClr val="lt1"/>
                          </a:solidFill>
                          <a:latin typeface="Lato"/>
                          <a:ea typeface="Lato"/>
                          <a:cs typeface="Lato"/>
                          <a:sym typeface="Lato"/>
                        </a:rPr>
                        <a:t>B.A.S in Cyber Operations, Engineering Emphasis</a:t>
                      </a:r>
                      <a:endParaRPr sz="1000" u="none" strike="noStrike" cap="none">
                        <a:solidFill>
                          <a:schemeClr val="lt1"/>
                        </a:solidFill>
                        <a:latin typeface="Lato"/>
                        <a:ea typeface="Lato"/>
                        <a:cs typeface="Lato"/>
                        <a:sym typeface="Lato"/>
                      </a:endParaRPr>
                    </a:p>
                    <a:p>
                      <a:pPr marL="457200" marR="0" lvl="0" indent="-292100" algn="l" rtl="0">
                        <a:lnSpc>
                          <a:spcPct val="100000"/>
                        </a:lnSpc>
                        <a:spcBef>
                          <a:spcPts val="0"/>
                        </a:spcBef>
                        <a:spcAft>
                          <a:spcPts val="0"/>
                        </a:spcAft>
                        <a:buClr>
                          <a:schemeClr val="lt1"/>
                        </a:buClr>
                        <a:buSzPts val="1000"/>
                        <a:buFont typeface="Lato"/>
                        <a:buChar char="●"/>
                      </a:pPr>
                      <a:r>
                        <a:rPr lang="en" sz="1000" u="none" strike="noStrike" cap="none">
                          <a:solidFill>
                            <a:schemeClr val="lt1"/>
                          </a:solidFill>
                          <a:latin typeface="Lato"/>
                          <a:ea typeface="Lato"/>
                          <a:cs typeface="Lato"/>
                          <a:sym typeface="Lato"/>
                        </a:rPr>
                        <a:t>3-time DoD CySP recipient</a:t>
                      </a:r>
                      <a:endParaRPr sz="1000" u="none" strike="noStrike" cap="none">
                        <a:solidFill>
                          <a:schemeClr val="lt1"/>
                        </a:solidFill>
                        <a:latin typeface="Lato"/>
                        <a:ea typeface="Lato"/>
                        <a:cs typeface="Lato"/>
                        <a:sym typeface="Lato"/>
                      </a:endParaRPr>
                    </a:p>
                    <a:p>
                      <a:pPr marL="457200" marR="0" lvl="0" indent="-292100" algn="l" rtl="0">
                        <a:lnSpc>
                          <a:spcPct val="100000"/>
                        </a:lnSpc>
                        <a:spcBef>
                          <a:spcPts val="0"/>
                        </a:spcBef>
                        <a:spcAft>
                          <a:spcPts val="0"/>
                        </a:spcAft>
                        <a:buClr>
                          <a:schemeClr val="lt1"/>
                        </a:buClr>
                        <a:buSzPts val="1000"/>
                        <a:buFont typeface="Lato"/>
                        <a:buChar char="●"/>
                      </a:pPr>
                      <a:r>
                        <a:rPr lang="en" sz="1000" u="none" strike="noStrike" cap="none">
                          <a:solidFill>
                            <a:schemeClr val="lt1"/>
                          </a:solidFill>
                          <a:latin typeface="Lato"/>
                          <a:ea typeface="Lato"/>
                          <a:cs typeface="Lato"/>
                          <a:sym typeface="Lato"/>
                        </a:rPr>
                        <a:t>Skilled in reverse engineering, malware analysis, C and assembly programming</a:t>
                      </a:r>
                      <a:endParaRPr sz="1000" u="none" strike="noStrike" cap="none">
                        <a:solidFill>
                          <a:schemeClr val="lt1"/>
                        </a:solidFill>
                        <a:latin typeface="Lato"/>
                        <a:ea typeface="Lato"/>
                        <a:cs typeface="Lato"/>
                        <a:sym typeface="Lato"/>
                      </a:endParaRPr>
                    </a:p>
                    <a:p>
                      <a:pPr marL="457200" marR="0" lvl="0" indent="-292100" algn="l" rtl="0">
                        <a:lnSpc>
                          <a:spcPct val="100000"/>
                        </a:lnSpc>
                        <a:spcBef>
                          <a:spcPts val="0"/>
                        </a:spcBef>
                        <a:spcAft>
                          <a:spcPts val="0"/>
                        </a:spcAft>
                        <a:buClr>
                          <a:schemeClr val="lt1"/>
                        </a:buClr>
                        <a:buSzPts val="1000"/>
                        <a:buFont typeface="Lato"/>
                        <a:buChar char="●"/>
                      </a:pPr>
                      <a:r>
                        <a:rPr lang="en" sz="1000" u="none" strike="noStrike" cap="none">
                          <a:solidFill>
                            <a:schemeClr val="lt1"/>
                          </a:solidFill>
                          <a:latin typeface="Lato"/>
                          <a:ea typeface="Lato"/>
                          <a:cs typeface="Lato"/>
                          <a:sym typeface="Lato"/>
                        </a:rPr>
                        <a:t>Pursuing M.S. in Cybersecurity</a:t>
                      </a:r>
                      <a:endParaRPr sz="1000" u="none" strike="noStrike" cap="none">
                        <a:solidFill>
                          <a:schemeClr val="lt1"/>
                        </a:solidFill>
                        <a:latin typeface="Lato"/>
                        <a:ea typeface="Lato"/>
                        <a:cs typeface="Lato"/>
                        <a:sym typeface="Lato"/>
                      </a:endParaRPr>
                    </a:p>
                  </a:txBody>
                  <a:tcPr marL="91425" marR="91425" marT="91425" marB="91425"/>
                </a:tc>
                <a:extLst>
                  <a:ext uri="{0D108BD9-81ED-4DB2-BD59-A6C34878D82A}">
                    <a16:rowId xmlns:a16="http://schemas.microsoft.com/office/drawing/2014/main" val="10000"/>
                  </a:ext>
                </a:extLst>
              </a:tr>
              <a:tr h="1378125">
                <a:tc>
                  <a:txBody>
                    <a:bodyPr/>
                    <a:lstStyle/>
                    <a:p>
                      <a:pPr marL="0" marR="0" lvl="0" indent="0" algn="l" rtl="0">
                        <a:lnSpc>
                          <a:spcPct val="100000"/>
                        </a:lnSpc>
                        <a:spcBef>
                          <a:spcPts val="0"/>
                        </a:spcBef>
                        <a:spcAft>
                          <a:spcPts val="0"/>
                        </a:spcAft>
                        <a:buClr>
                          <a:srgbClr val="000000"/>
                        </a:buClr>
                        <a:buSzPts val="1200"/>
                        <a:buFont typeface="Arial"/>
                        <a:buNone/>
                      </a:pPr>
                      <a:r>
                        <a:rPr lang="en" sz="1200" u="sng" strike="noStrike" cap="none">
                          <a:solidFill>
                            <a:schemeClr val="lt1"/>
                          </a:solidFill>
                          <a:latin typeface="Lato"/>
                          <a:ea typeface="Lato"/>
                          <a:cs typeface="Lato"/>
                          <a:sym typeface="Lato"/>
                        </a:rPr>
                        <a:t>Timothy Covert</a:t>
                      </a:r>
                      <a:r>
                        <a:rPr lang="en" sz="1200" u="none" strike="noStrike" cap="none">
                          <a:solidFill>
                            <a:schemeClr val="lt1"/>
                          </a:solidFill>
                          <a:latin typeface="Lato"/>
                          <a:ea typeface="Lato"/>
                          <a:cs typeface="Lato"/>
                          <a:sym typeface="Lato"/>
                        </a:rPr>
                        <a:t> - tcolvert@email.arizona.edu</a:t>
                      </a:r>
                      <a:endParaRPr sz="1200" u="none" strike="noStrike" cap="none">
                        <a:solidFill>
                          <a:schemeClr val="l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1000"/>
                        <a:buFont typeface="Arial"/>
                        <a:buNone/>
                      </a:pPr>
                      <a:endParaRPr sz="1000" u="none" strike="noStrike" cap="none">
                        <a:solidFill>
                          <a:schemeClr val="lt1"/>
                        </a:solidFill>
                        <a:latin typeface="Lato"/>
                        <a:ea typeface="Lato"/>
                        <a:cs typeface="Lato"/>
                        <a:sym typeface="Lato"/>
                      </a:endParaRPr>
                    </a:p>
                    <a:p>
                      <a:pPr marL="457200" marR="0" lvl="0" indent="-292100" algn="l" rtl="0">
                        <a:lnSpc>
                          <a:spcPct val="100000"/>
                        </a:lnSpc>
                        <a:spcBef>
                          <a:spcPts val="0"/>
                        </a:spcBef>
                        <a:spcAft>
                          <a:spcPts val="0"/>
                        </a:spcAft>
                        <a:buClr>
                          <a:schemeClr val="lt1"/>
                        </a:buClr>
                        <a:buSzPts val="1000"/>
                        <a:buFont typeface="Lato"/>
                        <a:buChar char="●"/>
                      </a:pPr>
                      <a:r>
                        <a:rPr lang="en" sz="1000" u="none" strike="noStrike" cap="none">
                          <a:solidFill>
                            <a:schemeClr val="lt1"/>
                          </a:solidFill>
                          <a:latin typeface="Lato"/>
                          <a:ea typeface="Lato"/>
                          <a:cs typeface="Lato"/>
                          <a:sym typeface="Lato"/>
                        </a:rPr>
                        <a:t>B.S. in System Engineering</a:t>
                      </a:r>
                      <a:endParaRPr sz="1000" u="none" strike="noStrike" cap="none">
                        <a:solidFill>
                          <a:schemeClr val="lt1"/>
                        </a:solidFill>
                        <a:latin typeface="Lato"/>
                        <a:ea typeface="Lato"/>
                        <a:cs typeface="Lato"/>
                        <a:sym typeface="Lato"/>
                      </a:endParaRPr>
                    </a:p>
                    <a:p>
                      <a:pPr marL="457200" marR="0" lvl="0" indent="-292100" algn="l" rtl="0">
                        <a:lnSpc>
                          <a:spcPct val="100000"/>
                        </a:lnSpc>
                        <a:spcBef>
                          <a:spcPts val="0"/>
                        </a:spcBef>
                        <a:spcAft>
                          <a:spcPts val="0"/>
                        </a:spcAft>
                        <a:buClr>
                          <a:schemeClr val="lt1"/>
                        </a:buClr>
                        <a:buSzPts val="1000"/>
                        <a:buFont typeface="Lato"/>
                        <a:buChar char="●"/>
                      </a:pPr>
                      <a:r>
                        <a:rPr lang="en" sz="1000" u="none" strike="noStrike" cap="none">
                          <a:solidFill>
                            <a:schemeClr val="lt1"/>
                          </a:solidFill>
                          <a:latin typeface="Lato"/>
                          <a:ea typeface="Lato"/>
                          <a:cs typeface="Lato"/>
                          <a:sym typeface="Lato"/>
                        </a:rPr>
                        <a:t>Lead System Engineer, IT Specialist at Bard Water District</a:t>
                      </a:r>
                      <a:endParaRPr sz="1000" u="none" strike="noStrike" cap="none">
                        <a:solidFill>
                          <a:schemeClr val="lt1"/>
                        </a:solidFill>
                        <a:latin typeface="Lato"/>
                        <a:ea typeface="Lato"/>
                        <a:cs typeface="Lato"/>
                        <a:sym typeface="Lato"/>
                      </a:endParaRPr>
                    </a:p>
                    <a:p>
                      <a:pPr marL="457200" marR="0" lvl="0" indent="-292100" algn="l" rtl="0">
                        <a:lnSpc>
                          <a:spcPct val="100000"/>
                        </a:lnSpc>
                        <a:spcBef>
                          <a:spcPts val="0"/>
                        </a:spcBef>
                        <a:spcAft>
                          <a:spcPts val="0"/>
                        </a:spcAft>
                        <a:buClr>
                          <a:schemeClr val="lt1"/>
                        </a:buClr>
                        <a:buSzPts val="1000"/>
                        <a:buFont typeface="Lato"/>
                        <a:buChar char="●"/>
                      </a:pPr>
                      <a:r>
                        <a:rPr lang="en" sz="1000" u="none" strike="noStrike" cap="none">
                          <a:solidFill>
                            <a:schemeClr val="lt1"/>
                          </a:solidFill>
                          <a:latin typeface="Lato"/>
                          <a:ea typeface="Lato"/>
                          <a:cs typeface="Lato"/>
                          <a:sym typeface="Lato"/>
                        </a:rPr>
                        <a:t>Skilled in mechanical engineering, computer/software engineering, and industrial engineering</a:t>
                      </a:r>
                      <a:endParaRPr sz="1000" u="none" strike="noStrike" cap="none">
                        <a:solidFill>
                          <a:schemeClr val="lt1"/>
                        </a:solidFill>
                        <a:latin typeface="Lato"/>
                        <a:ea typeface="Lato"/>
                        <a:cs typeface="Lato"/>
                        <a:sym typeface="Lat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en" sz="1200" u="sng" strike="noStrike" cap="none">
                          <a:solidFill>
                            <a:schemeClr val="lt1"/>
                          </a:solidFill>
                          <a:latin typeface="Lato"/>
                          <a:ea typeface="Lato"/>
                          <a:cs typeface="Lato"/>
                          <a:sym typeface="Lato"/>
                        </a:rPr>
                        <a:t>Tri Nguyen</a:t>
                      </a:r>
                      <a:r>
                        <a:rPr lang="en" sz="1200" u="none" strike="noStrike" cap="none">
                          <a:solidFill>
                            <a:schemeClr val="lt1"/>
                          </a:solidFill>
                          <a:latin typeface="Lato"/>
                          <a:ea typeface="Lato"/>
                          <a:cs typeface="Lato"/>
                          <a:sym typeface="Lato"/>
                        </a:rPr>
                        <a:t> - txn180008@utdallas.edu</a:t>
                      </a:r>
                      <a:endParaRPr sz="1200" u="none" strike="noStrike" cap="none">
                        <a:solidFill>
                          <a:schemeClr val="l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1000"/>
                        <a:buFont typeface="Arial"/>
                        <a:buNone/>
                      </a:pPr>
                      <a:endParaRPr sz="1000" u="none" strike="noStrike" cap="none">
                        <a:solidFill>
                          <a:schemeClr val="lt1"/>
                        </a:solidFill>
                        <a:latin typeface="Lato"/>
                        <a:ea typeface="Lato"/>
                        <a:cs typeface="Lato"/>
                        <a:sym typeface="Lato"/>
                      </a:endParaRPr>
                    </a:p>
                    <a:p>
                      <a:pPr marL="457200" marR="0" lvl="0" indent="-292100" algn="l" rtl="0">
                        <a:lnSpc>
                          <a:spcPct val="100000"/>
                        </a:lnSpc>
                        <a:spcBef>
                          <a:spcPts val="0"/>
                        </a:spcBef>
                        <a:spcAft>
                          <a:spcPts val="0"/>
                        </a:spcAft>
                        <a:buClr>
                          <a:schemeClr val="lt1"/>
                        </a:buClr>
                        <a:buSzPts val="1000"/>
                        <a:buFont typeface="Lato"/>
                        <a:buChar char="●"/>
                      </a:pPr>
                      <a:r>
                        <a:rPr lang="en" sz="1000" u="none" strike="noStrike" cap="none">
                          <a:solidFill>
                            <a:schemeClr val="lt1"/>
                          </a:solidFill>
                          <a:latin typeface="Lato"/>
                          <a:ea typeface="Lato"/>
                          <a:cs typeface="Lato"/>
                          <a:sym typeface="Lato"/>
                        </a:rPr>
                        <a:t>Pursuing B.S. in Computer Science </a:t>
                      </a:r>
                      <a:endParaRPr sz="1000" u="none" strike="noStrike" cap="none">
                        <a:solidFill>
                          <a:schemeClr val="lt1"/>
                        </a:solidFill>
                        <a:latin typeface="Lato"/>
                        <a:ea typeface="Lato"/>
                        <a:cs typeface="Lato"/>
                        <a:sym typeface="Lato"/>
                      </a:endParaRPr>
                    </a:p>
                    <a:p>
                      <a:pPr marL="457200" marR="0" lvl="0" indent="-292100" algn="l" rtl="0">
                        <a:lnSpc>
                          <a:spcPct val="100000"/>
                        </a:lnSpc>
                        <a:spcBef>
                          <a:spcPts val="0"/>
                        </a:spcBef>
                        <a:spcAft>
                          <a:spcPts val="0"/>
                        </a:spcAft>
                        <a:buClr>
                          <a:schemeClr val="lt1"/>
                        </a:buClr>
                        <a:buSzPts val="1000"/>
                        <a:buFont typeface="Lato"/>
                        <a:buChar char="●"/>
                      </a:pPr>
                      <a:r>
                        <a:rPr lang="en" sz="1000" u="none" strike="noStrike" cap="none">
                          <a:solidFill>
                            <a:schemeClr val="lt1"/>
                          </a:solidFill>
                          <a:latin typeface="Lato"/>
                          <a:ea typeface="Lato"/>
                          <a:cs typeface="Lato"/>
                          <a:sym typeface="Lato"/>
                        </a:rPr>
                        <a:t>NSF SFS recipient</a:t>
                      </a:r>
                      <a:endParaRPr sz="1000" u="none" strike="noStrike" cap="none">
                        <a:solidFill>
                          <a:schemeClr val="lt1"/>
                        </a:solidFill>
                        <a:latin typeface="Lato"/>
                        <a:ea typeface="Lato"/>
                        <a:cs typeface="Lato"/>
                        <a:sym typeface="Lato"/>
                      </a:endParaRPr>
                    </a:p>
                    <a:p>
                      <a:pPr marL="457200" marR="0" lvl="0" indent="-292100" algn="l" rtl="0">
                        <a:lnSpc>
                          <a:spcPct val="100000"/>
                        </a:lnSpc>
                        <a:spcBef>
                          <a:spcPts val="0"/>
                        </a:spcBef>
                        <a:spcAft>
                          <a:spcPts val="0"/>
                        </a:spcAft>
                        <a:buClr>
                          <a:schemeClr val="lt1"/>
                        </a:buClr>
                        <a:buSzPts val="1000"/>
                        <a:buFont typeface="Lato"/>
                        <a:buChar char="●"/>
                      </a:pPr>
                      <a:r>
                        <a:rPr lang="en" sz="1000" u="none" strike="noStrike" cap="none">
                          <a:solidFill>
                            <a:schemeClr val="lt1"/>
                          </a:solidFill>
                          <a:latin typeface="Lato"/>
                          <a:ea typeface="Lato"/>
                          <a:cs typeface="Lato"/>
                          <a:sym typeface="Lato"/>
                        </a:rPr>
                        <a:t>Skilled in programming, computer networking, reverse engineering</a:t>
                      </a:r>
                      <a:endParaRPr sz="1000" u="none" strike="noStrike" cap="none">
                        <a:solidFill>
                          <a:schemeClr val="l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1000"/>
                        <a:buFont typeface="Arial"/>
                        <a:buNone/>
                      </a:pPr>
                      <a:endParaRPr sz="1000" u="none" strike="noStrike" cap="none">
                        <a:solidFill>
                          <a:schemeClr val="lt1"/>
                        </a:solidFill>
                        <a:latin typeface="Lato"/>
                        <a:ea typeface="Lato"/>
                        <a:cs typeface="Lato"/>
                        <a:sym typeface="Lato"/>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8"/>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Introduction: Research Project Description</a:t>
            </a:r>
            <a:endParaRPr/>
          </a:p>
        </p:txBody>
      </p:sp>
      <p:pic>
        <p:nvPicPr>
          <p:cNvPr id="281" name="Google Shape;281;p28"/>
          <p:cNvPicPr preferRelativeResize="0"/>
          <p:nvPr/>
        </p:nvPicPr>
        <p:blipFill rotWithShape="1">
          <a:blip r:embed="rId3">
            <a:alphaModFix/>
          </a:blip>
          <a:srcRect/>
          <a:stretch/>
        </p:blipFill>
        <p:spPr>
          <a:xfrm>
            <a:off x="497563" y="4604950"/>
            <a:ext cx="8148867" cy="359950"/>
          </a:xfrm>
          <a:prstGeom prst="rect">
            <a:avLst/>
          </a:prstGeom>
          <a:noFill/>
          <a:ln>
            <a:noFill/>
          </a:ln>
        </p:spPr>
      </p:pic>
      <p:sp>
        <p:nvSpPr>
          <p:cNvPr id="282" name="Google Shape;282;p28"/>
          <p:cNvSpPr txBox="1"/>
          <p:nvPr/>
        </p:nvSpPr>
        <p:spPr>
          <a:xfrm>
            <a:off x="1297500" y="1045470"/>
            <a:ext cx="6998100" cy="3354734"/>
          </a:xfrm>
          <a:prstGeom prst="rect">
            <a:avLst/>
          </a:prstGeom>
          <a:noFill/>
          <a:ln>
            <a:noFill/>
          </a:ln>
        </p:spPr>
        <p:txBody>
          <a:bodyPr spcFirstLastPara="1" wrap="square" lIns="91425" tIns="91425" rIns="91425" bIns="91425" anchor="t" anchorCtr="0">
            <a:spAutoFit/>
          </a:bodyPr>
          <a:lstStyle/>
          <a:p>
            <a:pPr marL="457200" marR="0" lvl="0" indent="-311150" algn="l" rtl="0">
              <a:lnSpc>
                <a:spcPct val="100000"/>
              </a:lnSpc>
              <a:spcBef>
                <a:spcPts val="0"/>
              </a:spcBef>
              <a:spcAft>
                <a:spcPts val="0"/>
              </a:spcAft>
              <a:buClr>
                <a:schemeClr val="lt1"/>
              </a:buClr>
              <a:buSzPts val="1300"/>
              <a:buFont typeface="Lato"/>
              <a:buChar char="●"/>
            </a:pPr>
            <a:r>
              <a:rPr lang="en" sz="1300" b="0" i="0" u="none" strike="noStrike" cap="none">
                <a:solidFill>
                  <a:schemeClr val="lt1"/>
                </a:solidFill>
                <a:latin typeface="Lato"/>
                <a:ea typeface="Lato"/>
                <a:cs typeface="Lato"/>
                <a:sym typeface="Lato"/>
              </a:rPr>
              <a:t>450,000 new samples of malware released daily</a:t>
            </a:r>
            <a:endParaRPr/>
          </a:p>
          <a:p>
            <a:pPr marL="914400" marR="0" lvl="1" indent="-304800" algn="l" rtl="0">
              <a:lnSpc>
                <a:spcPct val="100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How do we better analyze the deluge of malware?</a:t>
            </a:r>
            <a:endParaRPr/>
          </a:p>
          <a:p>
            <a:pPr marL="914400" marR="0" lvl="1" indent="-304800" algn="l" rtl="0">
              <a:lnSpc>
                <a:spcPct val="100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Malware analysis is a difficult task; all stages of the process are slow</a:t>
            </a:r>
            <a:endParaRPr/>
          </a:p>
          <a:p>
            <a:pPr marL="914400" marR="0" lvl="1" indent="-304800" algn="l" rtl="0">
              <a:lnSpc>
                <a:spcPct val="100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Current practices do not always emphasize the importance of understanding the attack and his or her goals in creating a malware package</a:t>
            </a:r>
            <a:endParaRPr/>
          </a:p>
          <a:p>
            <a:pPr marL="914400" marR="0" lvl="1" indent="-304800" algn="l" rtl="0">
              <a:lnSpc>
                <a:spcPct val="100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It is essential that we find more efficient methods of malware analysis</a:t>
            </a:r>
            <a:endParaRPr/>
          </a:p>
          <a:p>
            <a:pPr marL="457200" marR="0" lvl="0" indent="-311150" algn="l" rtl="0">
              <a:lnSpc>
                <a:spcPct val="100000"/>
              </a:lnSpc>
              <a:spcBef>
                <a:spcPts val="0"/>
              </a:spcBef>
              <a:spcAft>
                <a:spcPts val="0"/>
              </a:spcAft>
              <a:buClr>
                <a:schemeClr val="lt1"/>
              </a:buClr>
              <a:buSzPts val="1300"/>
              <a:buFont typeface="Lato"/>
              <a:buChar char="●"/>
            </a:pPr>
            <a:r>
              <a:rPr lang="en" sz="1300" b="0" i="0" u="none" strike="noStrike" cap="none">
                <a:solidFill>
                  <a:schemeClr val="lt1"/>
                </a:solidFill>
                <a:latin typeface="Lato"/>
                <a:ea typeface="Lato"/>
                <a:cs typeface="Lato"/>
                <a:sym typeface="Lato"/>
              </a:rPr>
              <a:t>To improve the process, research into how malware is engineered must take place</a:t>
            </a:r>
            <a:endParaRPr/>
          </a:p>
          <a:p>
            <a:pPr marL="457200" marR="0" lvl="0" indent="-311150" algn="l" rtl="0">
              <a:lnSpc>
                <a:spcPct val="100000"/>
              </a:lnSpc>
              <a:spcBef>
                <a:spcPts val="0"/>
              </a:spcBef>
              <a:spcAft>
                <a:spcPts val="0"/>
              </a:spcAft>
              <a:buClr>
                <a:schemeClr val="lt1"/>
              </a:buClr>
              <a:buSzPts val="1300"/>
              <a:buFont typeface="Lato"/>
              <a:buChar char="●"/>
            </a:pPr>
            <a:r>
              <a:rPr lang="en" sz="1300" b="0" i="0" u="none" strike="noStrike" cap="none">
                <a:solidFill>
                  <a:schemeClr val="lt1"/>
                </a:solidFill>
                <a:latin typeface="Lato"/>
                <a:ea typeface="Lato"/>
                <a:cs typeface="Lato"/>
                <a:sym typeface="Lato"/>
              </a:rPr>
              <a:t>This project aims to address these challenges and explore novel topics in improving the malware analysis pipeline</a:t>
            </a:r>
            <a:endParaRPr/>
          </a:p>
          <a:p>
            <a:pPr marL="457200" marR="0" lvl="0" indent="-311150" algn="l" rtl="0">
              <a:lnSpc>
                <a:spcPct val="100000"/>
              </a:lnSpc>
              <a:spcBef>
                <a:spcPts val="0"/>
              </a:spcBef>
              <a:spcAft>
                <a:spcPts val="0"/>
              </a:spcAft>
              <a:buClr>
                <a:schemeClr val="lt1"/>
              </a:buClr>
              <a:buSzPts val="1300"/>
              <a:buFont typeface="Lato"/>
              <a:buChar char="●"/>
            </a:pPr>
            <a:r>
              <a:rPr lang="en" sz="1300" b="0" i="0" u="none" strike="noStrike" cap="none">
                <a:solidFill>
                  <a:schemeClr val="lt1"/>
                </a:solidFill>
                <a:latin typeface="Lato"/>
                <a:ea typeface="Lato"/>
                <a:cs typeface="Lato"/>
                <a:sym typeface="Lato"/>
              </a:rPr>
              <a:t>Specifically, the project involves research into malware analysis techniques and frameworks such as: </a:t>
            </a:r>
            <a:endParaRPr/>
          </a:p>
          <a:p>
            <a:pPr marL="914400" marR="0" lvl="1" indent="-304800" algn="l" rtl="0">
              <a:lnSpc>
                <a:spcPct val="100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Toolmark Analysis using:</a:t>
            </a:r>
            <a:endParaRPr/>
          </a:p>
          <a:p>
            <a:pPr marL="1371600" marR="0" lvl="2" indent="-298450" algn="l" rtl="0">
              <a:lnSpc>
                <a:spcPct val="100000"/>
              </a:lnSpc>
              <a:spcBef>
                <a:spcPts val="0"/>
              </a:spcBef>
              <a:spcAft>
                <a:spcPts val="0"/>
              </a:spcAft>
              <a:buClr>
                <a:schemeClr val="lt1"/>
              </a:buClr>
              <a:buSzPts val="1100"/>
              <a:buFont typeface="Lato"/>
              <a:buChar char="■"/>
            </a:pPr>
            <a:r>
              <a:rPr lang="en" sz="1100" b="0" i="0" u="none" strike="noStrike" cap="none">
                <a:solidFill>
                  <a:schemeClr val="lt1"/>
                </a:solidFill>
                <a:latin typeface="Lato"/>
                <a:ea typeface="Lato"/>
                <a:cs typeface="Lato"/>
                <a:sym typeface="Lato"/>
              </a:rPr>
              <a:t>Compiler Provenance Information</a:t>
            </a:r>
            <a:endParaRPr/>
          </a:p>
          <a:p>
            <a:pPr marL="1371600" marR="0" lvl="2" indent="-298450" algn="l" rtl="0">
              <a:lnSpc>
                <a:spcPct val="100000"/>
              </a:lnSpc>
              <a:spcBef>
                <a:spcPts val="0"/>
              </a:spcBef>
              <a:spcAft>
                <a:spcPts val="0"/>
              </a:spcAft>
              <a:buClr>
                <a:schemeClr val="lt1"/>
              </a:buClr>
              <a:buSzPts val="1100"/>
              <a:buFont typeface="Lato"/>
              <a:buChar char="■"/>
            </a:pPr>
            <a:r>
              <a:rPr lang="en" sz="1100" b="0" i="0" u="none" strike="noStrike" cap="none">
                <a:solidFill>
                  <a:schemeClr val="lt1"/>
                </a:solidFill>
                <a:latin typeface="Lato"/>
                <a:ea typeface="Lato"/>
                <a:cs typeface="Lato"/>
                <a:sym typeface="Lato"/>
              </a:rPr>
              <a:t>Statically-Linked Library Code</a:t>
            </a:r>
            <a:endParaRPr/>
          </a:p>
          <a:p>
            <a:pPr marL="914400" marR="0" lvl="1" indent="-304800" algn="l" rtl="0">
              <a:lnSpc>
                <a:spcPct val="100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The MITRE Malware Development Life Cycle (MDLC)</a:t>
            </a:r>
            <a:endParaRPr/>
          </a:p>
          <a:p>
            <a:pPr marL="1371600" marR="0" lvl="2" indent="-298450" algn="l" rtl="0">
              <a:lnSpc>
                <a:spcPct val="100000"/>
              </a:lnSpc>
              <a:spcBef>
                <a:spcPts val="0"/>
              </a:spcBef>
              <a:spcAft>
                <a:spcPts val="0"/>
              </a:spcAft>
              <a:buClr>
                <a:schemeClr val="lt1"/>
              </a:buClr>
              <a:buSzPts val="1100"/>
              <a:buFont typeface="Lato"/>
              <a:buChar char="■"/>
            </a:pPr>
            <a:r>
              <a:rPr lang="en" sz="1100" b="0" i="0" u="none" strike="noStrike" cap="none">
                <a:solidFill>
                  <a:schemeClr val="lt1"/>
                </a:solidFill>
                <a:latin typeface="Lato"/>
                <a:ea typeface="Lato"/>
                <a:cs typeface="Lato"/>
                <a:sym typeface="Lato"/>
              </a:rPr>
              <a:t>Characterizes malware authors and their decisions</a:t>
            </a:r>
            <a:endParaRPr/>
          </a:p>
          <a:p>
            <a:pPr marL="457200" marR="0" lvl="0" indent="-228600" algn="l" rtl="0">
              <a:lnSpc>
                <a:spcPct val="100000"/>
              </a:lnSpc>
              <a:spcBef>
                <a:spcPts val="0"/>
              </a:spcBef>
              <a:spcAft>
                <a:spcPts val="0"/>
              </a:spcAft>
              <a:buClr>
                <a:schemeClr val="lt1"/>
              </a:buClr>
              <a:buSzPts val="1300"/>
              <a:buFont typeface="Lato"/>
              <a:buNone/>
            </a:pPr>
            <a:endParaRPr sz="1100" b="0" i="0" u="none" strike="noStrike" cap="none">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9"/>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Introduction: Project Objectives</a:t>
            </a:r>
            <a:endParaRPr/>
          </a:p>
        </p:txBody>
      </p:sp>
      <p:pic>
        <p:nvPicPr>
          <p:cNvPr id="288" name="Google Shape;288;p29"/>
          <p:cNvPicPr preferRelativeResize="0"/>
          <p:nvPr/>
        </p:nvPicPr>
        <p:blipFill rotWithShape="1">
          <a:blip r:embed="rId3">
            <a:alphaModFix/>
          </a:blip>
          <a:srcRect/>
          <a:stretch/>
        </p:blipFill>
        <p:spPr>
          <a:xfrm>
            <a:off x="497563" y="4604950"/>
            <a:ext cx="8148867" cy="359950"/>
          </a:xfrm>
          <a:prstGeom prst="rect">
            <a:avLst/>
          </a:prstGeom>
          <a:noFill/>
          <a:ln>
            <a:noFill/>
          </a:ln>
        </p:spPr>
      </p:pic>
      <p:grpSp>
        <p:nvGrpSpPr>
          <p:cNvPr id="289" name="Google Shape;289;p29"/>
          <p:cNvGrpSpPr/>
          <p:nvPr/>
        </p:nvGrpSpPr>
        <p:grpSpPr>
          <a:xfrm>
            <a:off x="1566809" y="1487927"/>
            <a:ext cx="2431576" cy="2371229"/>
            <a:chOff x="1132172" y="749410"/>
            <a:chExt cx="2431576" cy="2371229"/>
          </a:xfrm>
        </p:grpSpPr>
        <p:sp>
          <p:nvSpPr>
            <p:cNvPr id="290" name="Google Shape;290;p29"/>
            <p:cNvSpPr/>
            <p:nvPr/>
          </p:nvSpPr>
          <p:spPr>
            <a:xfrm>
              <a:off x="1681472" y="1257199"/>
              <a:ext cx="671047" cy="1457145"/>
            </a:xfrm>
            <a:custGeom>
              <a:avLst/>
              <a:gdLst/>
              <a:ahLst/>
              <a:cxnLst/>
              <a:rect l="l" t="t" r="r" b="b"/>
              <a:pathLst>
                <a:path w="120000" h="120000" extrusionOk="0">
                  <a:moveTo>
                    <a:pt x="120000" y="0"/>
                  </a:moveTo>
                  <a:lnTo>
                    <a:pt x="120000" y="110500"/>
                  </a:lnTo>
                  <a:lnTo>
                    <a:pt x="0" y="110500"/>
                  </a:lnTo>
                  <a:lnTo>
                    <a:pt x="0" y="120000"/>
                  </a:lnTo>
                </a:path>
              </a:pathLst>
            </a:custGeom>
            <a:noFill/>
            <a:ln w="25400" cap="flat" cmpd="sng">
              <a:solidFill>
                <a:schemeClr val="lt1"/>
              </a:solidFill>
              <a:prstDash val="solid"/>
              <a:round/>
              <a:headEnd type="none" w="sm" len="sm"/>
              <a:tailEnd type="none" w="sm" len="sm"/>
            </a:ln>
          </p:spPr>
        </p:sp>
        <p:sp>
          <p:nvSpPr>
            <p:cNvPr id="291" name="Google Shape;291;p29"/>
            <p:cNvSpPr/>
            <p:nvPr/>
          </p:nvSpPr>
          <p:spPr>
            <a:xfrm>
              <a:off x="2352519" y="1257199"/>
              <a:ext cx="661928" cy="1284203"/>
            </a:xfrm>
            <a:custGeom>
              <a:avLst/>
              <a:gdLst/>
              <a:ahLst/>
              <a:cxnLst/>
              <a:rect l="l" t="t" r="r" b="b"/>
              <a:pathLst>
                <a:path w="120000" h="120000" extrusionOk="0">
                  <a:moveTo>
                    <a:pt x="0" y="0"/>
                  </a:moveTo>
                  <a:lnTo>
                    <a:pt x="0" y="109221"/>
                  </a:lnTo>
                  <a:lnTo>
                    <a:pt x="120000" y="109221"/>
                  </a:lnTo>
                  <a:lnTo>
                    <a:pt x="120000" y="120000"/>
                  </a:lnTo>
                </a:path>
              </a:pathLst>
            </a:custGeom>
            <a:noFill/>
            <a:ln w="25400" cap="flat" cmpd="sng">
              <a:solidFill>
                <a:schemeClr val="lt1"/>
              </a:solidFill>
              <a:prstDash val="solid"/>
              <a:round/>
              <a:headEnd type="none" w="sm" len="sm"/>
              <a:tailEnd type="none" w="sm" len="sm"/>
            </a:ln>
          </p:spPr>
        </p:sp>
        <p:sp>
          <p:nvSpPr>
            <p:cNvPr id="292" name="Google Shape;292;p29"/>
            <p:cNvSpPr/>
            <p:nvPr/>
          </p:nvSpPr>
          <p:spPr>
            <a:xfrm>
              <a:off x="2352519" y="1257199"/>
              <a:ext cx="655414" cy="654254"/>
            </a:xfrm>
            <a:custGeom>
              <a:avLst/>
              <a:gdLst/>
              <a:ahLst/>
              <a:cxnLst/>
              <a:rect l="l" t="t" r="r" b="b"/>
              <a:pathLst>
                <a:path w="120000" h="120000" extrusionOk="0">
                  <a:moveTo>
                    <a:pt x="0" y="0"/>
                  </a:moveTo>
                  <a:lnTo>
                    <a:pt x="0" y="98843"/>
                  </a:lnTo>
                  <a:lnTo>
                    <a:pt x="120000" y="98843"/>
                  </a:lnTo>
                  <a:lnTo>
                    <a:pt x="120000" y="120000"/>
                  </a:lnTo>
                </a:path>
              </a:pathLst>
            </a:custGeom>
            <a:noFill/>
            <a:ln w="25400" cap="flat" cmpd="sng">
              <a:solidFill>
                <a:schemeClr val="lt1"/>
              </a:solidFill>
              <a:prstDash val="solid"/>
              <a:round/>
              <a:headEnd type="none" w="sm" len="sm"/>
              <a:tailEnd type="none" w="sm" len="sm"/>
            </a:ln>
          </p:spPr>
        </p:sp>
        <p:sp>
          <p:nvSpPr>
            <p:cNvPr id="293" name="Google Shape;293;p29"/>
            <p:cNvSpPr/>
            <p:nvPr/>
          </p:nvSpPr>
          <p:spPr>
            <a:xfrm>
              <a:off x="1684395" y="1257199"/>
              <a:ext cx="668124" cy="235743"/>
            </a:xfrm>
            <a:custGeom>
              <a:avLst/>
              <a:gdLst/>
              <a:ahLst/>
              <a:cxnLst/>
              <a:rect l="l" t="t" r="r" b="b"/>
              <a:pathLst>
                <a:path w="120000" h="120000" extrusionOk="0">
                  <a:moveTo>
                    <a:pt x="120000" y="0"/>
                  </a:moveTo>
                  <a:lnTo>
                    <a:pt x="120000" y="61282"/>
                  </a:lnTo>
                  <a:lnTo>
                    <a:pt x="0" y="61282"/>
                  </a:lnTo>
                  <a:lnTo>
                    <a:pt x="0" y="120000"/>
                  </a:lnTo>
                </a:path>
              </a:pathLst>
            </a:custGeom>
            <a:noFill/>
            <a:ln w="25400" cap="flat" cmpd="sng">
              <a:solidFill>
                <a:schemeClr val="lt1"/>
              </a:solidFill>
              <a:prstDash val="solid"/>
              <a:round/>
              <a:headEnd type="none" w="sm" len="sm"/>
              <a:tailEnd type="none" w="sm" len="sm"/>
            </a:ln>
          </p:spPr>
        </p:sp>
        <p:sp>
          <p:nvSpPr>
            <p:cNvPr id="294" name="Google Shape;294;p29"/>
            <p:cNvSpPr/>
            <p:nvPr/>
          </p:nvSpPr>
          <p:spPr>
            <a:xfrm>
              <a:off x="1684439" y="1257199"/>
              <a:ext cx="668080" cy="865576"/>
            </a:xfrm>
            <a:custGeom>
              <a:avLst/>
              <a:gdLst/>
              <a:ahLst/>
              <a:cxnLst/>
              <a:rect l="l" t="t" r="r" b="b"/>
              <a:pathLst>
                <a:path w="120000" h="120000" extrusionOk="0">
                  <a:moveTo>
                    <a:pt x="120000" y="0"/>
                  </a:moveTo>
                  <a:lnTo>
                    <a:pt x="120000" y="104008"/>
                  </a:lnTo>
                  <a:lnTo>
                    <a:pt x="0" y="104008"/>
                  </a:lnTo>
                  <a:lnTo>
                    <a:pt x="0" y="120000"/>
                  </a:lnTo>
                </a:path>
              </a:pathLst>
            </a:custGeom>
            <a:noFill/>
            <a:ln w="25400" cap="flat" cmpd="sng">
              <a:solidFill>
                <a:schemeClr val="lt1"/>
              </a:solidFill>
              <a:prstDash val="solid"/>
              <a:round/>
              <a:headEnd type="none" w="sm" len="sm"/>
              <a:tailEnd type="none" w="sm" len="sm"/>
            </a:ln>
          </p:spPr>
        </p:sp>
        <p:sp>
          <p:nvSpPr>
            <p:cNvPr id="295" name="Google Shape;295;p29"/>
            <p:cNvSpPr/>
            <p:nvPr/>
          </p:nvSpPr>
          <p:spPr>
            <a:xfrm>
              <a:off x="1580934" y="749410"/>
              <a:ext cx="1543171" cy="507789"/>
            </a:xfrm>
            <a:prstGeom prst="rect">
              <a:avLst/>
            </a:prstGeom>
            <a:solidFill>
              <a:srgbClr val="0145AC"/>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9"/>
            <p:cNvSpPr txBox="1"/>
            <p:nvPr/>
          </p:nvSpPr>
          <p:spPr>
            <a:xfrm>
              <a:off x="1580934" y="749410"/>
              <a:ext cx="1543171" cy="507789"/>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 sz="1200" b="0" i="0" u="none" strike="noStrike" cap="none">
                  <a:solidFill>
                    <a:schemeClr val="lt1"/>
                  </a:solidFill>
                  <a:latin typeface="Lato"/>
                  <a:ea typeface="Lato"/>
                  <a:cs typeface="Lato"/>
                  <a:sym typeface="Lato"/>
                </a:rPr>
                <a:t>Malware Analysis </a:t>
              </a:r>
              <a:br>
                <a:rPr lang="en" sz="1200" b="0" i="0" u="none" strike="noStrike" cap="none">
                  <a:solidFill>
                    <a:schemeClr val="lt1"/>
                  </a:solidFill>
                  <a:latin typeface="Lato"/>
                  <a:ea typeface="Lato"/>
                  <a:cs typeface="Lato"/>
                  <a:sym typeface="Lato"/>
                </a:rPr>
              </a:br>
              <a:r>
                <a:rPr lang="en" sz="1200" b="0" i="0" u="none" strike="noStrike" cap="none">
                  <a:solidFill>
                    <a:schemeClr val="lt1"/>
                  </a:solidFill>
                  <a:latin typeface="Lato"/>
                  <a:ea typeface="Lato"/>
                  <a:cs typeface="Lato"/>
                  <a:sym typeface="Lato"/>
                </a:rPr>
                <a:t>Tool</a:t>
              </a:r>
              <a:endParaRPr/>
            </a:p>
          </p:txBody>
        </p:sp>
        <p:sp>
          <p:nvSpPr>
            <p:cNvPr id="297" name="Google Shape;297;p29"/>
            <p:cNvSpPr/>
            <p:nvPr/>
          </p:nvSpPr>
          <p:spPr>
            <a:xfrm>
              <a:off x="1135138" y="2122776"/>
              <a:ext cx="1098600" cy="409360"/>
            </a:xfrm>
            <a:prstGeom prst="rect">
              <a:avLst/>
            </a:prstGeom>
            <a:solidFill>
              <a:srgbClr val="CBCF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9"/>
            <p:cNvSpPr txBox="1"/>
            <p:nvPr/>
          </p:nvSpPr>
          <p:spPr>
            <a:xfrm>
              <a:off x="1135138" y="2122776"/>
              <a:ext cx="1098600" cy="409360"/>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0" i="0" u="none" strike="noStrike" cap="none">
                  <a:solidFill>
                    <a:srgbClr val="003380"/>
                  </a:solidFill>
                  <a:latin typeface="Lato"/>
                  <a:ea typeface="Lato"/>
                  <a:cs typeface="Lato"/>
                  <a:sym typeface="Lato"/>
                </a:rPr>
                <a:t>Statically-Linked Library </a:t>
              </a:r>
              <a:endParaRPr/>
            </a:p>
          </p:txBody>
        </p:sp>
        <p:sp>
          <p:nvSpPr>
            <p:cNvPr id="299" name="Google Shape;299;p29"/>
            <p:cNvSpPr/>
            <p:nvPr/>
          </p:nvSpPr>
          <p:spPr>
            <a:xfrm>
              <a:off x="1135094" y="1492942"/>
              <a:ext cx="1098600" cy="409360"/>
            </a:xfrm>
            <a:prstGeom prst="rect">
              <a:avLst/>
            </a:prstGeom>
            <a:solidFill>
              <a:srgbClr val="CBCF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9"/>
            <p:cNvSpPr txBox="1"/>
            <p:nvPr/>
          </p:nvSpPr>
          <p:spPr>
            <a:xfrm>
              <a:off x="1135094" y="1492942"/>
              <a:ext cx="1098600" cy="409360"/>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0" i="0" u="none" strike="noStrike" cap="none">
                  <a:solidFill>
                    <a:srgbClr val="003380"/>
                  </a:solidFill>
                  <a:latin typeface="Lato"/>
                  <a:ea typeface="Lato"/>
                  <a:cs typeface="Lato"/>
                  <a:sym typeface="Lato"/>
                </a:rPr>
                <a:t>Compiler Provenance</a:t>
              </a:r>
              <a:endParaRPr/>
            </a:p>
          </p:txBody>
        </p:sp>
        <p:sp>
          <p:nvSpPr>
            <p:cNvPr id="301" name="Google Shape;301;p29"/>
            <p:cNvSpPr/>
            <p:nvPr/>
          </p:nvSpPr>
          <p:spPr>
            <a:xfrm>
              <a:off x="2458633" y="1911454"/>
              <a:ext cx="1098600" cy="409360"/>
            </a:xfrm>
            <a:prstGeom prst="rect">
              <a:avLst/>
            </a:prstGeom>
            <a:solidFill>
              <a:srgbClr val="CBCF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9"/>
            <p:cNvSpPr txBox="1"/>
            <p:nvPr/>
          </p:nvSpPr>
          <p:spPr>
            <a:xfrm>
              <a:off x="2458633" y="1911454"/>
              <a:ext cx="1098600" cy="409360"/>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0" i="0" u="none" strike="noStrike" cap="none">
                  <a:solidFill>
                    <a:srgbClr val="003380"/>
                  </a:solidFill>
                  <a:latin typeface="Lato"/>
                  <a:ea typeface="Lato"/>
                  <a:cs typeface="Lato"/>
                  <a:sym typeface="Lato"/>
                </a:rPr>
                <a:t>Obfuscated </a:t>
              </a:r>
              <a:br>
                <a:rPr lang="en" sz="1000" b="0" i="0" u="none" strike="noStrike" cap="none">
                  <a:solidFill>
                    <a:srgbClr val="003380"/>
                  </a:solidFill>
                  <a:latin typeface="Lato"/>
                  <a:ea typeface="Lato"/>
                  <a:cs typeface="Lato"/>
                  <a:sym typeface="Lato"/>
                </a:rPr>
              </a:br>
              <a:r>
                <a:rPr lang="en" sz="1000" b="0" i="0" u="none" strike="noStrike" cap="none">
                  <a:solidFill>
                    <a:srgbClr val="003380"/>
                  </a:solidFill>
                  <a:latin typeface="Lato"/>
                  <a:ea typeface="Lato"/>
                  <a:cs typeface="Lato"/>
                  <a:sym typeface="Lato"/>
                </a:rPr>
                <a:t>Strings</a:t>
              </a:r>
              <a:endParaRPr/>
            </a:p>
          </p:txBody>
        </p:sp>
        <p:sp>
          <p:nvSpPr>
            <p:cNvPr id="303" name="Google Shape;303;p29"/>
            <p:cNvSpPr/>
            <p:nvPr/>
          </p:nvSpPr>
          <p:spPr>
            <a:xfrm>
              <a:off x="2465148" y="2541403"/>
              <a:ext cx="1098600" cy="409360"/>
            </a:xfrm>
            <a:prstGeom prst="rect">
              <a:avLst/>
            </a:prstGeom>
            <a:solidFill>
              <a:srgbClr val="CBCF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9"/>
            <p:cNvSpPr txBox="1"/>
            <p:nvPr/>
          </p:nvSpPr>
          <p:spPr>
            <a:xfrm>
              <a:off x="2465148" y="2541403"/>
              <a:ext cx="1098600" cy="409360"/>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0" i="0" u="none" strike="noStrike" cap="none">
                  <a:solidFill>
                    <a:srgbClr val="003380"/>
                  </a:solidFill>
                  <a:latin typeface="Lato"/>
                  <a:ea typeface="Lato"/>
                  <a:cs typeface="Lato"/>
                  <a:sym typeface="Lato"/>
                </a:rPr>
                <a:t>Malware </a:t>
              </a:r>
              <a:br>
                <a:rPr lang="en" sz="1000" b="0" i="0" u="none" strike="noStrike" cap="none">
                  <a:solidFill>
                    <a:srgbClr val="003380"/>
                  </a:solidFill>
                  <a:latin typeface="Lato"/>
                  <a:ea typeface="Lato"/>
                  <a:cs typeface="Lato"/>
                  <a:sym typeface="Lato"/>
                </a:rPr>
              </a:br>
              <a:r>
                <a:rPr lang="en" sz="1000" b="0" i="0" u="none" strike="noStrike" cap="none">
                  <a:solidFill>
                    <a:srgbClr val="003380"/>
                  </a:solidFill>
                  <a:latin typeface="Lato"/>
                  <a:ea typeface="Lato"/>
                  <a:cs typeface="Lato"/>
                  <a:sym typeface="Lato"/>
                </a:rPr>
                <a:t>Capabilit</a:t>
              </a:r>
              <a:r>
                <a:rPr lang="en" sz="1000">
                  <a:solidFill>
                    <a:srgbClr val="003380"/>
                  </a:solidFill>
                  <a:latin typeface="Lato"/>
                  <a:ea typeface="Lato"/>
                  <a:cs typeface="Lato"/>
                  <a:sym typeface="Lato"/>
                </a:rPr>
                <a:t>ies</a:t>
              </a:r>
              <a:endParaRPr/>
            </a:p>
          </p:txBody>
        </p:sp>
        <p:sp>
          <p:nvSpPr>
            <p:cNvPr id="305" name="Google Shape;305;p29"/>
            <p:cNvSpPr/>
            <p:nvPr/>
          </p:nvSpPr>
          <p:spPr>
            <a:xfrm>
              <a:off x="1132172" y="2714344"/>
              <a:ext cx="1098600" cy="406295"/>
            </a:xfrm>
            <a:prstGeom prst="rect">
              <a:avLst/>
            </a:prstGeom>
            <a:solidFill>
              <a:srgbClr val="CBCF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9"/>
            <p:cNvSpPr txBox="1"/>
            <p:nvPr/>
          </p:nvSpPr>
          <p:spPr>
            <a:xfrm>
              <a:off x="1132172" y="2714344"/>
              <a:ext cx="1098600" cy="406295"/>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 sz="1000" b="0" i="0" u="none" strike="noStrike" cap="none">
                  <a:solidFill>
                    <a:srgbClr val="003380"/>
                  </a:solidFill>
                  <a:latin typeface="Lato"/>
                  <a:ea typeface="Lato"/>
                  <a:cs typeface="Lato"/>
                  <a:sym typeface="Lato"/>
                </a:rPr>
                <a:t>MDLC Characteristics</a:t>
              </a:r>
              <a:endParaRPr/>
            </a:p>
          </p:txBody>
        </p:sp>
      </p:grpSp>
      <p:grpSp>
        <p:nvGrpSpPr>
          <p:cNvPr id="307" name="Google Shape;307;p29"/>
          <p:cNvGrpSpPr/>
          <p:nvPr/>
        </p:nvGrpSpPr>
        <p:grpSpPr>
          <a:xfrm>
            <a:off x="5136695" y="1487520"/>
            <a:ext cx="2099599" cy="2168457"/>
            <a:chOff x="111101" y="815"/>
            <a:chExt cx="2099599" cy="2168457"/>
          </a:xfrm>
        </p:grpSpPr>
        <p:sp>
          <p:nvSpPr>
            <p:cNvPr id="308" name="Google Shape;308;p29"/>
            <p:cNvSpPr/>
            <p:nvPr/>
          </p:nvSpPr>
          <p:spPr>
            <a:xfrm>
              <a:off x="111101" y="815"/>
              <a:ext cx="2099599" cy="490601"/>
            </a:xfrm>
            <a:prstGeom prst="rect">
              <a:avLst/>
            </a:prstGeom>
            <a:solidFill>
              <a:srgbClr val="0145AC"/>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9"/>
            <p:cNvSpPr txBox="1"/>
            <p:nvPr/>
          </p:nvSpPr>
          <p:spPr>
            <a:xfrm>
              <a:off x="111101" y="815"/>
              <a:ext cx="2099599" cy="490601"/>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 sz="1200" b="0" i="0" u="none" strike="noStrike" cap="none">
                  <a:solidFill>
                    <a:schemeClr val="lt1"/>
                  </a:solidFill>
                  <a:latin typeface="Lato"/>
                  <a:ea typeface="Lato"/>
                  <a:cs typeface="Lato"/>
                  <a:sym typeface="Lato"/>
                </a:rPr>
                <a:t>Motivation for Tool</a:t>
              </a:r>
              <a:endParaRPr/>
            </a:p>
          </p:txBody>
        </p:sp>
        <p:sp>
          <p:nvSpPr>
            <p:cNvPr id="310" name="Google Shape;310;p29"/>
            <p:cNvSpPr/>
            <p:nvPr/>
          </p:nvSpPr>
          <p:spPr>
            <a:xfrm>
              <a:off x="111101" y="579725"/>
              <a:ext cx="490601" cy="490601"/>
            </a:xfrm>
            <a:prstGeom prst="roundRect">
              <a:avLst>
                <a:gd name="adj" fmla="val 16670"/>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9"/>
            <p:cNvSpPr/>
            <p:nvPr/>
          </p:nvSpPr>
          <p:spPr>
            <a:xfrm>
              <a:off x="626511" y="647970"/>
              <a:ext cx="1579561" cy="383547"/>
            </a:xfrm>
            <a:prstGeom prst="rect">
              <a:avLst/>
            </a:prstGeom>
            <a:solidFill>
              <a:srgbClr val="CBCF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9"/>
            <p:cNvSpPr txBox="1"/>
            <p:nvPr/>
          </p:nvSpPr>
          <p:spPr>
            <a:xfrm>
              <a:off x="626511" y="647970"/>
              <a:ext cx="1579561" cy="383547"/>
            </a:xfrm>
            <a:prstGeom prst="rect">
              <a:avLst/>
            </a:prstGeom>
            <a:noFill/>
            <a:ln>
              <a:noFill/>
            </a:ln>
          </p:spPr>
          <p:txBody>
            <a:bodyPr spcFirstLastPara="1" wrap="square" lIns="64000" tIns="64000" rIns="64000" bIns="64000" anchor="ctr" anchorCtr="0">
              <a:noAutofit/>
            </a:bodyPr>
            <a:lstStyle/>
            <a:p>
              <a:pPr marL="0" marR="0" lvl="0" indent="0" algn="l" rtl="0">
                <a:lnSpc>
                  <a:spcPct val="90000"/>
                </a:lnSpc>
                <a:spcBef>
                  <a:spcPts val="0"/>
                </a:spcBef>
                <a:spcAft>
                  <a:spcPts val="0"/>
                </a:spcAft>
                <a:buClr>
                  <a:srgbClr val="000000"/>
                </a:buClr>
                <a:buSzPts val="900"/>
                <a:buFont typeface="Arial"/>
                <a:buNone/>
              </a:pPr>
              <a:r>
                <a:rPr lang="en" sz="900" b="0" i="0" u="none" strike="noStrike" cap="none">
                  <a:solidFill>
                    <a:srgbClr val="003380"/>
                  </a:solidFill>
                  <a:latin typeface="Lato"/>
                  <a:ea typeface="Lato"/>
                  <a:cs typeface="Lato"/>
                  <a:sym typeface="Lato"/>
                </a:rPr>
                <a:t>Attacker-centric Perspective</a:t>
              </a:r>
              <a:endParaRPr/>
            </a:p>
          </p:txBody>
        </p:sp>
        <p:sp>
          <p:nvSpPr>
            <p:cNvPr id="313" name="Google Shape;313;p29"/>
            <p:cNvSpPr/>
            <p:nvPr/>
          </p:nvSpPr>
          <p:spPr>
            <a:xfrm>
              <a:off x="111101" y="1129198"/>
              <a:ext cx="490601" cy="490601"/>
            </a:xfrm>
            <a:prstGeom prst="roundRect">
              <a:avLst>
                <a:gd name="adj" fmla="val 16670"/>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9"/>
            <p:cNvSpPr/>
            <p:nvPr/>
          </p:nvSpPr>
          <p:spPr>
            <a:xfrm>
              <a:off x="631139" y="1202855"/>
              <a:ext cx="1579561" cy="383547"/>
            </a:xfrm>
            <a:prstGeom prst="rect">
              <a:avLst/>
            </a:prstGeom>
            <a:solidFill>
              <a:srgbClr val="CBCF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9"/>
            <p:cNvSpPr txBox="1"/>
            <p:nvPr/>
          </p:nvSpPr>
          <p:spPr>
            <a:xfrm>
              <a:off x="631139" y="1202855"/>
              <a:ext cx="1579561" cy="383547"/>
            </a:xfrm>
            <a:prstGeom prst="rect">
              <a:avLst/>
            </a:prstGeom>
            <a:noFill/>
            <a:ln>
              <a:noFill/>
            </a:ln>
          </p:spPr>
          <p:txBody>
            <a:bodyPr spcFirstLastPara="1" wrap="square" lIns="64000" tIns="64000" rIns="64000" bIns="64000" anchor="ctr" anchorCtr="0">
              <a:noAutofit/>
            </a:bodyPr>
            <a:lstStyle/>
            <a:p>
              <a:pPr marL="0" marR="0" lvl="0" indent="0" algn="l" rtl="0">
                <a:lnSpc>
                  <a:spcPct val="90000"/>
                </a:lnSpc>
                <a:spcBef>
                  <a:spcPts val="0"/>
                </a:spcBef>
                <a:spcAft>
                  <a:spcPts val="0"/>
                </a:spcAft>
                <a:buClr>
                  <a:srgbClr val="000000"/>
                </a:buClr>
                <a:buSzPts val="900"/>
                <a:buFont typeface="Arial"/>
                <a:buNone/>
              </a:pPr>
              <a:r>
                <a:rPr lang="en" sz="900" b="0" i="0" u="none" strike="noStrike" cap="none">
                  <a:solidFill>
                    <a:srgbClr val="003380"/>
                  </a:solidFill>
                  <a:latin typeface="Lato"/>
                  <a:ea typeface="Lato"/>
                  <a:cs typeface="Lato"/>
                  <a:sym typeface="Lato"/>
                </a:rPr>
                <a:t>Accuracy and Efficiency in Characterizing Malware</a:t>
              </a:r>
              <a:endParaRPr/>
            </a:p>
          </p:txBody>
        </p:sp>
        <p:sp>
          <p:nvSpPr>
            <p:cNvPr id="316" name="Google Shape;316;p29"/>
            <p:cNvSpPr/>
            <p:nvPr/>
          </p:nvSpPr>
          <p:spPr>
            <a:xfrm>
              <a:off x="111101" y="1678671"/>
              <a:ext cx="490601" cy="490601"/>
            </a:xfrm>
            <a:prstGeom prst="roundRect">
              <a:avLst>
                <a:gd name="adj" fmla="val 16670"/>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9"/>
            <p:cNvSpPr/>
            <p:nvPr/>
          </p:nvSpPr>
          <p:spPr>
            <a:xfrm>
              <a:off x="631139" y="1733018"/>
              <a:ext cx="1579561" cy="383547"/>
            </a:xfrm>
            <a:prstGeom prst="rect">
              <a:avLst/>
            </a:prstGeom>
            <a:solidFill>
              <a:srgbClr val="CBCF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9"/>
            <p:cNvSpPr txBox="1"/>
            <p:nvPr/>
          </p:nvSpPr>
          <p:spPr>
            <a:xfrm>
              <a:off x="631139" y="1733018"/>
              <a:ext cx="1579561" cy="383547"/>
            </a:xfrm>
            <a:prstGeom prst="rect">
              <a:avLst/>
            </a:prstGeom>
            <a:noFill/>
            <a:ln>
              <a:noFill/>
            </a:ln>
          </p:spPr>
          <p:txBody>
            <a:bodyPr spcFirstLastPara="1" wrap="square" lIns="64000" tIns="64000" rIns="64000" bIns="64000" anchor="ctr" anchorCtr="0">
              <a:noAutofit/>
            </a:bodyPr>
            <a:lstStyle/>
            <a:p>
              <a:pPr marL="0" marR="0" lvl="0" indent="0" algn="l" rtl="0">
                <a:lnSpc>
                  <a:spcPct val="90000"/>
                </a:lnSpc>
                <a:spcBef>
                  <a:spcPts val="0"/>
                </a:spcBef>
                <a:spcAft>
                  <a:spcPts val="0"/>
                </a:spcAft>
                <a:buClr>
                  <a:srgbClr val="000000"/>
                </a:buClr>
                <a:buSzPts val="900"/>
                <a:buFont typeface="Arial"/>
                <a:buNone/>
              </a:pPr>
              <a:r>
                <a:rPr lang="en" sz="900" b="0" i="0" u="none" strike="noStrike" cap="none">
                  <a:solidFill>
                    <a:srgbClr val="003380"/>
                  </a:solidFill>
                  <a:latin typeface="Lato"/>
                  <a:ea typeface="Lato"/>
                  <a:cs typeface="Lato"/>
                  <a:sym typeface="Lato"/>
                </a:rPr>
                <a:t>Pioneering in Areas with Limited Research</a:t>
              </a:r>
              <a:endParaRPr/>
            </a:p>
          </p:txBody>
        </p:sp>
      </p:grpSp>
      <p:sp>
        <p:nvSpPr>
          <p:cNvPr id="319" name="Google Shape;319;p29"/>
          <p:cNvSpPr txBox="1"/>
          <p:nvPr/>
        </p:nvSpPr>
        <p:spPr>
          <a:xfrm>
            <a:off x="1222225" y="3924550"/>
            <a:ext cx="7038900" cy="61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1300">
                <a:solidFill>
                  <a:schemeClr val="lt1"/>
                </a:solidFill>
                <a:latin typeface="Lato"/>
                <a:ea typeface="Lato"/>
                <a:cs typeface="Lato"/>
                <a:sym typeface="Lato"/>
              </a:rPr>
              <a:t>Success is measured by the tool’s accuracy in analysis and by how well it can summarize an attacker’s potential mindset in engineering any given malware sample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0"/>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Research Plan Summary</a:t>
            </a:r>
            <a:endParaRPr/>
          </a:p>
        </p:txBody>
      </p:sp>
      <p:pic>
        <p:nvPicPr>
          <p:cNvPr id="325" name="Google Shape;325;p30"/>
          <p:cNvPicPr preferRelativeResize="0"/>
          <p:nvPr/>
        </p:nvPicPr>
        <p:blipFill rotWithShape="1">
          <a:blip r:embed="rId3">
            <a:alphaModFix/>
          </a:blip>
          <a:srcRect/>
          <a:stretch/>
        </p:blipFill>
        <p:spPr>
          <a:xfrm>
            <a:off x="497563" y="4714950"/>
            <a:ext cx="8148867" cy="359950"/>
          </a:xfrm>
          <a:prstGeom prst="rect">
            <a:avLst/>
          </a:prstGeom>
          <a:noFill/>
          <a:ln>
            <a:noFill/>
          </a:ln>
        </p:spPr>
      </p:pic>
      <p:pic>
        <p:nvPicPr>
          <p:cNvPr id="326" name="Google Shape;326;p30"/>
          <p:cNvPicPr preferRelativeResize="0"/>
          <p:nvPr/>
        </p:nvPicPr>
        <p:blipFill rotWithShape="1">
          <a:blip r:embed="rId4">
            <a:alphaModFix/>
          </a:blip>
          <a:srcRect/>
          <a:stretch/>
        </p:blipFill>
        <p:spPr>
          <a:xfrm>
            <a:off x="1087700" y="932150"/>
            <a:ext cx="4497074" cy="3718726"/>
          </a:xfrm>
          <a:prstGeom prst="rect">
            <a:avLst/>
          </a:prstGeom>
          <a:noFill/>
          <a:ln>
            <a:noFill/>
          </a:ln>
        </p:spPr>
      </p:pic>
      <p:sp>
        <p:nvSpPr>
          <p:cNvPr id="327" name="Google Shape;327;p30"/>
          <p:cNvSpPr txBox="1"/>
          <p:nvPr/>
        </p:nvSpPr>
        <p:spPr>
          <a:xfrm>
            <a:off x="5635425" y="932150"/>
            <a:ext cx="3335100" cy="2929800"/>
          </a:xfrm>
          <a:prstGeom prst="rect">
            <a:avLst/>
          </a:prstGeom>
          <a:noFill/>
          <a:ln>
            <a:noFill/>
          </a:ln>
        </p:spPr>
        <p:txBody>
          <a:bodyPr spcFirstLastPara="1" wrap="square" lIns="91425" tIns="91425" rIns="91425" bIns="91425" anchor="t" anchorCtr="0">
            <a:spAutoFit/>
          </a:bodyPr>
          <a:lstStyle/>
          <a:p>
            <a:pPr marL="457200" marR="0" lvl="0" indent="-311150" algn="l" rtl="0">
              <a:lnSpc>
                <a:spcPct val="100000"/>
              </a:lnSpc>
              <a:spcBef>
                <a:spcPts val="0"/>
              </a:spcBef>
              <a:spcAft>
                <a:spcPts val="0"/>
              </a:spcAft>
              <a:buClr>
                <a:schemeClr val="lt1"/>
              </a:buClr>
              <a:buSzPts val="1300"/>
              <a:buFont typeface="Lato"/>
              <a:buChar char="●"/>
            </a:pPr>
            <a:r>
              <a:rPr lang="en" sz="1300" b="0" i="0" u="none" strike="noStrike" cap="none">
                <a:solidFill>
                  <a:schemeClr val="lt1"/>
                </a:solidFill>
                <a:latin typeface="Lato"/>
                <a:ea typeface="Lato"/>
                <a:cs typeface="Lato"/>
                <a:sym typeface="Lato"/>
              </a:rPr>
              <a:t>Four-Phased Approach</a:t>
            </a:r>
            <a:endParaRPr sz="1300" b="0" i="0" u="none" strike="noStrike" cap="none">
              <a:solidFill>
                <a:schemeClr val="lt1"/>
              </a:solidFill>
              <a:latin typeface="Lato"/>
              <a:ea typeface="Lato"/>
              <a:cs typeface="Lato"/>
              <a:sym typeface="Lato"/>
            </a:endParaRPr>
          </a:p>
          <a:p>
            <a:pPr marL="914400" marR="0" lvl="1" indent="-304800" algn="l" rtl="0">
              <a:lnSpc>
                <a:spcPct val="100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1st Phase - Research</a:t>
            </a:r>
            <a:endParaRPr sz="1200" b="0" i="0" u="none" strike="noStrike" cap="none">
              <a:solidFill>
                <a:schemeClr val="lt1"/>
              </a:solidFill>
              <a:latin typeface="Lato"/>
              <a:ea typeface="Lato"/>
              <a:cs typeface="Lato"/>
              <a:sym typeface="Lato"/>
            </a:endParaRPr>
          </a:p>
          <a:p>
            <a:pPr marL="914400" marR="0" lvl="1" indent="-304800" algn="l" rtl="0">
              <a:lnSpc>
                <a:spcPct val="100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2nd Phase - Implement Ground Truth</a:t>
            </a:r>
            <a:endParaRPr sz="1200" b="0" i="0" u="none" strike="noStrike" cap="none">
              <a:solidFill>
                <a:schemeClr val="lt1"/>
              </a:solidFill>
              <a:latin typeface="Lato"/>
              <a:ea typeface="Lato"/>
              <a:cs typeface="Lato"/>
              <a:sym typeface="Lato"/>
            </a:endParaRPr>
          </a:p>
          <a:p>
            <a:pPr marL="914400" marR="0" lvl="1" indent="-304800" algn="l" rtl="0">
              <a:lnSpc>
                <a:spcPct val="100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3rd Phase - Implement Tool Prototype</a:t>
            </a:r>
            <a:endParaRPr sz="1200" b="0" i="0" u="none" strike="noStrike" cap="none">
              <a:solidFill>
                <a:schemeClr val="lt1"/>
              </a:solidFill>
              <a:latin typeface="Lato"/>
              <a:ea typeface="Lato"/>
              <a:cs typeface="Lato"/>
              <a:sym typeface="Lato"/>
            </a:endParaRPr>
          </a:p>
          <a:p>
            <a:pPr marL="914400" marR="0" lvl="1" indent="-304800" algn="l" rtl="0">
              <a:lnSpc>
                <a:spcPct val="100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4th Phase - Fine-tune and Shape Tool Output</a:t>
            </a:r>
            <a:endParaRPr sz="1200" b="0" i="0" u="none" strike="noStrike" cap="none">
              <a:solidFill>
                <a:schemeClr val="lt1"/>
              </a:solidFill>
              <a:latin typeface="Lato"/>
              <a:ea typeface="Lato"/>
              <a:cs typeface="Lato"/>
              <a:sym typeface="Lato"/>
            </a:endParaRPr>
          </a:p>
          <a:p>
            <a:pPr marL="457200" marR="0" lvl="0" indent="-311150" algn="l" rtl="0">
              <a:lnSpc>
                <a:spcPct val="100000"/>
              </a:lnSpc>
              <a:spcBef>
                <a:spcPts val="1000"/>
              </a:spcBef>
              <a:spcAft>
                <a:spcPts val="0"/>
              </a:spcAft>
              <a:buClr>
                <a:schemeClr val="lt1"/>
              </a:buClr>
              <a:buSzPts val="1300"/>
              <a:buFont typeface="Lato"/>
              <a:buChar char="●"/>
            </a:pPr>
            <a:r>
              <a:rPr lang="en" sz="1300" b="0" i="0" u="none" strike="noStrike" cap="none">
                <a:solidFill>
                  <a:schemeClr val="lt1"/>
                </a:solidFill>
                <a:latin typeface="Lato"/>
                <a:ea typeface="Lato"/>
                <a:cs typeface="Lato"/>
                <a:sym typeface="Lato"/>
              </a:rPr>
              <a:t>Team is currently in Phase 2</a:t>
            </a:r>
            <a:endParaRPr sz="1300" b="0" i="0" u="none" strike="noStrike" cap="none">
              <a:solidFill>
                <a:schemeClr val="lt1"/>
              </a:solidFill>
              <a:latin typeface="Lato"/>
              <a:ea typeface="Lato"/>
              <a:cs typeface="Lato"/>
              <a:sym typeface="Lato"/>
            </a:endParaRPr>
          </a:p>
          <a:p>
            <a:pPr marL="914400" marR="0" lvl="1" indent="-304800" algn="l" rtl="0">
              <a:lnSpc>
                <a:spcPct val="100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Phase 1 Research is complete</a:t>
            </a:r>
            <a:endParaRPr sz="1200" b="0" i="0" u="none" strike="noStrike" cap="none">
              <a:solidFill>
                <a:schemeClr val="lt1"/>
              </a:solidFill>
              <a:latin typeface="Lato"/>
              <a:ea typeface="Lato"/>
              <a:cs typeface="Lato"/>
              <a:sym typeface="Lato"/>
            </a:endParaRPr>
          </a:p>
          <a:p>
            <a:pPr marL="914400" marR="0" lvl="1" indent="-304800" algn="l" rtl="0">
              <a:lnSpc>
                <a:spcPct val="100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Phase 2 is in-progress; progress breakdown to come</a:t>
            </a:r>
            <a:endParaRPr sz="1200" b="0" i="0" u="none" strike="noStrike" cap="none">
              <a:solidFill>
                <a:schemeClr val="lt1"/>
              </a:solidFill>
              <a:latin typeface="Lato"/>
              <a:ea typeface="Lato"/>
              <a:cs typeface="Lato"/>
              <a:sym typeface="Lato"/>
            </a:endParaRPr>
          </a:p>
          <a:p>
            <a:pPr marL="914400" marR="0" lvl="1" indent="-304800" algn="l" rtl="0">
              <a:lnSpc>
                <a:spcPct val="100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Phases 3 and 4 have not been started</a:t>
            </a:r>
            <a:endParaRPr sz="1200" b="0" i="0" u="none" strike="noStrike" cap="none">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1"/>
          <p:cNvSpPr txBox="1">
            <a:spLocks noGrp="1"/>
          </p:cNvSpPr>
          <p:nvPr>
            <p:ph type="title"/>
          </p:nvPr>
        </p:nvSpPr>
        <p:spPr>
          <a:xfrm>
            <a:off x="1297500" y="393750"/>
            <a:ext cx="7038900" cy="652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Project Deliverables</a:t>
            </a:r>
            <a:endParaRPr/>
          </a:p>
        </p:txBody>
      </p:sp>
      <p:pic>
        <p:nvPicPr>
          <p:cNvPr id="333" name="Google Shape;333;p31"/>
          <p:cNvPicPr preferRelativeResize="0"/>
          <p:nvPr/>
        </p:nvPicPr>
        <p:blipFill rotWithShape="1">
          <a:blip r:embed="rId3">
            <a:alphaModFix/>
          </a:blip>
          <a:srcRect/>
          <a:stretch/>
        </p:blipFill>
        <p:spPr>
          <a:xfrm>
            <a:off x="497563" y="4648600"/>
            <a:ext cx="8148867" cy="359950"/>
          </a:xfrm>
          <a:prstGeom prst="rect">
            <a:avLst/>
          </a:prstGeom>
          <a:noFill/>
          <a:ln>
            <a:noFill/>
          </a:ln>
        </p:spPr>
      </p:pic>
      <p:pic>
        <p:nvPicPr>
          <p:cNvPr id="334" name="Google Shape;334;p31"/>
          <p:cNvPicPr preferRelativeResize="0"/>
          <p:nvPr/>
        </p:nvPicPr>
        <p:blipFill rotWithShape="1">
          <a:blip r:embed="rId4">
            <a:alphaModFix/>
          </a:blip>
          <a:srcRect/>
          <a:stretch/>
        </p:blipFill>
        <p:spPr>
          <a:xfrm>
            <a:off x="152400" y="2440600"/>
            <a:ext cx="8839199" cy="1954975"/>
          </a:xfrm>
          <a:prstGeom prst="rect">
            <a:avLst/>
          </a:prstGeom>
          <a:noFill/>
          <a:ln>
            <a:noFill/>
          </a:ln>
        </p:spPr>
      </p:pic>
      <p:sp>
        <p:nvSpPr>
          <p:cNvPr id="335" name="Google Shape;335;p31"/>
          <p:cNvSpPr txBox="1"/>
          <p:nvPr/>
        </p:nvSpPr>
        <p:spPr>
          <a:xfrm>
            <a:off x="1229800" y="940450"/>
            <a:ext cx="6901500" cy="1185300"/>
          </a:xfrm>
          <a:prstGeom prst="rect">
            <a:avLst/>
          </a:prstGeom>
          <a:noFill/>
          <a:ln>
            <a:noFill/>
          </a:ln>
        </p:spPr>
        <p:txBody>
          <a:bodyPr spcFirstLastPara="1" wrap="square" lIns="91425" tIns="91425" rIns="91425" bIns="91425" anchor="t" anchorCtr="0">
            <a:spAutoFit/>
          </a:bodyPr>
          <a:lstStyle/>
          <a:p>
            <a:pPr marL="457200" marR="0" lvl="0" indent="-311150" algn="l" rtl="0">
              <a:lnSpc>
                <a:spcPct val="100000"/>
              </a:lnSpc>
              <a:spcBef>
                <a:spcPts val="0"/>
              </a:spcBef>
              <a:spcAft>
                <a:spcPts val="0"/>
              </a:spcAft>
              <a:buClr>
                <a:schemeClr val="lt1"/>
              </a:buClr>
              <a:buSzPts val="1300"/>
              <a:buFont typeface="Lato"/>
              <a:buChar char="●"/>
            </a:pPr>
            <a:r>
              <a:rPr lang="en" sz="1300" b="0" i="0" u="none" strike="noStrike" cap="none">
                <a:solidFill>
                  <a:schemeClr val="lt1"/>
                </a:solidFill>
                <a:latin typeface="Lato"/>
                <a:ea typeface="Lato"/>
                <a:cs typeface="Lato"/>
                <a:sym typeface="Lato"/>
              </a:rPr>
              <a:t>The deliverable summary is divided into INSuRE tasks and project-specific tasks</a:t>
            </a:r>
            <a:endParaRPr sz="1300" b="0" i="0" u="none" strike="noStrike" cap="none">
              <a:solidFill>
                <a:schemeClr val="lt1"/>
              </a:solidFill>
              <a:latin typeface="Lato"/>
              <a:ea typeface="Lato"/>
              <a:cs typeface="Lato"/>
              <a:sym typeface="Lato"/>
            </a:endParaRPr>
          </a:p>
          <a:p>
            <a:pPr marL="914400" marR="0" lvl="1" indent="-311150" algn="l" rtl="0">
              <a:lnSpc>
                <a:spcPct val="100000"/>
              </a:lnSpc>
              <a:spcBef>
                <a:spcPts val="0"/>
              </a:spcBef>
              <a:spcAft>
                <a:spcPts val="0"/>
              </a:spcAft>
              <a:buClr>
                <a:schemeClr val="lt1"/>
              </a:buClr>
              <a:buSzPts val="1300"/>
              <a:buFont typeface="Lato"/>
              <a:buChar char="○"/>
            </a:pPr>
            <a:r>
              <a:rPr lang="en" sz="1300" b="0" i="0" u="none" strike="noStrike" cap="none">
                <a:solidFill>
                  <a:schemeClr val="lt1"/>
                </a:solidFill>
                <a:latin typeface="Lato"/>
                <a:ea typeface="Lato"/>
                <a:cs typeface="Lato"/>
                <a:sym typeface="Lato"/>
              </a:rPr>
              <a:t>Six INSuRE Tasks</a:t>
            </a:r>
            <a:endParaRPr sz="1300" b="0" i="0" u="none" strike="noStrike" cap="none">
              <a:solidFill>
                <a:schemeClr val="lt1"/>
              </a:solidFill>
              <a:latin typeface="Lato"/>
              <a:ea typeface="Lato"/>
              <a:cs typeface="Lato"/>
              <a:sym typeface="Lato"/>
            </a:endParaRPr>
          </a:p>
          <a:p>
            <a:pPr marL="1371600" marR="0" lvl="2" indent="-311150" algn="l" rtl="0">
              <a:lnSpc>
                <a:spcPct val="100000"/>
              </a:lnSpc>
              <a:spcBef>
                <a:spcPts val="0"/>
              </a:spcBef>
              <a:spcAft>
                <a:spcPts val="0"/>
              </a:spcAft>
              <a:buClr>
                <a:schemeClr val="lt1"/>
              </a:buClr>
              <a:buSzPts val="1300"/>
              <a:buFont typeface="Lato"/>
              <a:buChar char="■"/>
            </a:pPr>
            <a:r>
              <a:rPr lang="en" sz="1300" b="0" i="0" u="none" strike="noStrike" cap="none">
                <a:solidFill>
                  <a:schemeClr val="lt1"/>
                </a:solidFill>
                <a:latin typeface="Lato"/>
                <a:ea typeface="Lato"/>
                <a:cs typeface="Lato"/>
                <a:sym typeface="Lato"/>
              </a:rPr>
              <a:t>1 Complete, 2 In-Progress, and 3 Not Started</a:t>
            </a:r>
            <a:endParaRPr sz="1300" b="0" i="0" u="none" strike="noStrike" cap="none">
              <a:solidFill>
                <a:schemeClr val="lt1"/>
              </a:solidFill>
              <a:latin typeface="Lato"/>
              <a:ea typeface="Lato"/>
              <a:cs typeface="Lato"/>
              <a:sym typeface="Lato"/>
            </a:endParaRPr>
          </a:p>
          <a:p>
            <a:pPr marL="914400" marR="0" lvl="1" indent="-311150" algn="l" rtl="0">
              <a:lnSpc>
                <a:spcPct val="100000"/>
              </a:lnSpc>
              <a:spcBef>
                <a:spcPts val="0"/>
              </a:spcBef>
              <a:spcAft>
                <a:spcPts val="0"/>
              </a:spcAft>
              <a:buClr>
                <a:schemeClr val="lt1"/>
              </a:buClr>
              <a:buSzPts val="1300"/>
              <a:buFont typeface="Lato"/>
              <a:buChar char="○"/>
            </a:pPr>
            <a:r>
              <a:rPr lang="en" sz="1300" b="0" i="0" u="none" strike="noStrike" cap="none">
                <a:solidFill>
                  <a:schemeClr val="lt1"/>
                </a:solidFill>
                <a:latin typeface="Lato"/>
                <a:ea typeface="Lato"/>
                <a:cs typeface="Lato"/>
                <a:sym typeface="Lato"/>
              </a:rPr>
              <a:t>Two Project-Specific Tasks</a:t>
            </a:r>
            <a:endParaRPr sz="1300" b="0" i="0" u="none" strike="noStrike" cap="none">
              <a:solidFill>
                <a:schemeClr val="lt1"/>
              </a:solidFill>
              <a:latin typeface="Lato"/>
              <a:ea typeface="Lato"/>
              <a:cs typeface="Lato"/>
              <a:sym typeface="Lato"/>
            </a:endParaRPr>
          </a:p>
          <a:p>
            <a:pPr marL="1371600" marR="0" lvl="2" indent="-311150" algn="l" rtl="0">
              <a:lnSpc>
                <a:spcPct val="100000"/>
              </a:lnSpc>
              <a:spcBef>
                <a:spcPts val="0"/>
              </a:spcBef>
              <a:spcAft>
                <a:spcPts val="0"/>
              </a:spcAft>
              <a:buClr>
                <a:schemeClr val="lt1"/>
              </a:buClr>
              <a:buSzPts val="1300"/>
              <a:buFont typeface="Lato"/>
              <a:buChar char="■"/>
            </a:pPr>
            <a:r>
              <a:rPr lang="en" sz="1300" b="0" i="0" u="none" strike="noStrike" cap="none">
                <a:solidFill>
                  <a:schemeClr val="lt1"/>
                </a:solidFill>
                <a:latin typeface="Lato"/>
                <a:ea typeface="Lato"/>
                <a:cs typeface="Lato"/>
                <a:sym typeface="Lato"/>
              </a:rPr>
              <a:t>1 In-Progress and 1 Not-Started</a:t>
            </a:r>
            <a:endParaRPr sz="1300" b="0" i="0" u="none" strike="noStrike" cap="none">
              <a:solidFill>
                <a:schemeClr val="lt1"/>
              </a:solidFill>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4"/>
                                        </p:tgtEl>
                                        <p:attrNameLst>
                                          <p:attrName>style.visibility</p:attrName>
                                        </p:attrNameLst>
                                      </p:cBhvr>
                                      <p:to>
                                        <p:strVal val="visible"/>
                                      </p:to>
                                    </p:set>
                                    <p:animEffect transition="in" filter="fade">
                                      <p:cBhvr>
                                        <p:cTn id="7" dur="1000"/>
                                        <p:tgtEl>
                                          <p:spTgt spid="3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4"/>
                                        </p:tgtEl>
                                        <p:attrNameLst>
                                          <p:attrName>style.visibility</p:attrName>
                                        </p:attrNameLst>
                                      </p:cBhvr>
                                      <p:to>
                                        <p:strVal val="visible"/>
                                      </p:to>
                                    </p:set>
                                    <p:animEffect transition="in" filter="fade">
                                      <p:cBhvr>
                                        <p:cTn id="12" dur="1000"/>
                                        <p:tgtEl>
                                          <p:spTgt spid="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2"/>
          <p:cNvSpPr txBox="1">
            <a:spLocks noGrp="1"/>
          </p:cNvSpPr>
          <p:nvPr>
            <p:ph type="title"/>
          </p:nvPr>
        </p:nvSpPr>
        <p:spPr>
          <a:xfrm>
            <a:off x="891175" y="182225"/>
            <a:ext cx="7038900" cy="650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Progress to Date Overview</a:t>
            </a:r>
            <a:endParaRPr/>
          </a:p>
        </p:txBody>
      </p:sp>
      <p:pic>
        <p:nvPicPr>
          <p:cNvPr id="341" name="Google Shape;341;p32"/>
          <p:cNvPicPr preferRelativeResize="0"/>
          <p:nvPr/>
        </p:nvPicPr>
        <p:blipFill rotWithShape="1">
          <a:blip r:embed="rId3">
            <a:alphaModFix/>
          </a:blip>
          <a:srcRect/>
          <a:stretch/>
        </p:blipFill>
        <p:spPr>
          <a:xfrm>
            <a:off x="497563" y="4738450"/>
            <a:ext cx="8148867" cy="359950"/>
          </a:xfrm>
          <a:prstGeom prst="rect">
            <a:avLst/>
          </a:prstGeom>
          <a:noFill/>
          <a:ln>
            <a:noFill/>
          </a:ln>
        </p:spPr>
      </p:pic>
      <p:pic>
        <p:nvPicPr>
          <p:cNvPr id="342" name="Google Shape;342;p32"/>
          <p:cNvPicPr preferRelativeResize="0"/>
          <p:nvPr/>
        </p:nvPicPr>
        <p:blipFill rotWithShape="1">
          <a:blip r:embed="rId4">
            <a:alphaModFix/>
          </a:blip>
          <a:srcRect l="257" r="258"/>
          <a:stretch/>
        </p:blipFill>
        <p:spPr>
          <a:xfrm>
            <a:off x="1064513" y="861288"/>
            <a:ext cx="7014985" cy="3420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3"/>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Progress to Date: Phase 2 Requirements</a:t>
            </a:r>
            <a:endParaRPr/>
          </a:p>
        </p:txBody>
      </p:sp>
      <p:sp>
        <p:nvSpPr>
          <p:cNvPr id="348" name="Google Shape;348;p33"/>
          <p:cNvSpPr txBox="1"/>
          <p:nvPr/>
        </p:nvSpPr>
        <p:spPr>
          <a:xfrm>
            <a:off x="2944358" y="910375"/>
            <a:ext cx="3311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400" b="0" i="0" u="none" strike="noStrike" cap="none">
                <a:solidFill>
                  <a:schemeClr val="lt1"/>
                </a:solidFill>
                <a:latin typeface="Lato"/>
                <a:ea typeface="Lato"/>
                <a:cs typeface="Lato"/>
                <a:sym typeface="Lato"/>
              </a:rPr>
              <a:t>Malware </a:t>
            </a:r>
            <a:r>
              <a:rPr lang="en">
                <a:solidFill>
                  <a:schemeClr val="lt1"/>
                </a:solidFill>
                <a:latin typeface="Lato"/>
                <a:ea typeface="Lato"/>
                <a:cs typeface="Lato"/>
                <a:sym typeface="Lato"/>
              </a:rPr>
              <a:t>c</a:t>
            </a:r>
            <a:r>
              <a:rPr lang="en" sz="1400" b="0" i="0" u="none" strike="noStrike" cap="none">
                <a:solidFill>
                  <a:schemeClr val="lt1"/>
                </a:solidFill>
                <a:latin typeface="Lato"/>
                <a:ea typeface="Lato"/>
                <a:cs typeface="Lato"/>
                <a:sym typeface="Lato"/>
              </a:rPr>
              <a:t>apabilities requested by TD</a:t>
            </a:r>
            <a:endParaRPr sz="1400" b="0" i="0" u="none" strike="noStrike" cap="none">
              <a:solidFill>
                <a:schemeClr val="lt1"/>
              </a:solidFill>
              <a:latin typeface="Lato"/>
              <a:ea typeface="Lato"/>
              <a:cs typeface="Lato"/>
              <a:sym typeface="Lato"/>
            </a:endParaRPr>
          </a:p>
        </p:txBody>
      </p:sp>
      <p:pic>
        <p:nvPicPr>
          <p:cNvPr id="349" name="Google Shape;349;p33"/>
          <p:cNvPicPr preferRelativeResize="0"/>
          <p:nvPr/>
        </p:nvPicPr>
        <p:blipFill rotWithShape="1">
          <a:blip r:embed="rId3">
            <a:alphaModFix/>
          </a:blip>
          <a:srcRect/>
          <a:stretch/>
        </p:blipFill>
        <p:spPr>
          <a:xfrm>
            <a:off x="497563" y="4631150"/>
            <a:ext cx="8148867" cy="359950"/>
          </a:xfrm>
          <a:prstGeom prst="rect">
            <a:avLst/>
          </a:prstGeom>
          <a:noFill/>
          <a:ln>
            <a:noFill/>
          </a:ln>
        </p:spPr>
      </p:pic>
      <p:grpSp>
        <p:nvGrpSpPr>
          <p:cNvPr id="350" name="Google Shape;350;p33"/>
          <p:cNvGrpSpPr/>
          <p:nvPr/>
        </p:nvGrpSpPr>
        <p:grpSpPr>
          <a:xfrm>
            <a:off x="2755805" y="1310581"/>
            <a:ext cx="3688192" cy="3056921"/>
            <a:chOff x="1180294" y="2731"/>
            <a:chExt cx="3688192" cy="3056921"/>
          </a:xfrm>
        </p:grpSpPr>
        <p:sp>
          <p:nvSpPr>
            <p:cNvPr id="351" name="Google Shape;351;p33"/>
            <p:cNvSpPr/>
            <p:nvPr/>
          </p:nvSpPr>
          <p:spPr>
            <a:xfrm>
              <a:off x="1180294" y="2731"/>
              <a:ext cx="1639196" cy="526616"/>
            </a:xfrm>
            <a:prstGeom prst="roundRect">
              <a:avLst>
                <a:gd name="adj" fmla="val 10000"/>
              </a:avLst>
            </a:prstGeom>
            <a:solidFill>
              <a:srgbClr val="0044AC"/>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3"/>
            <p:cNvSpPr txBox="1"/>
            <p:nvPr/>
          </p:nvSpPr>
          <p:spPr>
            <a:xfrm>
              <a:off x="1195718" y="18155"/>
              <a:ext cx="1608348" cy="495768"/>
            </a:xfrm>
            <a:prstGeom prst="rect">
              <a:avLst/>
            </a:prstGeom>
            <a:noFill/>
            <a:ln>
              <a:noFill/>
            </a:ln>
          </p:spPr>
          <p:txBody>
            <a:bodyPr spcFirstLastPara="1" wrap="square" lIns="30475" tIns="20300" rIns="30475" bIns="20300" anchor="ctr" anchorCtr="0">
              <a:noAutofit/>
            </a:bodyPr>
            <a:lstStyle/>
            <a:p>
              <a:pPr marL="0" marR="0" lvl="0" indent="0" algn="ctr" rtl="0">
                <a:lnSpc>
                  <a:spcPct val="90000"/>
                </a:lnSpc>
                <a:spcBef>
                  <a:spcPts val="0"/>
                </a:spcBef>
                <a:spcAft>
                  <a:spcPts val="0"/>
                </a:spcAft>
                <a:buClr>
                  <a:srgbClr val="000000"/>
                </a:buClr>
                <a:buSzPts val="1600"/>
                <a:buFont typeface="Arial"/>
                <a:buNone/>
              </a:pPr>
              <a:r>
                <a:rPr lang="en" sz="1600" b="0" i="0" u="none" strike="noStrike" cap="none">
                  <a:solidFill>
                    <a:schemeClr val="lt1"/>
                  </a:solidFill>
                  <a:latin typeface="Lato"/>
                  <a:ea typeface="Lato"/>
                  <a:cs typeface="Lato"/>
                  <a:sym typeface="Lato"/>
                </a:rPr>
                <a:t>Remote Access</a:t>
              </a:r>
              <a:endParaRPr/>
            </a:p>
          </p:txBody>
        </p:sp>
        <p:sp>
          <p:nvSpPr>
            <p:cNvPr id="353" name="Google Shape;353;p33"/>
            <p:cNvSpPr/>
            <p:nvPr/>
          </p:nvSpPr>
          <p:spPr>
            <a:xfrm>
              <a:off x="1344214" y="529348"/>
              <a:ext cx="163919" cy="378166"/>
            </a:xfrm>
            <a:custGeom>
              <a:avLst/>
              <a:gdLst/>
              <a:ahLst/>
              <a:cxnLst/>
              <a:rect l="l" t="t" r="r" b="b"/>
              <a:pathLst>
                <a:path w="120000" h="120000" extrusionOk="0">
                  <a:moveTo>
                    <a:pt x="0" y="0"/>
                  </a:moveTo>
                  <a:lnTo>
                    <a:pt x="0" y="120000"/>
                  </a:lnTo>
                  <a:lnTo>
                    <a:pt x="120000" y="120000"/>
                  </a:lnTo>
                </a:path>
              </a:pathLst>
            </a:custGeom>
            <a:noFill/>
            <a:ln w="25400" cap="flat" cmpd="sng">
              <a:solidFill>
                <a:srgbClr val="003688"/>
              </a:solidFill>
              <a:prstDash val="solid"/>
              <a:round/>
              <a:headEnd type="none" w="sm" len="sm"/>
              <a:tailEnd type="none" w="sm" len="sm"/>
            </a:ln>
          </p:spPr>
        </p:sp>
        <p:sp>
          <p:nvSpPr>
            <p:cNvPr id="354" name="Google Shape;354;p33"/>
            <p:cNvSpPr/>
            <p:nvPr/>
          </p:nvSpPr>
          <p:spPr>
            <a:xfrm>
              <a:off x="1508134" y="734247"/>
              <a:ext cx="1311356" cy="346534"/>
            </a:xfrm>
            <a:prstGeom prst="roundRect">
              <a:avLst>
                <a:gd name="adj" fmla="val 10000"/>
              </a:avLst>
            </a:prstGeom>
            <a:solidFill>
              <a:schemeClr val="lt1">
                <a:alpha val="89803"/>
              </a:schemeClr>
            </a:solidFill>
            <a:ln w="25400" cap="flat" cmpd="sng">
              <a:solidFill>
                <a:srgbClr val="0044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3"/>
            <p:cNvSpPr txBox="1"/>
            <p:nvPr/>
          </p:nvSpPr>
          <p:spPr>
            <a:xfrm>
              <a:off x="1518284" y="744397"/>
              <a:ext cx="1291056" cy="326234"/>
            </a:xfrm>
            <a:prstGeom prst="rect">
              <a:avLst/>
            </a:prstGeom>
            <a:noFill/>
            <a:ln>
              <a:noFill/>
            </a:ln>
          </p:spPr>
          <p:txBody>
            <a:bodyPr spcFirstLastPara="1" wrap="square" lIns="17125" tIns="11425" rIns="17125" bIns="11425" anchor="ctr" anchorCtr="0">
              <a:noAutofit/>
            </a:bodyPr>
            <a:lstStyle/>
            <a:p>
              <a:pPr marL="0" marR="0" lvl="0" indent="0" algn="ctr" rtl="0">
                <a:lnSpc>
                  <a:spcPct val="90000"/>
                </a:lnSpc>
                <a:spcBef>
                  <a:spcPts val="0"/>
                </a:spcBef>
                <a:spcAft>
                  <a:spcPts val="0"/>
                </a:spcAft>
                <a:buClr>
                  <a:srgbClr val="000000"/>
                </a:buClr>
                <a:buSzPts val="900"/>
                <a:buFont typeface="Arial"/>
                <a:buNone/>
              </a:pPr>
              <a:r>
                <a:rPr lang="en" sz="900" b="0" i="0" u="none" strike="noStrike" cap="none">
                  <a:solidFill>
                    <a:srgbClr val="000000"/>
                  </a:solidFill>
                  <a:latin typeface="Lato"/>
                  <a:ea typeface="Lato"/>
                  <a:cs typeface="Lato"/>
                  <a:sym typeface="Lato"/>
                </a:rPr>
                <a:t>View files/directories</a:t>
              </a:r>
              <a:endParaRPr/>
            </a:p>
          </p:txBody>
        </p:sp>
        <p:sp>
          <p:nvSpPr>
            <p:cNvPr id="356" name="Google Shape;356;p33"/>
            <p:cNvSpPr/>
            <p:nvPr/>
          </p:nvSpPr>
          <p:spPr>
            <a:xfrm>
              <a:off x="1344214" y="529348"/>
              <a:ext cx="163919" cy="872884"/>
            </a:xfrm>
            <a:custGeom>
              <a:avLst/>
              <a:gdLst/>
              <a:ahLst/>
              <a:cxnLst/>
              <a:rect l="l" t="t" r="r" b="b"/>
              <a:pathLst>
                <a:path w="120000" h="120000" extrusionOk="0">
                  <a:moveTo>
                    <a:pt x="0" y="0"/>
                  </a:moveTo>
                  <a:lnTo>
                    <a:pt x="0" y="120000"/>
                  </a:lnTo>
                  <a:lnTo>
                    <a:pt x="120000" y="120000"/>
                  </a:lnTo>
                </a:path>
              </a:pathLst>
            </a:custGeom>
            <a:noFill/>
            <a:ln w="25400" cap="flat" cmpd="sng">
              <a:solidFill>
                <a:srgbClr val="003688"/>
              </a:solidFill>
              <a:prstDash val="solid"/>
              <a:round/>
              <a:headEnd type="none" w="sm" len="sm"/>
              <a:tailEnd type="none" w="sm" len="sm"/>
            </a:ln>
          </p:spPr>
        </p:sp>
        <p:sp>
          <p:nvSpPr>
            <p:cNvPr id="357" name="Google Shape;357;p33"/>
            <p:cNvSpPr/>
            <p:nvPr/>
          </p:nvSpPr>
          <p:spPr>
            <a:xfrm>
              <a:off x="1508134" y="1228965"/>
              <a:ext cx="1311356" cy="346534"/>
            </a:xfrm>
            <a:prstGeom prst="roundRect">
              <a:avLst>
                <a:gd name="adj" fmla="val 10000"/>
              </a:avLst>
            </a:prstGeom>
            <a:solidFill>
              <a:schemeClr val="lt1">
                <a:alpha val="89803"/>
              </a:schemeClr>
            </a:solidFill>
            <a:ln w="25400" cap="flat" cmpd="sng">
              <a:solidFill>
                <a:srgbClr val="0044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3"/>
            <p:cNvSpPr txBox="1"/>
            <p:nvPr/>
          </p:nvSpPr>
          <p:spPr>
            <a:xfrm>
              <a:off x="1518284" y="1239115"/>
              <a:ext cx="1291056" cy="326234"/>
            </a:xfrm>
            <a:prstGeom prst="rect">
              <a:avLst/>
            </a:prstGeom>
            <a:noFill/>
            <a:ln>
              <a:noFill/>
            </a:ln>
          </p:spPr>
          <p:txBody>
            <a:bodyPr spcFirstLastPara="1" wrap="square" lIns="17125" tIns="11425" rIns="17125" bIns="11425" anchor="ctr" anchorCtr="0">
              <a:noAutofit/>
            </a:bodyPr>
            <a:lstStyle/>
            <a:p>
              <a:pPr marL="0" marR="0" lvl="0" indent="0" algn="ctr" rtl="0">
                <a:lnSpc>
                  <a:spcPct val="90000"/>
                </a:lnSpc>
                <a:spcBef>
                  <a:spcPts val="0"/>
                </a:spcBef>
                <a:spcAft>
                  <a:spcPts val="0"/>
                </a:spcAft>
                <a:buClr>
                  <a:srgbClr val="000000"/>
                </a:buClr>
                <a:buSzPts val="900"/>
                <a:buFont typeface="Arial"/>
                <a:buNone/>
              </a:pPr>
              <a:r>
                <a:rPr lang="en" sz="900" b="0" i="0" u="none" strike="noStrike" cap="none">
                  <a:solidFill>
                    <a:srgbClr val="000000"/>
                  </a:solidFill>
                  <a:latin typeface="Lato"/>
                  <a:ea typeface="Lato"/>
                  <a:cs typeface="Lato"/>
                  <a:sym typeface="Lato"/>
                </a:rPr>
                <a:t>Transfer file </a:t>
              </a:r>
              <a:endParaRPr/>
            </a:p>
            <a:p>
              <a:pPr marL="0" marR="0" lvl="0" indent="0" algn="ctr" rtl="0">
                <a:lnSpc>
                  <a:spcPct val="90000"/>
                </a:lnSpc>
                <a:spcBef>
                  <a:spcPts val="0"/>
                </a:spcBef>
                <a:spcAft>
                  <a:spcPts val="0"/>
                </a:spcAft>
                <a:buClr>
                  <a:srgbClr val="000000"/>
                </a:buClr>
                <a:buSzPts val="900"/>
                <a:buFont typeface="Arial"/>
                <a:buNone/>
              </a:pPr>
              <a:r>
                <a:rPr lang="en" sz="900" b="1" i="0" u="none" strike="noStrike" cap="none">
                  <a:solidFill>
                    <a:srgbClr val="000000"/>
                  </a:solidFill>
                  <a:latin typeface="Lato"/>
                  <a:ea typeface="Lato"/>
                  <a:cs typeface="Lato"/>
                  <a:sym typeface="Lato"/>
                </a:rPr>
                <a:t>from</a:t>
              </a:r>
              <a:r>
                <a:rPr lang="en" sz="900" b="0" i="0" u="none" strike="noStrike" cap="none">
                  <a:solidFill>
                    <a:srgbClr val="000000"/>
                  </a:solidFill>
                  <a:latin typeface="Lato"/>
                  <a:ea typeface="Lato"/>
                  <a:cs typeface="Lato"/>
                  <a:sym typeface="Lato"/>
                </a:rPr>
                <a:t> controller</a:t>
              </a:r>
              <a:endParaRPr/>
            </a:p>
          </p:txBody>
        </p:sp>
        <p:sp>
          <p:nvSpPr>
            <p:cNvPr id="359" name="Google Shape;359;p33"/>
            <p:cNvSpPr/>
            <p:nvPr/>
          </p:nvSpPr>
          <p:spPr>
            <a:xfrm>
              <a:off x="1344214" y="529348"/>
              <a:ext cx="163919" cy="1367601"/>
            </a:xfrm>
            <a:custGeom>
              <a:avLst/>
              <a:gdLst/>
              <a:ahLst/>
              <a:cxnLst/>
              <a:rect l="l" t="t" r="r" b="b"/>
              <a:pathLst>
                <a:path w="120000" h="120000" extrusionOk="0">
                  <a:moveTo>
                    <a:pt x="0" y="0"/>
                  </a:moveTo>
                  <a:lnTo>
                    <a:pt x="0" y="120000"/>
                  </a:lnTo>
                  <a:lnTo>
                    <a:pt x="120000" y="120000"/>
                  </a:lnTo>
                </a:path>
              </a:pathLst>
            </a:custGeom>
            <a:noFill/>
            <a:ln w="25400" cap="flat" cmpd="sng">
              <a:solidFill>
                <a:srgbClr val="003688"/>
              </a:solidFill>
              <a:prstDash val="solid"/>
              <a:round/>
              <a:headEnd type="none" w="sm" len="sm"/>
              <a:tailEnd type="none" w="sm" len="sm"/>
            </a:ln>
          </p:spPr>
        </p:sp>
        <p:sp>
          <p:nvSpPr>
            <p:cNvPr id="360" name="Google Shape;360;p33"/>
            <p:cNvSpPr/>
            <p:nvPr/>
          </p:nvSpPr>
          <p:spPr>
            <a:xfrm>
              <a:off x="1508134" y="1723682"/>
              <a:ext cx="1311356" cy="346534"/>
            </a:xfrm>
            <a:prstGeom prst="roundRect">
              <a:avLst>
                <a:gd name="adj" fmla="val 10000"/>
              </a:avLst>
            </a:prstGeom>
            <a:solidFill>
              <a:schemeClr val="lt1">
                <a:alpha val="89803"/>
              </a:schemeClr>
            </a:solidFill>
            <a:ln w="25400" cap="flat" cmpd="sng">
              <a:solidFill>
                <a:srgbClr val="0044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3"/>
            <p:cNvSpPr txBox="1"/>
            <p:nvPr/>
          </p:nvSpPr>
          <p:spPr>
            <a:xfrm>
              <a:off x="1518284" y="1733832"/>
              <a:ext cx="1291056" cy="326234"/>
            </a:xfrm>
            <a:prstGeom prst="rect">
              <a:avLst/>
            </a:prstGeom>
            <a:noFill/>
            <a:ln>
              <a:noFill/>
            </a:ln>
          </p:spPr>
          <p:txBody>
            <a:bodyPr spcFirstLastPara="1" wrap="square" lIns="17125" tIns="11425" rIns="17125" bIns="11425" anchor="ctr" anchorCtr="0">
              <a:noAutofit/>
            </a:bodyPr>
            <a:lstStyle/>
            <a:p>
              <a:pPr marL="0" marR="0" lvl="0" indent="0" algn="ctr" rtl="0">
                <a:lnSpc>
                  <a:spcPct val="90000"/>
                </a:lnSpc>
                <a:spcBef>
                  <a:spcPts val="0"/>
                </a:spcBef>
                <a:spcAft>
                  <a:spcPts val="0"/>
                </a:spcAft>
                <a:buClr>
                  <a:srgbClr val="000000"/>
                </a:buClr>
                <a:buSzPts val="900"/>
                <a:buFont typeface="Arial"/>
                <a:buNone/>
              </a:pPr>
              <a:r>
                <a:rPr lang="en" sz="900" b="0" i="0" u="none" strike="noStrike" cap="none">
                  <a:solidFill>
                    <a:srgbClr val="000000"/>
                  </a:solidFill>
                  <a:latin typeface="Lato"/>
                  <a:ea typeface="Lato"/>
                  <a:cs typeface="Lato"/>
                  <a:sym typeface="Lato"/>
                </a:rPr>
                <a:t>Transfer file </a:t>
              </a:r>
              <a:endParaRPr/>
            </a:p>
            <a:p>
              <a:pPr marL="0" marR="0" lvl="0" indent="0" algn="ctr" rtl="0">
                <a:lnSpc>
                  <a:spcPct val="90000"/>
                </a:lnSpc>
                <a:spcBef>
                  <a:spcPts val="0"/>
                </a:spcBef>
                <a:spcAft>
                  <a:spcPts val="0"/>
                </a:spcAft>
                <a:buClr>
                  <a:srgbClr val="000000"/>
                </a:buClr>
                <a:buSzPts val="900"/>
                <a:buFont typeface="Arial"/>
                <a:buNone/>
              </a:pPr>
              <a:r>
                <a:rPr lang="en" sz="900" b="1" i="0" u="none" strike="noStrike" cap="none">
                  <a:solidFill>
                    <a:srgbClr val="000000"/>
                  </a:solidFill>
                  <a:latin typeface="Lato"/>
                  <a:ea typeface="Lato"/>
                  <a:cs typeface="Lato"/>
                  <a:sym typeface="Lato"/>
                </a:rPr>
                <a:t>to</a:t>
              </a:r>
              <a:r>
                <a:rPr lang="en" sz="900" b="0" i="0" u="none" strike="noStrike" cap="none">
                  <a:solidFill>
                    <a:srgbClr val="000000"/>
                  </a:solidFill>
                  <a:latin typeface="Lato"/>
                  <a:ea typeface="Lato"/>
                  <a:cs typeface="Lato"/>
                  <a:sym typeface="Lato"/>
                </a:rPr>
                <a:t> controller</a:t>
              </a:r>
              <a:endParaRPr/>
            </a:p>
          </p:txBody>
        </p:sp>
        <p:sp>
          <p:nvSpPr>
            <p:cNvPr id="362" name="Google Shape;362;p33"/>
            <p:cNvSpPr/>
            <p:nvPr/>
          </p:nvSpPr>
          <p:spPr>
            <a:xfrm>
              <a:off x="1344214" y="529348"/>
              <a:ext cx="163919" cy="1862319"/>
            </a:xfrm>
            <a:custGeom>
              <a:avLst/>
              <a:gdLst/>
              <a:ahLst/>
              <a:cxnLst/>
              <a:rect l="l" t="t" r="r" b="b"/>
              <a:pathLst>
                <a:path w="120000" h="120000" extrusionOk="0">
                  <a:moveTo>
                    <a:pt x="0" y="0"/>
                  </a:moveTo>
                  <a:lnTo>
                    <a:pt x="0" y="120000"/>
                  </a:lnTo>
                  <a:lnTo>
                    <a:pt x="120000" y="120000"/>
                  </a:lnTo>
                </a:path>
              </a:pathLst>
            </a:custGeom>
            <a:noFill/>
            <a:ln w="25400" cap="flat" cmpd="sng">
              <a:solidFill>
                <a:srgbClr val="003688"/>
              </a:solidFill>
              <a:prstDash val="solid"/>
              <a:round/>
              <a:headEnd type="none" w="sm" len="sm"/>
              <a:tailEnd type="none" w="sm" len="sm"/>
            </a:ln>
          </p:spPr>
        </p:sp>
        <p:sp>
          <p:nvSpPr>
            <p:cNvPr id="363" name="Google Shape;363;p33"/>
            <p:cNvSpPr/>
            <p:nvPr/>
          </p:nvSpPr>
          <p:spPr>
            <a:xfrm>
              <a:off x="1508134" y="2218400"/>
              <a:ext cx="1311356" cy="346534"/>
            </a:xfrm>
            <a:prstGeom prst="roundRect">
              <a:avLst>
                <a:gd name="adj" fmla="val 10000"/>
              </a:avLst>
            </a:prstGeom>
            <a:solidFill>
              <a:schemeClr val="lt1">
                <a:alpha val="89803"/>
              </a:schemeClr>
            </a:solidFill>
            <a:ln w="25400" cap="flat" cmpd="sng">
              <a:solidFill>
                <a:srgbClr val="0044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3"/>
            <p:cNvSpPr txBox="1"/>
            <p:nvPr/>
          </p:nvSpPr>
          <p:spPr>
            <a:xfrm>
              <a:off x="1518284" y="2228550"/>
              <a:ext cx="1291056" cy="326234"/>
            </a:xfrm>
            <a:prstGeom prst="rect">
              <a:avLst/>
            </a:prstGeom>
            <a:noFill/>
            <a:ln>
              <a:noFill/>
            </a:ln>
          </p:spPr>
          <p:txBody>
            <a:bodyPr spcFirstLastPara="1" wrap="square" lIns="17125" tIns="11425" rIns="17125" bIns="11425" anchor="ctr" anchorCtr="0">
              <a:noAutofit/>
            </a:bodyPr>
            <a:lstStyle/>
            <a:p>
              <a:pPr marL="0" marR="0" lvl="0" indent="0" algn="ctr" rtl="0">
                <a:lnSpc>
                  <a:spcPct val="90000"/>
                </a:lnSpc>
                <a:spcBef>
                  <a:spcPts val="0"/>
                </a:spcBef>
                <a:spcAft>
                  <a:spcPts val="0"/>
                </a:spcAft>
                <a:buClr>
                  <a:srgbClr val="000000"/>
                </a:buClr>
                <a:buSzPts val="900"/>
                <a:buFont typeface="Arial"/>
                <a:buNone/>
              </a:pPr>
              <a:r>
                <a:rPr lang="en" sz="900" b="0" i="0" u="none" strike="noStrike" cap="none">
                  <a:solidFill>
                    <a:srgbClr val="000000"/>
                  </a:solidFill>
                  <a:latin typeface="Lato"/>
                  <a:ea typeface="Lato"/>
                  <a:cs typeface="Lato"/>
                  <a:sym typeface="Lato"/>
                </a:rPr>
                <a:t>Execute file</a:t>
              </a:r>
              <a:endParaRPr/>
            </a:p>
          </p:txBody>
        </p:sp>
        <p:sp>
          <p:nvSpPr>
            <p:cNvPr id="365" name="Google Shape;365;p33"/>
            <p:cNvSpPr/>
            <p:nvPr/>
          </p:nvSpPr>
          <p:spPr>
            <a:xfrm>
              <a:off x="1344214" y="529348"/>
              <a:ext cx="163919" cy="2357036"/>
            </a:xfrm>
            <a:custGeom>
              <a:avLst/>
              <a:gdLst/>
              <a:ahLst/>
              <a:cxnLst/>
              <a:rect l="l" t="t" r="r" b="b"/>
              <a:pathLst>
                <a:path w="120000" h="120000" extrusionOk="0">
                  <a:moveTo>
                    <a:pt x="0" y="0"/>
                  </a:moveTo>
                  <a:lnTo>
                    <a:pt x="0" y="120000"/>
                  </a:lnTo>
                  <a:lnTo>
                    <a:pt x="120000" y="120000"/>
                  </a:lnTo>
                </a:path>
              </a:pathLst>
            </a:custGeom>
            <a:noFill/>
            <a:ln w="25400" cap="flat" cmpd="sng">
              <a:solidFill>
                <a:srgbClr val="003688"/>
              </a:solidFill>
              <a:prstDash val="solid"/>
              <a:round/>
              <a:headEnd type="none" w="sm" len="sm"/>
              <a:tailEnd type="none" w="sm" len="sm"/>
            </a:ln>
          </p:spPr>
        </p:sp>
        <p:sp>
          <p:nvSpPr>
            <p:cNvPr id="366" name="Google Shape;366;p33"/>
            <p:cNvSpPr/>
            <p:nvPr/>
          </p:nvSpPr>
          <p:spPr>
            <a:xfrm>
              <a:off x="1508134" y="2713118"/>
              <a:ext cx="1311356" cy="346534"/>
            </a:xfrm>
            <a:prstGeom prst="roundRect">
              <a:avLst>
                <a:gd name="adj" fmla="val 10000"/>
              </a:avLst>
            </a:prstGeom>
            <a:solidFill>
              <a:schemeClr val="lt1">
                <a:alpha val="89803"/>
              </a:schemeClr>
            </a:solidFill>
            <a:ln w="25400" cap="flat" cmpd="sng">
              <a:solidFill>
                <a:srgbClr val="0044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3"/>
            <p:cNvSpPr txBox="1"/>
            <p:nvPr/>
          </p:nvSpPr>
          <p:spPr>
            <a:xfrm>
              <a:off x="1518284" y="2723268"/>
              <a:ext cx="1291056" cy="326234"/>
            </a:xfrm>
            <a:prstGeom prst="rect">
              <a:avLst/>
            </a:prstGeom>
            <a:noFill/>
            <a:ln>
              <a:noFill/>
            </a:ln>
          </p:spPr>
          <p:txBody>
            <a:bodyPr spcFirstLastPara="1" wrap="square" lIns="17125" tIns="11425" rIns="17125" bIns="11425" anchor="ctr" anchorCtr="0">
              <a:noAutofit/>
            </a:bodyPr>
            <a:lstStyle/>
            <a:p>
              <a:pPr marL="0" marR="0" lvl="0" indent="0" algn="ctr" rtl="0">
                <a:lnSpc>
                  <a:spcPct val="90000"/>
                </a:lnSpc>
                <a:spcBef>
                  <a:spcPts val="0"/>
                </a:spcBef>
                <a:spcAft>
                  <a:spcPts val="0"/>
                </a:spcAft>
                <a:buClr>
                  <a:srgbClr val="000000"/>
                </a:buClr>
                <a:buSzPts val="900"/>
                <a:buFont typeface="Arial"/>
                <a:buNone/>
              </a:pPr>
              <a:r>
                <a:rPr lang="en" sz="900" b="0" i="0" u="none" strike="noStrike" cap="none">
                  <a:solidFill>
                    <a:srgbClr val="000000"/>
                  </a:solidFill>
                  <a:latin typeface="Lato"/>
                  <a:ea typeface="Lato"/>
                  <a:cs typeface="Lato"/>
                  <a:sym typeface="Lato"/>
                </a:rPr>
                <a:t>Execute commands</a:t>
              </a:r>
              <a:endParaRPr/>
            </a:p>
          </p:txBody>
        </p:sp>
        <p:sp>
          <p:nvSpPr>
            <p:cNvPr id="368" name="Google Shape;368;p33"/>
            <p:cNvSpPr/>
            <p:nvPr/>
          </p:nvSpPr>
          <p:spPr>
            <a:xfrm>
              <a:off x="3229290" y="2731"/>
              <a:ext cx="1639196" cy="526616"/>
            </a:xfrm>
            <a:prstGeom prst="roundRect">
              <a:avLst>
                <a:gd name="adj" fmla="val 10000"/>
              </a:avLst>
            </a:prstGeom>
            <a:solidFill>
              <a:srgbClr val="0044AC"/>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3"/>
            <p:cNvSpPr txBox="1"/>
            <p:nvPr/>
          </p:nvSpPr>
          <p:spPr>
            <a:xfrm>
              <a:off x="3244714" y="18155"/>
              <a:ext cx="1608348" cy="495768"/>
            </a:xfrm>
            <a:prstGeom prst="rect">
              <a:avLst/>
            </a:prstGeom>
            <a:noFill/>
            <a:ln>
              <a:noFill/>
            </a:ln>
          </p:spPr>
          <p:txBody>
            <a:bodyPr spcFirstLastPara="1" wrap="square" lIns="30475" tIns="20300" rIns="30475" bIns="20300" anchor="ctr" anchorCtr="0">
              <a:noAutofit/>
            </a:bodyPr>
            <a:lstStyle/>
            <a:p>
              <a:pPr marL="0" marR="0" lvl="0" indent="0" algn="ctr" rtl="0">
                <a:lnSpc>
                  <a:spcPct val="90000"/>
                </a:lnSpc>
                <a:spcBef>
                  <a:spcPts val="0"/>
                </a:spcBef>
                <a:spcAft>
                  <a:spcPts val="0"/>
                </a:spcAft>
                <a:buClr>
                  <a:srgbClr val="000000"/>
                </a:buClr>
                <a:buSzPts val="1600"/>
                <a:buFont typeface="Arial"/>
                <a:buNone/>
              </a:pPr>
              <a:r>
                <a:rPr lang="en" sz="1600" b="0" i="0" u="none" strike="noStrike" cap="none">
                  <a:solidFill>
                    <a:schemeClr val="lt1"/>
                  </a:solidFill>
                  <a:latin typeface="Lato"/>
                  <a:ea typeface="Lato"/>
                  <a:cs typeface="Lato"/>
                  <a:sym typeface="Lato"/>
                </a:rPr>
                <a:t>Obfuscation</a:t>
              </a:r>
              <a:endParaRPr/>
            </a:p>
          </p:txBody>
        </p:sp>
        <p:sp>
          <p:nvSpPr>
            <p:cNvPr id="370" name="Google Shape;370;p33"/>
            <p:cNvSpPr/>
            <p:nvPr/>
          </p:nvSpPr>
          <p:spPr>
            <a:xfrm>
              <a:off x="3393209" y="529348"/>
              <a:ext cx="163919" cy="378166"/>
            </a:xfrm>
            <a:custGeom>
              <a:avLst/>
              <a:gdLst/>
              <a:ahLst/>
              <a:cxnLst/>
              <a:rect l="l" t="t" r="r" b="b"/>
              <a:pathLst>
                <a:path w="120000" h="120000" extrusionOk="0">
                  <a:moveTo>
                    <a:pt x="0" y="0"/>
                  </a:moveTo>
                  <a:lnTo>
                    <a:pt x="0" y="120000"/>
                  </a:lnTo>
                  <a:lnTo>
                    <a:pt x="120000" y="120000"/>
                  </a:lnTo>
                </a:path>
              </a:pathLst>
            </a:custGeom>
            <a:noFill/>
            <a:ln w="25400" cap="flat" cmpd="sng">
              <a:solidFill>
                <a:srgbClr val="003688"/>
              </a:solidFill>
              <a:prstDash val="solid"/>
              <a:round/>
              <a:headEnd type="none" w="sm" len="sm"/>
              <a:tailEnd type="none" w="sm" len="sm"/>
            </a:ln>
          </p:spPr>
        </p:sp>
        <p:sp>
          <p:nvSpPr>
            <p:cNvPr id="371" name="Google Shape;371;p33"/>
            <p:cNvSpPr/>
            <p:nvPr/>
          </p:nvSpPr>
          <p:spPr>
            <a:xfrm>
              <a:off x="3557129" y="734247"/>
              <a:ext cx="1311356" cy="346534"/>
            </a:xfrm>
            <a:prstGeom prst="roundRect">
              <a:avLst>
                <a:gd name="adj" fmla="val 10000"/>
              </a:avLst>
            </a:prstGeom>
            <a:solidFill>
              <a:schemeClr val="lt1">
                <a:alpha val="89803"/>
              </a:schemeClr>
            </a:solidFill>
            <a:ln w="25400" cap="flat" cmpd="sng">
              <a:solidFill>
                <a:srgbClr val="0044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3"/>
            <p:cNvSpPr txBox="1"/>
            <p:nvPr/>
          </p:nvSpPr>
          <p:spPr>
            <a:xfrm>
              <a:off x="3567279" y="744397"/>
              <a:ext cx="1291056" cy="326234"/>
            </a:xfrm>
            <a:prstGeom prst="rect">
              <a:avLst/>
            </a:prstGeom>
            <a:noFill/>
            <a:ln>
              <a:noFill/>
            </a:ln>
          </p:spPr>
          <p:txBody>
            <a:bodyPr spcFirstLastPara="1" wrap="square" lIns="17125" tIns="11425" rIns="17125" bIns="11425" anchor="ctr" anchorCtr="0">
              <a:noAutofit/>
            </a:bodyPr>
            <a:lstStyle/>
            <a:p>
              <a:pPr marL="0" marR="0" lvl="0" indent="0" algn="ctr" rtl="0">
                <a:lnSpc>
                  <a:spcPct val="90000"/>
                </a:lnSpc>
                <a:spcBef>
                  <a:spcPts val="0"/>
                </a:spcBef>
                <a:spcAft>
                  <a:spcPts val="0"/>
                </a:spcAft>
                <a:buClr>
                  <a:srgbClr val="000000"/>
                </a:buClr>
                <a:buSzPts val="900"/>
                <a:buFont typeface="Arial"/>
                <a:buNone/>
              </a:pPr>
              <a:r>
                <a:rPr lang="en" sz="900" b="0" i="0" u="none" strike="noStrike" cap="none">
                  <a:solidFill>
                    <a:srgbClr val="000000"/>
                  </a:solidFill>
                  <a:latin typeface="Lato"/>
                  <a:ea typeface="Lato"/>
                  <a:cs typeface="Lato"/>
                  <a:sym typeface="Lato"/>
                </a:rPr>
                <a:t>Network traffic</a:t>
              </a:r>
              <a:endParaRPr/>
            </a:p>
          </p:txBody>
        </p:sp>
        <p:sp>
          <p:nvSpPr>
            <p:cNvPr id="373" name="Google Shape;373;p33"/>
            <p:cNvSpPr/>
            <p:nvPr/>
          </p:nvSpPr>
          <p:spPr>
            <a:xfrm>
              <a:off x="3393209" y="529348"/>
              <a:ext cx="163919" cy="929600"/>
            </a:xfrm>
            <a:custGeom>
              <a:avLst/>
              <a:gdLst/>
              <a:ahLst/>
              <a:cxnLst/>
              <a:rect l="l" t="t" r="r" b="b"/>
              <a:pathLst>
                <a:path w="120000" h="120000" extrusionOk="0">
                  <a:moveTo>
                    <a:pt x="0" y="0"/>
                  </a:moveTo>
                  <a:lnTo>
                    <a:pt x="0" y="120000"/>
                  </a:lnTo>
                  <a:lnTo>
                    <a:pt x="120000" y="120000"/>
                  </a:lnTo>
                </a:path>
              </a:pathLst>
            </a:custGeom>
            <a:noFill/>
            <a:ln w="25400" cap="flat" cmpd="sng">
              <a:solidFill>
                <a:srgbClr val="003688"/>
              </a:solidFill>
              <a:prstDash val="solid"/>
              <a:round/>
              <a:headEnd type="none" w="sm" len="sm"/>
              <a:tailEnd type="none" w="sm" len="sm"/>
            </a:ln>
          </p:spPr>
        </p:sp>
        <p:sp>
          <p:nvSpPr>
            <p:cNvPr id="374" name="Google Shape;374;p33"/>
            <p:cNvSpPr/>
            <p:nvPr/>
          </p:nvSpPr>
          <p:spPr>
            <a:xfrm>
              <a:off x="3557129" y="1285681"/>
              <a:ext cx="1311356" cy="346534"/>
            </a:xfrm>
            <a:prstGeom prst="roundRect">
              <a:avLst>
                <a:gd name="adj" fmla="val 10000"/>
              </a:avLst>
            </a:prstGeom>
            <a:solidFill>
              <a:schemeClr val="lt1">
                <a:alpha val="89803"/>
              </a:schemeClr>
            </a:solidFill>
            <a:ln w="25400" cap="flat" cmpd="sng">
              <a:solidFill>
                <a:srgbClr val="0044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3"/>
            <p:cNvSpPr txBox="1"/>
            <p:nvPr/>
          </p:nvSpPr>
          <p:spPr>
            <a:xfrm>
              <a:off x="3567279" y="1295831"/>
              <a:ext cx="1291056" cy="326234"/>
            </a:xfrm>
            <a:prstGeom prst="rect">
              <a:avLst/>
            </a:prstGeom>
            <a:noFill/>
            <a:ln>
              <a:noFill/>
            </a:ln>
          </p:spPr>
          <p:txBody>
            <a:bodyPr spcFirstLastPara="1" wrap="square" lIns="17125" tIns="11425" rIns="17125" bIns="11425" anchor="ctr" anchorCtr="0">
              <a:noAutofit/>
            </a:bodyPr>
            <a:lstStyle/>
            <a:p>
              <a:pPr marL="0" marR="0" lvl="0" indent="0" algn="ctr" rtl="0">
                <a:lnSpc>
                  <a:spcPct val="90000"/>
                </a:lnSpc>
                <a:spcBef>
                  <a:spcPts val="0"/>
                </a:spcBef>
                <a:spcAft>
                  <a:spcPts val="0"/>
                </a:spcAft>
                <a:buClr>
                  <a:srgbClr val="000000"/>
                </a:buClr>
                <a:buSzPts val="900"/>
                <a:buFont typeface="Arial"/>
                <a:buNone/>
              </a:pPr>
              <a:r>
                <a:rPr lang="en" sz="900" b="0" i="0" u="none" strike="noStrike" cap="none">
                  <a:solidFill>
                    <a:srgbClr val="000000"/>
                  </a:solidFill>
                  <a:latin typeface="Lato"/>
                  <a:ea typeface="Lato"/>
                  <a:cs typeface="Lato"/>
                  <a:sym typeface="Lato"/>
                </a:rPr>
                <a:t>Detection avoidance</a:t>
              </a:r>
              <a:endParaRPr sz="900" b="0" i="0" u="none" strike="noStrike" cap="none">
                <a:solidFill>
                  <a:srgbClr val="000000"/>
                </a:solidFill>
                <a:latin typeface="Lato"/>
                <a:ea typeface="Lato"/>
                <a:cs typeface="Lato"/>
                <a:sym typeface="Lato"/>
              </a:endParaRPr>
            </a:p>
          </p:txBody>
        </p:sp>
        <p:sp>
          <p:nvSpPr>
            <p:cNvPr id="376" name="Google Shape;376;p33"/>
            <p:cNvSpPr/>
            <p:nvPr/>
          </p:nvSpPr>
          <p:spPr>
            <a:xfrm>
              <a:off x="3393209" y="529348"/>
              <a:ext cx="163919" cy="1481034"/>
            </a:xfrm>
            <a:custGeom>
              <a:avLst/>
              <a:gdLst/>
              <a:ahLst/>
              <a:cxnLst/>
              <a:rect l="l" t="t" r="r" b="b"/>
              <a:pathLst>
                <a:path w="120000" h="120000" extrusionOk="0">
                  <a:moveTo>
                    <a:pt x="0" y="0"/>
                  </a:moveTo>
                  <a:lnTo>
                    <a:pt x="0" y="120000"/>
                  </a:lnTo>
                  <a:lnTo>
                    <a:pt x="120000" y="120000"/>
                  </a:lnTo>
                </a:path>
              </a:pathLst>
            </a:custGeom>
            <a:noFill/>
            <a:ln w="25400" cap="flat" cmpd="sng">
              <a:solidFill>
                <a:srgbClr val="003688"/>
              </a:solidFill>
              <a:prstDash val="solid"/>
              <a:round/>
              <a:headEnd type="none" w="sm" len="sm"/>
              <a:tailEnd type="none" w="sm" len="sm"/>
            </a:ln>
          </p:spPr>
        </p:sp>
        <p:sp>
          <p:nvSpPr>
            <p:cNvPr id="377" name="Google Shape;377;p33"/>
            <p:cNvSpPr/>
            <p:nvPr/>
          </p:nvSpPr>
          <p:spPr>
            <a:xfrm>
              <a:off x="3557129" y="1837115"/>
              <a:ext cx="1311356" cy="346534"/>
            </a:xfrm>
            <a:prstGeom prst="roundRect">
              <a:avLst>
                <a:gd name="adj" fmla="val 10000"/>
              </a:avLst>
            </a:prstGeom>
            <a:solidFill>
              <a:schemeClr val="lt1">
                <a:alpha val="89803"/>
              </a:schemeClr>
            </a:solidFill>
            <a:ln w="25400" cap="flat" cmpd="sng">
              <a:solidFill>
                <a:srgbClr val="0044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3"/>
            <p:cNvSpPr txBox="1"/>
            <p:nvPr/>
          </p:nvSpPr>
          <p:spPr>
            <a:xfrm>
              <a:off x="3567279" y="1847265"/>
              <a:ext cx="1291056" cy="326234"/>
            </a:xfrm>
            <a:prstGeom prst="rect">
              <a:avLst/>
            </a:prstGeom>
            <a:noFill/>
            <a:ln>
              <a:noFill/>
            </a:ln>
          </p:spPr>
          <p:txBody>
            <a:bodyPr spcFirstLastPara="1" wrap="square" lIns="17125" tIns="11425" rIns="17125" bIns="11425" anchor="ctr" anchorCtr="0">
              <a:noAutofit/>
            </a:bodyPr>
            <a:lstStyle/>
            <a:p>
              <a:pPr marL="0" marR="0" lvl="0" indent="0" algn="ctr" rtl="0">
                <a:lnSpc>
                  <a:spcPct val="90000"/>
                </a:lnSpc>
                <a:spcBef>
                  <a:spcPts val="0"/>
                </a:spcBef>
                <a:spcAft>
                  <a:spcPts val="0"/>
                </a:spcAft>
                <a:buClr>
                  <a:srgbClr val="000000"/>
                </a:buClr>
                <a:buSzPts val="900"/>
                <a:buFont typeface="Arial"/>
                <a:buNone/>
              </a:pPr>
              <a:r>
                <a:rPr lang="en" sz="900" b="0" i="0" u="none" strike="noStrike" cap="none">
                  <a:solidFill>
                    <a:srgbClr val="000000"/>
                  </a:solidFill>
                  <a:latin typeface="Lato"/>
                  <a:ea typeface="Lato"/>
                  <a:cs typeface="Lato"/>
                  <a:sym typeface="Lato"/>
                </a:rPr>
                <a:t>Disassembly/Debug avoidance</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4"/>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Progress to Date: Phase 2 Work</a:t>
            </a:r>
            <a:endParaRPr/>
          </a:p>
        </p:txBody>
      </p:sp>
      <p:sp>
        <p:nvSpPr>
          <p:cNvPr id="384" name="Google Shape;384;p34"/>
          <p:cNvSpPr txBox="1">
            <a:spLocks noGrp="1"/>
          </p:cNvSpPr>
          <p:nvPr>
            <p:ph type="body" idx="1"/>
          </p:nvPr>
        </p:nvSpPr>
        <p:spPr>
          <a:xfrm>
            <a:off x="1297500" y="1079975"/>
            <a:ext cx="7038900" cy="2911200"/>
          </a:xfrm>
          <a:prstGeom prst="rect">
            <a:avLst/>
          </a:prstGeom>
          <a:noFill/>
          <a:ln>
            <a:noFill/>
          </a:ln>
        </p:spPr>
        <p:txBody>
          <a:bodyPr spcFirstLastPara="1" wrap="square" lIns="91425" tIns="91425" rIns="91425" bIns="91425" anchor="t" anchorCtr="0">
            <a:normAutofit/>
          </a:bodyPr>
          <a:lstStyle/>
          <a:p>
            <a:pPr marL="457200" lvl="0" indent="-311150" algn="l" rtl="0">
              <a:lnSpc>
                <a:spcPct val="115000"/>
              </a:lnSpc>
              <a:spcBef>
                <a:spcPts val="0"/>
              </a:spcBef>
              <a:spcAft>
                <a:spcPts val="0"/>
              </a:spcAft>
              <a:buSzPts val="1300"/>
              <a:buChar char="●"/>
            </a:pPr>
            <a:r>
              <a:rPr lang="en"/>
              <a:t>Technical Director (TD) requested six ground truth samples</a:t>
            </a:r>
            <a:endParaRPr/>
          </a:p>
          <a:p>
            <a:pPr marL="457200" lvl="0" indent="-311150" algn="l" rtl="0">
              <a:lnSpc>
                <a:spcPct val="115000"/>
              </a:lnSpc>
              <a:spcBef>
                <a:spcPts val="0"/>
              </a:spcBef>
              <a:spcAft>
                <a:spcPts val="0"/>
              </a:spcAft>
              <a:buSzPts val="1300"/>
              <a:buChar char="●"/>
            </a:pPr>
            <a:r>
              <a:rPr lang="en"/>
              <a:t>Team divided into two subsections to complete the ground truth samples </a:t>
            </a:r>
            <a:endParaRPr/>
          </a:p>
          <a:p>
            <a:pPr marL="914400" lvl="1" indent="-298450" algn="l" rtl="0">
              <a:lnSpc>
                <a:spcPct val="115000"/>
              </a:lnSpc>
              <a:spcBef>
                <a:spcPts val="0"/>
              </a:spcBef>
              <a:spcAft>
                <a:spcPts val="0"/>
              </a:spcAft>
              <a:buSzPts val="1100"/>
              <a:buChar char="○"/>
            </a:pPr>
            <a:r>
              <a:rPr lang="en"/>
              <a:t>Tri Nguyen and Timothy Colvert; Jacob Staggs and Abhijeet Dabas</a:t>
            </a:r>
            <a:endParaRPr/>
          </a:p>
          <a:p>
            <a:pPr marL="914400" lvl="1" indent="-298450" algn="l" rtl="0">
              <a:lnSpc>
                <a:spcPct val="115000"/>
              </a:lnSpc>
              <a:spcBef>
                <a:spcPts val="0"/>
              </a:spcBef>
              <a:spcAft>
                <a:spcPts val="0"/>
              </a:spcAft>
              <a:buSzPts val="1100"/>
              <a:buChar char="○"/>
            </a:pPr>
            <a:r>
              <a:rPr lang="en"/>
              <a:t>Subsections complete three samples a piece </a:t>
            </a:r>
            <a:endParaRPr/>
          </a:p>
          <a:p>
            <a:pPr marL="914400" lvl="1" indent="-298450" algn="l" rtl="0">
              <a:lnSpc>
                <a:spcPct val="115000"/>
              </a:lnSpc>
              <a:spcBef>
                <a:spcPts val="0"/>
              </a:spcBef>
              <a:spcAft>
                <a:spcPts val="0"/>
              </a:spcAft>
              <a:buSzPts val="1100"/>
              <a:buChar char="○"/>
            </a:pPr>
            <a:r>
              <a:rPr lang="en"/>
              <a:t>Subsections work on their time to complete the samples</a:t>
            </a:r>
            <a:endParaRPr/>
          </a:p>
          <a:p>
            <a:pPr marL="914400" lvl="1" indent="-298450" algn="l" rtl="0">
              <a:lnSpc>
                <a:spcPct val="115000"/>
              </a:lnSpc>
              <a:spcBef>
                <a:spcPts val="0"/>
              </a:spcBef>
              <a:spcAft>
                <a:spcPts val="0"/>
              </a:spcAft>
              <a:buSzPts val="1100"/>
              <a:buChar char="○"/>
            </a:pPr>
            <a:r>
              <a:rPr lang="en"/>
              <a:t>TD required teams use two languages, one high-level and one low-level, between samples</a:t>
            </a:r>
            <a:endParaRPr/>
          </a:p>
          <a:p>
            <a:pPr marL="457200" lvl="0" indent="-311150" algn="l" rtl="0">
              <a:lnSpc>
                <a:spcPct val="115000"/>
              </a:lnSpc>
              <a:spcBef>
                <a:spcPts val="0"/>
              </a:spcBef>
              <a:spcAft>
                <a:spcPts val="0"/>
              </a:spcAft>
              <a:buSzPts val="1300"/>
              <a:buChar char="●"/>
            </a:pPr>
            <a:r>
              <a:rPr lang="en"/>
              <a:t>First Team Progress</a:t>
            </a:r>
            <a:endParaRPr/>
          </a:p>
          <a:p>
            <a:pPr marL="914400" lvl="1" indent="-298450" algn="l" rtl="0">
              <a:lnSpc>
                <a:spcPct val="115000"/>
              </a:lnSpc>
              <a:spcBef>
                <a:spcPts val="0"/>
              </a:spcBef>
              <a:spcAft>
                <a:spcPts val="0"/>
              </a:spcAft>
              <a:buSzPts val="1100"/>
              <a:buChar char="○"/>
            </a:pPr>
            <a:r>
              <a:rPr lang="en"/>
              <a:t>Chose to use C++ and Java for samples</a:t>
            </a:r>
            <a:endParaRPr/>
          </a:p>
          <a:p>
            <a:pPr marL="914400" lvl="1" indent="-298450" algn="l" rtl="0">
              <a:lnSpc>
                <a:spcPct val="115000"/>
              </a:lnSpc>
              <a:spcBef>
                <a:spcPts val="0"/>
              </a:spcBef>
              <a:spcAft>
                <a:spcPts val="0"/>
              </a:spcAft>
              <a:buSzPts val="1100"/>
              <a:buChar char="○"/>
            </a:pPr>
            <a:r>
              <a:rPr lang="en"/>
              <a:t>Research ongoing for Java samples</a:t>
            </a:r>
            <a:endParaRPr/>
          </a:p>
          <a:p>
            <a:pPr marL="457200" lvl="0" indent="-311150" algn="l" rtl="0">
              <a:lnSpc>
                <a:spcPct val="115000"/>
              </a:lnSpc>
              <a:spcBef>
                <a:spcPts val="0"/>
              </a:spcBef>
              <a:spcAft>
                <a:spcPts val="0"/>
              </a:spcAft>
              <a:buSzPts val="1300"/>
              <a:buChar char="●"/>
            </a:pPr>
            <a:r>
              <a:rPr lang="en"/>
              <a:t>Second Team Progress</a:t>
            </a:r>
            <a:endParaRPr/>
          </a:p>
          <a:p>
            <a:pPr marL="914400" lvl="1" indent="-298450" algn="l" rtl="0">
              <a:lnSpc>
                <a:spcPct val="115000"/>
              </a:lnSpc>
              <a:spcBef>
                <a:spcPts val="0"/>
              </a:spcBef>
              <a:spcAft>
                <a:spcPts val="0"/>
              </a:spcAft>
              <a:buSzPts val="1100"/>
              <a:buChar char="○"/>
            </a:pPr>
            <a:r>
              <a:rPr lang="en"/>
              <a:t>Chose to use C++ and Python for samples </a:t>
            </a:r>
            <a:endParaRPr/>
          </a:p>
          <a:p>
            <a:pPr marL="914400" lvl="1" indent="-298450" algn="l" rtl="0">
              <a:lnSpc>
                <a:spcPct val="115000"/>
              </a:lnSpc>
              <a:spcBef>
                <a:spcPts val="0"/>
              </a:spcBef>
              <a:spcAft>
                <a:spcPts val="0"/>
              </a:spcAft>
              <a:buSzPts val="1100"/>
              <a:buChar char="○"/>
            </a:pPr>
            <a:r>
              <a:rPr lang="en"/>
              <a:t>One C++ ground truth sample in process</a:t>
            </a:r>
            <a:endParaRPr/>
          </a:p>
          <a:p>
            <a:pPr marL="914400" lvl="1" indent="-298450" algn="l" rtl="0">
              <a:lnSpc>
                <a:spcPct val="115000"/>
              </a:lnSpc>
              <a:spcBef>
                <a:spcPts val="0"/>
              </a:spcBef>
              <a:spcAft>
                <a:spcPts val="0"/>
              </a:spcAft>
              <a:buSzPts val="1100"/>
              <a:buChar char="○"/>
            </a:pPr>
            <a:r>
              <a:rPr lang="en"/>
              <a:t>Research ongoing into Python truth solutions </a:t>
            </a:r>
            <a:endParaRPr/>
          </a:p>
        </p:txBody>
      </p:sp>
      <p:pic>
        <p:nvPicPr>
          <p:cNvPr id="385" name="Google Shape;385;p34"/>
          <p:cNvPicPr preferRelativeResize="0"/>
          <p:nvPr/>
        </p:nvPicPr>
        <p:blipFill rotWithShape="1">
          <a:blip r:embed="rId3">
            <a:alphaModFix/>
          </a:blip>
          <a:srcRect/>
          <a:stretch/>
        </p:blipFill>
        <p:spPr>
          <a:xfrm>
            <a:off x="1161800" y="3811075"/>
            <a:ext cx="6820412" cy="811350"/>
          </a:xfrm>
          <a:prstGeom prst="rect">
            <a:avLst/>
          </a:prstGeom>
          <a:noFill/>
          <a:ln>
            <a:noFill/>
          </a:ln>
        </p:spPr>
      </p:pic>
      <p:pic>
        <p:nvPicPr>
          <p:cNvPr id="386" name="Google Shape;386;p34"/>
          <p:cNvPicPr preferRelativeResize="0"/>
          <p:nvPr/>
        </p:nvPicPr>
        <p:blipFill rotWithShape="1">
          <a:blip r:embed="rId4">
            <a:alphaModFix/>
          </a:blip>
          <a:srcRect/>
          <a:stretch/>
        </p:blipFill>
        <p:spPr>
          <a:xfrm>
            <a:off x="497563" y="4631150"/>
            <a:ext cx="8148867" cy="359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35"/>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Progress to Date: Phase 3/4</a:t>
            </a:r>
            <a:endParaRPr/>
          </a:p>
        </p:txBody>
      </p:sp>
      <p:sp>
        <p:nvSpPr>
          <p:cNvPr id="392" name="Google Shape;392;p35"/>
          <p:cNvSpPr txBox="1">
            <a:spLocks noGrp="1"/>
          </p:cNvSpPr>
          <p:nvPr>
            <p:ph type="body" idx="1"/>
          </p:nvPr>
        </p:nvSpPr>
        <p:spPr>
          <a:xfrm>
            <a:off x="1297500" y="1068400"/>
            <a:ext cx="7038900" cy="2911200"/>
          </a:xfrm>
          <a:prstGeom prst="rect">
            <a:avLst/>
          </a:prstGeom>
          <a:noFill/>
          <a:ln>
            <a:noFill/>
          </a:ln>
        </p:spPr>
        <p:txBody>
          <a:bodyPr spcFirstLastPara="1" wrap="square" lIns="91425" tIns="91425" rIns="91425" bIns="91425" anchor="t" anchorCtr="0">
            <a:normAutofit/>
          </a:bodyPr>
          <a:lstStyle/>
          <a:p>
            <a:pPr marL="457200" lvl="0" indent="-311150" algn="l" rtl="0">
              <a:lnSpc>
                <a:spcPct val="115000"/>
              </a:lnSpc>
              <a:spcBef>
                <a:spcPts val="0"/>
              </a:spcBef>
              <a:spcAft>
                <a:spcPts val="0"/>
              </a:spcAft>
              <a:buSzPts val="1300"/>
              <a:buChar char="●"/>
            </a:pPr>
            <a:r>
              <a:rPr lang="en"/>
              <a:t>Only research has been performed to date</a:t>
            </a:r>
            <a:endParaRPr/>
          </a:p>
          <a:p>
            <a:pPr marL="914400" lvl="1" indent="-298450" algn="l" rtl="0">
              <a:lnSpc>
                <a:spcPct val="115000"/>
              </a:lnSpc>
              <a:spcBef>
                <a:spcPts val="0"/>
              </a:spcBef>
              <a:spcAft>
                <a:spcPts val="0"/>
              </a:spcAft>
              <a:buSzPts val="1100"/>
              <a:buChar char="○"/>
            </a:pPr>
            <a:r>
              <a:rPr lang="en"/>
              <a:t>No implementation or major choices have been made</a:t>
            </a:r>
            <a:endParaRPr/>
          </a:p>
          <a:p>
            <a:pPr marL="914400" lvl="1" indent="-298450" algn="l" rtl="0">
              <a:lnSpc>
                <a:spcPct val="115000"/>
              </a:lnSpc>
              <a:spcBef>
                <a:spcPts val="0"/>
              </a:spcBef>
              <a:spcAft>
                <a:spcPts val="0"/>
              </a:spcAft>
              <a:buSzPts val="1100"/>
              <a:buChar char="○"/>
            </a:pPr>
            <a:r>
              <a:rPr lang="en"/>
              <a:t>Still need to choose between Radare2 and Rizin for statically-linked library code identification</a:t>
            </a:r>
            <a:endParaRPr/>
          </a:p>
          <a:p>
            <a:pPr marL="914400" lvl="1" indent="-298450" algn="l" rtl="0">
              <a:lnSpc>
                <a:spcPct val="115000"/>
              </a:lnSpc>
              <a:spcBef>
                <a:spcPts val="0"/>
              </a:spcBef>
              <a:spcAft>
                <a:spcPts val="0"/>
              </a:spcAft>
              <a:buSzPts val="1100"/>
              <a:buChar char="○"/>
            </a:pPr>
            <a:r>
              <a:rPr lang="en"/>
              <a:t>Still need to read documentation for other capabilities, such as FLARE-FLOSS and CAPA</a:t>
            </a:r>
            <a:endParaRPr/>
          </a:p>
          <a:p>
            <a:pPr marL="457200" lvl="0" indent="-311150" algn="l" rtl="0">
              <a:lnSpc>
                <a:spcPct val="115000"/>
              </a:lnSpc>
              <a:spcBef>
                <a:spcPts val="0"/>
              </a:spcBef>
              <a:spcAft>
                <a:spcPts val="0"/>
              </a:spcAft>
              <a:buSzPts val="1300"/>
              <a:buChar char="●"/>
            </a:pPr>
            <a:r>
              <a:rPr lang="en"/>
              <a:t>Capabilities will be added piecewise</a:t>
            </a:r>
            <a:endParaRPr/>
          </a:p>
          <a:p>
            <a:pPr marL="914400" lvl="1" indent="-298450" algn="l" rtl="0">
              <a:lnSpc>
                <a:spcPct val="115000"/>
              </a:lnSpc>
              <a:spcBef>
                <a:spcPts val="0"/>
              </a:spcBef>
              <a:spcAft>
                <a:spcPts val="0"/>
              </a:spcAft>
              <a:buSzPts val="1100"/>
              <a:buChar char="○"/>
            </a:pPr>
            <a:r>
              <a:rPr lang="en"/>
              <a:t>Essential for ensuring each aspect of the tool works correctly </a:t>
            </a:r>
            <a:endParaRPr/>
          </a:p>
          <a:p>
            <a:pPr marL="457200" lvl="0" indent="-311150" algn="l" rtl="0">
              <a:lnSpc>
                <a:spcPct val="115000"/>
              </a:lnSpc>
              <a:spcBef>
                <a:spcPts val="0"/>
              </a:spcBef>
              <a:spcAft>
                <a:spcPts val="0"/>
              </a:spcAft>
              <a:buSzPts val="1300"/>
              <a:buChar char="●"/>
            </a:pPr>
            <a:r>
              <a:rPr lang="en"/>
              <a:t>Team plans to begin Phase Three in April</a:t>
            </a:r>
            <a:endParaRPr/>
          </a:p>
          <a:p>
            <a:pPr marL="914400" lvl="1" indent="-298450" algn="l" rtl="0">
              <a:lnSpc>
                <a:spcPct val="115000"/>
              </a:lnSpc>
              <a:spcBef>
                <a:spcPts val="0"/>
              </a:spcBef>
              <a:spcAft>
                <a:spcPts val="0"/>
              </a:spcAft>
              <a:buSzPts val="1100"/>
              <a:buChar char="○"/>
            </a:pPr>
            <a:r>
              <a:rPr lang="en"/>
              <a:t>Timelines will be available before midterm presentation</a:t>
            </a:r>
            <a:endParaRPr/>
          </a:p>
        </p:txBody>
      </p:sp>
      <p:pic>
        <p:nvPicPr>
          <p:cNvPr id="393" name="Google Shape;393;p35"/>
          <p:cNvPicPr preferRelativeResize="0"/>
          <p:nvPr/>
        </p:nvPicPr>
        <p:blipFill rotWithShape="1">
          <a:blip r:embed="rId3">
            <a:alphaModFix/>
          </a:blip>
          <a:srcRect/>
          <a:stretch/>
        </p:blipFill>
        <p:spPr>
          <a:xfrm>
            <a:off x="497563" y="4631150"/>
            <a:ext cx="8148867" cy="359950"/>
          </a:xfrm>
          <a:prstGeom prst="rect">
            <a:avLst/>
          </a:prstGeom>
          <a:noFill/>
          <a:ln>
            <a:noFill/>
          </a:ln>
        </p:spPr>
      </p:pic>
      <p:pic>
        <p:nvPicPr>
          <p:cNvPr id="394" name="Google Shape;394;p35"/>
          <p:cNvPicPr preferRelativeResize="0"/>
          <p:nvPr/>
        </p:nvPicPr>
        <p:blipFill rotWithShape="1">
          <a:blip r:embed="rId4">
            <a:alphaModFix/>
          </a:blip>
          <a:srcRect/>
          <a:stretch/>
        </p:blipFill>
        <p:spPr>
          <a:xfrm>
            <a:off x="1103213" y="2992551"/>
            <a:ext cx="6937576" cy="1638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36"/>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Summary of Results: </a:t>
            </a:r>
            <a:br>
              <a:rPr lang="en"/>
            </a:br>
            <a:r>
              <a:rPr lang="en"/>
              <a:t>Malware Capability Research</a:t>
            </a:r>
            <a:endParaRPr/>
          </a:p>
        </p:txBody>
      </p:sp>
      <p:pic>
        <p:nvPicPr>
          <p:cNvPr id="400" name="Google Shape;400;p36"/>
          <p:cNvPicPr preferRelativeResize="0"/>
          <p:nvPr/>
        </p:nvPicPr>
        <p:blipFill rotWithShape="1">
          <a:blip r:embed="rId3">
            <a:alphaModFix/>
          </a:blip>
          <a:srcRect/>
          <a:stretch/>
        </p:blipFill>
        <p:spPr>
          <a:xfrm>
            <a:off x="497563" y="4622425"/>
            <a:ext cx="8148867" cy="359950"/>
          </a:xfrm>
          <a:prstGeom prst="rect">
            <a:avLst/>
          </a:prstGeom>
          <a:noFill/>
          <a:ln>
            <a:noFill/>
          </a:ln>
        </p:spPr>
      </p:pic>
      <p:grpSp>
        <p:nvGrpSpPr>
          <p:cNvPr id="401" name="Google Shape;401;p36"/>
          <p:cNvGrpSpPr/>
          <p:nvPr/>
        </p:nvGrpSpPr>
        <p:grpSpPr>
          <a:xfrm>
            <a:off x="2842965" y="1360300"/>
            <a:ext cx="2707830" cy="2754499"/>
            <a:chOff x="0" y="0"/>
            <a:chExt cx="2707830" cy="2754499"/>
          </a:xfrm>
        </p:grpSpPr>
        <p:sp>
          <p:nvSpPr>
            <p:cNvPr id="402" name="Google Shape;402;p36"/>
            <p:cNvSpPr/>
            <p:nvPr/>
          </p:nvSpPr>
          <p:spPr>
            <a:xfrm>
              <a:off x="0" y="0"/>
              <a:ext cx="2707830" cy="2754499"/>
            </a:xfrm>
            <a:prstGeom prst="rect">
              <a:avLst/>
            </a:prstGeom>
            <a:solidFill>
              <a:srgbClr val="CBCF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6"/>
            <p:cNvSpPr txBox="1"/>
            <p:nvPr/>
          </p:nvSpPr>
          <p:spPr>
            <a:xfrm>
              <a:off x="0" y="0"/>
              <a:ext cx="2707830" cy="826349"/>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 sz="2200" b="0" i="0" u="none" strike="noStrike" cap="none">
                  <a:solidFill>
                    <a:srgbClr val="003380"/>
                  </a:solidFill>
                  <a:latin typeface="Lato"/>
                  <a:ea typeface="Lato"/>
                  <a:cs typeface="Lato"/>
                  <a:sym typeface="Lato"/>
                </a:rPr>
                <a:t>Techniques Used by Major Threat Actors</a:t>
              </a:r>
              <a:endParaRPr/>
            </a:p>
          </p:txBody>
        </p:sp>
        <p:sp>
          <p:nvSpPr>
            <p:cNvPr id="404" name="Google Shape;404;p36"/>
            <p:cNvSpPr/>
            <p:nvPr/>
          </p:nvSpPr>
          <p:spPr>
            <a:xfrm>
              <a:off x="270782" y="826484"/>
              <a:ext cx="2166264" cy="264454"/>
            </a:xfrm>
            <a:prstGeom prst="roundRect">
              <a:avLst>
                <a:gd name="adj" fmla="val 10000"/>
              </a:avLst>
            </a:prstGeom>
            <a:solidFill>
              <a:srgbClr val="004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6"/>
            <p:cNvSpPr txBox="1"/>
            <p:nvPr/>
          </p:nvSpPr>
          <p:spPr>
            <a:xfrm>
              <a:off x="278528" y="834230"/>
              <a:ext cx="2150772" cy="248962"/>
            </a:xfrm>
            <a:prstGeom prst="rect">
              <a:avLst/>
            </a:prstGeom>
            <a:noFill/>
            <a:ln>
              <a:noFill/>
            </a:ln>
          </p:spPr>
          <p:txBody>
            <a:bodyPr spcFirstLastPara="1" wrap="square" lIns="33000" tIns="24750" rIns="33000" bIns="24750"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 sz="1300" b="0" i="0" u="none" strike="noStrike" cap="none">
                  <a:solidFill>
                    <a:schemeClr val="lt1"/>
                  </a:solidFill>
                  <a:latin typeface="Arial"/>
                  <a:ea typeface="Arial"/>
                  <a:cs typeface="Arial"/>
                  <a:sym typeface="Arial"/>
                </a:rPr>
                <a:t>File Exfiltration</a:t>
              </a:r>
              <a:endParaRPr sz="1300" b="0" i="0" u="none" strike="noStrike" cap="none">
                <a:solidFill>
                  <a:schemeClr val="lt1"/>
                </a:solidFill>
                <a:latin typeface="Arial"/>
                <a:ea typeface="Arial"/>
                <a:cs typeface="Arial"/>
                <a:sym typeface="Arial"/>
              </a:endParaRPr>
            </a:p>
          </p:txBody>
        </p:sp>
        <p:sp>
          <p:nvSpPr>
            <p:cNvPr id="406" name="Google Shape;406;p36"/>
            <p:cNvSpPr/>
            <p:nvPr/>
          </p:nvSpPr>
          <p:spPr>
            <a:xfrm>
              <a:off x="270782" y="1131624"/>
              <a:ext cx="2166264" cy="264454"/>
            </a:xfrm>
            <a:prstGeom prst="roundRect">
              <a:avLst>
                <a:gd name="adj" fmla="val 10000"/>
              </a:avLst>
            </a:prstGeom>
            <a:solidFill>
              <a:srgbClr val="004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6"/>
            <p:cNvSpPr txBox="1"/>
            <p:nvPr/>
          </p:nvSpPr>
          <p:spPr>
            <a:xfrm>
              <a:off x="278528" y="1139370"/>
              <a:ext cx="2150772" cy="248962"/>
            </a:xfrm>
            <a:prstGeom prst="rect">
              <a:avLst/>
            </a:prstGeom>
            <a:noFill/>
            <a:ln>
              <a:noFill/>
            </a:ln>
          </p:spPr>
          <p:txBody>
            <a:bodyPr spcFirstLastPara="1" wrap="square" lIns="33000" tIns="24750" rIns="33000" bIns="24750"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 sz="1300" b="0" i="0" u="none" strike="noStrike" cap="none">
                  <a:solidFill>
                    <a:schemeClr val="lt1"/>
                  </a:solidFill>
                  <a:latin typeface="Arial"/>
                  <a:ea typeface="Arial"/>
                  <a:cs typeface="Arial"/>
                  <a:sym typeface="Arial"/>
                </a:rPr>
                <a:t>Dropper</a:t>
              </a:r>
              <a:endParaRPr sz="1300" b="0" i="0" u="none" strike="noStrike" cap="none">
                <a:solidFill>
                  <a:schemeClr val="lt1"/>
                </a:solidFill>
                <a:latin typeface="Arial"/>
                <a:ea typeface="Arial"/>
                <a:cs typeface="Arial"/>
                <a:sym typeface="Arial"/>
              </a:endParaRPr>
            </a:p>
          </p:txBody>
        </p:sp>
        <p:sp>
          <p:nvSpPr>
            <p:cNvPr id="408" name="Google Shape;408;p36"/>
            <p:cNvSpPr/>
            <p:nvPr/>
          </p:nvSpPr>
          <p:spPr>
            <a:xfrm>
              <a:off x="270782" y="1436764"/>
              <a:ext cx="2166264" cy="264454"/>
            </a:xfrm>
            <a:prstGeom prst="roundRect">
              <a:avLst>
                <a:gd name="adj" fmla="val 10000"/>
              </a:avLst>
            </a:prstGeom>
            <a:solidFill>
              <a:srgbClr val="004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6"/>
            <p:cNvSpPr txBox="1"/>
            <p:nvPr/>
          </p:nvSpPr>
          <p:spPr>
            <a:xfrm>
              <a:off x="278528" y="1444510"/>
              <a:ext cx="2150772" cy="248962"/>
            </a:xfrm>
            <a:prstGeom prst="rect">
              <a:avLst/>
            </a:prstGeom>
            <a:noFill/>
            <a:ln>
              <a:noFill/>
            </a:ln>
          </p:spPr>
          <p:txBody>
            <a:bodyPr spcFirstLastPara="1" wrap="square" lIns="33000" tIns="24750" rIns="33000" bIns="24750"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 sz="1300" b="0" i="0" u="none" strike="noStrike" cap="none">
                  <a:solidFill>
                    <a:schemeClr val="lt1"/>
                  </a:solidFill>
                  <a:latin typeface="Arial"/>
                  <a:ea typeface="Arial"/>
                  <a:cs typeface="Arial"/>
                  <a:sym typeface="Arial"/>
                </a:rPr>
                <a:t>Keylogging</a:t>
              </a:r>
              <a:endParaRPr sz="1300" b="0" i="0" u="none" strike="noStrike" cap="none">
                <a:solidFill>
                  <a:schemeClr val="lt1"/>
                </a:solidFill>
                <a:latin typeface="Arial"/>
                <a:ea typeface="Arial"/>
                <a:cs typeface="Arial"/>
                <a:sym typeface="Arial"/>
              </a:endParaRPr>
            </a:p>
          </p:txBody>
        </p:sp>
        <p:sp>
          <p:nvSpPr>
            <p:cNvPr id="410" name="Google Shape;410;p36"/>
            <p:cNvSpPr/>
            <p:nvPr/>
          </p:nvSpPr>
          <p:spPr>
            <a:xfrm>
              <a:off x="270782" y="1741904"/>
              <a:ext cx="2166264" cy="264454"/>
            </a:xfrm>
            <a:prstGeom prst="roundRect">
              <a:avLst>
                <a:gd name="adj" fmla="val 10000"/>
              </a:avLst>
            </a:prstGeom>
            <a:solidFill>
              <a:srgbClr val="004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6"/>
            <p:cNvSpPr txBox="1"/>
            <p:nvPr/>
          </p:nvSpPr>
          <p:spPr>
            <a:xfrm>
              <a:off x="278528" y="1749650"/>
              <a:ext cx="2150772" cy="248962"/>
            </a:xfrm>
            <a:prstGeom prst="rect">
              <a:avLst/>
            </a:prstGeom>
            <a:noFill/>
            <a:ln>
              <a:noFill/>
            </a:ln>
          </p:spPr>
          <p:txBody>
            <a:bodyPr spcFirstLastPara="1" wrap="square" lIns="33000" tIns="24750" rIns="33000" bIns="24750"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 sz="1300" b="0" i="0" u="none" strike="noStrike" cap="none">
                  <a:solidFill>
                    <a:schemeClr val="lt1"/>
                  </a:solidFill>
                  <a:latin typeface="Arial"/>
                  <a:ea typeface="Arial"/>
                  <a:cs typeface="Arial"/>
                  <a:sym typeface="Arial"/>
                </a:rPr>
                <a:t>Persistence</a:t>
              </a:r>
              <a:endParaRPr sz="1300" b="0" i="0" u="none" strike="noStrike" cap="none">
                <a:solidFill>
                  <a:schemeClr val="lt1"/>
                </a:solidFill>
                <a:latin typeface="Arial"/>
                <a:ea typeface="Arial"/>
                <a:cs typeface="Arial"/>
                <a:sym typeface="Arial"/>
              </a:endParaRPr>
            </a:p>
          </p:txBody>
        </p:sp>
        <p:sp>
          <p:nvSpPr>
            <p:cNvPr id="412" name="Google Shape;412;p36"/>
            <p:cNvSpPr/>
            <p:nvPr/>
          </p:nvSpPr>
          <p:spPr>
            <a:xfrm>
              <a:off x="270782" y="2047044"/>
              <a:ext cx="2166264" cy="264454"/>
            </a:xfrm>
            <a:prstGeom prst="roundRect">
              <a:avLst>
                <a:gd name="adj" fmla="val 10000"/>
              </a:avLst>
            </a:prstGeom>
            <a:solidFill>
              <a:srgbClr val="004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6"/>
            <p:cNvSpPr txBox="1"/>
            <p:nvPr/>
          </p:nvSpPr>
          <p:spPr>
            <a:xfrm>
              <a:off x="278528" y="2054790"/>
              <a:ext cx="2150772" cy="248962"/>
            </a:xfrm>
            <a:prstGeom prst="rect">
              <a:avLst/>
            </a:prstGeom>
            <a:noFill/>
            <a:ln>
              <a:noFill/>
            </a:ln>
          </p:spPr>
          <p:txBody>
            <a:bodyPr spcFirstLastPara="1" wrap="square" lIns="33000" tIns="24750" rIns="33000" bIns="24750"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 sz="1300" b="0" i="0" u="none" strike="noStrike" cap="none">
                  <a:solidFill>
                    <a:schemeClr val="lt1"/>
                  </a:solidFill>
                  <a:latin typeface="Arial"/>
                  <a:ea typeface="Arial"/>
                  <a:cs typeface="Arial"/>
                  <a:sym typeface="Arial"/>
                </a:rPr>
                <a:t>Anti-Analysis/Evasion</a:t>
              </a:r>
              <a:endParaRPr sz="1300" b="0" i="0" u="none" strike="noStrike" cap="none">
                <a:solidFill>
                  <a:schemeClr val="lt1"/>
                </a:solidFill>
                <a:latin typeface="Arial"/>
                <a:ea typeface="Arial"/>
                <a:cs typeface="Arial"/>
                <a:sym typeface="Arial"/>
              </a:endParaRPr>
            </a:p>
          </p:txBody>
        </p:sp>
        <p:sp>
          <p:nvSpPr>
            <p:cNvPr id="414" name="Google Shape;414;p36"/>
            <p:cNvSpPr/>
            <p:nvPr/>
          </p:nvSpPr>
          <p:spPr>
            <a:xfrm>
              <a:off x="270782" y="2352184"/>
              <a:ext cx="2166264" cy="264454"/>
            </a:xfrm>
            <a:prstGeom prst="roundRect">
              <a:avLst>
                <a:gd name="adj" fmla="val 10000"/>
              </a:avLst>
            </a:prstGeom>
            <a:solidFill>
              <a:srgbClr val="004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6"/>
            <p:cNvSpPr txBox="1"/>
            <p:nvPr/>
          </p:nvSpPr>
          <p:spPr>
            <a:xfrm>
              <a:off x="278528" y="2359930"/>
              <a:ext cx="2150772" cy="248962"/>
            </a:xfrm>
            <a:prstGeom prst="rect">
              <a:avLst/>
            </a:prstGeom>
            <a:noFill/>
            <a:ln>
              <a:noFill/>
            </a:ln>
          </p:spPr>
          <p:txBody>
            <a:bodyPr spcFirstLastPara="1" wrap="square" lIns="33000" tIns="24750" rIns="33000" bIns="24750" anchor="ctr" anchorCtr="0">
              <a:noAutofit/>
            </a:bodyPr>
            <a:lstStyle/>
            <a:p>
              <a:pPr marL="0" marR="0" lvl="0" indent="0" algn="ctr" rtl="0">
                <a:lnSpc>
                  <a:spcPct val="90000"/>
                </a:lnSpc>
                <a:spcBef>
                  <a:spcPts val="0"/>
                </a:spcBef>
                <a:spcAft>
                  <a:spcPts val="0"/>
                </a:spcAft>
                <a:buClr>
                  <a:srgbClr val="000000"/>
                </a:buClr>
                <a:buSzPts val="1300"/>
                <a:buFont typeface="Arial"/>
                <a:buNone/>
              </a:pPr>
              <a:r>
                <a:rPr lang="en" sz="1300" b="0" i="0" u="none" strike="noStrike" cap="none">
                  <a:solidFill>
                    <a:schemeClr val="lt1"/>
                  </a:solidFill>
                  <a:latin typeface="Arial"/>
                  <a:ea typeface="Arial"/>
                  <a:cs typeface="Arial"/>
                  <a:sym typeface="Arial"/>
                </a:rPr>
                <a:t>Command and Control (C2)</a:t>
              </a:r>
              <a:endParaRPr sz="1300" b="0" i="0" u="none" strike="noStrike" cap="none">
                <a:solidFill>
                  <a:schemeClr val="lt1"/>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37"/>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Summary of Results: </a:t>
            </a:r>
            <a:br>
              <a:rPr lang="en"/>
            </a:br>
            <a:r>
              <a:rPr lang="en"/>
              <a:t>Toolmarks and Compiler Provenance</a:t>
            </a:r>
            <a:endParaRPr/>
          </a:p>
        </p:txBody>
      </p:sp>
      <p:pic>
        <p:nvPicPr>
          <p:cNvPr id="421" name="Google Shape;421;p37"/>
          <p:cNvPicPr preferRelativeResize="0"/>
          <p:nvPr/>
        </p:nvPicPr>
        <p:blipFill rotWithShape="1">
          <a:blip r:embed="rId3">
            <a:alphaModFix/>
          </a:blip>
          <a:srcRect/>
          <a:stretch/>
        </p:blipFill>
        <p:spPr>
          <a:xfrm>
            <a:off x="497563" y="4622425"/>
            <a:ext cx="8148867" cy="359950"/>
          </a:xfrm>
          <a:prstGeom prst="rect">
            <a:avLst/>
          </a:prstGeom>
          <a:noFill/>
          <a:ln>
            <a:noFill/>
          </a:ln>
        </p:spPr>
      </p:pic>
      <p:grpSp>
        <p:nvGrpSpPr>
          <p:cNvPr id="422" name="Google Shape;422;p37"/>
          <p:cNvGrpSpPr/>
          <p:nvPr/>
        </p:nvGrpSpPr>
        <p:grpSpPr>
          <a:xfrm>
            <a:off x="1214908" y="1856458"/>
            <a:ext cx="6480218" cy="2281749"/>
            <a:chOff x="1" y="1901"/>
            <a:chExt cx="6480217" cy="2281749"/>
          </a:xfrm>
        </p:grpSpPr>
        <p:sp>
          <p:nvSpPr>
            <p:cNvPr id="423" name="Google Shape;423;p37"/>
            <p:cNvSpPr/>
            <p:nvPr/>
          </p:nvSpPr>
          <p:spPr>
            <a:xfrm rot="5400000">
              <a:off x="-193847" y="195749"/>
              <a:ext cx="1292319" cy="904623"/>
            </a:xfrm>
            <a:prstGeom prst="chevron">
              <a:avLst>
                <a:gd name="adj" fmla="val 50000"/>
              </a:avLst>
            </a:prstGeom>
            <a:solidFill>
              <a:srgbClr val="0044AC"/>
            </a:solidFill>
            <a:ln w="25400" cap="flat" cmpd="sng">
              <a:solidFill>
                <a:srgbClr val="0044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7"/>
            <p:cNvSpPr txBox="1"/>
            <p:nvPr/>
          </p:nvSpPr>
          <p:spPr>
            <a:xfrm>
              <a:off x="2" y="454213"/>
              <a:ext cx="904623" cy="387696"/>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 sz="1200" b="0" i="0" u="none" strike="noStrike" cap="none">
                  <a:solidFill>
                    <a:schemeClr val="lt1"/>
                  </a:solidFill>
                  <a:latin typeface="Lato"/>
                  <a:ea typeface="Lato"/>
                  <a:cs typeface="Lato"/>
                  <a:sym typeface="Lato"/>
                </a:rPr>
                <a:t>Toolmarks</a:t>
              </a:r>
              <a:endParaRPr/>
            </a:p>
          </p:txBody>
        </p:sp>
        <p:sp>
          <p:nvSpPr>
            <p:cNvPr id="425" name="Google Shape;425;p37"/>
            <p:cNvSpPr/>
            <p:nvPr/>
          </p:nvSpPr>
          <p:spPr>
            <a:xfrm rot="5400000">
              <a:off x="3272417" y="-2365892"/>
              <a:ext cx="840007" cy="5575596"/>
            </a:xfrm>
            <a:prstGeom prst="round2SameRect">
              <a:avLst>
                <a:gd name="adj1" fmla="val 16667"/>
                <a:gd name="adj2" fmla="val 0"/>
              </a:avLst>
            </a:prstGeom>
            <a:solidFill>
              <a:srgbClr val="CBCFE3">
                <a:alpha val="89803"/>
              </a:srgbClr>
            </a:solidFill>
            <a:ln w="25400" cap="flat" cmpd="sng">
              <a:solidFill>
                <a:srgbClr val="0044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7"/>
            <p:cNvSpPr txBox="1"/>
            <p:nvPr/>
          </p:nvSpPr>
          <p:spPr>
            <a:xfrm>
              <a:off x="904623" y="42908"/>
              <a:ext cx="5534590" cy="757995"/>
            </a:xfrm>
            <a:prstGeom prst="rect">
              <a:avLst/>
            </a:prstGeom>
            <a:noFill/>
            <a:ln>
              <a:noFill/>
            </a:ln>
          </p:spPr>
          <p:txBody>
            <a:bodyPr spcFirstLastPara="1" wrap="square" lIns="85325" tIns="7600" rIns="7600" bIns="7600" anchor="ctr" anchorCtr="0">
              <a:noAutofit/>
            </a:bodyPr>
            <a:lstStyle/>
            <a:p>
              <a:pPr marL="114300" marR="0" lvl="1" indent="-114300" algn="l" rtl="0">
                <a:lnSpc>
                  <a:spcPct val="90000"/>
                </a:lnSpc>
                <a:spcBef>
                  <a:spcPts val="0"/>
                </a:spcBef>
                <a:spcAft>
                  <a:spcPts val="0"/>
                </a:spcAft>
                <a:buClr>
                  <a:srgbClr val="000000"/>
                </a:buClr>
                <a:buSzPts val="1200"/>
                <a:buFont typeface="Arial"/>
                <a:buChar char="•"/>
              </a:pPr>
              <a:r>
                <a:rPr lang="en" sz="1200" b="0" i="0" u="none" strike="noStrike" cap="none">
                  <a:solidFill>
                    <a:srgbClr val="000000"/>
                  </a:solidFill>
                  <a:latin typeface="Lato"/>
                  <a:ea typeface="Lato"/>
                  <a:cs typeface="Lato"/>
                  <a:sym typeface="Lato"/>
                </a:rPr>
                <a:t>Fingerprints of the toolchain used in the development of a software </a:t>
              </a:r>
              <a:endParaRPr/>
            </a:p>
            <a:p>
              <a:pPr marL="114300" marR="0" lvl="1" indent="-114300" algn="l" rtl="0">
                <a:lnSpc>
                  <a:spcPct val="90000"/>
                </a:lnSpc>
                <a:spcBef>
                  <a:spcPts val="180"/>
                </a:spcBef>
                <a:spcAft>
                  <a:spcPts val="0"/>
                </a:spcAft>
                <a:buClr>
                  <a:srgbClr val="000000"/>
                </a:buClr>
                <a:buSzPts val="1200"/>
                <a:buFont typeface="Arial"/>
                <a:buChar char="•"/>
              </a:pPr>
              <a:r>
                <a:rPr lang="en" sz="1200" b="0" i="0" u="none" strike="noStrike" cap="none">
                  <a:solidFill>
                    <a:srgbClr val="000000"/>
                  </a:solidFill>
                  <a:latin typeface="Lato"/>
                  <a:ea typeface="Lato"/>
                  <a:cs typeface="Lato"/>
                  <a:sym typeface="Lato"/>
                </a:rPr>
                <a:t>Essential clues for analysis and reverse engineering</a:t>
              </a:r>
              <a:endParaRPr/>
            </a:p>
            <a:p>
              <a:pPr marL="114300" marR="0" lvl="1" indent="-114300" algn="l" rtl="0">
                <a:lnSpc>
                  <a:spcPct val="90000"/>
                </a:lnSpc>
                <a:spcBef>
                  <a:spcPts val="180"/>
                </a:spcBef>
                <a:spcAft>
                  <a:spcPts val="0"/>
                </a:spcAft>
                <a:buClr>
                  <a:srgbClr val="000000"/>
                </a:buClr>
                <a:buSzPts val="1200"/>
                <a:buFont typeface="Arial"/>
                <a:buChar char="•"/>
              </a:pPr>
              <a:r>
                <a:rPr lang="en" sz="1200" b="0" i="0" u="none" strike="noStrike" cap="none">
                  <a:solidFill>
                    <a:srgbClr val="000000"/>
                  </a:solidFill>
                  <a:latin typeface="Lato"/>
                  <a:ea typeface="Lato"/>
                  <a:cs typeface="Lato"/>
                  <a:sym typeface="Lato"/>
                </a:rPr>
                <a:t>Examples: executable metadata, compiler functions, linked library code</a:t>
              </a:r>
              <a:endParaRPr/>
            </a:p>
          </p:txBody>
        </p:sp>
        <p:sp>
          <p:nvSpPr>
            <p:cNvPr id="427" name="Google Shape;427;p37"/>
            <p:cNvSpPr/>
            <p:nvPr/>
          </p:nvSpPr>
          <p:spPr>
            <a:xfrm rot="5400000">
              <a:off x="-193847" y="1185179"/>
              <a:ext cx="1292319" cy="904623"/>
            </a:xfrm>
            <a:prstGeom prst="chevron">
              <a:avLst>
                <a:gd name="adj" fmla="val 50000"/>
              </a:avLst>
            </a:prstGeom>
            <a:solidFill>
              <a:srgbClr val="0044AC"/>
            </a:solidFill>
            <a:ln w="25400" cap="flat" cmpd="sng">
              <a:solidFill>
                <a:srgbClr val="0044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7"/>
            <p:cNvSpPr txBox="1"/>
            <p:nvPr/>
          </p:nvSpPr>
          <p:spPr>
            <a:xfrm>
              <a:off x="2" y="1443643"/>
              <a:ext cx="904623" cy="387696"/>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 sz="1200" b="0" i="0" u="none" strike="noStrike" cap="none">
                  <a:solidFill>
                    <a:schemeClr val="lt1"/>
                  </a:solidFill>
                  <a:latin typeface="Lato"/>
                  <a:ea typeface="Lato"/>
                  <a:cs typeface="Lato"/>
                  <a:sym typeface="Lato"/>
                </a:rPr>
                <a:t>Compiler Provenance</a:t>
              </a:r>
              <a:endParaRPr/>
            </a:p>
          </p:txBody>
        </p:sp>
        <p:sp>
          <p:nvSpPr>
            <p:cNvPr id="429" name="Google Shape;429;p37"/>
            <p:cNvSpPr/>
            <p:nvPr/>
          </p:nvSpPr>
          <p:spPr>
            <a:xfrm rot="5400000">
              <a:off x="3272417" y="-1376462"/>
              <a:ext cx="840007" cy="5575596"/>
            </a:xfrm>
            <a:prstGeom prst="round2SameRect">
              <a:avLst>
                <a:gd name="adj1" fmla="val 16667"/>
                <a:gd name="adj2" fmla="val 0"/>
              </a:avLst>
            </a:prstGeom>
            <a:solidFill>
              <a:srgbClr val="CBCFE3">
                <a:alpha val="89803"/>
              </a:srgbClr>
            </a:solidFill>
            <a:ln w="25400" cap="flat" cmpd="sng">
              <a:solidFill>
                <a:srgbClr val="0044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7"/>
            <p:cNvSpPr txBox="1"/>
            <p:nvPr/>
          </p:nvSpPr>
          <p:spPr>
            <a:xfrm>
              <a:off x="904623" y="1032338"/>
              <a:ext cx="5534700" cy="758100"/>
            </a:xfrm>
            <a:prstGeom prst="rect">
              <a:avLst/>
            </a:prstGeom>
            <a:noFill/>
            <a:ln>
              <a:noFill/>
            </a:ln>
          </p:spPr>
          <p:txBody>
            <a:bodyPr spcFirstLastPara="1" wrap="square" lIns="85325" tIns="7600" rIns="7600" bIns="7600" anchor="ctr" anchorCtr="0">
              <a:noAutofit/>
            </a:bodyPr>
            <a:lstStyle/>
            <a:p>
              <a:pPr marL="114300" marR="0" lvl="1" indent="-114300" algn="l" rtl="0">
                <a:lnSpc>
                  <a:spcPct val="90000"/>
                </a:lnSpc>
                <a:spcBef>
                  <a:spcPts val="0"/>
                </a:spcBef>
                <a:spcAft>
                  <a:spcPts val="0"/>
                </a:spcAft>
                <a:buClr>
                  <a:srgbClr val="000000"/>
                </a:buClr>
                <a:buSzPts val="1200"/>
                <a:buFont typeface="Arial"/>
                <a:buChar char="•"/>
              </a:pPr>
              <a:r>
                <a:rPr lang="en" sz="1200" b="0" i="0" u="none" strike="noStrike" cap="none">
                  <a:solidFill>
                    <a:srgbClr val="000000"/>
                  </a:solidFill>
                  <a:latin typeface="Lato"/>
                  <a:ea typeface="Lato"/>
                  <a:cs typeface="Lato"/>
                  <a:sym typeface="Lato"/>
                </a:rPr>
                <a:t>Toolmarks relating to the compiler</a:t>
              </a:r>
              <a:endParaRPr/>
            </a:p>
            <a:p>
              <a:pPr marL="114300" marR="0" lvl="1" indent="-114300" algn="l" rtl="0">
                <a:lnSpc>
                  <a:spcPct val="90000"/>
                </a:lnSpc>
                <a:spcBef>
                  <a:spcPts val="180"/>
                </a:spcBef>
                <a:spcAft>
                  <a:spcPts val="0"/>
                </a:spcAft>
                <a:buClr>
                  <a:srgbClr val="000000"/>
                </a:buClr>
                <a:buSzPts val="1200"/>
                <a:buFont typeface="Arial"/>
                <a:buChar char="•"/>
              </a:pPr>
              <a:r>
                <a:rPr lang="en" sz="1200">
                  <a:latin typeface="Lato"/>
                  <a:ea typeface="Lato"/>
                  <a:cs typeface="Lato"/>
                  <a:sym typeface="Lato"/>
                </a:rPr>
                <a:t>Few papers published in this area</a:t>
              </a:r>
              <a:endParaRPr/>
            </a:p>
            <a:p>
              <a:pPr marL="114300" marR="0" lvl="1" indent="-114300" algn="l" rtl="0">
                <a:lnSpc>
                  <a:spcPct val="90000"/>
                </a:lnSpc>
                <a:spcBef>
                  <a:spcPts val="180"/>
                </a:spcBef>
                <a:spcAft>
                  <a:spcPts val="0"/>
                </a:spcAft>
                <a:buClr>
                  <a:srgbClr val="000000"/>
                </a:buClr>
                <a:buSzPts val="1200"/>
                <a:buFont typeface="Arial"/>
                <a:buChar char="•"/>
              </a:pPr>
              <a:r>
                <a:rPr lang="en" sz="1200">
                  <a:latin typeface="Lato"/>
                  <a:ea typeface="Lato"/>
                  <a:cs typeface="Lato"/>
                  <a:sym typeface="Lato"/>
                </a:rPr>
                <a:t>Examples: compiler family, version, functions…</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38"/>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Summary of Results: </a:t>
            </a:r>
            <a:br>
              <a:rPr lang="en"/>
            </a:br>
            <a:r>
              <a:rPr lang="en"/>
              <a:t>Statically-Linked Library Identification</a:t>
            </a:r>
            <a:endParaRPr/>
          </a:p>
        </p:txBody>
      </p:sp>
      <p:pic>
        <p:nvPicPr>
          <p:cNvPr id="436" name="Google Shape;436;p38"/>
          <p:cNvPicPr preferRelativeResize="0"/>
          <p:nvPr/>
        </p:nvPicPr>
        <p:blipFill rotWithShape="1">
          <a:blip r:embed="rId3">
            <a:alphaModFix/>
          </a:blip>
          <a:srcRect/>
          <a:stretch/>
        </p:blipFill>
        <p:spPr>
          <a:xfrm>
            <a:off x="497563" y="4622425"/>
            <a:ext cx="8148867" cy="359950"/>
          </a:xfrm>
          <a:prstGeom prst="rect">
            <a:avLst/>
          </a:prstGeom>
          <a:noFill/>
          <a:ln>
            <a:noFill/>
          </a:ln>
        </p:spPr>
      </p:pic>
      <p:grpSp>
        <p:nvGrpSpPr>
          <p:cNvPr id="437" name="Google Shape;437;p38"/>
          <p:cNvGrpSpPr/>
          <p:nvPr/>
        </p:nvGrpSpPr>
        <p:grpSpPr>
          <a:xfrm>
            <a:off x="1891049" y="1395524"/>
            <a:ext cx="5243848" cy="3035165"/>
            <a:chOff x="0" y="1"/>
            <a:chExt cx="5243848" cy="3035165"/>
          </a:xfrm>
        </p:grpSpPr>
        <p:sp>
          <p:nvSpPr>
            <p:cNvPr id="438" name="Google Shape;438;p38"/>
            <p:cNvSpPr/>
            <p:nvPr/>
          </p:nvSpPr>
          <p:spPr>
            <a:xfrm>
              <a:off x="0" y="2490341"/>
              <a:ext cx="5243848" cy="544825"/>
            </a:xfrm>
            <a:prstGeom prst="rect">
              <a:avLst/>
            </a:prstGeom>
            <a:solidFill>
              <a:srgbClr val="004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8"/>
            <p:cNvSpPr txBox="1"/>
            <p:nvPr/>
          </p:nvSpPr>
          <p:spPr>
            <a:xfrm>
              <a:off x="0" y="2490341"/>
              <a:ext cx="5243848" cy="294205"/>
            </a:xfrm>
            <a:prstGeom prst="rect">
              <a:avLst/>
            </a:prstGeom>
            <a:noFill/>
            <a:ln>
              <a:noFill/>
            </a:ln>
          </p:spPr>
          <p:txBody>
            <a:bodyPr spcFirstLastPara="1" wrap="square" lIns="99550" tIns="99550" rIns="99550" bIns="9955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solidFill>
                    <a:schemeClr val="lt1"/>
                  </a:solidFill>
                  <a:latin typeface="Lato"/>
                  <a:ea typeface="Lato"/>
                  <a:cs typeface="Lato"/>
                  <a:sym typeface="Lato"/>
                </a:rPr>
                <a:t>Our research aim to apply such models in analysis tool</a:t>
              </a:r>
              <a:endParaRPr/>
            </a:p>
          </p:txBody>
        </p:sp>
        <p:sp>
          <p:nvSpPr>
            <p:cNvPr id="440" name="Google Shape;440;p38"/>
            <p:cNvSpPr/>
            <p:nvPr/>
          </p:nvSpPr>
          <p:spPr>
            <a:xfrm>
              <a:off x="0" y="2773650"/>
              <a:ext cx="5243848" cy="250619"/>
            </a:xfrm>
            <a:prstGeom prst="rect">
              <a:avLst/>
            </a:prstGeom>
            <a:solidFill>
              <a:srgbClr val="CACEE2">
                <a:alpha val="8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8"/>
            <p:cNvSpPr txBox="1"/>
            <p:nvPr/>
          </p:nvSpPr>
          <p:spPr>
            <a:xfrm>
              <a:off x="0" y="2773650"/>
              <a:ext cx="5243848" cy="250619"/>
            </a:xfrm>
            <a:prstGeom prst="rect">
              <a:avLst/>
            </a:prstGeom>
            <a:noFill/>
            <a:ln>
              <a:noFill/>
            </a:ln>
          </p:spPr>
          <p:txBody>
            <a:bodyPr spcFirstLastPara="1" wrap="square" lIns="78225" tIns="13950" rIns="78225"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 sz="1100" b="0" i="0" u="none" strike="noStrike" cap="none">
                  <a:solidFill>
                    <a:srgbClr val="000000"/>
                  </a:solidFill>
                  <a:latin typeface="Lato"/>
                  <a:ea typeface="Lato"/>
                  <a:cs typeface="Lato"/>
                  <a:sym typeface="Lato"/>
                </a:rPr>
                <a:t>Similar tools: Radare2, Rizin, Nucleus</a:t>
              </a:r>
              <a:endParaRPr/>
            </a:p>
          </p:txBody>
        </p:sp>
        <p:sp>
          <p:nvSpPr>
            <p:cNvPr id="442" name="Google Shape;442;p38"/>
            <p:cNvSpPr/>
            <p:nvPr/>
          </p:nvSpPr>
          <p:spPr>
            <a:xfrm rot="10800000">
              <a:off x="0" y="1660571"/>
              <a:ext cx="5243848" cy="837942"/>
            </a:xfrm>
            <a:prstGeom prst="upArrowCallout">
              <a:avLst>
                <a:gd name="adj1" fmla="val 25000"/>
                <a:gd name="adj2" fmla="val 25000"/>
                <a:gd name="adj3" fmla="val 25000"/>
                <a:gd name="adj4" fmla="val 64977"/>
              </a:avLst>
            </a:prstGeom>
            <a:solidFill>
              <a:srgbClr val="004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8"/>
            <p:cNvSpPr txBox="1"/>
            <p:nvPr/>
          </p:nvSpPr>
          <p:spPr>
            <a:xfrm>
              <a:off x="0" y="1660571"/>
              <a:ext cx="5243848" cy="294117"/>
            </a:xfrm>
            <a:prstGeom prst="rect">
              <a:avLst/>
            </a:prstGeom>
            <a:noFill/>
            <a:ln>
              <a:noFill/>
            </a:ln>
          </p:spPr>
          <p:txBody>
            <a:bodyPr spcFirstLastPara="1" wrap="square" lIns="99550" tIns="99550" rIns="99550" bIns="9955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solidFill>
                    <a:schemeClr val="lt1"/>
                  </a:solidFill>
                  <a:latin typeface="Lato"/>
                  <a:ea typeface="Lato"/>
                  <a:cs typeface="Lato"/>
                  <a:sym typeface="Lato"/>
                </a:rPr>
                <a:t>Existing library function detection models</a:t>
              </a:r>
              <a:endParaRPr/>
            </a:p>
          </p:txBody>
        </p:sp>
        <p:sp>
          <p:nvSpPr>
            <p:cNvPr id="444" name="Google Shape;444;p38"/>
            <p:cNvSpPr/>
            <p:nvPr/>
          </p:nvSpPr>
          <p:spPr>
            <a:xfrm>
              <a:off x="0" y="1954689"/>
              <a:ext cx="5243848" cy="250544"/>
            </a:xfrm>
            <a:prstGeom prst="rect">
              <a:avLst/>
            </a:prstGeom>
            <a:solidFill>
              <a:srgbClr val="CACEE2">
                <a:alpha val="8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8"/>
            <p:cNvSpPr txBox="1"/>
            <p:nvPr/>
          </p:nvSpPr>
          <p:spPr>
            <a:xfrm>
              <a:off x="0" y="1954689"/>
              <a:ext cx="5243848" cy="250544"/>
            </a:xfrm>
            <a:prstGeom prst="rect">
              <a:avLst/>
            </a:prstGeom>
            <a:noFill/>
            <a:ln>
              <a:noFill/>
            </a:ln>
          </p:spPr>
          <p:txBody>
            <a:bodyPr spcFirstLastPara="1" wrap="square" lIns="78225" tIns="13950" rIns="78225"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 sz="1100" b="0" i="0" u="none" strike="noStrike" cap="none">
                  <a:solidFill>
                    <a:srgbClr val="000000"/>
                  </a:solidFill>
                  <a:latin typeface="Lato"/>
                  <a:ea typeface="Lato"/>
                  <a:cs typeface="Lato"/>
                  <a:sym typeface="Lato"/>
                </a:rPr>
                <a:t>FLIRT, IDA Pro Signatures</a:t>
              </a:r>
              <a:endParaRPr/>
            </a:p>
          </p:txBody>
        </p:sp>
        <p:sp>
          <p:nvSpPr>
            <p:cNvPr id="446" name="Google Shape;446;p38"/>
            <p:cNvSpPr/>
            <p:nvPr/>
          </p:nvSpPr>
          <p:spPr>
            <a:xfrm rot="10800000">
              <a:off x="0" y="830801"/>
              <a:ext cx="5243848" cy="837942"/>
            </a:xfrm>
            <a:prstGeom prst="upArrowCallout">
              <a:avLst>
                <a:gd name="adj1" fmla="val 25000"/>
                <a:gd name="adj2" fmla="val 25000"/>
                <a:gd name="adj3" fmla="val 25000"/>
                <a:gd name="adj4" fmla="val 64977"/>
              </a:avLst>
            </a:prstGeom>
            <a:solidFill>
              <a:srgbClr val="004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8"/>
            <p:cNvSpPr txBox="1"/>
            <p:nvPr/>
          </p:nvSpPr>
          <p:spPr>
            <a:xfrm>
              <a:off x="0" y="830801"/>
              <a:ext cx="5243848" cy="294117"/>
            </a:xfrm>
            <a:prstGeom prst="rect">
              <a:avLst/>
            </a:prstGeom>
            <a:noFill/>
            <a:ln>
              <a:noFill/>
            </a:ln>
          </p:spPr>
          <p:txBody>
            <a:bodyPr spcFirstLastPara="1" wrap="square" lIns="99550" tIns="99550" rIns="99550" bIns="9955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solidFill>
                    <a:schemeClr val="lt1"/>
                  </a:solidFill>
                  <a:latin typeface="Lato"/>
                  <a:ea typeface="Lato"/>
                  <a:cs typeface="Lato"/>
                  <a:sym typeface="Lato"/>
                </a:rPr>
                <a:t>Allow</a:t>
              </a:r>
              <a:r>
                <a:rPr lang="en">
                  <a:solidFill>
                    <a:schemeClr val="lt1"/>
                  </a:solidFill>
                  <a:latin typeface="Lato"/>
                  <a:ea typeface="Lato"/>
                  <a:cs typeface="Lato"/>
                  <a:sym typeface="Lato"/>
                </a:rPr>
                <a:t>s </a:t>
              </a:r>
              <a:r>
                <a:rPr lang="en" sz="1400" b="0" i="0" u="none" strike="noStrike" cap="none">
                  <a:solidFill>
                    <a:schemeClr val="lt1"/>
                  </a:solidFill>
                  <a:latin typeface="Lato"/>
                  <a:ea typeface="Lato"/>
                  <a:cs typeface="Lato"/>
                  <a:sym typeface="Lato"/>
                </a:rPr>
                <a:t>malware to interact with low-level systems</a:t>
              </a:r>
              <a:endParaRPr/>
            </a:p>
          </p:txBody>
        </p:sp>
        <p:sp>
          <p:nvSpPr>
            <p:cNvPr id="448" name="Google Shape;448;p38"/>
            <p:cNvSpPr/>
            <p:nvPr/>
          </p:nvSpPr>
          <p:spPr>
            <a:xfrm>
              <a:off x="0" y="1124919"/>
              <a:ext cx="5243848" cy="250544"/>
            </a:xfrm>
            <a:prstGeom prst="rect">
              <a:avLst/>
            </a:prstGeom>
            <a:solidFill>
              <a:srgbClr val="CACEE2">
                <a:alpha val="8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8"/>
            <p:cNvSpPr txBox="1"/>
            <p:nvPr/>
          </p:nvSpPr>
          <p:spPr>
            <a:xfrm>
              <a:off x="0" y="1124919"/>
              <a:ext cx="5243848" cy="250544"/>
            </a:xfrm>
            <a:prstGeom prst="rect">
              <a:avLst/>
            </a:prstGeom>
            <a:noFill/>
            <a:ln>
              <a:noFill/>
            </a:ln>
          </p:spPr>
          <p:txBody>
            <a:bodyPr spcFirstLastPara="1" wrap="square" lIns="78225" tIns="13950" rIns="78225"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 sz="1100" b="0" i="0" u="none" strike="noStrike" cap="none">
                  <a:solidFill>
                    <a:srgbClr val="000000"/>
                  </a:solidFill>
                  <a:latin typeface="Lato"/>
                  <a:ea typeface="Lato"/>
                  <a:cs typeface="Lato"/>
                  <a:sym typeface="Lato"/>
                </a:rPr>
                <a:t>Interaction with the OS</a:t>
              </a:r>
              <a:endParaRPr/>
            </a:p>
          </p:txBody>
        </p:sp>
        <p:sp>
          <p:nvSpPr>
            <p:cNvPr id="450" name="Google Shape;450;p38"/>
            <p:cNvSpPr/>
            <p:nvPr/>
          </p:nvSpPr>
          <p:spPr>
            <a:xfrm rot="10800000">
              <a:off x="0" y="1"/>
              <a:ext cx="5243848" cy="837942"/>
            </a:xfrm>
            <a:prstGeom prst="upArrowCallout">
              <a:avLst>
                <a:gd name="adj1" fmla="val 25000"/>
                <a:gd name="adj2" fmla="val 25000"/>
                <a:gd name="adj3" fmla="val 25000"/>
                <a:gd name="adj4" fmla="val 64977"/>
              </a:avLst>
            </a:prstGeom>
            <a:solidFill>
              <a:srgbClr val="004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8"/>
            <p:cNvSpPr txBox="1"/>
            <p:nvPr/>
          </p:nvSpPr>
          <p:spPr>
            <a:xfrm>
              <a:off x="0" y="1"/>
              <a:ext cx="5243848" cy="294117"/>
            </a:xfrm>
            <a:prstGeom prst="rect">
              <a:avLst/>
            </a:prstGeom>
            <a:noFill/>
            <a:ln>
              <a:noFill/>
            </a:ln>
          </p:spPr>
          <p:txBody>
            <a:bodyPr spcFirstLastPara="1" wrap="square" lIns="99550" tIns="99550" rIns="99550" bIns="9955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solidFill>
                    <a:schemeClr val="lt1"/>
                  </a:solidFill>
                  <a:latin typeface="Lato"/>
                  <a:ea typeface="Lato"/>
                  <a:cs typeface="Lato"/>
                  <a:sym typeface="Lato"/>
                </a:rPr>
                <a:t>Library functions call lower-level functions</a:t>
              </a:r>
              <a:endParaRPr/>
            </a:p>
          </p:txBody>
        </p:sp>
        <p:sp>
          <p:nvSpPr>
            <p:cNvPr id="452" name="Google Shape;452;p38"/>
            <p:cNvSpPr/>
            <p:nvPr/>
          </p:nvSpPr>
          <p:spPr>
            <a:xfrm>
              <a:off x="0" y="294117"/>
              <a:ext cx="5243848" cy="250544"/>
            </a:xfrm>
            <a:prstGeom prst="rect">
              <a:avLst/>
            </a:prstGeom>
            <a:solidFill>
              <a:srgbClr val="CACEE2">
                <a:alpha val="8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8"/>
            <p:cNvSpPr txBox="1"/>
            <p:nvPr/>
          </p:nvSpPr>
          <p:spPr>
            <a:xfrm>
              <a:off x="0" y="294117"/>
              <a:ext cx="5243848" cy="250544"/>
            </a:xfrm>
            <a:prstGeom prst="rect">
              <a:avLst/>
            </a:prstGeom>
            <a:noFill/>
            <a:ln>
              <a:noFill/>
            </a:ln>
          </p:spPr>
          <p:txBody>
            <a:bodyPr spcFirstLastPara="1" wrap="square" lIns="78225" tIns="13950" rIns="78225"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 sz="1100" b="0" i="0" u="none" strike="noStrike" cap="none">
                  <a:solidFill>
                    <a:srgbClr val="000000"/>
                  </a:solidFill>
                  <a:latin typeface="Lato"/>
                  <a:ea typeface="Lato"/>
                  <a:cs typeface="Lato"/>
                  <a:sym typeface="Lato"/>
                </a:rPr>
                <a:t>Windows APIs, ANSI C headers</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39"/>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Summary of Results: </a:t>
            </a:r>
            <a:br>
              <a:rPr lang="en"/>
            </a:br>
            <a:r>
              <a:rPr lang="en"/>
              <a:t>Malware Development Life Cycle</a:t>
            </a:r>
            <a:endParaRPr/>
          </a:p>
        </p:txBody>
      </p:sp>
      <p:pic>
        <p:nvPicPr>
          <p:cNvPr id="459" name="Google Shape;459;p39"/>
          <p:cNvPicPr preferRelativeResize="0"/>
          <p:nvPr/>
        </p:nvPicPr>
        <p:blipFill rotWithShape="1">
          <a:blip r:embed="rId3">
            <a:alphaModFix/>
          </a:blip>
          <a:srcRect/>
          <a:stretch/>
        </p:blipFill>
        <p:spPr>
          <a:xfrm>
            <a:off x="497563" y="4622425"/>
            <a:ext cx="8148867" cy="359950"/>
          </a:xfrm>
          <a:prstGeom prst="rect">
            <a:avLst/>
          </a:prstGeom>
          <a:noFill/>
          <a:ln>
            <a:noFill/>
          </a:ln>
        </p:spPr>
      </p:pic>
      <p:grpSp>
        <p:nvGrpSpPr>
          <p:cNvPr id="460" name="Google Shape;460;p39"/>
          <p:cNvGrpSpPr/>
          <p:nvPr/>
        </p:nvGrpSpPr>
        <p:grpSpPr>
          <a:xfrm>
            <a:off x="874666" y="1987701"/>
            <a:ext cx="7612560" cy="461367"/>
            <a:chOff x="3720" y="223296"/>
            <a:chExt cx="7612560" cy="461367"/>
          </a:xfrm>
        </p:grpSpPr>
        <p:sp>
          <p:nvSpPr>
            <p:cNvPr id="461" name="Google Shape;461;p39"/>
            <p:cNvSpPr/>
            <p:nvPr/>
          </p:nvSpPr>
          <p:spPr>
            <a:xfrm>
              <a:off x="3720" y="223296"/>
              <a:ext cx="1153418" cy="461367"/>
            </a:xfrm>
            <a:prstGeom prst="homePlate">
              <a:avLst>
                <a:gd name="adj" fmla="val 50000"/>
              </a:avLst>
            </a:prstGeom>
            <a:solidFill>
              <a:srgbClr val="0044AC"/>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9"/>
            <p:cNvSpPr txBox="1"/>
            <p:nvPr/>
          </p:nvSpPr>
          <p:spPr>
            <a:xfrm>
              <a:off x="3720" y="223296"/>
              <a:ext cx="1038076" cy="461367"/>
            </a:xfrm>
            <a:prstGeom prst="rect">
              <a:avLst/>
            </a:prstGeom>
            <a:noFill/>
            <a:ln>
              <a:noFill/>
            </a:ln>
          </p:spPr>
          <p:txBody>
            <a:bodyPr spcFirstLastPara="1" wrap="square" lIns="58650" tIns="29325" rIns="14650" bIns="293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 sz="1100" b="0" i="0" u="none" strike="noStrike" cap="none">
                  <a:solidFill>
                    <a:schemeClr val="lt1"/>
                  </a:solidFill>
                  <a:latin typeface="Lato"/>
                  <a:ea typeface="Lato"/>
                  <a:cs typeface="Lato"/>
                  <a:sym typeface="Lato"/>
                </a:rPr>
                <a:t>Requirements</a:t>
              </a:r>
              <a:endParaRPr/>
            </a:p>
          </p:txBody>
        </p:sp>
        <p:sp>
          <p:nvSpPr>
            <p:cNvPr id="463" name="Google Shape;463;p39"/>
            <p:cNvSpPr/>
            <p:nvPr/>
          </p:nvSpPr>
          <p:spPr>
            <a:xfrm>
              <a:off x="926455" y="223296"/>
              <a:ext cx="1153418" cy="461367"/>
            </a:xfrm>
            <a:prstGeom prst="chevron">
              <a:avLst>
                <a:gd name="adj" fmla="val 50000"/>
              </a:avLst>
            </a:prstGeom>
            <a:solidFill>
              <a:srgbClr val="0044AC"/>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9"/>
            <p:cNvSpPr txBox="1"/>
            <p:nvPr/>
          </p:nvSpPr>
          <p:spPr>
            <a:xfrm>
              <a:off x="1157139" y="223296"/>
              <a:ext cx="692051" cy="461367"/>
            </a:xfrm>
            <a:prstGeom prst="rect">
              <a:avLst/>
            </a:prstGeom>
            <a:noFill/>
            <a:ln>
              <a:noFill/>
            </a:ln>
          </p:spPr>
          <p:txBody>
            <a:bodyPr spcFirstLastPara="1" wrap="square" lIns="44000" tIns="29325" rIns="14650" bIns="293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 sz="1100" b="0" i="0" u="none" strike="noStrike" cap="none">
                  <a:solidFill>
                    <a:schemeClr val="lt1"/>
                  </a:solidFill>
                  <a:latin typeface="Lato"/>
                  <a:ea typeface="Lato"/>
                  <a:cs typeface="Lato"/>
                  <a:sym typeface="Lato"/>
                </a:rPr>
                <a:t>Design</a:t>
              </a:r>
              <a:endParaRPr/>
            </a:p>
          </p:txBody>
        </p:sp>
        <p:sp>
          <p:nvSpPr>
            <p:cNvPr id="465" name="Google Shape;465;p39"/>
            <p:cNvSpPr/>
            <p:nvPr/>
          </p:nvSpPr>
          <p:spPr>
            <a:xfrm>
              <a:off x="1849189" y="223296"/>
              <a:ext cx="1153418" cy="461367"/>
            </a:xfrm>
            <a:prstGeom prst="chevron">
              <a:avLst>
                <a:gd name="adj" fmla="val 50000"/>
              </a:avLst>
            </a:prstGeom>
            <a:solidFill>
              <a:srgbClr val="0044AC"/>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9"/>
            <p:cNvSpPr txBox="1"/>
            <p:nvPr/>
          </p:nvSpPr>
          <p:spPr>
            <a:xfrm>
              <a:off x="2079873" y="223296"/>
              <a:ext cx="692051" cy="461367"/>
            </a:xfrm>
            <a:prstGeom prst="rect">
              <a:avLst/>
            </a:prstGeom>
            <a:noFill/>
            <a:ln>
              <a:noFill/>
            </a:ln>
          </p:spPr>
          <p:txBody>
            <a:bodyPr spcFirstLastPara="1" wrap="square" lIns="44000" tIns="29325" rIns="14650" bIns="293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 sz="1100" b="0" i="0" u="none" strike="noStrike" cap="none">
                  <a:solidFill>
                    <a:schemeClr val="lt1"/>
                  </a:solidFill>
                  <a:latin typeface="Lato"/>
                  <a:ea typeface="Lato"/>
                  <a:cs typeface="Lato"/>
                  <a:sym typeface="Lato"/>
                </a:rPr>
                <a:t>Code</a:t>
              </a:r>
              <a:endParaRPr/>
            </a:p>
          </p:txBody>
        </p:sp>
        <p:sp>
          <p:nvSpPr>
            <p:cNvPr id="467" name="Google Shape;467;p39"/>
            <p:cNvSpPr/>
            <p:nvPr/>
          </p:nvSpPr>
          <p:spPr>
            <a:xfrm>
              <a:off x="2771924" y="223296"/>
              <a:ext cx="1153418" cy="461367"/>
            </a:xfrm>
            <a:prstGeom prst="chevron">
              <a:avLst>
                <a:gd name="adj" fmla="val 50000"/>
              </a:avLst>
            </a:prstGeom>
            <a:solidFill>
              <a:srgbClr val="0044AC"/>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9"/>
            <p:cNvSpPr txBox="1"/>
            <p:nvPr/>
          </p:nvSpPr>
          <p:spPr>
            <a:xfrm>
              <a:off x="3002608" y="223296"/>
              <a:ext cx="692051" cy="461367"/>
            </a:xfrm>
            <a:prstGeom prst="rect">
              <a:avLst/>
            </a:prstGeom>
            <a:noFill/>
            <a:ln>
              <a:noFill/>
            </a:ln>
          </p:spPr>
          <p:txBody>
            <a:bodyPr spcFirstLastPara="1" wrap="square" lIns="44000" tIns="29325" rIns="14650" bIns="293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 sz="1100" b="0" i="0" u="none" strike="noStrike" cap="none">
                  <a:solidFill>
                    <a:schemeClr val="lt1"/>
                  </a:solidFill>
                  <a:latin typeface="Lato"/>
                  <a:ea typeface="Lato"/>
                  <a:cs typeface="Lato"/>
                  <a:sym typeface="Lato"/>
                </a:rPr>
                <a:t>Build</a:t>
              </a:r>
              <a:endParaRPr/>
            </a:p>
          </p:txBody>
        </p:sp>
        <p:sp>
          <p:nvSpPr>
            <p:cNvPr id="469" name="Google Shape;469;p39"/>
            <p:cNvSpPr/>
            <p:nvPr/>
          </p:nvSpPr>
          <p:spPr>
            <a:xfrm>
              <a:off x="3694658" y="223296"/>
              <a:ext cx="1153418" cy="461367"/>
            </a:xfrm>
            <a:prstGeom prst="chevron">
              <a:avLst>
                <a:gd name="adj" fmla="val 50000"/>
              </a:avLst>
            </a:prstGeom>
            <a:solidFill>
              <a:srgbClr val="0044AC"/>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9"/>
            <p:cNvSpPr txBox="1"/>
            <p:nvPr/>
          </p:nvSpPr>
          <p:spPr>
            <a:xfrm>
              <a:off x="3925342" y="223296"/>
              <a:ext cx="692051" cy="461367"/>
            </a:xfrm>
            <a:prstGeom prst="rect">
              <a:avLst/>
            </a:prstGeom>
            <a:noFill/>
            <a:ln>
              <a:noFill/>
            </a:ln>
          </p:spPr>
          <p:txBody>
            <a:bodyPr spcFirstLastPara="1" wrap="square" lIns="44000" tIns="29325" rIns="14650" bIns="293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 sz="1100" b="0" i="0" u="none" strike="noStrike" cap="none">
                  <a:solidFill>
                    <a:schemeClr val="lt1"/>
                  </a:solidFill>
                  <a:latin typeface="Lato"/>
                  <a:ea typeface="Lato"/>
                  <a:cs typeface="Lato"/>
                  <a:sym typeface="Lato"/>
                </a:rPr>
                <a:t>Configure</a:t>
              </a:r>
              <a:endParaRPr/>
            </a:p>
          </p:txBody>
        </p:sp>
        <p:sp>
          <p:nvSpPr>
            <p:cNvPr id="471" name="Google Shape;471;p39"/>
            <p:cNvSpPr/>
            <p:nvPr/>
          </p:nvSpPr>
          <p:spPr>
            <a:xfrm>
              <a:off x="4617393" y="223296"/>
              <a:ext cx="1153418" cy="461367"/>
            </a:xfrm>
            <a:prstGeom prst="chevron">
              <a:avLst>
                <a:gd name="adj" fmla="val 50000"/>
              </a:avLst>
            </a:prstGeom>
            <a:solidFill>
              <a:srgbClr val="0044AC"/>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9"/>
            <p:cNvSpPr txBox="1"/>
            <p:nvPr/>
          </p:nvSpPr>
          <p:spPr>
            <a:xfrm>
              <a:off x="4848077" y="223296"/>
              <a:ext cx="692051" cy="461367"/>
            </a:xfrm>
            <a:prstGeom prst="rect">
              <a:avLst/>
            </a:prstGeom>
            <a:noFill/>
            <a:ln>
              <a:noFill/>
            </a:ln>
          </p:spPr>
          <p:txBody>
            <a:bodyPr spcFirstLastPara="1" wrap="square" lIns="44000" tIns="29325" rIns="14650" bIns="293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 sz="1100" b="0" i="0" u="none" strike="noStrike" cap="none">
                  <a:solidFill>
                    <a:schemeClr val="lt1"/>
                  </a:solidFill>
                  <a:latin typeface="Lato"/>
                  <a:ea typeface="Lato"/>
                  <a:cs typeface="Lato"/>
                  <a:sym typeface="Lato"/>
                </a:rPr>
                <a:t>Package</a:t>
              </a:r>
              <a:endParaRPr/>
            </a:p>
          </p:txBody>
        </p:sp>
        <p:sp>
          <p:nvSpPr>
            <p:cNvPr id="473" name="Google Shape;473;p39"/>
            <p:cNvSpPr/>
            <p:nvPr/>
          </p:nvSpPr>
          <p:spPr>
            <a:xfrm>
              <a:off x="5540127" y="223296"/>
              <a:ext cx="1153418" cy="461367"/>
            </a:xfrm>
            <a:prstGeom prst="chevron">
              <a:avLst>
                <a:gd name="adj" fmla="val 50000"/>
              </a:avLst>
            </a:prstGeom>
            <a:solidFill>
              <a:srgbClr val="82C7A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9"/>
            <p:cNvSpPr txBox="1"/>
            <p:nvPr/>
          </p:nvSpPr>
          <p:spPr>
            <a:xfrm>
              <a:off x="5770811" y="223296"/>
              <a:ext cx="692051" cy="461367"/>
            </a:xfrm>
            <a:prstGeom prst="rect">
              <a:avLst/>
            </a:prstGeom>
            <a:noFill/>
            <a:ln>
              <a:noFill/>
            </a:ln>
          </p:spPr>
          <p:txBody>
            <a:bodyPr spcFirstLastPara="1" wrap="square" lIns="44000" tIns="29325" rIns="14650" bIns="293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 sz="1100" b="0" i="0" u="none" strike="noStrike" cap="none">
                  <a:solidFill>
                    <a:srgbClr val="003380"/>
                  </a:solidFill>
                  <a:latin typeface="Lato"/>
                  <a:ea typeface="Lato"/>
                  <a:cs typeface="Lato"/>
                  <a:sym typeface="Lato"/>
                </a:rPr>
                <a:t>Collect</a:t>
              </a:r>
              <a:endParaRPr/>
            </a:p>
          </p:txBody>
        </p:sp>
        <p:sp>
          <p:nvSpPr>
            <p:cNvPr id="475" name="Google Shape;475;p39"/>
            <p:cNvSpPr/>
            <p:nvPr/>
          </p:nvSpPr>
          <p:spPr>
            <a:xfrm>
              <a:off x="6462862" y="223296"/>
              <a:ext cx="1153418" cy="461367"/>
            </a:xfrm>
            <a:prstGeom prst="chevron">
              <a:avLst>
                <a:gd name="adj" fmla="val 50000"/>
              </a:avLst>
            </a:prstGeom>
            <a:solidFill>
              <a:srgbClr val="82C7A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9"/>
            <p:cNvSpPr txBox="1"/>
            <p:nvPr/>
          </p:nvSpPr>
          <p:spPr>
            <a:xfrm>
              <a:off x="6693546" y="223296"/>
              <a:ext cx="692051" cy="461367"/>
            </a:xfrm>
            <a:prstGeom prst="rect">
              <a:avLst/>
            </a:prstGeom>
            <a:noFill/>
            <a:ln>
              <a:noFill/>
            </a:ln>
          </p:spPr>
          <p:txBody>
            <a:bodyPr spcFirstLastPara="1" wrap="square" lIns="44000" tIns="29325" rIns="14650" bIns="293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 sz="1100" b="0" i="0" u="none" strike="noStrike" cap="none">
                  <a:solidFill>
                    <a:srgbClr val="003380"/>
                  </a:solidFill>
                  <a:latin typeface="Lato"/>
                  <a:ea typeface="Lato"/>
                  <a:cs typeface="Lato"/>
                  <a:sym typeface="Lato"/>
                </a:rPr>
                <a:t>Analyze</a:t>
              </a:r>
              <a:endParaRPr/>
            </a:p>
          </p:txBody>
        </p:sp>
      </p:grpSp>
      <p:sp>
        <p:nvSpPr>
          <p:cNvPr id="477" name="Google Shape;477;p39"/>
          <p:cNvSpPr txBox="1">
            <a:spLocks noGrp="1"/>
          </p:cNvSpPr>
          <p:nvPr>
            <p:ph type="body" idx="1"/>
          </p:nvPr>
        </p:nvSpPr>
        <p:spPr>
          <a:xfrm>
            <a:off x="1297500" y="2672366"/>
            <a:ext cx="7038900" cy="1785384"/>
          </a:xfrm>
          <a:prstGeom prst="rect">
            <a:avLst/>
          </a:prstGeom>
          <a:noFill/>
          <a:ln>
            <a:noFill/>
          </a:ln>
        </p:spPr>
        <p:txBody>
          <a:bodyPr spcFirstLastPara="1" wrap="square" lIns="91425" tIns="91425" rIns="91425" bIns="91425" anchor="t" anchorCtr="0">
            <a:normAutofit/>
          </a:bodyPr>
          <a:lstStyle/>
          <a:p>
            <a:pPr marL="457200" lvl="0" indent="-311150" algn="l" rtl="0">
              <a:lnSpc>
                <a:spcPct val="115000"/>
              </a:lnSpc>
              <a:spcBef>
                <a:spcPts val="0"/>
              </a:spcBef>
              <a:spcAft>
                <a:spcPts val="0"/>
              </a:spcAft>
              <a:buSzPts val="1300"/>
              <a:buChar char="●"/>
            </a:pPr>
            <a:r>
              <a:rPr lang="en"/>
              <a:t>OPSEC transformations in each phase to enhance attacker’s security</a:t>
            </a:r>
            <a:endParaRPr/>
          </a:p>
          <a:p>
            <a:pPr marL="457200" lvl="0" indent="-311150" algn="l" rtl="0">
              <a:lnSpc>
                <a:spcPct val="115000"/>
              </a:lnSpc>
              <a:spcBef>
                <a:spcPts val="0"/>
              </a:spcBef>
              <a:spcAft>
                <a:spcPts val="0"/>
              </a:spcAft>
              <a:buSzPts val="1300"/>
              <a:buChar char="●"/>
            </a:pPr>
            <a:r>
              <a:rPr lang="en"/>
              <a:t>New way of thinking about malware similarity</a:t>
            </a:r>
            <a:endParaRPr/>
          </a:p>
          <a:p>
            <a:pPr marL="457200" lvl="0" indent="-311150" algn="l" rtl="0">
              <a:lnSpc>
                <a:spcPct val="115000"/>
              </a:lnSpc>
              <a:spcBef>
                <a:spcPts val="0"/>
              </a:spcBef>
              <a:spcAft>
                <a:spcPts val="0"/>
              </a:spcAft>
              <a:buSzPts val="1300"/>
              <a:buChar char="●"/>
            </a:pPr>
            <a:r>
              <a:rPr lang="en"/>
              <a:t>Source of insight into how a malware was engineered</a:t>
            </a:r>
            <a:endParaRPr/>
          </a:p>
          <a:p>
            <a:pPr marL="457200" lvl="0" indent="-311150" algn="l" rtl="0">
              <a:lnSpc>
                <a:spcPct val="115000"/>
              </a:lnSpc>
              <a:spcBef>
                <a:spcPts val="0"/>
              </a:spcBef>
              <a:spcAft>
                <a:spcPts val="0"/>
              </a:spcAft>
              <a:buSzPts val="1300"/>
              <a:buChar char="●"/>
            </a:pPr>
            <a:r>
              <a:rPr lang="en"/>
              <a:t>Intended to integrate with existing framework</a:t>
            </a:r>
            <a:endParaRPr/>
          </a:p>
          <a:p>
            <a:pPr marL="457200" lvl="0" indent="-311150" algn="l" rtl="0">
              <a:lnSpc>
                <a:spcPct val="115000"/>
              </a:lnSpc>
              <a:spcBef>
                <a:spcPts val="0"/>
              </a:spcBef>
              <a:spcAft>
                <a:spcPts val="0"/>
              </a:spcAft>
              <a:buSzPts val="1300"/>
              <a:buChar char="●"/>
            </a:pPr>
            <a:r>
              <a:rPr lang="en"/>
              <a:t>MDLC meshes with Diamond Model of Intrusion Analysis</a:t>
            </a:r>
            <a:endParaRPr/>
          </a:p>
        </p:txBody>
      </p:sp>
      <p:sp>
        <p:nvSpPr>
          <p:cNvPr id="478" name="Google Shape;478;p39"/>
          <p:cNvSpPr txBox="1"/>
          <p:nvPr/>
        </p:nvSpPr>
        <p:spPr>
          <a:xfrm>
            <a:off x="1297499" y="1365132"/>
            <a:ext cx="7193447" cy="1307234"/>
          </a:xfrm>
          <a:prstGeom prst="rect">
            <a:avLst/>
          </a:prstGeom>
          <a:noFill/>
          <a:ln>
            <a:noFill/>
          </a:ln>
        </p:spPr>
        <p:txBody>
          <a:bodyPr spcFirstLastPara="1" wrap="square" lIns="91425" tIns="91425" rIns="91425" bIns="91425" anchor="t" anchorCtr="0">
            <a:normAutofit/>
          </a:bodyPr>
          <a:lstStyle/>
          <a:p>
            <a:pPr marL="146050" marR="0" lvl="0" indent="0" algn="l" rtl="0">
              <a:lnSpc>
                <a:spcPct val="115000"/>
              </a:lnSpc>
              <a:spcBef>
                <a:spcPts val="0"/>
              </a:spcBef>
              <a:spcAft>
                <a:spcPts val="0"/>
              </a:spcAft>
              <a:buClr>
                <a:schemeClr val="lt1"/>
              </a:buClr>
              <a:buSzPts val="1300"/>
              <a:buFont typeface="Lato"/>
              <a:buNone/>
            </a:pPr>
            <a:r>
              <a:rPr lang="en" sz="1300" b="0" i="0" u="none" strike="noStrike" cap="none">
                <a:solidFill>
                  <a:schemeClr val="lt1"/>
                </a:solidFill>
                <a:latin typeface="Lato"/>
                <a:ea typeface="Lato"/>
                <a:cs typeface="Lato"/>
                <a:sym typeface="Lato"/>
              </a:rPr>
              <a:t>Only Available Paper: Malware similarity analysis: An adversary perspective, Posluszny, 2020</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0"/>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Summary of Results: Malware Sample Example</a:t>
            </a:r>
            <a:endParaRPr/>
          </a:p>
        </p:txBody>
      </p:sp>
      <p:pic>
        <p:nvPicPr>
          <p:cNvPr id="484" name="Google Shape;484;p40"/>
          <p:cNvPicPr preferRelativeResize="0"/>
          <p:nvPr/>
        </p:nvPicPr>
        <p:blipFill rotWithShape="1">
          <a:blip r:embed="rId3">
            <a:alphaModFix/>
          </a:blip>
          <a:srcRect/>
          <a:stretch/>
        </p:blipFill>
        <p:spPr>
          <a:xfrm>
            <a:off x="497563" y="4622425"/>
            <a:ext cx="8148867" cy="359950"/>
          </a:xfrm>
          <a:prstGeom prst="rect">
            <a:avLst/>
          </a:prstGeom>
          <a:noFill/>
          <a:ln>
            <a:noFill/>
          </a:ln>
        </p:spPr>
      </p:pic>
      <p:pic>
        <p:nvPicPr>
          <p:cNvPr id="485" name="Google Shape;485;p40"/>
          <p:cNvPicPr preferRelativeResize="0"/>
          <p:nvPr/>
        </p:nvPicPr>
        <p:blipFill rotWithShape="1">
          <a:blip r:embed="rId4">
            <a:alphaModFix/>
          </a:blip>
          <a:srcRect/>
          <a:stretch/>
        </p:blipFill>
        <p:spPr>
          <a:xfrm>
            <a:off x="4888875" y="867050"/>
            <a:ext cx="3757549" cy="2475151"/>
          </a:xfrm>
          <a:prstGeom prst="rect">
            <a:avLst/>
          </a:prstGeom>
          <a:noFill/>
          <a:ln>
            <a:noFill/>
          </a:ln>
        </p:spPr>
      </p:pic>
      <p:pic>
        <p:nvPicPr>
          <p:cNvPr id="486" name="Google Shape;486;p40"/>
          <p:cNvPicPr preferRelativeResize="0"/>
          <p:nvPr/>
        </p:nvPicPr>
        <p:blipFill rotWithShape="1">
          <a:blip r:embed="rId5">
            <a:alphaModFix/>
          </a:blip>
          <a:srcRect/>
          <a:stretch/>
        </p:blipFill>
        <p:spPr>
          <a:xfrm>
            <a:off x="4888875" y="3342212"/>
            <a:ext cx="3757549" cy="960813"/>
          </a:xfrm>
          <a:prstGeom prst="rect">
            <a:avLst/>
          </a:prstGeom>
          <a:noFill/>
          <a:ln>
            <a:noFill/>
          </a:ln>
        </p:spPr>
      </p:pic>
      <p:sp>
        <p:nvSpPr>
          <p:cNvPr id="487" name="Google Shape;487;p40"/>
          <p:cNvSpPr txBox="1"/>
          <p:nvPr/>
        </p:nvSpPr>
        <p:spPr>
          <a:xfrm>
            <a:off x="1345550" y="1092350"/>
            <a:ext cx="3436200" cy="2706000"/>
          </a:xfrm>
          <a:prstGeom prst="rect">
            <a:avLst/>
          </a:prstGeom>
          <a:noFill/>
          <a:ln>
            <a:noFill/>
          </a:ln>
        </p:spPr>
        <p:txBody>
          <a:bodyPr spcFirstLastPara="1" wrap="square" lIns="91425" tIns="91425" rIns="91425" bIns="91425" anchor="t" anchorCtr="0">
            <a:spAutoFit/>
          </a:bodyPr>
          <a:lstStyle/>
          <a:p>
            <a:pPr marL="457200" marR="0" lvl="0" indent="-304800" algn="l" rtl="0">
              <a:lnSpc>
                <a:spcPct val="115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File Exfiltration Function from a C++ Windows Sample </a:t>
            </a:r>
            <a:endParaRPr sz="1200" b="0" i="0" u="none" strike="noStrike" cap="none">
              <a:solidFill>
                <a:schemeClr val="lt1"/>
              </a:solidFill>
              <a:latin typeface="Lato"/>
              <a:ea typeface="Lato"/>
              <a:cs typeface="Lato"/>
              <a:sym typeface="Lato"/>
            </a:endParaRPr>
          </a:p>
          <a:p>
            <a:pPr marL="457200" marR="0" lvl="0" indent="-304800" algn="l" rtl="0">
              <a:lnSpc>
                <a:spcPct val="115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Uses Both C and C++ Windows API functions to accomplish goals</a:t>
            </a:r>
            <a:endParaRPr sz="1200" b="0" i="0" u="none" strike="noStrike" cap="none">
              <a:solidFill>
                <a:schemeClr val="lt1"/>
              </a:solidFill>
              <a:latin typeface="Lato"/>
              <a:ea typeface="Lato"/>
              <a:cs typeface="Lato"/>
              <a:sym typeface="Lato"/>
            </a:endParaRPr>
          </a:p>
          <a:p>
            <a:pPr marL="457200" marR="0" lvl="0" indent="-304800" algn="l" rtl="0">
              <a:lnSpc>
                <a:spcPct val="115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Error checking is implemented for all socket operations</a:t>
            </a:r>
            <a:endParaRPr sz="1200" b="0" i="0" u="none" strike="noStrike" cap="none">
              <a:solidFill>
                <a:schemeClr val="lt1"/>
              </a:solidFill>
              <a:latin typeface="Lato"/>
              <a:ea typeface="Lato"/>
              <a:cs typeface="Lato"/>
              <a:sym typeface="Lato"/>
            </a:endParaRPr>
          </a:p>
          <a:p>
            <a:pPr marL="457200" marR="0" lvl="0" indent="-304800" algn="l" rtl="0">
              <a:lnSpc>
                <a:spcPct val="115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Function also gives the attacker the file name and size, so that it may be written to the disk on the attacker’s side</a:t>
            </a:r>
            <a:endParaRPr sz="1200" b="0" i="0" u="none" strike="noStrike" cap="none">
              <a:solidFill>
                <a:schemeClr val="lt1"/>
              </a:solidFill>
              <a:latin typeface="Lato"/>
              <a:ea typeface="Lato"/>
              <a:cs typeface="Lato"/>
              <a:sym typeface="Lato"/>
            </a:endParaRPr>
          </a:p>
          <a:p>
            <a:pPr marL="457200" marR="0" lvl="0" indent="-304800" algn="l" rtl="0">
              <a:lnSpc>
                <a:spcPct val="115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Need to Do: </a:t>
            </a:r>
            <a:endParaRPr sz="1200" b="0" i="0" u="none" strike="noStrike" cap="none">
              <a:solidFill>
                <a:schemeClr val="lt1"/>
              </a:solidFill>
              <a:latin typeface="Lato"/>
              <a:ea typeface="Lato"/>
              <a:cs typeface="Lato"/>
              <a:sym typeface="Lato"/>
            </a:endParaRPr>
          </a:p>
          <a:p>
            <a:pPr marL="914400" marR="0" lvl="1" indent="-304800" algn="l" rtl="0">
              <a:lnSpc>
                <a:spcPct val="115000"/>
              </a:lnSpc>
              <a:spcBef>
                <a:spcPts val="0"/>
              </a:spcBef>
              <a:spcAft>
                <a:spcPts val="0"/>
              </a:spcAft>
              <a:buClr>
                <a:schemeClr val="lt1"/>
              </a:buClr>
              <a:buSzPts val="1200"/>
              <a:buFont typeface="Lato"/>
              <a:buChar char="○"/>
            </a:pPr>
            <a:r>
              <a:rPr lang="en" sz="1200" b="0" i="0" u="none" strike="noStrike" cap="none">
                <a:solidFill>
                  <a:schemeClr val="lt1"/>
                </a:solidFill>
                <a:latin typeface="Lato"/>
                <a:ea typeface="Lato"/>
                <a:cs typeface="Lato"/>
                <a:sym typeface="Lato"/>
              </a:rPr>
              <a:t>Implement network traffic obfuscation</a:t>
            </a:r>
            <a:endParaRPr sz="1200" b="0" i="0" u="none" strike="noStrike" cap="none">
              <a:solidFill>
                <a:schemeClr val="lt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41"/>
          <p:cNvSpPr txBox="1">
            <a:spLocks noGrp="1"/>
          </p:cNvSpPr>
          <p:nvPr>
            <p:ph type="title"/>
          </p:nvPr>
        </p:nvSpPr>
        <p:spPr>
          <a:xfrm>
            <a:off x="1323700" y="149250"/>
            <a:ext cx="7038900" cy="914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Project Issues and Challenges</a:t>
            </a:r>
            <a:endParaRPr/>
          </a:p>
        </p:txBody>
      </p:sp>
      <p:pic>
        <p:nvPicPr>
          <p:cNvPr id="493" name="Google Shape;493;p41"/>
          <p:cNvPicPr preferRelativeResize="0"/>
          <p:nvPr/>
        </p:nvPicPr>
        <p:blipFill rotWithShape="1">
          <a:blip r:embed="rId3">
            <a:alphaModFix/>
          </a:blip>
          <a:srcRect/>
          <a:stretch/>
        </p:blipFill>
        <p:spPr>
          <a:xfrm>
            <a:off x="497563" y="4727225"/>
            <a:ext cx="8148867" cy="359950"/>
          </a:xfrm>
          <a:prstGeom prst="rect">
            <a:avLst/>
          </a:prstGeom>
          <a:noFill/>
          <a:ln>
            <a:noFill/>
          </a:ln>
        </p:spPr>
      </p:pic>
      <p:graphicFrame>
        <p:nvGraphicFramePr>
          <p:cNvPr id="494" name="Google Shape;494;p41"/>
          <p:cNvGraphicFramePr/>
          <p:nvPr/>
        </p:nvGraphicFramePr>
        <p:xfrm>
          <a:off x="1129750" y="727950"/>
          <a:ext cx="7819450" cy="3896651"/>
        </p:xfrm>
        <a:graphic>
          <a:graphicData uri="http://schemas.openxmlformats.org/drawingml/2006/table">
            <a:tbl>
              <a:tblPr>
                <a:noFill/>
                <a:tableStyleId>{4C9BB423-20A0-4EAA-BFA5-2150587C5572}</a:tableStyleId>
              </a:tblPr>
              <a:tblGrid>
                <a:gridCol w="1750200">
                  <a:extLst>
                    <a:ext uri="{9D8B030D-6E8A-4147-A177-3AD203B41FA5}">
                      <a16:colId xmlns:a16="http://schemas.microsoft.com/office/drawing/2014/main" val="20000"/>
                    </a:ext>
                  </a:extLst>
                </a:gridCol>
                <a:gridCol w="962025">
                  <a:extLst>
                    <a:ext uri="{9D8B030D-6E8A-4147-A177-3AD203B41FA5}">
                      <a16:colId xmlns:a16="http://schemas.microsoft.com/office/drawing/2014/main" val="20001"/>
                    </a:ext>
                  </a:extLst>
                </a:gridCol>
                <a:gridCol w="895350">
                  <a:extLst>
                    <a:ext uri="{9D8B030D-6E8A-4147-A177-3AD203B41FA5}">
                      <a16:colId xmlns:a16="http://schemas.microsoft.com/office/drawing/2014/main" val="20002"/>
                    </a:ext>
                  </a:extLst>
                </a:gridCol>
                <a:gridCol w="4211875">
                  <a:extLst>
                    <a:ext uri="{9D8B030D-6E8A-4147-A177-3AD203B41FA5}">
                      <a16:colId xmlns:a16="http://schemas.microsoft.com/office/drawing/2014/main" val="20003"/>
                    </a:ext>
                  </a:extLst>
                </a:gridCol>
              </a:tblGrid>
              <a:tr h="476100">
                <a:tc>
                  <a:txBody>
                    <a:bodyPr/>
                    <a:lstStyle/>
                    <a:p>
                      <a:pPr marL="0" marR="0" lvl="0" indent="0" algn="ctr" rtl="0">
                        <a:lnSpc>
                          <a:spcPct val="115000"/>
                        </a:lnSpc>
                        <a:spcBef>
                          <a:spcPts val="0"/>
                        </a:spcBef>
                        <a:spcAft>
                          <a:spcPts val="0"/>
                        </a:spcAft>
                        <a:buClr>
                          <a:srgbClr val="000000"/>
                        </a:buClr>
                        <a:buSzPts val="900"/>
                        <a:buFont typeface="Arial"/>
                        <a:buNone/>
                      </a:pPr>
                      <a:r>
                        <a:rPr lang="en" sz="900" b="1" u="none" strike="noStrike" cap="none">
                          <a:solidFill>
                            <a:schemeClr val="lt1"/>
                          </a:solidFill>
                          <a:latin typeface="Lato"/>
                          <a:ea typeface="Lato"/>
                          <a:cs typeface="Lato"/>
                          <a:sym typeface="Lato"/>
                        </a:rPr>
                        <a:t>Brief Statement of Problem</a:t>
                      </a:r>
                      <a:endParaRPr sz="900" b="1"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900"/>
                        <a:buFont typeface="Arial"/>
                        <a:buNone/>
                      </a:pPr>
                      <a:r>
                        <a:rPr lang="en" sz="900" b="1" u="none" strike="noStrike" cap="none">
                          <a:solidFill>
                            <a:schemeClr val="lt1"/>
                          </a:solidFill>
                          <a:latin typeface="Lato"/>
                          <a:ea typeface="Lato"/>
                          <a:cs typeface="Lato"/>
                          <a:sym typeface="Lato"/>
                        </a:rPr>
                        <a:t>Impact</a:t>
                      </a:r>
                      <a:endParaRPr sz="900" b="1"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900"/>
                        <a:buFont typeface="Arial"/>
                        <a:buNone/>
                      </a:pPr>
                      <a:r>
                        <a:rPr lang="en" sz="900" b="1" u="none" strike="noStrike" cap="none">
                          <a:solidFill>
                            <a:schemeClr val="lt1"/>
                          </a:solidFill>
                          <a:latin typeface="Lato"/>
                          <a:ea typeface="Lato"/>
                          <a:cs typeface="Lato"/>
                          <a:sym typeface="Lato"/>
                        </a:rPr>
                        <a:t>Priority or Rank</a:t>
                      </a:r>
                      <a:endParaRPr sz="900" b="1"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900"/>
                        <a:buFont typeface="Arial"/>
                        <a:buNone/>
                      </a:pPr>
                      <a:r>
                        <a:rPr lang="en" sz="900" b="1" u="none" strike="noStrike" cap="none">
                          <a:solidFill>
                            <a:schemeClr val="lt1"/>
                          </a:solidFill>
                          <a:latin typeface="Lato"/>
                          <a:ea typeface="Lato"/>
                          <a:cs typeface="Lato"/>
                          <a:sym typeface="Lato"/>
                        </a:rPr>
                        <a:t>Issue Description and Mitigation</a:t>
                      </a:r>
                      <a:endParaRPr sz="900" b="1"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740600">
                <a:tc>
                  <a:txBody>
                    <a:bodyPr/>
                    <a:lstStyle/>
                    <a:p>
                      <a:pPr marL="228600" marR="0" lvl="0" indent="0" algn="l" rtl="0">
                        <a:lnSpc>
                          <a:spcPct val="115000"/>
                        </a:lnSpc>
                        <a:spcBef>
                          <a:spcPts val="0"/>
                        </a:spcBef>
                        <a:spcAft>
                          <a:spcPts val="0"/>
                        </a:spcAft>
                        <a:buClr>
                          <a:srgbClr val="000000"/>
                        </a:buClr>
                        <a:buSzPts val="1000"/>
                        <a:buFont typeface="Arial"/>
                        <a:buNone/>
                      </a:pPr>
                      <a:r>
                        <a:rPr lang="en" sz="1000" u="none" strike="noStrike" cap="none">
                          <a:solidFill>
                            <a:schemeClr val="lt1"/>
                          </a:solidFill>
                          <a:latin typeface="Lato"/>
                          <a:ea typeface="Lato"/>
                          <a:cs typeface="Lato"/>
                          <a:sym typeface="Lato"/>
                        </a:rPr>
                        <a:t>1</a:t>
                      </a:r>
                      <a:r>
                        <a:rPr lang="en" sz="1000" b="1" u="none" strike="noStrike" cap="none">
                          <a:solidFill>
                            <a:schemeClr val="lt1"/>
                          </a:solidFill>
                          <a:latin typeface="Lato"/>
                          <a:ea typeface="Lato"/>
                          <a:cs typeface="Lato"/>
                          <a:sym typeface="Lato"/>
                        </a:rPr>
                        <a:t>. COVID impacted team member severely</a:t>
                      </a:r>
                      <a:endParaRPr sz="1000" b="1" u="none" strike="noStrike" cap="none">
                        <a:solidFill>
                          <a:schemeClr val="lt1"/>
                        </a:solidFill>
                        <a:latin typeface="Lato"/>
                        <a:ea typeface="Lato"/>
                        <a:cs typeface="Lato"/>
                        <a:sym typeface="Lato"/>
                      </a:endParaRPr>
                    </a:p>
                    <a:p>
                      <a:pPr marL="0" marR="0" lvl="0" indent="0" algn="l" rtl="0">
                        <a:lnSpc>
                          <a:spcPct val="115000"/>
                        </a:lnSpc>
                        <a:spcBef>
                          <a:spcPts val="300"/>
                        </a:spcBef>
                        <a:spcAft>
                          <a:spcPts val="0"/>
                        </a:spcAft>
                        <a:buClr>
                          <a:srgbClr val="000000"/>
                        </a:buClr>
                        <a:buSzPts val="1000"/>
                        <a:buFont typeface="Arial"/>
                        <a:buNone/>
                      </a:pPr>
                      <a:r>
                        <a:rPr lang="en" sz="1000" u="none" strike="noStrike" cap="none">
                          <a:solidFill>
                            <a:schemeClr val="lt1"/>
                          </a:solidFill>
                          <a:latin typeface="Lato"/>
                          <a:ea typeface="Lato"/>
                          <a:cs typeface="Lato"/>
                          <a:sym typeface="Lato"/>
                        </a:rPr>
                        <a:t> </a:t>
                      </a:r>
                      <a:endParaRPr sz="10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a:buNone/>
                      </a:pPr>
                      <a:r>
                        <a:rPr lang="en" sz="1200" u="none" strike="noStrike" cap="none">
                          <a:solidFill>
                            <a:schemeClr val="lt1"/>
                          </a:solidFill>
                          <a:latin typeface="Lato"/>
                          <a:ea typeface="Lato"/>
                          <a:cs typeface="Lato"/>
                          <a:sym typeface="Lato"/>
                        </a:rPr>
                        <a:t>High</a:t>
                      </a:r>
                      <a:endParaRPr sz="12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a:buNone/>
                      </a:pPr>
                      <a:r>
                        <a:rPr lang="en" sz="1200" u="none" strike="noStrike" cap="none">
                          <a:solidFill>
                            <a:schemeClr val="lt1"/>
                          </a:solidFill>
                          <a:latin typeface="Lato"/>
                          <a:ea typeface="Lato"/>
                          <a:cs typeface="Lato"/>
                          <a:sym typeface="Lato"/>
                        </a:rPr>
                        <a:t>1</a:t>
                      </a:r>
                      <a:endParaRPr sz="12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A team member was hospitalized with COVID for a week. His classwork timelines have been pushed back by weeks. </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Mitigation difficult: the team cannot force a member to sacrifice his academic wellbeing. </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Current strategy: have member catch up as soon as possible, assist where possible under academic honesty guidelines. </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Current Status:  Affected team member is catching up, but still trying to finish assignments. </a:t>
                      </a:r>
                      <a:endParaRPr sz="11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428000">
                <a:tc>
                  <a:txBody>
                    <a:bodyPr/>
                    <a:lstStyle/>
                    <a:p>
                      <a:pPr marL="228600" marR="0" lvl="0" indent="0" algn="l" rtl="0">
                        <a:lnSpc>
                          <a:spcPct val="115000"/>
                        </a:lnSpc>
                        <a:spcBef>
                          <a:spcPts val="0"/>
                        </a:spcBef>
                        <a:spcAft>
                          <a:spcPts val="0"/>
                        </a:spcAft>
                        <a:buClr>
                          <a:srgbClr val="000000"/>
                        </a:buClr>
                        <a:buSzPts val="1000"/>
                        <a:buFont typeface="Arial"/>
                        <a:buNone/>
                      </a:pPr>
                      <a:r>
                        <a:rPr lang="en" sz="1000" u="none" strike="noStrike" cap="none">
                          <a:solidFill>
                            <a:schemeClr val="lt1"/>
                          </a:solidFill>
                          <a:latin typeface="Lato"/>
                          <a:ea typeface="Lato"/>
                          <a:cs typeface="Lato"/>
                          <a:sym typeface="Lato"/>
                        </a:rPr>
                        <a:t>2. Virtual development and testing bed need</a:t>
                      </a:r>
                      <a:endParaRPr sz="1000" u="none" strike="noStrike" cap="none">
                        <a:solidFill>
                          <a:schemeClr val="lt1"/>
                        </a:solidFill>
                        <a:latin typeface="Lato"/>
                        <a:ea typeface="Lato"/>
                        <a:cs typeface="Lato"/>
                        <a:sym typeface="Lato"/>
                      </a:endParaRPr>
                    </a:p>
                    <a:p>
                      <a:pPr marL="0" marR="0" lvl="0" indent="0" algn="l" rtl="0">
                        <a:lnSpc>
                          <a:spcPct val="115000"/>
                        </a:lnSpc>
                        <a:spcBef>
                          <a:spcPts val="300"/>
                        </a:spcBef>
                        <a:spcAft>
                          <a:spcPts val="0"/>
                        </a:spcAft>
                        <a:buClr>
                          <a:srgbClr val="000000"/>
                        </a:buClr>
                        <a:buSzPts val="1000"/>
                        <a:buFont typeface="Arial"/>
                        <a:buNone/>
                      </a:pPr>
                      <a:r>
                        <a:rPr lang="en" sz="1000" u="none" strike="noStrike" cap="none">
                          <a:solidFill>
                            <a:schemeClr val="lt1"/>
                          </a:solidFill>
                          <a:latin typeface="Lato"/>
                          <a:ea typeface="Lato"/>
                          <a:cs typeface="Lato"/>
                          <a:sym typeface="Lato"/>
                        </a:rPr>
                        <a:t> </a:t>
                      </a:r>
                      <a:endParaRPr sz="10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a:buNone/>
                      </a:pPr>
                      <a:r>
                        <a:rPr lang="en" sz="1200" u="none" strike="noStrike" cap="none">
                          <a:solidFill>
                            <a:schemeClr val="lt1"/>
                          </a:solidFill>
                          <a:latin typeface="Lato"/>
                          <a:ea typeface="Lato"/>
                          <a:cs typeface="Lato"/>
                          <a:sym typeface="Lato"/>
                        </a:rPr>
                        <a:t>High</a:t>
                      </a:r>
                      <a:endParaRPr sz="12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a:buNone/>
                      </a:pPr>
                      <a:r>
                        <a:rPr lang="en" sz="1200" u="none" strike="noStrike" cap="none">
                          <a:solidFill>
                            <a:schemeClr val="lt1"/>
                          </a:solidFill>
                          <a:latin typeface="Lato"/>
                          <a:ea typeface="Lato"/>
                          <a:cs typeface="Lato"/>
                          <a:sym typeface="Lato"/>
                        </a:rPr>
                        <a:t>2</a:t>
                      </a:r>
                      <a:endParaRPr sz="12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The team needs a testing bed for our ground truth samples and tool development. </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If the team cannot find a testing bed, development may be significantly slowed. </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Mitigation: Contact UA Engineering IT Department and Work Together to have test bed created </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Current Status: Awaiting UA Engineering IT Department’s word on machine status </a:t>
                      </a:r>
                      <a:endParaRPr sz="11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42"/>
          <p:cNvSpPr txBox="1">
            <a:spLocks noGrp="1"/>
          </p:cNvSpPr>
          <p:nvPr>
            <p:ph type="title"/>
          </p:nvPr>
        </p:nvSpPr>
        <p:spPr>
          <a:xfrm>
            <a:off x="1323700" y="149250"/>
            <a:ext cx="7038900" cy="914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Project Issues and Challenges, Continued</a:t>
            </a:r>
            <a:endParaRPr/>
          </a:p>
        </p:txBody>
      </p:sp>
      <p:pic>
        <p:nvPicPr>
          <p:cNvPr id="500" name="Google Shape;500;p42"/>
          <p:cNvPicPr preferRelativeResize="0"/>
          <p:nvPr/>
        </p:nvPicPr>
        <p:blipFill rotWithShape="1">
          <a:blip r:embed="rId3">
            <a:alphaModFix/>
          </a:blip>
          <a:srcRect/>
          <a:stretch/>
        </p:blipFill>
        <p:spPr>
          <a:xfrm>
            <a:off x="497563" y="4727225"/>
            <a:ext cx="8148867" cy="359950"/>
          </a:xfrm>
          <a:prstGeom prst="rect">
            <a:avLst/>
          </a:prstGeom>
          <a:noFill/>
          <a:ln>
            <a:noFill/>
          </a:ln>
        </p:spPr>
      </p:pic>
      <p:graphicFrame>
        <p:nvGraphicFramePr>
          <p:cNvPr id="501" name="Google Shape;501;p42"/>
          <p:cNvGraphicFramePr/>
          <p:nvPr/>
        </p:nvGraphicFramePr>
        <p:xfrm>
          <a:off x="1129750" y="727950"/>
          <a:ext cx="7819450" cy="3153858"/>
        </p:xfrm>
        <a:graphic>
          <a:graphicData uri="http://schemas.openxmlformats.org/drawingml/2006/table">
            <a:tbl>
              <a:tblPr>
                <a:noFill/>
                <a:tableStyleId>{4C9BB423-20A0-4EAA-BFA5-2150587C5572}</a:tableStyleId>
              </a:tblPr>
              <a:tblGrid>
                <a:gridCol w="1750200">
                  <a:extLst>
                    <a:ext uri="{9D8B030D-6E8A-4147-A177-3AD203B41FA5}">
                      <a16:colId xmlns:a16="http://schemas.microsoft.com/office/drawing/2014/main" val="20000"/>
                    </a:ext>
                  </a:extLst>
                </a:gridCol>
                <a:gridCol w="962025">
                  <a:extLst>
                    <a:ext uri="{9D8B030D-6E8A-4147-A177-3AD203B41FA5}">
                      <a16:colId xmlns:a16="http://schemas.microsoft.com/office/drawing/2014/main" val="20001"/>
                    </a:ext>
                  </a:extLst>
                </a:gridCol>
                <a:gridCol w="895350">
                  <a:extLst>
                    <a:ext uri="{9D8B030D-6E8A-4147-A177-3AD203B41FA5}">
                      <a16:colId xmlns:a16="http://schemas.microsoft.com/office/drawing/2014/main" val="20002"/>
                    </a:ext>
                  </a:extLst>
                </a:gridCol>
                <a:gridCol w="4211875">
                  <a:extLst>
                    <a:ext uri="{9D8B030D-6E8A-4147-A177-3AD203B41FA5}">
                      <a16:colId xmlns:a16="http://schemas.microsoft.com/office/drawing/2014/main" val="20003"/>
                    </a:ext>
                  </a:extLst>
                </a:gridCol>
              </a:tblGrid>
              <a:tr h="476100">
                <a:tc>
                  <a:txBody>
                    <a:bodyPr/>
                    <a:lstStyle/>
                    <a:p>
                      <a:pPr marL="0" marR="0" lvl="0" indent="0" algn="ctr" rtl="0">
                        <a:lnSpc>
                          <a:spcPct val="115000"/>
                        </a:lnSpc>
                        <a:spcBef>
                          <a:spcPts val="0"/>
                        </a:spcBef>
                        <a:spcAft>
                          <a:spcPts val="0"/>
                        </a:spcAft>
                        <a:buClr>
                          <a:srgbClr val="000000"/>
                        </a:buClr>
                        <a:buSzPts val="900"/>
                        <a:buFont typeface="Arial"/>
                        <a:buNone/>
                      </a:pPr>
                      <a:r>
                        <a:rPr lang="en" sz="900" b="1" u="none" strike="noStrike" cap="none">
                          <a:solidFill>
                            <a:schemeClr val="lt1"/>
                          </a:solidFill>
                          <a:latin typeface="Lato"/>
                          <a:ea typeface="Lato"/>
                          <a:cs typeface="Lato"/>
                          <a:sym typeface="Lato"/>
                        </a:rPr>
                        <a:t>Brief Statement of Problem</a:t>
                      </a:r>
                      <a:endParaRPr sz="900" b="1"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900"/>
                        <a:buFont typeface="Arial"/>
                        <a:buNone/>
                      </a:pPr>
                      <a:r>
                        <a:rPr lang="en" sz="900" b="1" u="none" strike="noStrike" cap="none">
                          <a:solidFill>
                            <a:schemeClr val="lt1"/>
                          </a:solidFill>
                          <a:latin typeface="Lato"/>
                          <a:ea typeface="Lato"/>
                          <a:cs typeface="Lato"/>
                          <a:sym typeface="Lato"/>
                        </a:rPr>
                        <a:t>Impact</a:t>
                      </a:r>
                      <a:endParaRPr sz="900" b="1"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900"/>
                        <a:buFont typeface="Arial"/>
                        <a:buNone/>
                      </a:pPr>
                      <a:r>
                        <a:rPr lang="en" sz="900" b="1" u="none" strike="noStrike" cap="none">
                          <a:solidFill>
                            <a:schemeClr val="lt1"/>
                          </a:solidFill>
                          <a:latin typeface="Lato"/>
                          <a:ea typeface="Lato"/>
                          <a:cs typeface="Lato"/>
                          <a:sym typeface="Lato"/>
                        </a:rPr>
                        <a:t>Priority or Rank</a:t>
                      </a:r>
                      <a:endParaRPr sz="900" b="1"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900"/>
                        <a:buFont typeface="Arial"/>
                        <a:buNone/>
                      </a:pPr>
                      <a:r>
                        <a:rPr lang="en" sz="900" b="1" u="none" strike="noStrike" cap="none">
                          <a:solidFill>
                            <a:schemeClr val="lt1"/>
                          </a:solidFill>
                          <a:latin typeface="Lato"/>
                          <a:ea typeface="Lato"/>
                          <a:cs typeface="Lato"/>
                          <a:sym typeface="Lato"/>
                        </a:rPr>
                        <a:t>Issue Description and Mitigation</a:t>
                      </a:r>
                      <a:endParaRPr sz="900" b="1"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740600">
                <a:tc>
                  <a:txBody>
                    <a:bodyPr/>
                    <a:lstStyle/>
                    <a:p>
                      <a:pPr marL="228600" marR="0" lvl="0" indent="0" algn="l" rtl="0">
                        <a:lnSpc>
                          <a:spcPct val="115000"/>
                        </a:lnSpc>
                        <a:spcBef>
                          <a:spcPts val="0"/>
                        </a:spcBef>
                        <a:spcAft>
                          <a:spcPts val="0"/>
                        </a:spcAft>
                        <a:buClr>
                          <a:srgbClr val="000000"/>
                        </a:buClr>
                        <a:buSzPts val="1000"/>
                        <a:buFont typeface="Arial"/>
                        <a:buNone/>
                      </a:pPr>
                      <a:r>
                        <a:rPr lang="en" sz="1000" u="none" strike="noStrike" cap="none">
                          <a:solidFill>
                            <a:schemeClr val="lt1"/>
                          </a:solidFill>
                          <a:latin typeface="Lato"/>
                          <a:ea typeface="Lato"/>
                          <a:cs typeface="Lato"/>
                          <a:sym typeface="Lato"/>
                        </a:rPr>
                        <a:t>3. Massive Time Zone Differences</a:t>
                      </a:r>
                      <a:endParaRPr sz="1000" u="none" strike="noStrike" cap="none">
                        <a:solidFill>
                          <a:schemeClr val="lt1"/>
                        </a:solidFill>
                        <a:latin typeface="Lato"/>
                        <a:ea typeface="Lato"/>
                        <a:cs typeface="Lato"/>
                        <a:sym typeface="Lato"/>
                      </a:endParaRPr>
                    </a:p>
                    <a:p>
                      <a:pPr marL="228600" marR="0" lvl="0" indent="0" algn="l" rtl="0">
                        <a:lnSpc>
                          <a:spcPct val="115000"/>
                        </a:lnSpc>
                        <a:spcBef>
                          <a:spcPts val="300"/>
                        </a:spcBef>
                        <a:spcAft>
                          <a:spcPts val="0"/>
                        </a:spcAft>
                        <a:buClr>
                          <a:srgbClr val="000000"/>
                        </a:buClr>
                        <a:buSzPts val="1000"/>
                        <a:buFont typeface="Arial"/>
                        <a:buNone/>
                      </a:pPr>
                      <a:endParaRPr sz="10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a:buNone/>
                      </a:pPr>
                      <a:r>
                        <a:rPr lang="en" sz="1200" u="none" strike="noStrike" cap="none">
                          <a:solidFill>
                            <a:schemeClr val="lt1"/>
                          </a:solidFill>
                          <a:latin typeface="Lato"/>
                          <a:ea typeface="Lato"/>
                          <a:cs typeface="Lato"/>
                          <a:sym typeface="Lato"/>
                        </a:rPr>
                        <a:t>Medium</a:t>
                      </a:r>
                      <a:endParaRPr sz="12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a:buNone/>
                      </a:pPr>
                      <a:r>
                        <a:rPr lang="en" sz="1200" u="none" strike="noStrike" cap="none">
                          <a:solidFill>
                            <a:schemeClr val="lt1"/>
                          </a:solidFill>
                          <a:latin typeface="Lato"/>
                          <a:ea typeface="Lato"/>
                          <a:cs typeface="Lato"/>
                          <a:sym typeface="Lato"/>
                        </a:rPr>
                        <a:t>3</a:t>
                      </a:r>
                      <a:endParaRPr sz="12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Our team is spread across three different time zones: Arizona Time, Central Standard Time (CST), and India Standard Time (IST)</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Current Mitigation: </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Set time frame every team member is available to meet online. Meet in these time frames.</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Hold additional ad-hoc meetings as needed; organized over Discord</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Work asynchronously and have each team member check progress if possible. </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Have team members inform the team of any progress and needs. </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Current Status:</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Team is meeting normally and making progress. </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Team relations are strong. </a:t>
                      </a:r>
                      <a:endParaRPr sz="11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43"/>
          <p:cNvSpPr txBox="1">
            <a:spLocks noGrp="1"/>
          </p:cNvSpPr>
          <p:nvPr>
            <p:ph type="title"/>
          </p:nvPr>
        </p:nvSpPr>
        <p:spPr>
          <a:xfrm>
            <a:off x="1323700" y="149250"/>
            <a:ext cx="7038900" cy="914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Project Issues and Challenges, Continued</a:t>
            </a:r>
            <a:endParaRPr/>
          </a:p>
        </p:txBody>
      </p:sp>
      <p:pic>
        <p:nvPicPr>
          <p:cNvPr id="507" name="Google Shape;507;p43"/>
          <p:cNvPicPr preferRelativeResize="0"/>
          <p:nvPr/>
        </p:nvPicPr>
        <p:blipFill rotWithShape="1">
          <a:blip r:embed="rId3">
            <a:alphaModFix/>
          </a:blip>
          <a:srcRect/>
          <a:stretch/>
        </p:blipFill>
        <p:spPr>
          <a:xfrm>
            <a:off x="497563" y="4727225"/>
            <a:ext cx="8148867" cy="359950"/>
          </a:xfrm>
          <a:prstGeom prst="rect">
            <a:avLst/>
          </a:prstGeom>
          <a:noFill/>
          <a:ln>
            <a:noFill/>
          </a:ln>
        </p:spPr>
      </p:pic>
      <p:graphicFrame>
        <p:nvGraphicFramePr>
          <p:cNvPr id="508" name="Google Shape;508;p43"/>
          <p:cNvGraphicFramePr/>
          <p:nvPr/>
        </p:nvGraphicFramePr>
        <p:xfrm>
          <a:off x="1129750" y="727950"/>
          <a:ext cx="7819450" cy="3153858"/>
        </p:xfrm>
        <a:graphic>
          <a:graphicData uri="http://schemas.openxmlformats.org/drawingml/2006/table">
            <a:tbl>
              <a:tblPr>
                <a:noFill/>
                <a:tableStyleId>{4C9BB423-20A0-4EAA-BFA5-2150587C5572}</a:tableStyleId>
              </a:tblPr>
              <a:tblGrid>
                <a:gridCol w="1750200">
                  <a:extLst>
                    <a:ext uri="{9D8B030D-6E8A-4147-A177-3AD203B41FA5}">
                      <a16:colId xmlns:a16="http://schemas.microsoft.com/office/drawing/2014/main" val="20000"/>
                    </a:ext>
                  </a:extLst>
                </a:gridCol>
                <a:gridCol w="962025">
                  <a:extLst>
                    <a:ext uri="{9D8B030D-6E8A-4147-A177-3AD203B41FA5}">
                      <a16:colId xmlns:a16="http://schemas.microsoft.com/office/drawing/2014/main" val="20001"/>
                    </a:ext>
                  </a:extLst>
                </a:gridCol>
                <a:gridCol w="895350">
                  <a:extLst>
                    <a:ext uri="{9D8B030D-6E8A-4147-A177-3AD203B41FA5}">
                      <a16:colId xmlns:a16="http://schemas.microsoft.com/office/drawing/2014/main" val="20002"/>
                    </a:ext>
                  </a:extLst>
                </a:gridCol>
                <a:gridCol w="4211875">
                  <a:extLst>
                    <a:ext uri="{9D8B030D-6E8A-4147-A177-3AD203B41FA5}">
                      <a16:colId xmlns:a16="http://schemas.microsoft.com/office/drawing/2014/main" val="20003"/>
                    </a:ext>
                  </a:extLst>
                </a:gridCol>
              </a:tblGrid>
              <a:tr h="476100">
                <a:tc>
                  <a:txBody>
                    <a:bodyPr/>
                    <a:lstStyle/>
                    <a:p>
                      <a:pPr marL="0" marR="0" lvl="0" indent="0" algn="ctr" rtl="0">
                        <a:lnSpc>
                          <a:spcPct val="115000"/>
                        </a:lnSpc>
                        <a:spcBef>
                          <a:spcPts val="0"/>
                        </a:spcBef>
                        <a:spcAft>
                          <a:spcPts val="0"/>
                        </a:spcAft>
                        <a:buClr>
                          <a:srgbClr val="000000"/>
                        </a:buClr>
                        <a:buSzPts val="900"/>
                        <a:buFont typeface="Arial"/>
                        <a:buNone/>
                      </a:pPr>
                      <a:r>
                        <a:rPr lang="en" sz="900" b="1" u="none" strike="noStrike" cap="none">
                          <a:solidFill>
                            <a:schemeClr val="lt1"/>
                          </a:solidFill>
                          <a:latin typeface="Lato"/>
                          <a:ea typeface="Lato"/>
                          <a:cs typeface="Lato"/>
                          <a:sym typeface="Lato"/>
                        </a:rPr>
                        <a:t>Brief Statement of Problem</a:t>
                      </a:r>
                      <a:endParaRPr sz="900" b="1"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900"/>
                        <a:buFont typeface="Arial"/>
                        <a:buNone/>
                      </a:pPr>
                      <a:r>
                        <a:rPr lang="en" sz="900" b="1" u="none" strike="noStrike" cap="none">
                          <a:solidFill>
                            <a:schemeClr val="lt1"/>
                          </a:solidFill>
                          <a:latin typeface="Lato"/>
                          <a:ea typeface="Lato"/>
                          <a:cs typeface="Lato"/>
                          <a:sym typeface="Lato"/>
                        </a:rPr>
                        <a:t>Impact</a:t>
                      </a:r>
                      <a:endParaRPr sz="900" b="1"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900"/>
                        <a:buFont typeface="Arial"/>
                        <a:buNone/>
                      </a:pPr>
                      <a:r>
                        <a:rPr lang="en" sz="900" b="1" u="none" strike="noStrike" cap="none">
                          <a:solidFill>
                            <a:schemeClr val="lt1"/>
                          </a:solidFill>
                          <a:latin typeface="Lato"/>
                          <a:ea typeface="Lato"/>
                          <a:cs typeface="Lato"/>
                          <a:sym typeface="Lato"/>
                        </a:rPr>
                        <a:t>Priority or Rank</a:t>
                      </a:r>
                      <a:endParaRPr sz="900" b="1"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900"/>
                        <a:buFont typeface="Arial"/>
                        <a:buNone/>
                      </a:pPr>
                      <a:r>
                        <a:rPr lang="en" sz="900" b="1" u="none" strike="noStrike" cap="none">
                          <a:solidFill>
                            <a:schemeClr val="lt1"/>
                          </a:solidFill>
                          <a:latin typeface="Lato"/>
                          <a:ea typeface="Lato"/>
                          <a:cs typeface="Lato"/>
                          <a:sym typeface="Lato"/>
                        </a:rPr>
                        <a:t>Issue Description and Mitigation</a:t>
                      </a:r>
                      <a:endParaRPr sz="900" b="1"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740600">
                <a:tc>
                  <a:txBody>
                    <a:bodyPr/>
                    <a:lstStyle/>
                    <a:p>
                      <a:pPr marL="228600" marR="0" lvl="0" indent="0" algn="l" rtl="0">
                        <a:lnSpc>
                          <a:spcPct val="115000"/>
                        </a:lnSpc>
                        <a:spcBef>
                          <a:spcPts val="0"/>
                        </a:spcBef>
                        <a:spcAft>
                          <a:spcPts val="0"/>
                        </a:spcAft>
                        <a:buClr>
                          <a:srgbClr val="000000"/>
                        </a:buClr>
                        <a:buSzPts val="1000"/>
                        <a:buFont typeface="Arial"/>
                        <a:buNone/>
                      </a:pPr>
                      <a:r>
                        <a:rPr lang="en" sz="1000" u="none" strike="noStrike" cap="none">
                          <a:solidFill>
                            <a:schemeClr val="lt1"/>
                          </a:solidFill>
                          <a:latin typeface="Lato"/>
                          <a:ea typeface="Lato"/>
                          <a:cs typeface="Lato"/>
                          <a:sym typeface="Lato"/>
                        </a:rPr>
                        <a:t>4. Major Skill Set Differences Between Members</a:t>
                      </a:r>
                      <a:endParaRPr sz="10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a:buNone/>
                      </a:pPr>
                      <a:r>
                        <a:rPr lang="en" sz="1200" u="none" strike="noStrike" cap="none">
                          <a:solidFill>
                            <a:schemeClr val="lt1"/>
                          </a:solidFill>
                          <a:latin typeface="Lato"/>
                          <a:ea typeface="Lato"/>
                          <a:cs typeface="Lato"/>
                          <a:sym typeface="Lato"/>
                        </a:rPr>
                        <a:t>Medium</a:t>
                      </a:r>
                      <a:endParaRPr sz="12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a:buNone/>
                      </a:pPr>
                      <a:r>
                        <a:rPr lang="en" sz="1200" u="none" strike="noStrike" cap="none">
                          <a:solidFill>
                            <a:schemeClr val="lt1"/>
                          </a:solidFill>
                          <a:latin typeface="Lato"/>
                          <a:ea typeface="Lato"/>
                          <a:cs typeface="Lato"/>
                          <a:sym typeface="Lato"/>
                        </a:rPr>
                        <a:t>4</a:t>
                      </a:r>
                      <a:endParaRPr sz="12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Our team members have vastly different backgrounds. Some members have never been exposed to malware analysis and have little coding experience. </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Mitigation: </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Divide the team into two subsections. Have subsection leaders assist less experienced members as needed. </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Where possible, chose coding languages that each team member can understand. </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The team members with the least experience assigned to research and build their skill set. </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Current Status:</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Understanding of major concepts is improving</a:t>
                      </a:r>
                      <a:endParaRPr sz="1100" u="none" strike="noStrike" cap="none">
                        <a:solidFill>
                          <a:schemeClr val="lt1"/>
                        </a:solidFill>
                        <a:latin typeface="Lato"/>
                        <a:ea typeface="Lato"/>
                        <a:cs typeface="Lato"/>
                        <a:sym typeface="Lato"/>
                      </a:endParaRPr>
                    </a:p>
                    <a:p>
                      <a:pPr marL="0" marR="0" lvl="0" indent="0" algn="l" rtl="0">
                        <a:lnSpc>
                          <a:spcPct val="115000"/>
                        </a:lnSpc>
                        <a:spcBef>
                          <a:spcPts val="0"/>
                        </a:spcBef>
                        <a:spcAft>
                          <a:spcPts val="0"/>
                        </a:spcAft>
                        <a:buClr>
                          <a:srgbClr val="000000"/>
                        </a:buClr>
                        <a:buSzPts val="1100"/>
                        <a:buFont typeface="Arial"/>
                        <a:buNone/>
                      </a:pPr>
                      <a:r>
                        <a:rPr lang="en" sz="1100" u="none" strike="noStrike" cap="none">
                          <a:solidFill>
                            <a:schemeClr val="lt1"/>
                          </a:solidFill>
                          <a:latin typeface="Lato"/>
                          <a:ea typeface="Lato"/>
                          <a:cs typeface="Lato"/>
                          <a:sym typeface="Lato"/>
                        </a:rPr>
                        <a:t>Easier languages chosen for ground truth samples</a:t>
                      </a:r>
                      <a:endParaRPr sz="1100" u="none" strike="noStrike" cap="none">
                        <a:solidFill>
                          <a:schemeClr val="lt1"/>
                        </a:solidFill>
                        <a:latin typeface="Lato"/>
                        <a:ea typeface="Lato"/>
                        <a:cs typeface="Lato"/>
                        <a:sym typeface="Lato"/>
                      </a:endParaRPr>
                    </a:p>
                  </a:txBody>
                  <a:tcPr marL="68575" marR="6857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4"/>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References</a:t>
            </a:r>
            <a:endParaRPr/>
          </a:p>
        </p:txBody>
      </p:sp>
      <p:sp>
        <p:nvSpPr>
          <p:cNvPr id="514" name="Google Shape;514;p44"/>
          <p:cNvSpPr txBox="1">
            <a:spLocks noGrp="1"/>
          </p:cNvSpPr>
          <p:nvPr>
            <p:ph type="body" idx="1"/>
          </p:nvPr>
        </p:nvSpPr>
        <p:spPr>
          <a:xfrm>
            <a:off x="1297500" y="1567550"/>
            <a:ext cx="7038900" cy="2911200"/>
          </a:xfrm>
          <a:prstGeom prst="rect">
            <a:avLst/>
          </a:prstGeom>
          <a:noFill/>
          <a:ln>
            <a:noFill/>
          </a:ln>
        </p:spPr>
        <p:txBody>
          <a:bodyPr spcFirstLastPara="1" wrap="square" lIns="91425" tIns="91425" rIns="91425" bIns="91425" anchor="t" anchorCtr="0">
            <a:normAutofit/>
          </a:bodyPr>
          <a:lstStyle/>
          <a:p>
            <a:pPr marL="457200" lvl="0" indent="-457200" algn="l" rtl="0">
              <a:lnSpc>
                <a:spcPct val="115000"/>
              </a:lnSpc>
              <a:spcBef>
                <a:spcPts val="0"/>
              </a:spcBef>
              <a:spcAft>
                <a:spcPts val="0"/>
              </a:spcAft>
              <a:buSzPts val="1300"/>
              <a:buNone/>
            </a:pPr>
            <a:r>
              <a:rPr lang="en" sz="1200"/>
              <a:t>Posluszny, F. (2020). Malware Similarity Analysis: An adversary perspective. </a:t>
            </a:r>
            <a:r>
              <a:rPr lang="en" sz="1200" i="1"/>
              <a:t>MITRE Technical Report. </a:t>
            </a:r>
            <a:endParaRPr sz="1200"/>
          </a:p>
          <a:p>
            <a:pPr marL="457200" lvl="0" indent="-457200" algn="l" rtl="0">
              <a:lnSpc>
                <a:spcPct val="115000"/>
              </a:lnSpc>
              <a:spcBef>
                <a:spcPts val="0"/>
              </a:spcBef>
              <a:spcAft>
                <a:spcPts val="0"/>
              </a:spcAft>
              <a:buSzPts val="1300"/>
              <a:buNone/>
            </a:pPr>
            <a:r>
              <a:rPr lang="en" sz="1200"/>
              <a:t>Radareorg. (2022). </a:t>
            </a:r>
            <a:r>
              <a:rPr lang="en" sz="1200" i="1"/>
              <a:t>RADARE2/readme.md at</a:t>
            </a:r>
            <a:r>
              <a:rPr lang="en" sz="1200"/>
              <a:t>. GitHub. Retrieved February 13, 2022, from https://github.com/radareorg/radare2/blob/master/README.md</a:t>
            </a:r>
            <a:endParaRPr sz="1200"/>
          </a:p>
          <a:p>
            <a:pPr marL="0" lvl="0" indent="0" algn="l" rtl="0">
              <a:lnSpc>
                <a:spcPct val="115000"/>
              </a:lnSpc>
              <a:spcBef>
                <a:spcPts val="0"/>
              </a:spcBef>
              <a:spcAft>
                <a:spcPts val="0"/>
              </a:spcAft>
              <a:buSzPts val="1300"/>
              <a:buNone/>
            </a:pPr>
            <a:r>
              <a:rPr lang="en" sz="1200"/>
              <a:t>Rahimian, A., Shirani, P., Alrbaee, S., Wang, L., &amp; Debbabi, M. (2015). BinComp: A stratified </a:t>
            </a:r>
            <a:endParaRPr sz="1200"/>
          </a:p>
          <a:p>
            <a:pPr marL="457200" lvl="0" indent="0" algn="l" rtl="0">
              <a:lnSpc>
                <a:spcPct val="115000"/>
              </a:lnSpc>
              <a:spcBef>
                <a:spcPts val="0"/>
              </a:spcBef>
              <a:spcAft>
                <a:spcPts val="0"/>
              </a:spcAft>
              <a:buSzPts val="1300"/>
              <a:buNone/>
            </a:pPr>
            <a:r>
              <a:rPr lang="en" sz="1200"/>
              <a:t>approach to compiler provenance attribution. </a:t>
            </a:r>
            <a:r>
              <a:rPr lang="en" sz="1200" i="1"/>
              <a:t>Digital Investigation</a:t>
            </a:r>
            <a:r>
              <a:rPr lang="en" sz="1200"/>
              <a:t>, </a:t>
            </a:r>
            <a:r>
              <a:rPr lang="en" sz="1200" i="1"/>
              <a:t>14</a:t>
            </a:r>
            <a:r>
              <a:rPr lang="en" sz="1200"/>
              <a:t>. https://doi.org/10.1016/j.diin.2015.05.015</a:t>
            </a:r>
            <a:endParaRPr sz="1200"/>
          </a:p>
          <a:p>
            <a:pPr marL="457200" lvl="0" indent="-457200" algn="l" rtl="0">
              <a:lnSpc>
                <a:spcPct val="115000"/>
              </a:lnSpc>
              <a:spcBef>
                <a:spcPts val="0"/>
              </a:spcBef>
              <a:spcAft>
                <a:spcPts val="0"/>
              </a:spcAft>
              <a:buSzPts val="1300"/>
              <a:buNone/>
            </a:pPr>
            <a:r>
              <a:rPr lang="en" sz="1200"/>
              <a:t>Rizin. (n.d.). </a:t>
            </a:r>
            <a:r>
              <a:rPr lang="en" sz="1200" i="1"/>
              <a:t>GSOC 2021</a:t>
            </a:r>
            <a:r>
              <a:rPr lang="en" sz="1200"/>
              <a:t>. Rizin. Retrieved February 13, 2022, from https://rizin.re/gsoc/2021/</a:t>
            </a:r>
            <a:endParaRPr sz="1200"/>
          </a:p>
          <a:p>
            <a:pPr marL="457200" lvl="0" indent="-457200" algn="l" rtl="0">
              <a:lnSpc>
                <a:spcPct val="115000"/>
              </a:lnSpc>
              <a:spcBef>
                <a:spcPts val="0"/>
              </a:spcBef>
              <a:spcAft>
                <a:spcPts val="0"/>
              </a:spcAft>
              <a:buSzPts val="1300"/>
              <a:buNone/>
            </a:pPr>
            <a:r>
              <a:rPr lang="en" sz="1200"/>
              <a:t>Schirone, R. (2021, December 31). </a:t>
            </a:r>
            <a:r>
              <a:rPr lang="en" sz="1200" i="1"/>
              <a:t>Rizin shell</a:t>
            </a:r>
            <a:r>
              <a:rPr lang="en" sz="1200"/>
              <a:t>. Rizin. Retrieved February 13, 2022, from https://rizin.re/posts/rzshell/</a:t>
            </a:r>
            <a:endParaRPr sz="1200"/>
          </a:p>
          <a:p>
            <a:pPr marL="457200" lvl="0" indent="-457200" algn="l" rtl="0">
              <a:lnSpc>
                <a:spcPct val="115000"/>
              </a:lnSpc>
              <a:spcBef>
                <a:spcPts val="0"/>
              </a:spcBef>
              <a:spcAft>
                <a:spcPts val="0"/>
              </a:spcAft>
              <a:buSzPts val="1300"/>
              <a:buNone/>
            </a:pPr>
            <a:r>
              <a:rPr lang="en" sz="1200" i="1"/>
              <a:t>The official Radare2 Book</a:t>
            </a:r>
            <a:r>
              <a:rPr lang="en" sz="1200"/>
              <a:t>. The Official Radare2 Book. (n.d.). Retrieved February 13, 2022, from https://book.rada.re/signatures/zignatures.html</a:t>
            </a:r>
            <a:endParaRPr sz="1200"/>
          </a:p>
          <a:p>
            <a:pPr marL="0" lvl="0" indent="0" algn="l" rtl="0">
              <a:lnSpc>
                <a:spcPct val="115000"/>
              </a:lnSpc>
              <a:spcBef>
                <a:spcPts val="0"/>
              </a:spcBef>
              <a:spcAft>
                <a:spcPts val="1200"/>
              </a:spcAft>
              <a:buSzPts val="1300"/>
              <a:buNone/>
            </a:pPr>
            <a:endParaRPr sz="1200"/>
          </a:p>
        </p:txBody>
      </p:sp>
      <p:pic>
        <p:nvPicPr>
          <p:cNvPr id="515" name="Google Shape;515;p44"/>
          <p:cNvPicPr preferRelativeResize="0"/>
          <p:nvPr/>
        </p:nvPicPr>
        <p:blipFill rotWithShape="1">
          <a:blip r:embed="rId3">
            <a:alphaModFix/>
          </a:blip>
          <a:srcRect/>
          <a:stretch/>
        </p:blipFill>
        <p:spPr>
          <a:xfrm>
            <a:off x="497563" y="4631150"/>
            <a:ext cx="8148867" cy="3599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45"/>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References</a:t>
            </a:r>
            <a:endParaRPr/>
          </a:p>
        </p:txBody>
      </p:sp>
      <p:sp>
        <p:nvSpPr>
          <p:cNvPr id="521" name="Google Shape;521;p45"/>
          <p:cNvSpPr txBox="1">
            <a:spLocks noGrp="1"/>
          </p:cNvSpPr>
          <p:nvPr>
            <p:ph type="body" idx="1"/>
          </p:nvPr>
        </p:nvSpPr>
        <p:spPr>
          <a:xfrm>
            <a:off x="1297500" y="1567550"/>
            <a:ext cx="7038900" cy="2911200"/>
          </a:xfrm>
          <a:prstGeom prst="rect">
            <a:avLst/>
          </a:prstGeom>
          <a:noFill/>
          <a:ln>
            <a:noFill/>
          </a:ln>
        </p:spPr>
        <p:txBody>
          <a:bodyPr spcFirstLastPara="1" wrap="square" lIns="91425" tIns="91425" rIns="91425" bIns="91425" anchor="t" anchorCtr="0">
            <a:normAutofit fontScale="92500" lnSpcReduction="20000"/>
          </a:bodyPr>
          <a:lstStyle/>
          <a:p>
            <a:pPr marL="457200" lvl="0" indent="-457200" algn="l" rtl="0">
              <a:lnSpc>
                <a:spcPct val="115000"/>
              </a:lnSpc>
              <a:spcBef>
                <a:spcPts val="0"/>
              </a:spcBef>
              <a:spcAft>
                <a:spcPts val="0"/>
              </a:spcAft>
              <a:buSzPct val="117117"/>
              <a:buNone/>
            </a:pPr>
            <a:r>
              <a:rPr lang="en" sz="1200"/>
              <a:t>Andriesse, D., Slowinska, A., &amp; Bos, H. (2017). Compiler-agnostic function detection in binaries. </a:t>
            </a:r>
            <a:r>
              <a:rPr lang="en" sz="1200" i="1"/>
              <a:t>2017 IEEE European Symposium on Security and Privacy (EuroS&amp;P)</a:t>
            </a:r>
            <a:r>
              <a:rPr lang="en" sz="1200"/>
              <a:t>. https://doi.org/10.1109/eurosp.2017.11</a:t>
            </a:r>
            <a:endParaRPr sz="1200"/>
          </a:p>
          <a:p>
            <a:pPr marL="457200" lvl="0" indent="-457200" algn="l" rtl="0">
              <a:lnSpc>
                <a:spcPct val="115000"/>
              </a:lnSpc>
              <a:spcBef>
                <a:spcPts val="0"/>
              </a:spcBef>
              <a:spcAft>
                <a:spcPts val="0"/>
              </a:spcAft>
              <a:buSzPct val="117117"/>
              <a:buNone/>
            </a:pPr>
            <a:r>
              <a:rPr lang="en" sz="1200"/>
              <a:t>Alrabaee, S., Debbabi, M., &amp;amp; Wang, L. (2019). On the feasibility of binary authorship characterization. </a:t>
            </a:r>
            <a:r>
              <a:rPr lang="en" sz="1200" i="1"/>
              <a:t>Digital Investigation</a:t>
            </a:r>
            <a:r>
              <a:rPr lang="en" sz="1200"/>
              <a:t>, 28. https://doi.org/10.1016/j.diin.2019.01.028</a:t>
            </a:r>
            <a:endParaRPr sz="1200"/>
          </a:p>
          <a:p>
            <a:pPr marL="457200" lvl="0" indent="-457200" algn="l" rtl="0">
              <a:lnSpc>
                <a:spcPct val="115000"/>
              </a:lnSpc>
              <a:spcBef>
                <a:spcPts val="0"/>
              </a:spcBef>
              <a:spcAft>
                <a:spcPts val="0"/>
              </a:spcAft>
              <a:buSzPct val="117117"/>
              <a:buNone/>
            </a:pPr>
            <a:r>
              <a:rPr lang="en" sz="1200"/>
              <a:t>Alrawi, O., Ike, M., Pruett, M., Kasturi, R. P., Barua, S., Hirani, T., Hill, B., &amp; Saltaformaggio, B. (2021). Forecasting Malware Capabilities From Cyber Attack Memory Images. </a:t>
            </a:r>
            <a:r>
              <a:rPr lang="en" sz="1200" i="1"/>
              <a:t>30th USENIX Security Symposium</a:t>
            </a:r>
            <a:r>
              <a:rPr lang="en" sz="1200"/>
              <a:t>.</a:t>
            </a:r>
            <a:endParaRPr sz="1200"/>
          </a:p>
          <a:p>
            <a:pPr marL="457200" lvl="0" indent="-457200" algn="l" rtl="0">
              <a:lnSpc>
                <a:spcPct val="115000"/>
              </a:lnSpc>
              <a:spcBef>
                <a:spcPts val="0"/>
              </a:spcBef>
              <a:spcAft>
                <a:spcPts val="0"/>
              </a:spcAft>
              <a:buSzPct val="117117"/>
              <a:buNone/>
            </a:pPr>
            <a:r>
              <a:rPr lang="en" sz="1200"/>
              <a:t>FireEye. (2013, February). </a:t>
            </a:r>
            <a:r>
              <a:rPr lang="en" sz="1200" i="1"/>
              <a:t>APT1: Exposing one of China's cyber espionage units</a:t>
            </a:r>
            <a:r>
              <a:rPr lang="en" sz="1200"/>
              <a:t>. Mandiant. Retrieved February 13, 2022, from https://www.mandiant.com/resources/apt1-exposing-one-of-chinas-cyber-espionage-units</a:t>
            </a:r>
            <a:endParaRPr sz="1200"/>
          </a:p>
          <a:p>
            <a:pPr marL="457200" lvl="0" indent="-457200" algn="l" rtl="0">
              <a:lnSpc>
                <a:spcPct val="115000"/>
              </a:lnSpc>
              <a:spcBef>
                <a:spcPts val="0"/>
              </a:spcBef>
              <a:spcAft>
                <a:spcPts val="0"/>
              </a:spcAft>
              <a:buSzPct val="117117"/>
              <a:buNone/>
            </a:pPr>
            <a:r>
              <a:rPr lang="en" sz="1200"/>
              <a:t>FireEye. (2019). </a:t>
            </a:r>
            <a:r>
              <a:rPr lang="en" sz="1200" i="1"/>
              <a:t>Double dragon: APT41, a dual espionage and cyber crime operation</a:t>
            </a:r>
            <a:r>
              <a:rPr lang="en" sz="1200"/>
              <a:t>. FireEye. Retrieved February 13, 2022, from https://content.fireeye.com/apt-41/rpt-apt41/</a:t>
            </a:r>
            <a:endParaRPr sz="1200"/>
          </a:p>
          <a:p>
            <a:pPr marL="457200" lvl="0" indent="-457200" algn="l" rtl="0">
              <a:lnSpc>
                <a:spcPct val="115000"/>
              </a:lnSpc>
              <a:spcBef>
                <a:spcPts val="0"/>
              </a:spcBef>
              <a:spcAft>
                <a:spcPts val="0"/>
              </a:spcAft>
              <a:buSzPct val="117117"/>
              <a:buNone/>
            </a:pPr>
            <a:r>
              <a:rPr lang="en" sz="1200"/>
              <a:t>HexRays. (2011). </a:t>
            </a:r>
            <a:r>
              <a:rPr lang="en" sz="1200" i="1"/>
              <a:t>Ida F.L.I.R.T. Technology: In-depth</a:t>
            </a:r>
            <a:r>
              <a:rPr lang="en" sz="1200"/>
              <a:t>. HexRays Blog. Retrieved February 2, 2022, from https://hex-rays.com/products/ida/tech/flirt/in_depth/ </a:t>
            </a:r>
            <a:endParaRPr sz="1200"/>
          </a:p>
          <a:p>
            <a:pPr marL="0" lvl="0" indent="0" algn="l" rtl="0">
              <a:lnSpc>
                <a:spcPct val="115000"/>
              </a:lnSpc>
              <a:spcBef>
                <a:spcPts val="0"/>
              </a:spcBef>
              <a:spcAft>
                <a:spcPts val="0"/>
              </a:spcAft>
              <a:buSzPct val="117117"/>
              <a:buNone/>
            </a:pPr>
            <a:r>
              <a:rPr lang="en" sz="1200"/>
              <a:t>McVey, S. (2015). Malware Fingerprinting: Analysis of Tool Marks and Other Characteristics of </a:t>
            </a:r>
            <a:endParaRPr sz="1200"/>
          </a:p>
          <a:p>
            <a:pPr marL="0" lvl="0" indent="457200" algn="l" rtl="0">
              <a:lnSpc>
                <a:spcPct val="115000"/>
              </a:lnSpc>
              <a:spcBef>
                <a:spcPts val="0"/>
              </a:spcBef>
              <a:spcAft>
                <a:spcPts val="0"/>
              </a:spcAft>
              <a:buSzPct val="117117"/>
              <a:buNone/>
            </a:pPr>
            <a:r>
              <a:rPr lang="en" sz="1200"/>
              <a:t>Windows Malware. </a:t>
            </a:r>
            <a:r>
              <a:rPr lang="en" sz="1200" i="1"/>
              <a:t>NATIONAL CYBERSECURITY INSTITUTE JOURNAL</a:t>
            </a:r>
            <a:r>
              <a:rPr lang="en" sz="1200"/>
              <a:t>, </a:t>
            </a:r>
            <a:r>
              <a:rPr lang="en" sz="1200" i="1"/>
              <a:t>2</a:t>
            </a:r>
            <a:r>
              <a:rPr lang="en" sz="1200"/>
              <a:t>(3).</a:t>
            </a:r>
            <a:endParaRPr sz="1200"/>
          </a:p>
          <a:p>
            <a:pPr marL="457200" lvl="0" indent="-457200" algn="l" rtl="0">
              <a:lnSpc>
                <a:spcPct val="115000"/>
              </a:lnSpc>
              <a:spcBef>
                <a:spcPts val="0"/>
              </a:spcBef>
              <a:spcAft>
                <a:spcPts val="0"/>
              </a:spcAft>
              <a:buSzPct val="117117"/>
              <a:buNone/>
            </a:pPr>
            <a:r>
              <a:rPr lang="en" sz="1200"/>
              <a:t>MITRE. (2021). </a:t>
            </a:r>
            <a:r>
              <a:rPr lang="en" sz="1200" i="1"/>
              <a:t>Mitre ATT&amp;CK®</a:t>
            </a:r>
            <a:r>
              <a:rPr lang="en" sz="1200"/>
              <a:t>. MITRE ATT&amp;CK®. Retrieved February 13, 2022, from https://attack.mitre.org/</a:t>
            </a:r>
            <a:endParaRPr/>
          </a:p>
          <a:p>
            <a:pPr marL="0" lvl="0" indent="0" algn="l" rtl="0">
              <a:lnSpc>
                <a:spcPct val="115000"/>
              </a:lnSpc>
              <a:spcBef>
                <a:spcPts val="1200"/>
              </a:spcBef>
              <a:spcAft>
                <a:spcPts val="1200"/>
              </a:spcAft>
              <a:buSzPct val="108108"/>
              <a:buNone/>
            </a:pPr>
            <a:endParaRPr/>
          </a:p>
        </p:txBody>
      </p:sp>
      <p:pic>
        <p:nvPicPr>
          <p:cNvPr id="522" name="Google Shape;522;p45"/>
          <p:cNvPicPr preferRelativeResize="0"/>
          <p:nvPr/>
        </p:nvPicPr>
        <p:blipFill rotWithShape="1">
          <a:blip r:embed="rId3">
            <a:alphaModFix/>
          </a:blip>
          <a:srcRect/>
          <a:stretch/>
        </p:blipFill>
        <p:spPr>
          <a:xfrm>
            <a:off x="497563" y="4631150"/>
            <a:ext cx="8148867" cy="359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46"/>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Questions?</a:t>
            </a:r>
            <a:endParaRPr/>
          </a:p>
        </p:txBody>
      </p:sp>
      <p:sp>
        <p:nvSpPr>
          <p:cNvPr id="528" name="Google Shape;528;p46"/>
          <p:cNvSpPr txBox="1">
            <a:spLocks noGrp="1"/>
          </p:cNvSpPr>
          <p:nvPr>
            <p:ph type="body" idx="1"/>
          </p:nvPr>
        </p:nvSpPr>
        <p:spPr>
          <a:xfrm>
            <a:off x="950950" y="1567550"/>
            <a:ext cx="2818200" cy="4572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15000"/>
              </a:lnSpc>
              <a:spcBef>
                <a:spcPts val="0"/>
              </a:spcBef>
              <a:spcAft>
                <a:spcPts val="1200"/>
              </a:spcAft>
              <a:buSzPct val="159999"/>
              <a:buNone/>
            </a:pPr>
            <a:r>
              <a:rPr lang="en"/>
              <a:t>Investigator Contact Information:</a:t>
            </a:r>
            <a:endParaRPr/>
          </a:p>
        </p:txBody>
      </p:sp>
      <p:graphicFrame>
        <p:nvGraphicFramePr>
          <p:cNvPr id="529" name="Google Shape;529;p46"/>
          <p:cNvGraphicFramePr/>
          <p:nvPr/>
        </p:nvGraphicFramePr>
        <p:xfrm>
          <a:off x="1667650" y="2024750"/>
          <a:ext cx="3829125" cy="1535500"/>
        </p:xfrm>
        <a:graphic>
          <a:graphicData uri="http://schemas.openxmlformats.org/drawingml/2006/table">
            <a:tbl>
              <a:tblPr>
                <a:noFill/>
                <a:tableStyleId>{20C93071-435D-4BF2-BFC7-672637385921}</a:tableStyleId>
              </a:tblPr>
              <a:tblGrid>
                <a:gridCol w="1399500">
                  <a:extLst>
                    <a:ext uri="{9D8B030D-6E8A-4147-A177-3AD203B41FA5}">
                      <a16:colId xmlns:a16="http://schemas.microsoft.com/office/drawing/2014/main" val="20000"/>
                    </a:ext>
                  </a:extLst>
                </a:gridCol>
                <a:gridCol w="2429625">
                  <a:extLst>
                    <a:ext uri="{9D8B030D-6E8A-4147-A177-3AD203B41FA5}">
                      <a16:colId xmlns:a16="http://schemas.microsoft.com/office/drawing/2014/main" val="20001"/>
                    </a:ext>
                  </a:extLst>
                </a:gridCol>
              </a:tblGrid>
              <a:tr h="383875">
                <a:tc>
                  <a:txBody>
                    <a:bodyPr/>
                    <a:lstStyle/>
                    <a:p>
                      <a:pPr marL="0" marR="0" lvl="0" indent="0" algn="r" rtl="0">
                        <a:lnSpc>
                          <a:spcPct val="100000"/>
                        </a:lnSpc>
                        <a:spcBef>
                          <a:spcPts val="0"/>
                        </a:spcBef>
                        <a:spcAft>
                          <a:spcPts val="0"/>
                        </a:spcAft>
                        <a:buClr>
                          <a:srgbClr val="000000"/>
                        </a:buClr>
                        <a:buSzPts val="1300"/>
                        <a:buFont typeface="Arial"/>
                        <a:buNone/>
                      </a:pPr>
                      <a:r>
                        <a:rPr lang="en" sz="1300" u="none" strike="noStrike" cap="none">
                          <a:solidFill>
                            <a:schemeClr val="lt1"/>
                          </a:solidFill>
                          <a:latin typeface="Lato"/>
                          <a:ea typeface="Lato"/>
                          <a:cs typeface="Lato"/>
                          <a:sym typeface="Lato"/>
                        </a:rPr>
                        <a:t>Jacob Staggs</a:t>
                      </a:r>
                      <a:endParaRPr sz="1400" u="none" strike="noStrike" cap="none"/>
                    </a:p>
                  </a:txBody>
                  <a:tcPr marL="0" marR="0" marT="0" marB="0"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solidFill>
                            <a:schemeClr val="lt1"/>
                          </a:solidFill>
                          <a:latin typeface="Lato"/>
                          <a:ea typeface="Lato"/>
                          <a:cs typeface="Lato"/>
                          <a:sym typeface="Lato"/>
                        </a:rPr>
                        <a:t>jastaggs@email.arizona.edu</a:t>
                      </a:r>
                      <a:endParaRPr sz="1400" u="none" strike="noStrike" cap="none"/>
                    </a:p>
                  </a:txBody>
                  <a:tcPr marL="274300" marR="0" marT="0" marB="0"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extLst>
                  <a:ext uri="{0D108BD9-81ED-4DB2-BD59-A6C34878D82A}">
                    <a16:rowId xmlns:a16="http://schemas.microsoft.com/office/drawing/2014/main" val="10000"/>
                  </a:ext>
                </a:extLst>
              </a:tr>
              <a:tr h="383875">
                <a:tc>
                  <a:txBody>
                    <a:bodyPr/>
                    <a:lstStyle/>
                    <a:p>
                      <a:pPr marL="0" marR="0" lvl="0" indent="0" algn="r" rtl="0">
                        <a:lnSpc>
                          <a:spcPct val="100000"/>
                        </a:lnSpc>
                        <a:spcBef>
                          <a:spcPts val="0"/>
                        </a:spcBef>
                        <a:spcAft>
                          <a:spcPts val="0"/>
                        </a:spcAft>
                        <a:buClr>
                          <a:srgbClr val="000000"/>
                        </a:buClr>
                        <a:buSzPts val="1300"/>
                        <a:buFont typeface="Arial"/>
                        <a:buNone/>
                      </a:pPr>
                      <a:r>
                        <a:rPr lang="en" sz="1300" u="none" strike="noStrike" cap="none">
                          <a:solidFill>
                            <a:schemeClr val="lt1"/>
                          </a:solidFill>
                          <a:latin typeface="Lato"/>
                          <a:ea typeface="Lato"/>
                          <a:cs typeface="Lato"/>
                          <a:sym typeface="Lato"/>
                        </a:rPr>
                        <a:t>Timothy Colvert </a:t>
                      </a:r>
                      <a:endParaRPr sz="1400" u="none" strike="noStrike" cap="none"/>
                    </a:p>
                  </a:txBody>
                  <a:tcPr marL="0" marR="0" marT="0" marB="0"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solidFill>
                            <a:schemeClr val="lt1"/>
                          </a:solidFill>
                          <a:latin typeface="Lato"/>
                          <a:ea typeface="Lato"/>
                          <a:cs typeface="Lato"/>
                          <a:sym typeface="Lato"/>
                        </a:rPr>
                        <a:t>tcolvert@email.arizona.edu</a:t>
                      </a:r>
                      <a:endParaRPr sz="1400" u="none" strike="noStrike" cap="none"/>
                    </a:p>
                  </a:txBody>
                  <a:tcPr marL="274300" marR="0" marT="0" marB="0"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extLst>
                  <a:ext uri="{0D108BD9-81ED-4DB2-BD59-A6C34878D82A}">
                    <a16:rowId xmlns:a16="http://schemas.microsoft.com/office/drawing/2014/main" val="10001"/>
                  </a:ext>
                </a:extLst>
              </a:tr>
              <a:tr h="383875">
                <a:tc>
                  <a:txBody>
                    <a:bodyPr/>
                    <a:lstStyle/>
                    <a:p>
                      <a:pPr marL="0" marR="0" lvl="0" indent="0" algn="r" rtl="0">
                        <a:lnSpc>
                          <a:spcPct val="100000"/>
                        </a:lnSpc>
                        <a:spcBef>
                          <a:spcPts val="0"/>
                        </a:spcBef>
                        <a:spcAft>
                          <a:spcPts val="0"/>
                        </a:spcAft>
                        <a:buClr>
                          <a:srgbClr val="000000"/>
                        </a:buClr>
                        <a:buSzPts val="1300"/>
                        <a:buFont typeface="Arial"/>
                        <a:buNone/>
                      </a:pPr>
                      <a:r>
                        <a:rPr lang="en" sz="1300" u="none" strike="noStrike" cap="none">
                          <a:solidFill>
                            <a:schemeClr val="lt1"/>
                          </a:solidFill>
                          <a:latin typeface="Lato"/>
                          <a:ea typeface="Lato"/>
                          <a:cs typeface="Lato"/>
                          <a:sym typeface="Lato"/>
                        </a:rPr>
                        <a:t>Tri Nguyen</a:t>
                      </a:r>
                      <a:endParaRPr sz="1400" u="none" strike="noStrike" cap="none"/>
                    </a:p>
                  </a:txBody>
                  <a:tcPr marL="0" marR="0" marT="0" marB="0"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solidFill>
                            <a:schemeClr val="lt1"/>
                          </a:solidFill>
                          <a:latin typeface="Lato"/>
                          <a:ea typeface="Lato"/>
                          <a:cs typeface="Lato"/>
                          <a:sym typeface="Lato"/>
                        </a:rPr>
                        <a:t>txn180008@utdallas.edu</a:t>
                      </a:r>
                      <a:endParaRPr sz="1400" u="none" strike="noStrike" cap="none"/>
                    </a:p>
                  </a:txBody>
                  <a:tcPr marL="274300" marR="0" marT="0" marB="0"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extLst>
                  <a:ext uri="{0D108BD9-81ED-4DB2-BD59-A6C34878D82A}">
                    <a16:rowId xmlns:a16="http://schemas.microsoft.com/office/drawing/2014/main" val="10002"/>
                  </a:ext>
                </a:extLst>
              </a:tr>
              <a:tr h="383875">
                <a:tc>
                  <a:txBody>
                    <a:bodyPr/>
                    <a:lstStyle/>
                    <a:p>
                      <a:pPr marL="0" marR="0" lvl="0" indent="0" algn="r" rtl="0">
                        <a:lnSpc>
                          <a:spcPct val="100000"/>
                        </a:lnSpc>
                        <a:spcBef>
                          <a:spcPts val="0"/>
                        </a:spcBef>
                        <a:spcAft>
                          <a:spcPts val="0"/>
                        </a:spcAft>
                        <a:buClr>
                          <a:srgbClr val="000000"/>
                        </a:buClr>
                        <a:buSzPts val="1300"/>
                        <a:buFont typeface="Arial"/>
                        <a:buNone/>
                      </a:pPr>
                      <a:r>
                        <a:rPr lang="en" sz="1300" u="none" strike="noStrike" cap="none">
                          <a:solidFill>
                            <a:schemeClr val="lt1"/>
                          </a:solidFill>
                          <a:latin typeface="Lato"/>
                          <a:ea typeface="Lato"/>
                          <a:cs typeface="Lato"/>
                          <a:sym typeface="Lato"/>
                        </a:rPr>
                        <a:t>Abhijeet Dabas</a:t>
                      </a:r>
                      <a:endParaRPr sz="1400" u="none" strike="noStrike" cap="none"/>
                    </a:p>
                  </a:txBody>
                  <a:tcPr marL="0" marR="0" marT="0" marB="0"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solidFill>
                            <a:schemeClr val="lt1"/>
                          </a:solidFill>
                          <a:latin typeface="Lato"/>
                          <a:ea typeface="Lato"/>
                          <a:cs typeface="Lato"/>
                          <a:sym typeface="Lato"/>
                        </a:rPr>
                        <a:t>abhid@email.arizona.edu</a:t>
                      </a:r>
                      <a:endParaRPr sz="1400" u="none" strike="noStrike" cap="none"/>
                    </a:p>
                  </a:txBody>
                  <a:tcPr marL="274300" marR="0" marT="0" marB="0"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4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Appendix A: Acronyms</a:t>
            </a:r>
            <a:endParaRPr/>
          </a:p>
        </p:txBody>
      </p:sp>
      <p:pic>
        <p:nvPicPr>
          <p:cNvPr id="535" name="Google Shape;535;p47"/>
          <p:cNvPicPr preferRelativeResize="0"/>
          <p:nvPr/>
        </p:nvPicPr>
        <p:blipFill>
          <a:blip r:embed="rId3">
            <a:alphaModFix/>
          </a:blip>
          <a:stretch>
            <a:fillRect/>
          </a:stretch>
        </p:blipFill>
        <p:spPr>
          <a:xfrm>
            <a:off x="440575" y="4613700"/>
            <a:ext cx="8148867" cy="359950"/>
          </a:xfrm>
          <a:prstGeom prst="rect">
            <a:avLst/>
          </a:prstGeom>
          <a:noFill/>
          <a:ln>
            <a:noFill/>
          </a:ln>
        </p:spPr>
      </p:pic>
      <p:graphicFrame>
        <p:nvGraphicFramePr>
          <p:cNvPr id="536" name="Google Shape;536;p47"/>
          <p:cNvGraphicFramePr/>
          <p:nvPr/>
        </p:nvGraphicFramePr>
        <p:xfrm>
          <a:off x="1438950" y="1102438"/>
          <a:ext cx="7038900" cy="2938625"/>
        </p:xfrm>
        <a:graphic>
          <a:graphicData uri="http://schemas.openxmlformats.org/drawingml/2006/table">
            <a:tbl>
              <a:tblPr>
                <a:noFill/>
                <a:tableStyleId>{6C3D0141-AA6B-4E14-BAF0-DB45B88AA1E9}</a:tableStyleId>
              </a:tblPr>
              <a:tblGrid>
                <a:gridCol w="550125">
                  <a:extLst>
                    <a:ext uri="{9D8B030D-6E8A-4147-A177-3AD203B41FA5}">
                      <a16:colId xmlns:a16="http://schemas.microsoft.com/office/drawing/2014/main" val="20000"/>
                    </a:ext>
                  </a:extLst>
                </a:gridCol>
                <a:gridCol w="6488775">
                  <a:extLst>
                    <a:ext uri="{9D8B030D-6E8A-4147-A177-3AD203B41FA5}">
                      <a16:colId xmlns:a16="http://schemas.microsoft.com/office/drawing/2014/main" val="20001"/>
                    </a:ext>
                  </a:extLst>
                </a:gridCol>
              </a:tblGrid>
              <a:tr h="2938625">
                <a:tc>
                  <a:txBody>
                    <a:bodyPr/>
                    <a:lstStyle/>
                    <a:p>
                      <a:pPr marL="0" lvl="0" indent="0" algn="l" rtl="0">
                        <a:spcBef>
                          <a:spcPts val="0"/>
                        </a:spcBef>
                        <a:spcAft>
                          <a:spcPts val="0"/>
                        </a:spcAft>
                        <a:buNone/>
                      </a:pPr>
                      <a:r>
                        <a:rPr lang="en" sz="1200">
                          <a:solidFill>
                            <a:schemeClr val="lt1"/>
                          </a:solidFill>
                          <a:latin typeface="Lato"/>
                          <a:ea typeface="Lato"/>
                          <a:cs typeface="Lato"/>
                          <a:sym typeface="Lato"/>
                        </a:rPr>
                        <a:t>ANSI</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API</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BAS</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BS</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C2</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CySP</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DoD</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FLIRT</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IT</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MDLC</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MS</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NSF</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SFS</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TD</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UA</a:t>
                      </a:r>
                      <a:endParaRPr sz="1200">
                        <a:solidFill>
                          <a:schemeClr val="lt1"/>
                        </a:solidFill>
                        <a:latin typeface="Lato"/>
                        <a:ea typeface="Lato"/>
                        <a:cs typeface="Lato"/>
                        <a:sym typeface="Lato"/>
                      </a:endParaRPr>
                    </a:p>
                  </a:txBody>
                  <a:tcPr marL="0" marR="0"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lt1"/>
                          </a:solidFill>
                          <a:latin typeface="Lato"/>
                          <a:ea typeface="Lato"/>
                          <a:cs typeface="Lato"/>
                          <a:sym typeface="Lato"/>
                        </a:rPr>
                        <a:t>American National Standards Institute</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Application Programming Interface</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Bachelor of Applied Science</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Bachelor of Science</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Command and Control</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Cyber Scholarship Program</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Department of Defense</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Fast Library Identification and Recognition Technology</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Information Technology</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Malware Development Life Cycle</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Master of Science</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National Science Foundation</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Scholarship for Service</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Technical Director</a:t>
                      </a:r>
                      <a:endParaRPr sz="1200">
                        <a:solidFill>
                          <a:schemeClr val="lt1"/>
                        </a:solidFill>
                        <a:latin typeface="Lato"/>
                        <a:ea typeface="Lato"/>
                        <a:cs typeface="Lato"/>
                        <a:sym typeface="Lato"/>
                      </a:endParaRPr>
                    </a:p>
                    <a:p>
                      <a:pPr marL="0" lvl="0" indent="0" algn="l" rtl="0">
                        <a:spcBef>
                          <a:spcPts val="0"/>
                        </a:spcBef>
                        <a:spcAft>
                          <a:spcPts val="0"/>
                        </a:spcAft>
                        <a:buNone/>
                      </a:pPr>
                      <a:r>
                        <a:rPr lang="en" sz="1200">
                          <a:solidFill>
                            <a:schemeClr val="lt1"/>
                          </a:solidFill>
                          <a:latin typeface="Lato"/>
                          <a:ea typeface="Lato"/>
                          <a:cs typeface="Lato"/>
                          <a:sym typeface="Lato"/>
                        </a:rPr>
                        <a:t>University of Arizona</a:t>
                      </a:r>
                      <a:endParaRPr sz="1200">
                        <a:solidFill>
                          <a:schemeClr val="lt1"/>
                        </a:solidFill>
                        <a:latin typeface="Lato"/>
                        <a:ea typeface="Lato"/>
                        <a:cs typeface="Lato"/>
                        <a:sym typeface="Lato"/>
                      </a:endParaRPr>
                    </a:p>
                  </a:txBody>
                  <a:tcPr marL="0" marR="0" marT="0" marB="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48"/>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400"/>
              <a:buNone/>
            </a:pPr>
            <a:r>
              <a:rPr lang="en"/>
              <a:t>Appendix B: Terms and Definitions</a:t>
            </a:r>
            <a:endParaRPr/>
          </a:p>
        </p:txBody>
      </p:sp>
      <p:sp>
        <p:nvSpPr>
          <p:cNvPr id="542" name="Google Shape;542;p48"/>
          <p:cNvSpPr txBox="1">
            <a:spLocks noGrp="1"/>
          </p:cNvSpPr>
          <p:nvPr>
            <p:ph type="body" idx="1"/>
          </p:nvPr>
        </p:nvSpPr>
        <p:spPr>
          <a:xfrm>
            <a:off x="960575" y="978050"/>
            <a:ext cx="7375800" cy="35007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SzPts val="1200"/>
              <a:buFont typeface="Times New Roman"/>
              <a:buChar char="●"/>
            </a:pPr>
            <a:r>
              <a:rPr lang="en" sz="1200" b="1"/>
              <a:t>Compiler Provenance</a:t>
            </a:r>
            <a:r>
              <a:rPr lang="en" sz="1200"/>
              <a:t> - Information contained in a piece of software about the compiler family, compiler version, optimization level, and compiler-related functions. </a:t>
            </a:r>
            <a:endParaRPr sz="1200"/>
          </a:p>
          <a:p>
            <a:pPr marL="457200" lvl="0" indent="-304800" algn="l" rtl="0">
              <a:lnSpc>
                <a:spcPct val="115000"/>
              </a:lnSpc>
              <a:spcBef>
                <a:spcPts val="0"/>
              </a:spcBef>
              <a:spcAft>
                <a:spcPts val="0"/>
              </a:spcAft>
              <a:buSzPts val="1200"/>
              <a:buFont typeface="Times New Roman"/>
              <a:buChar char="●"/>
            </a:pPr>
            <a:r>
              <a:rPr lang="en" sz="1200" b="1"/>
              <a:t>Code Transforms </a:t>
            </a:r>
            <a:r>
              <a:rPr lang="en" sz="1200"/>
              <a:t>-</a:t>
            </a:r>
            <a:r>
              <a:rPr lang="en" sz="1200" b="1"/>
              <a:t> </a:t>
            </a:r>
            <a:r>
              <a:rPr lang="en" sz="1200"/>
              <a:t>Transformations that a code undergoes when it is compiled or interpreted by a code building utility or modified by a packaging tool.  </a:t>
            </a:r>
            <a:endParaRPr sz="1200"/>
          </a:p>
          <a:p>
            <a:pPr marL="457200" lvl="0" indent="-304800" algn="l" rtl="0">
              <a:lnSpc>
                <a:spcPct val="115000"/>
              </a:lnSpc>
              <a:spcBef>
                <a:spcPts val="0"/>
              </a:spcBef>
              <a:spcAft>
                <a:spcPts val="0"/>
              </a:spcAft>
              <a:buSzPts val="1200"/>
              <a:buFont typeface="Times New Roman"/>
              <a:buChar char="●"/>
            </a:pPr>
            <a:r>
              <a:rPr lang="en" sz="1200" b="1"/>
              <a:t>Dynamic Analysis</a:t>
            </a:r>
            <a:r>
              <a:rPr lang="en" sz="1200"/>
              <a:t> - A malware analysis technique in which a malware sample is run in a controlled environment to gain further understanding of its functionality. </a:t>
            </a:r>
            <a:endParaRPr sz="1200"/>
          </a:p>
          <a:p>
            <a:pPr marL="457200" lvl="0" indent="-304800" algn="l" rtl="0">
              <a:lnSpc>
                <a:spcPct val="115000"/>
              </a:lnSpc>
              <a:spcBef>
                <a:spcPts val="0"/>
              </a:spcBef>
              <a:spcAft>
                <a:spcPts val="0"/>
              </a:spcAft>
              <a:buSzPts val="1200"/>
              <a:buFont typeface="Times New Roman"/>
              <a:buChar char="●"/>
            </a:pPr>
            <a:r>
              <a:rPr lang="en" sz="1200" b="1"/>
              <a:t>Malware Analysis </a:t>
            </a:r>
            <a:r>
              <a:rPr lang="en" sz="1200"/>
              <a:t>-</a:t>
            </a:r>
            <a:r>
              <a:rPr lang="en" sz="1200" b="1"/>
              <a:t> </a:t>
            </a:r>
            <a:r>
              <a:rPr lang="en" sz="1200"/>
              <a:t>The process of examining a malicious object to understand its functions and goal so that it can be identified and classified for future protection. </a:t>
            </a:r>
            <a:endParaRPr sz="1200"/>
          </a:p>
          <a:p>
            <a:pPr marL="457200" lvl="0" indent="-304800" algn="l" rtl="0">
              <a:lnSpc>
                <a:spcPct val="115000"/>
              </a:lnSpc>
              <a:spcBef>
                <a:spcPts val="0"/>
              </a:spcBef>
              <a:spcAft>
                <a:spcPts val="0"/>
              </a:spcAft>
              <a:buSzPts val="1200"/>
              <a:buFont typeface="Times New Roman"/>
              <a:buChar char="●"/>
            </a:pPr>
            <a:r>
              <a:rPr lang="en" sz="1200" b="1"/>
              <a:t>MDLC </a:t>
            </a:r>
            <a:r>
              <a:rPr lang="en" sz="1200"/>
              <a:t>-</a:t>
            </a:r>
            <a:r>
              <a:rPr lang="en" sz="1200" b="1"/>
              <a:t> </a:t>
            </a:r>
            <a:r>
              <a:rPr lang="en" sz="1200"/>
              <a:t>A new malware analysis methodology developed at MITRE that aims to explore the human element of malware development and how it can be exploited to both gain information about malware samples and identity malware developers. </a:t>
            </a:r>
            <a:endParaRPr sz="1200"/>
          </a:p>
          <a:p>
            <a:pPr marL="457200" lvl="0" indent="-304800" algn="l" rtl="0">
              <a:lnSpc>
                <a:spcPct val="115000"/>
              </a:lnSpc>
              <a:spcBef>
                <a:spcPts val="0"/>
              </a:spcBef>
              <a:spcAft>
                <a:spcPts val="0"/>
              </a:spcAft>
              <a:buSzPts val="1200"/>
              <a:buFont typeface="Times New Roman"/>
              <a:buChar char="●"/>
            </a:pPr>
            <a:r>
              <a:rPr lang="en" sz="1200" b="1"/>
              <a:t>Static Analysis</a:t>
            </a:r>
            <a:r>
              <a:rPr lang="en" sz="1200"/>
              <a:t> - A form of malware analysis in which a malware sample is examined using specific software tools without running the malware itself. </a:t>
            </a:r>
            <a:endParaRPr sz="1200"/>
          </a:p>
          <a:p>
            <a:pPr marL="457200" lvl="0" indent="-304800" algn="l" rtl="0">
              <a:lnSpc>
                <a:spcPct val="115000"/>
              </a:lnSpc>
              <a:spcBef>
                <a:spcPts val="0"/>
              </a:spcBef>
              <a:spcAft>
                <a:spcPts val="0"/>
              </a:spcAft>
              <a:buSzPts val="1200"/>
              <a:buFont typeface="Times New Roman"/>
              <a:buChar char="●"/>
            </a:pPr>
            <a:r>
              <a:rPr lang="en" sz="1200" b="1"/>
              <a:t>Toolmarks </a:t>
            </a:r>
            <a:r>
              <a:rPr lang="en" sz="1200"/>
              <a:t>- Any information artifacts that are present in a piece of software, after the build stages, that reveal information about the software itself. For example, compiler provenance information is a subset of software toolmarks. </a:t>
            </a:r>
            <a:endParaRPr sz="1200" b="1" i="1"/>
          </a:p>
          <a:p>
            <a:pPr marL="0" lvl="0" indent="0" algn="l" rtl="0">
              <a:lnSpc>
                <a:spcPct val="95000"/>
              </a:lnSpc>
              <a:spcBef>
                <a:spcPts val="0"/>
              </a:spcBef>
              <a:spcAft>
                <a:spcPts val="1200"/>
              </a:spcAft>
              <a:buSzPts val="1300"/>
              <a:buNone/>
            </a:pPr>
            <a:endParaRPr sz="1500"/>
          </a:p>
        </p:txBody>
      </p:sp>
      <p:pic>
        <p:nvPicPr>
          <p:cNvPr id="543" name="Google Shape;543;p48"/>
          <p:cNvPicPr preferRelativeResize="0"/>
          <p:nvPr/>
        </p:nvPicPr>
        <p:blipFill rotWithShape="1">
          <a:blip r:embed="rId3">
            <a:alphaModFix/>
          </a:blip>
          <a:srcRect/>
          <a:stretch/>
        </p:blipFill>
        <p:spPr>
          <a:xfrm>
            <a:off x="440575" y="4613700"/>
            <a:ext cx="8148867" cy="359950"/>
          </a:xfrm>
          <a:prstGeom prst="rect">
            <a:avLst/>
          </a:prstGeom>
          <a:noFill/>
          <a:ln>
            <a:noFill/>
          </a:ln>
        </p:spPr>
      </p:pic>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3605</Words>
  <Application>Microsoft Office PowerPoint</Application>
  <PresentationFormat>On-screen Show (16:9)</PresentationFormat>
  <Paragraphs>384</Paragraphs>
  <Slides>24</Slides>
  <Notes>24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24</vt:i4>
      </vt:variant>
    </vt:vector>
  </HeadingPairs>
  <TitlesOfParts>
    <vt:vector size="30" baseType="lpstr">
      <vt:lpstr>Arial</vt:lpstr>
      <vt:lpstr>Montserrat</vt:lpstr>
      <vt:lpstr>Lato</vt:lpstr>
      <vt:lpstr>Times New Roman</vt:lpstr>
      <vt:lpstr>Focus</vt:lpstr>
      <vt:lpstr>Focus</vt:lpstr>
      <vt:lpstr>Team Binary Sunrise Midterm Presentation</vt:lpstr>
      <vt:lpstr>Agenda</vt:lpstr>
      <vt:lpstr>Introduction: Investigator Biographies</vt:lpstr>
      <vt:lpstr>Introduction: Research Project Description</vt:lpstr>
      <vt:lpstr>Introduction: Project Objectives</vt:lpstr>
      <vt:lpstr>Research Plan Summary</vt:lpstr>
      <vt:lpstr>Project Deliverables</vt:lpstr>
      <vt:lpstr>Progress to Date Overview</vt:lpstr>
      <vt:lpstr>Progress to Date: Phase 2 Requirements</vt:lpstr>
      <vt:lpstr>Progress to Date: Phase 2 Work</vt:lpstr>
      <vt:lpstr>Progress to Date: Phase 3/4</vt:lpstr>
      <vt:lpstr>Summary of Results:  Malware Capability Research</vt:lpstr>
      <vt:lpstr>Summary of Results:  Toolmarks and Compiler Provenance</vt:lpstr>
      <vt:lpstr>Summary of Results:  Statically-Linked Library Identification</vt:lpstr>
      <vt:lpstr>Summary of Results:  Malware Development Life Cycle</vt:lpstr>
      <vt:lpstr>Summary of Results: Malware Sample Example</vt:lpstr>
      <vt:lpstr>Project Issues and Challenges</vt:lpstr>
      <vt:lpstr>Project Issues and Challenges, Continued</vt:lpstr>
      <vt:lpstr>Project Issues and Challenges, Continued</vt:lpstr>
      <vt:lpstr>References</vt:lpstr>
      <vt:lpstr>References</vt:lpstr>
      <vt:lpstr>Questions?</vt:lpstr>
      <vt:lpstr>Appendix A: Acronyms</vt:lpstr>
      <vt:lpstr>Appendix B: Terms and Definitions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Binary Sunrise Midterm Presentation</dc:title>
  <cp:lastModifiedBy>Nguyen, Tri</cp:lastModifiedBy>
  <cp:revision>1</cp:revision>
  <dcterms:modified xsi:type="dcterms:W3CDTF">2022-03-25T00:17:58Z</dcterms:modified>
</cp:coreProperties>
</file>