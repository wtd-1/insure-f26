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Roboto"/>
      <p:regular r:id="rId13"/>
      <p:bold r:id="rId14"/>
      <p:italic r:id="rId15"/>
      <p:boldItalic r:id="rId16"/>
    </p:embeddedFont>
    <p:embeddedFont>
      <p:font typeface="Montserrat"/>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Italic.fntdata"/><Relationship Id="rId11" Type="http://schemas.openxmlformats.org/officeDocument/2006/relationships/slide" Target="slides/slide6.xml"/><Relationship Id="rId22" Type="http://schemas.openxmlformats.org/officeDocument/2006/relationships/font" Target="fonts/Lato-bold.fntdata"/><Relationship Id="rId10" Type="http://schemas.openxmlformats.org/officeDocument/2006/relationships/slide" Target="slides/slide5.xml"/><Relationship Id="rId21" Type="http://schemas.openxmlformats.org/officeDocument/2006/relationships/font" Target="fonts/Lato-regular.fntdata"/><Relationship Id="rId13" Type="http://schemas.openxmlformats.org/officeDocument/2006/relationships/font" Target="fonts/Roboto-regular.fntdata"/><Relationship Id="rId24" Type="http://schemas.openxmlformats.org/officeDocument/2006/relationships/font" Target="fonts/Lato-boldItalic.fntdata"/><Relationship Id="rId12" Type="http://schemas.openxmlformats.org/officeDocument/2006/relationships/slide" Target="slides/slide7.xml"/><Relationship Id="rId23" Type="http://schemas.openxmlformats.org/officeDocument/2006/relationships/font" Target="fonts/Lato-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italic.fntdata"/><Relationship Id="rId14" Type="http://schemas.openxmlformats.org/officeDocument/2006/relationships/font" Target="fonts/Roboto-bold.fntdata"/><Relationship Id="rId17" Type="http://schemas.openxmlformats.org/officeDocument/2006/relationships/font" Target="fonts/Montserrat-regular.fntdata"/><Relationship Id="rId16" Type="http://schemas.openxmlformats.org/officeDocument/2006/relationships/font" Target="fonts/Roboto-boldItalic.fntdata"/><Relationship Id="rId5" Type="http://schemas.openxmlformats.org/officeDocument/2006/relationships/notesMaster" Target="notesMasters/notesMaster1.xml"/><Relationship Id="rId19" Type="http://schemas.openxmlformats.org/officeDocument/2006/relationships/font" Target="fonts/Montserrat-italic.fntdata"/><Relationship Id="rId6" Type="http://schemas.openxmlformats.org/officeDocument/2006/relationships/slide" Target="slides/slide1.xml"/><Relationship Id="rId18" Type="http://schemas.openxmlformats.org/officeDocument/2006/relationships/font" Target="fonts/Montserrat-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6" name="Shape 136"/>
        <p:cNvGrpSpPr/>
        <p:nvPr/>
      </p:nvGrpSpPr>
      <p:grpSpPr>
        <a:xfrm>
          <a:off x="0" y="0"/>
          <a:ext cx="0" cy="0"/>
          <a:chOff x="0" y="0"/>
          <a:chExt cx="0" cy="0"/>
        </a:xfrm>
      </p:grpSpPr>
      <p:sp>
        <p:nvSpPr>
          <p:cNvPr id="137" name="Google Shape;137;g6fc1bc6d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6fc1bc6d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050">
                <a:solidFill>
                  <a:srgbClr val="172B4D"/>
                </a:solidFill>
                <a:highlight>
                  <a:srgbClr val="FFFFFF"/>
                </a:highlight>
                <a:latin typeface="Roboto"/>
                <a:ea typeface="Roboto"/>
                <a:cs typeface="Roboto"/>
                <a:sym typeface="Roboto"/>
              </a:rPr>
              <a:t>IDS notorious for requiring extensive adjustment and tailoring for each specific network they are deployed on. This is to reduce the large number of false positives that many signatures can generate. Analysts must spend a lot of time assessing alerts to determine whether or not they are true positives and, if so, whether or not they are also severe enough to warrant taking action. Signatures that generate too many false positives are often simply turned off to avoid the distractions and noise they generate.</a:t>
            </a:r>
            <a:endParaRPr sz="1050">
              <a:solidFill>
                <a:srgbClr val="172B4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50">
              <a:solidFill>
                <a:srgbClr val="172B4D"/>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172B4D"/>
                </a:solidFill>
                <a:highlight>
                  <a:srgbClr val="FFFFFF"/>
                </a:highlight>
                <a:latin typeface="Roboto"/>
                <a:ea typeface="Roboto"/>
                <a:cs typeface="Roboto"/>
                <a:sym typeface="Roboto"/>
              </a:rPr>
              <a:t>Dataset: 2 classes of profiles (b and m) - b (encapsulate entity behavior of benign users using ML and stat-an techniques - mostly based on patterns of payload and size,etc)</a:t>
            </a:r>
            <a:endParaRPr sz="1050">
              <a:solidFill>
                <a:srgbClr val="172B4D"/>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172B4D"/>
                </a:solidFill>
                <a:highlight>
                  <a:srgbClr val="FFFFFF"/>
                </a:highlight>
                <a:latin typeface="Roboto"/>
                <a:ea typeface="Roboto"/>
                <a:cs typeface="Roboto"/>
                <a:sym typeface="Roboto"/>
              </a:rPr>
              <a:t>-m (describe attack profiles like internal infiltration, DoS, bruteforce, webapp)</a:t>
            </a:r>
            <a:endParaRPr sz="1050">
              <a:solidFill>
                <a:srgbClr val="172B4D"/>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050">
              <a:solidFill>
                <a:srgbClr val="172B4D"/>
              </a:solidFill>
              <a:highlight>
                <a:srgbClr val="FFFFFF"/>
              </a:highlight>
              <a:latin typeface="Roboto"/>
              <a:ea typeface="Roboto"/>
              <a:cs typeface="Roboto"/>
              <a:sym typeface="Roboto"/>
            </a:endParaRPr>
          </a:p>
          <a:p>
            <a:pPr indent="0" lvl="0" marL="0" rtl="0" algn="l">
              <a:spcBef>
                <a:spcPts val="0"/>
              </a:spcBef>
              <a:spcAft>
                <a:spcPts val="0"/>
              </a:spcAft>
              <a:buNone/>
            </a:pPr>
            <a:r>
              <a:rPr lang="en" sz="1050">
                <a:solidFill>
                  <a:srgbClr val="172B4D"/>
                </a:solidFill>
                <a:highlight>
                  <a:srgbClr val="FFFFFF"/>
                </a:highlight>
                <a:latin typeface="Roboto"/>
                <a:ea typeface="Roboto"/>
                <a:cs typeface="Roboto"/>
                <a:sym typeface="Roboto"/>
              </a:rPr>
              <a:t>CICflowMeter - network flow generator</a:t>
            </a:r>
            <a:endParaRPr sz="1050">
              <a:solidFill>
                <a:srgbClr val="172B4D"/>
              </a:solidFill>
              <a:highlight>
                <a:srgbClr val="FFFFFF"/>
              </a:highlight>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2" name="Shape 142"/>
        <p:cNvGrpSpPr/>
        <p:nvPr/>
      </p:nvGrpSpPr>
      <p:grpSpPr>
        <a:xfrm>
          <a:off x="0" y="0"/>
          <a:ext cx="0" cy="0"/>
          <a:chOff x="0" y="0"/>
          <a:chExt cx="0" cy="0"/>
        </a:xfrm>
      </p:grpSpPr>
      <p:sp>
        <p:nvSpPr>
          <p:cNvPr id="143" name="Google Shape;143;g6fc1bc6d6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6fc1bc6d6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8" name="Shape 148"/>
        <p:cNvGrpSpPr/>
        <p:nvPr/>
      </p:nvGrpSpPr>
      <p:grpSpPr>
        <a:xfrm>
          <a:off x="0" y="0"/>
          <a:ext cx="0" cy="0"/>
          <a:chOff x="0" y="0"/>
          <a:chExt cx="0" cy="0"/>
        </a:xfrm>
      </p:grpSpPr>
      <p:sp>
        <p:nvSpPr>
          <p:cNvPr id="149" name="Google Shape;149;g6fc1bc6d6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6fc1bc6d6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4" name="Shape 154"/>
        <p:cNvGrpSpPr/>
        <p:nvPr/>
      </p:nvGrpSpPr>
      <p:grpSpPr>
        <a:xfrm>
          <a:off x="0" y="0"/>
          <a:ext cx="0" cy="0"/>
          <a:chOff x="0" y="0"/>
          <a:chExt cx="0" cy="0"/>
        </a:xfrm>
      </p:grpSpPr>
      <p:sp>
        <p:nvSpPr>
          <p:cNvPr id="155" name="Google Shape;155;g6fc1bc6d6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6fc1bc6d6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0" name="Shape 160"/>
        <p:cNvGrpSpPr/>
        <p:nvPr/>
      </p:nvGrpSpPr>
      <p:grpSpPr>
        <a:xfrm>
          <a:off x="0" y="0"/>
          <a:ext cx="0" cy="0"/>
          <a:chOff x="0" y="0"/>
          <a:chExt cx="0" cy="0"/>
        </a:xfrm>
      </p:grpSpPr>
      <p:sp>
        <p:nvSpPr>
          <p:cNvPr id="161" name="Google Shape;161;g6fc1bc6d6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6fc1bc6d6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6" name="Shape 166"/>
        <p:cNvGrpSpPr/>
        <p:nvPr/>
      </p:nvGrpSpPr>
      <p:grpSpPr>
        <a:xfrm>
          <a:off x="0" y="0"/>
          <a:ext cx="0" cy="0"/>
          <a:chOff x="0" y="0"/>
          <a:chExt cx="0" cy="0"/>
        </a:xfrm>
      </p:grpSpPr>
      <p:sp>
        <p:nvSpPr>
          <p:cNvPr id="167" name="Google Shape;167;g6fc1bc6d6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6fc1bc6d6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 type="subTitle"/>
          </p:nvPr>
        </p:nvSpPr>
        <p:spPr>
          <a:xfrm>
            <a:off x="5083950" y="3924925"/>
            <a:ext cx="34707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8" name="Google Shape;18;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4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7" name="Google Shape;47;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48"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3" name="Google Shape;53;p5"/>
          <p:cNvSpPr txBox="1"/>
          <p:nvPr>
            <p:ph idx="1" type="body"/>
          </p:nvPr>
        </p:nvSpPr>
        <p:spPr>
          <a:xfrm>
            <a:off x="1297500"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5"/>
          <p:cNvSpPr txBox="1"/>
          <p:nvPr>
            <p:ph idx="2" type="body"/>
          </p:nvPr>
        </p:nvSpPr>
        <p:spPr>
          <a:xfrm>
            <a:off x="4933221" y="1567550"/>
            <a:ext cx="34032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56"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 name="Google Shape;60;p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1" name="Google Shape;61;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_POINT">
    <p:spTree>
      <p:nvGrpSpPr>
        <p:cNvPr id="69"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9" name="Google Shape;89;p8"/>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0" name="Google Shape;9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_TITLE_AND_DESCRIPTION">
    <p:spTree>
      <p:nvGrpSpPr>
        <p:cNvPr id="9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9"/>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6" name="Google Shape;96;p9"/>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7" name="Google Shape;97;p9"/>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98" name="Google Shape;9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_ONLY">
    <p:spTree>
      <p:nvGrpSpPr>
        <p:cNvPr id="99"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10"/>
          <p:cNvSpPr txBox="1"/>
          <p:nvPr>
            <p:ph idx="1" type="body"/>
          </p:nvPr>
        </p:nvSpPr>
        <p:spPr>
          <a:xfrm>
            <a:off x="812725" y="4305375"/>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104" name="Google Shape;10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_NUMBER">
    <p:spTree>
      <p:nvGrpSpPr>
        <p:cNvPr id="105"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5" name="Google Shape;125;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27" name="Google Shape;12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128" name="Shape 128"/>
        <p:cNvGrpSpPr/>
        <p:nvPr/>
      </p:nvGrpSpPr>
      <p:grpSpPr>
        <a:xfrm>
          <a:off x="0" y="0"/>
          <a:ext cx="0" cy="0"/>
          <a:chOff x="0" y="0"/>
          <a:chExt cx="0" cy="0"/>
        </a:xfrm>
      </p:grpSpPr>
      <p:sp>
        <p:nvSpPr>
          <p:cNvPr id="129" name="Google Shape;12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focus">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3" name="Shape 133"/>
        <p:cNvGrpSpPr/>
        <p:nvPr/>
      </p:nvGrpSpPr>
      <p:grpSpPr>
        <a:xfrm>
          <a:off x="0" y="0"/>
          <a:ext cx="0" cy="0"/>
          <a:chOff x="0" y="0"/>
          <a:chExt cx="0" cy="0"/>
        </a:xfrm>
      </p:grpSpPr>
      <p:sp>
        <p:nvSpPr>
          <p:cNvPr id="134" name="Google Shape;134;p13"/>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IDS Alert Prioritization and Strengthening</a:t>
            </a:r>
            <a:endParaRPr/>
          </a:p>
        </p:txBody>
      </p:sp>
      <p:sp>
        <p:nvSpPr>
          <p:cNvPr id="135" name="Google Shape;135;p13"/>
          <p:cNvSpPr txBox="1"/>
          <p:nvPr>
            <p:ph idx="1" type="subTitle"/>
          </p:nvPr>
        </p:nvSpPr>
        <p:spPr>
          <a:xfrm>
            <a:off x="5083950" y="3593225"/>
            <a:ext cx="3470700" cy="50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University of Texas at Dallas</a:t>
            </a:r>
            <a:endParaRPr/>
          </a:p>
          <a:p>
            <a:pPr indent="0" lvl="0" marL="0" rtl="0" algn="l">
              <a:spcBef>
                <a:spcPts val="0"/>
              </a:spcBef>
              <a:spcAft>
                <a:spcPts val="0"/>
              </a:spcAft>
              <a:buNone/>
            </a:pPr>
            <a:r>
              <a:rPr lang="en"/>
              <a:t>Asad-ullah Khan</a:t>
            </a:r>
            <a:endParaRPr/>
          </a:p>
          <a:p>
            <a:pPr indent="0" lvl="0" marL="0" rtl="0" algn="l">
              <a:spcBef>
                <a:spcPts val="0"/>
              </a:spcBef>
              <a:spcAft>
                <a:spcPts val="0"/>
              </a:spcAft>
              <a:buNone/>
            </a:pPr>
            <a:r>
              <a:rPr lang="en"/>
              <a:t>Vishal Madipadga</a:t>
            </a:r>
            <a:endParaRPr/>
          </a:p>
          <a:p>
            <a:pPr indent="0" lvl="0" marL="0" rtl="0" algn="l">
              <a:spcBef>
                <a:spcPts val="0"/>
              </a:spcBef>
              <a:spcAft>
                <a:spcPts val="0"/>
              </a:spcAft>
              <a:buNone/>
            </a:pPr>
            <a:r>
              <a:rPr lang="en"/>
              <a:t>Skye Pekerti</a:t>
            </a:r>
            <a:endParaRPr/>
          </a:p>
          <a:p>
            <a:pPr indent="0" lvl="0" marL="0" rtl="0" algn="l">
              <a:spcBef>
                <a:spcPts val="0"/>
              </a:spcBef>
              <a:spcAft>
                <a:spcPts val="0"/>
              </a:spcAft>
              <a:buNone/>
            </a:pPr>
            <a:r>
              <a:rPr lang="en"/>
              <a:t>Pratidhi Pratyasha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9" name="Shape 139"/>
        <p:cNvGrpSpPr/>
        <p:nvPr/>
      </p:nvGrpSpPr>
      <p:grpSpPr>
        <a:xfrm>
          <a:off x="0" y="0"/>
          <a:ext cx="0" cy="0"/>
          <a:chOff x="0" y="0"/>
          <a:chExt cx="0" cy="0"/>
        </a:xfrm>
      </p:grpSpPr>
      <p:sp>
        <p:nvSpPr>
          <p:cNvPr id="140" name="Google Shape;140;p1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Description</a:t>
            </a:r>
            <a:endParaRPr/>
          </a:p>
        </p:txBody>
      </p:sp>
      <p:sp>
        <p:nvSpPr>
          <p:cNvPr id="141" name="Google Shape;141;p1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Intrusion Detection Systems (IDS) require a lot of manual tweaking to be effective but can still report a lot of false positives</a:t>
            </a:r>
            <a:endParaRPr/>
          </a:p>
          <a:p>
            <a:pPr indent="-311150" lvl="0" marL="457200" rtl="0" algn="l">
              <a:spcBef>
                <a:spcPts val="0"/>
              </a:spcBef>
              <a:spcAft>
                <a:spcPts val="0"/>
              </a:spcAft>
              <a:buSzPts val="1300"/>
              <a:buChar char="●"/>
            </a:pPr>
            <a:r>
              <a:rPr lang="en"/>
              <a:t>Determine effective ways to use machine learning to improve the performance of an IDS</a:t>
            </a:r>
            <a:endParaRPr/>
          </a:p>
          <a:p>
            <a:pPr indent="-311150" lvl="0" marL="457200" rtl="0" algn="l">
              <a:spcBef>
                <a:spcPts val="0"/>
              </a:spcBef>
              <a:spcAft>
                <a:spcPts val="0"/>
              </a:spcAft>
              <a:buSzPts val="1300"/>
              <a:buChar char="●"/>
            </a:pPr>
            <a:r>
              <a:rPr lang="en"/>
              <a:t>CICFlowMeter - CSE-CIC-IDS 2018</a:t>
            </a:r>
            <a:endParaRPr/>
          </a:p>
          <a:p>
            <a:pPr indent="-311150" lvl="0" marL="457200" rtl="0" algn="l">
              <a:spcBef>
                <a:spcPts val="0"/>
              </a:spcBef>
              <a:spcAft>
                <a:spcPts val="0"/>
              </a:spcAft>
              <a:buSzPts val="1300"/>
              <a:buChar char="●"/>
            </a:pPr>
            <a:r>
              <a:rPr lang="en"/>
              <a:t>Interesting fields: Max and min size of packets, Time between packets, Min and max time between packets, Total packet size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5" name="Shape 145"/>
        <p:cNvGrpSpPr/>
        <p:nvPr/>
      </p:nvGrpSpPr>
      <p:grpSpPr>
        <a:xfrm>
          <a:off x="0" y="0"/>
          <a:ext cx="0" cy="0"/>
          <a:chOff x="0" y="0"/>
          <a:chExt cx="0" cy="0"/>
        </a:xfrm>
      </p:grpSpPr>
      <p:sp>
        <p:nvSpPr>
          <p:cNvPr id="146" name="Google Shape;146;p1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Progress - Skeleton</a:t>
            </a:r>
            <a:endParaRPr/>
          </a:p>
        </p:txBody>
      </p:sp>
      <p:sp>
        <p:nvSpPr>
          <p:cNvPr id="147" name="Google Shape;147;p1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Initially built a barebones neural net to train the data against to test the dataset and to lay down some groundwork</a:t>
            </a:r>
            <a:endParaRPr/>
          </a:p>
          <a:p>
            <a:pPr indent="-311150" lvl="0" marL="457200" rtl="0" algn="l">
              <a:spcBef>
                <a:spcPts val="0"/>
              </a:spcBef>
              <a:spcAft>
                <a:spcPts val="0"/>
              </a:spcAft>
              <a:buSzPts val="1300"/>
              <a:buChar char="●"/>
            </a:pPr>
            <a:r>
              <a:rPr lang="en"/>
              <a:t>Despite being very simple, it ended up having a </a:t>
            </a:r>
            <a:r>
              <a:rPr lang="en"/>
              <a:t>relatively</a:t>
            </a:r>
            <a:r>
              <a:rPr lang="en"/>
              <a:t> high accuracy of around 90% the first time it ran</a:t>
            </a:r>
            <a:endParaRPr/>
          </a:p>
          <a:p>
            <a:pPr indent="-311150" lvl="0" marL="457200" rtl="0" algn="l">
              <a:spcBef>
                <a:spcPts val="0"/>
              </a:spcBef>
              <a:spcAft>
                <a:spcPts val="0"/>
              </a:spcAft>
              <a:buSzPts val="1300"/>
              <a:buChar char="●"/>
            </a:pPr>
            <a:r>
              <a:rPr lang="en"/>
              <a:t>We have made some tweaks to the skeleton itself and the way we are reading in data, but it was not getting as high accuracy as we wanted</a:t>
            </a:r>
            <a:endParaRPr/>
          </a:p>
          <a:p>
            <a:pPr indent="-311150" lvl="0" marL="457200" rtl="0" algn="l">
              <a:spcBef>
                <a:spcPts val="0"/>
              </a:spcBef>
              <a:spcAft>
                <a:spcPts val="0"/>
              </a:spcAft>
              <a:buSzPts val="1300"/>
              <a:buChar char="●"/>
            </a:pPr>
            <a:r>
              <a:rPr lang="en"/>
              <a:t>Since we want to have different models to compare against, we will continue to improve the skeleton, but we started work on a slightly different and more promising model.</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1" name="Shape 151"/>
        <p:cNvGrpSpPr/>
        <p:nvPr/>
      </p:nvGrpSpPr>
      <p:grpSpPr>
        <a:xfrm>
          <a:off x="0" y="0"/>
          <a:ext cx="0" cy="0"/>
          <a:chOff x="0" y="0"/>
          <a:chExt cx="0" cy="0"/>
        </a:xfrm>
      </p:grpSpPr>
      <p:sp>
        <p:nvSpPr>
          <p:cNvPr id="152" name="Google Shape;152;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Progress - Attention</a:t>
            </a:r>
            <a:endParaRPr/>
          </a:p>
        </p:txBody>
      </p:sp>
      <p:sp>
        <p:nvSpPr>
          <p:cNvPr id="153" name="Google Shape;153;p16"/>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By analyzing not j</a:t>
            </a:r>
            <a:r>
              <a:rPr lang="en"/>
              <a:t>ust the current interaction, but also some previous interactions simultaneously, we hypothesize that we can improve the accuracy of the model</a:t>
            </a:r>
            <a:endParaRPr/>
          </a:p>
          <a:p>
            <a:pPr indent="-311150" lvl="0" marL="457200" rtl="0" algn="l">
              <a:spcBef>
                <a:spcPts val="0"/>
              </a:spcBef>
              <a:spcAft>
                <a:spcPts val="0"/>
              </a:spcAft>
              <a:buSzPts val="1300"/>
              <a:buChar char="●"/>
            </a:pPr>
            <a:r>
              <a:rPr lang="en"/>
              <a:t>This is due to the fact that attacks typically have a temporal dependency: given that an attack has occurred at a given time, there is a high likelihood that at some previous timestep the attack was already </a:t>
            </a:r>
            <a:endParaRPr/>
          </a:p>
          <a:p>
            <a:pPr indent="-311150" lvl="0" marL="457200" rtl="0" algn="l">
              <a:spcBef>
                <a:spcPts val="0"/>
              </a:spcBef>
              <a:spcAft>
                <a:spcPts val="0"/>
              </a:spcAft>
              <a:buSzPts val="1300"/>
              <a:buChar char="●"/>
            </a:pPr>
            <a:r>
              <a:rPr lang="en"/>
              <a:t>This fact is evident in the data: attacks happen in bursts and often in long chains together.</a:t>
            </a:r>
            <a:endParaRPr/>
          </a:p>
          <a:p>
            <a:pPr indent="-311150" lvl="0" marL="457200" rtl="0" algn="l">
              <a:spcBef>
                <a:spcPts val="0"/>
              </a:spcBef>
              <a:spcAft>
                <a:spcPts val="0"/>
              </a:spcAft>
              <a:buSzPts val="1300"/>
              <a:buChar char="●"/>
            </a:pPr>
            <a:r>
              <a:rPr lang="en"/>
              <a:t>Using this technique, we improved the true positive rate of the previous model from 95% to 97%</a:t>
            </a:r>
            <a:endParaRPr/>
          </a:p>
          <a:p>
            <a:pPr indent="-311150" lvl="0" marL="457200" rtl="0" algn="l">
              <a:spcBef>
                <a:spcPts val="0"/>
              </a:spcBef>
              <a:spcAft>
                <a:spcPts val="0"/>
              </a:spcAft>
              <a:buSzPts val="1300"/>
              <a:buChar char="●"/>
            </a:pPr>
            <a:r>
              <a:rPr lang="en"/>
              <a:t>Previous research on IDS datasets also suggests that sequential analysis is powerful enough to perform unsupervised learning. This will be a goal for future progress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7" name="Shape 157"/>
        <p:cNvGrpSpPr/>
        <p:nvPr/>
      </p:nvGrpSpPr>
      <p:grpSpPr>
        <a:xfrm>
          <a:off x="0" y="0"/>
          <a:ext cx="0" cy="0"/>
          <a:chOff x="0" y="0"/>
          <a:chExt cx="0" cy="0"/>
        </a:xfrm>
      </p:grpSpPr>
      <p:sp>
        <p:nvSpPr>
          <p:cNvPr id="158" name="Google Shape;158;p1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Future Plans</a:t>
            </a:r>
            <a:endParaRPr/>
          </a:p>
        </p:txBody>
      </p:sp>
      <p:sp>
        <p:nvSpPr>
          <p:cNvPr id="159" name="Google Shape;159;p17"/>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Planning on attacking the problem with a decision tree/random forest.</a:t>
            </a:r>
            <a:endParaRPr/>
          </a:p>
          <a:p>
            <a:pPr indent="-311150" lvl="0" marL="457200" rtl="0" algn="l">
              <a:spcBef>
                <a:spcPts val="0"/>
              </a:spcBef>
              <a:spcAft>
                <a:spcPts val="0"/>
              </a:spcAft>
              <a:buSzPts val="1300"/>
              <a:buChar char="●"/>
            </a:pPr>
            <a:r>
              <a:rPr lang="en"/>
              <a:t>Using a decision tree will help us figure out which features/attributes are the best at determining whether a packet is malicious or not</a:t>
            </a:r>
            <a:endParaRPr/>
          </a:p>
          <a:p>
            <a:pPr indent="-298450" lvl="1" marL="914400" rtl="0" algn="l">
              <a:spcBef>
                <a:spcPts val="0"/>
              </a:spcBef>
              <a:spcAft>
                <a:spcPts val="0"/>
              </a:spcAft>
              <a:buSzPts val="1100"/>
              <a:buChar char="○"/>
            </a:pPr>
            <a:r>
              <a:rPr lang="en"/>
              <a:t>The nodes of a Decision Trees are the features</a:t>
            </a:r>
            <a:endParaRPr/>
          </a:p>
          <a:p>
            <a:pPr indent="-298450" lvl="1" marL="914400" rtl="0" algn="l">
              <a:spcBef>
                <a:spcPts val="0"/>
              </a:spcBef>
              <a:spcAft>
                <a:spcPts val="0"/>
              </a:spcAft>
              <a:buSzPts val="1100"/>
              <a:buChar char="○"/>
            </a:pPr>
            <a:r>
              <a:rPr lang="en"/>
              <a:t>The features that are selected to be a node in the tree are determined by the information gain criteria</a:t>
            </a:r>
            <a:endParaRPr/>
          </a:p>
          <a:p>
            <a:pPr indent="-298450" lvl="2" marL="1371600" rtl="0" algn="l">
              <a:spcBef>
                <a:spcPts val="0"/>
              </a:spcBef>
              <a:spcAft>
                <a:spcPts val="0"/>
              </a:spcAft>
              <a:buSzPts val="1100"/>
              <a:buChar char="■"/>
            </a:pPr>
            <a:r>
              <a:rPr lang="en"/>
              <a:t>Features yielding the highest information gain are selected as nodes</a:t>
            </a:r>
            <a:endParaRPr/>
          </a:p>
          <a:p>
            <a:pPr indent="-311150" lvl="0" marL="457200" rtl="0" algn="l">
              <a:spcBef>
                <a:spcPts val="0"/>
              </a:spcBef>
              <a:spcAft>
                <a:spcPts val="0"/>
              </a:spcAft>
              <a:buSzPts val="1300"/>
              <a:buChar char="●"/>
            </a:pPr>
            <a:r>
              <a:rPr lang="en"/>
              <a:t>Getting an idea of the best attributes/features (those used by the decision tree) will allow us to build different classifiers</a:t>
            </a:r>
            <a:endParaRPr/>
          </a:p>
          <a:p>
            <a:pPr indent="-311150" lvl="0" marL="457200" rtl="0" algn="l">
              <a:spcBef>
                <a:spcPts val="0"/>
              </a:spcBef>
              <a:spcAft>
                <a:spcPts val="0"/>
              </a:spcAft>
              <a:buSzPts val="1300"/>
              <a:buChar char="●"/>
            </a:pPr>
            <a:r>
              <a:rPr lang="en"/>
              <a:t>Random forest will help from overfitting the model to our training dataset, which can easily happen</a:t>
            </a:r>
            <a:endParaRPr/>
          </a:p>
          <a:p>
            <a:pPr indent="-311150" lvl="0" marL="457200" rtl="0" algn="l">
              <a:spcBef>
                <a:spcPts val="0"/>
              </a:spcBef>
              <a:spcAft>
                <a:spcPts val="0"/>
              </a:spcAft>
              <a:buSzPts val="1300"/>
              <a:buChar char="●"/>
            </a:pPr>
            <a:r>
              <a:rPr lang="en"/>
              <a:t>Keep working on improving the neural net to improve accuracy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3" name="Shape 163"/>
        <p:cNvGrpSpPr/>
        <p:nvPr/>
      </p:nvGrpSpPr>
      <p:grpSpPr>
        <a:xfrm>
          <a:off x="0" y="0"/>
          <a:ext cx="0" cy="0"/>
          <a:chOff x="0" y="0"/>
          <a:chExt cx="0" cy="0"/>
        </a:xfrm>
      </p:grpSpPr>
      <p:sp>
        <p:nvSpPr>
          <p:cNvPr id="164" name="Google Shape;164;p1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Challenges</a:t>
            </a:r>
            <a:endParaRPr/>
          </a:p>
        </p:txBody>
      </p:sp>
      <p:sp>
        <p:nvSpPr>
          <p:cNvPr id="165" name="Google Shape;165;p18"/>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a:t>Despite being very thorough, the dataset we are using to train the data had a lot of issues which needed to be fixed</a:t>
            </a:r>
            <a:endParaRPr/>
          </a:p>
          <a:p>
            <a:pPr indent="-311150" lvl="0" marL="457200" rtl="0" algn="l">
              <a:spcBef>
                <a:spcPts val="0"/>
              </a:spcBef>
              <a:spcAft>
                <a:spcPts val="0"/>
              </a:spcAft>
              <a:buSzPts val="1300"/>
              <a:buChar char="●"/>
            </a:pPr>
            <a:r>
              <a:rPr lang="en"/>
              <a:t>We are using a Python library called scikit-learn which allows us to implement different machine learning classifiers</a:t>
            </a:r>
            <a:endParaRPr/>
          </a:p>
          <a:p>
            <a:pPr indent="-298450" lvl="1" marL="914400" rtl="0" algn="l">
              <a:spcBef>
                <a:spcPts val="0"/>
              </a:spcBef>
              <a:spcAft>
                <a:spcPts val="0"/>
              </a:spcAft>
              <a:buSzPts val="1100"/>
              <a:buChar char="○"/>
            </a:pPr>
            <a:r>
              <a:rPr lang="en"/>
              <a:t>One problem we had was getting the data to be the right format so that is could be used with scikit-learn</a:t>
            </a:r>
            <a:endParaRPr/>
          </a:p>
          <a:p>
            <a:pPr indent="-298450" lvl="1" marL="914400" rtl="0" algn="l">
              <a:spcBef>
                <a:spcPts val="0"/>
              </a:spcBef>
              <a:spcAft>
                <a:spcPts val="0"/>
              </a:spcAft>
              <a:buSzPts val="1100"/>
              <a:buChar char="○"/>
            </a:pPr>
            <a:r>
              <a:rPr lang="en"/>
              <a:t>scikit-learn does not allow for the use non-numeric feature so we have had to filter out all non-numeric features such as Source IP address and Destination IP address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9" name="Shape 169"/>
        <p:cNvGrpSpPr/>
        <p:nvPr/>
      </p:nvGrpSpPr>
      <p:grpSpPr>
        <a:xfrm>
          <a:off x="0" y="0"/>
          <a:ext cx="0" cy="0"/>
          <a:chOff x="0" y="0"/>
          <a:chExt cx="0" cy="0"/>
        </a:xfrm>
      </p:grpSpPr>
      <p:sp>
        <p:nvSpPr>
          <p:cNvPr id="170" name="Google Shape;170;p1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Questions?</a:t>
            </a:r>
            <a:endParaRPr/>
          </a:p>
        </p:txBody>
      </p:sp>
      <p:sp>
        <p:nvSpPr>
          <p:cNvPr id="171" name="Google Shape;171;p1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