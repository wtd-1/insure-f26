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Nunito"/>
      <p:regular r:id="rId17"/>
      <p:bold r:id="rId18"/>
      <p:italic r:id="rId19"/>
      <p:boldItalic r:id="rId20"/>
    </p:embeddedFont>
    <p:embeddedFont>
      <p:font typeface="Maven Pro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Italic.fntdata"/><Relationship Id="rId11" Type="http://schemas.openxmlformats.org/officeDocument/2006/relationships/slide" Target="slides/slide6.xml"/><Relationship Id="rId22" Type="http://schemas.openxmlformats.org/officeDocument/2006/relationships/font" Target="fonts/MavenPro-bold.fntdata"/><Relationship Id="rId10" Type="http://schemas.openxmlformats.org/officeDocument/2006/relationships/slide" Target="slides/slide5.xml"/><Relationship Id="rId21" Type="http://schemas.openxmlformats.org/officeDocument/2006/relationships/font" Target="fonts/MavenPro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italic.fntdata"/><Relationship Id="rId6" Type="http://schemas.openxmlformats.org/officeDocument/2006/relationships/slide" Target="slides/slide1.xml"/><Relationship Id="rId18" Type="http://schemas.openxmlformats.org/officeDocument/2006/relationships/font" Target="fonts/Nuni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c7207ed8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c7207ed8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c7207ed8a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c7207ed8a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c7207ed8a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c7207ed8a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c9e0c2fd3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c9e0c2fd3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c9e0c2fd3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c9e0c2fd3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c9e0c2fd3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c9e0c2fd3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c949ba263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c949ba26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c949ba263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c949ba263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c949ba263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c949ba263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c7207ed8a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c7207ed8a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c7207ed8a2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c7207ed8a2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arxiv.org/abs/2003.07421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623408" y="71157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780"/>
              <a:t>Cryptographic Protocol Analysis and Verification</a:t>
            </a:r>
            <a:endParaRPr b="1" sz="4780"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623400" y="2612100"/>
            <a:ext cx="8520600" cy="23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Maven Pro"/>
                <a:ea typeface="Maven Pro"/>
                <a:cs typeface="Maven Pro"/>
                <a:sym typeface="Maven Pro"/>
              </a:rPr>
              <a:t>Members: </a:t>
            </a:r>
            <a:endParaRPr sz="240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66666"/>
                </a:solidFill>
                <a:latin typeface="Maven Pro"/>
                <a:ea typeface="Maven Pro"/>
                <a:cs typeface="Maven Pro"/>
                <a:sym typeface="Maven Pro"/>
              </a:rPr>
              <a:t>Juhi Patel</a:t>
            </a:r>
            <a:r>
              <a:rPr lang="en" sz="2400">
                <a:solidFill>
                  <a:srgbClr val="666666"/>
                </a:solidFill>
                <a:latin typeface="Maven Pro"/>
                <a:ea typeface="Maven Pro"/>
                <a:cs typeface="Maven Pro"/>
                <a:sym typeface="Maven Pro"/>
              </a:rPr>
              <a:t>                                                                                Kunal Mangalorekar</a:t>
            </a:r>
            <a:endParaRPr sz="2400">
              <a:solidFill>
                <a:srgbClr val="666666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66666"/>
                </a:solidFill>
                <a:latin typeface="Maven Pro"/>
                <a:ea typeface="Maven Pro"/>
                <a:cs typeface="Maven Pro"/>
                <a:sym typeface="Maven Pro"/>
              </a:rPr>
              <a:t>Lizabeth Trevino</a:t>
            </a:r>
            <a:endParaRPr sz="2400">
              <a:solidFill>
                <a:srgbClr val="666666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666666"/>
                </a:solidFill>
                <a:latin typeface="Maven Pro"/>
                <a:ea typeface="Maven Pro"/>
                <a:cs typeface="Maven Pro"/>
                <a:sym typeface="Maven Pro"/>
              </a:rPr>
              <a:t>Nidhi Jawandhia</a:t>
            </a:r>
            <a:endParaRPr sz="2400">
              <a:solidFill>
                <a:srgbClr val="666666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Introduction to Cryptographic Protocols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Introduction to CPSA and Dolev-Yao model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Introduction to 5G Authentication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Working of 5G EAP-TLS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Future Research/Plans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Cryptographic Protocols</a:t>
            </a:r>
            <a:endParaRPr/>
          </a:p>
        </p:txBody>
      </p:sp>
      <p:sp>
        <p:nvSpPr>
          <p:cNvPr id="290" name="Google Shape;290;p15"/>
          <p:cNvSpPr txBox="1"/>
          <p:nvPr>
            <p:ph idx="1" type="body"/>
          </p:nvPr>
        </p:nvSpPr>
        <p:spPr>
          <a:xfrm>
            <a:off x="1303800" y="182722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 set of rules that are designed to allow secure communication over an untrusted network such as the internet.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No face-to-face interaction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No way of knowing who you are talking to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Attackers can wreak havoc without proper cryptographic protocols in place.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Man-in-the-middle, spoofing, etc.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Tools used in cryptographic protocols: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Keys, authentications, encryptions, etc.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How do we know protocols are secure?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1" name="Google Shape;29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9250" y="3413400"/>
            <a:ext cx="4081174" cy="146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CPSA (</a:t>
            </a:r>
            <a:r>
              <a:rPr lang="en" sz="2133">
                <a:solidFill>
                  <a:srgbClr val="000000"/>
                </a:solidFill>
              </a:rPr>
              <a:t>Cryptographic Protocol Shapes Analyzer</a:t>
            </a:r>
            <a:r>
              <a:rPr lang="en"/>
              <a:t>)</a:t>
            </a:r>
            <a:endParaRPr/>
          </a:p>
        </p:txBody>
      </p:sp>
      <p:sp>
        <p:nvSpPr>
          <p:cNvPr id="297" name="Google Shape;297;p16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Designed to assist in the design and analysis cryptographic protocols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Analysis is performed </a:t>
            </a:r>
            <a:r>
              <a:rPr lang="en"/>
              <a:t>within a Dolev-Yao model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Input: Protocol definition and an execution skeleton(.lsp or .scm)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8" name="Google Shape;29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175" y="2707962"/>
            <a:ext cx="5059575" cy="146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6750" y="2667550"/>
            <a:ext cx="2954925" cy="154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Introduction to CPSA (</a:t>
            </a:r>
            <a:r>
              <a:rPr lang="en" sz="2133"/>
              <a:t>Cryptographic Protocol Shapes Analyzer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7"/>
          <p:cNvSpPr txBox="1"/>
          <p:nvPr>
            <p:ph idx="1" type="body"/>
          </p:nvPr>
        </p:nvSpPr>
        <p:spPr>
          <a:xfrm>
            <a:off x="319100" y="1597875"/>
            <a:ext cx="8656500" cy="3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Output: Runs all possible executions based on the description with the presence of the Dolev-Yao adversary (.xhtml)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Each enumeration is called a ‘shape’ of the protocol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CPSA is aimed to reveal only structural flaws in the protocol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6" name="Google Shape;30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3750" y="2179000"/>
            <a:ext cx="1594350" cy="267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2973" y="2030973"/>
            <a:ext cx="3339825" cy="19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Dolev-Yao model</a:t>
            </a:r>
            <a:endParaRPr/>
          </a:p>
        </p:txBody>
      </p:sp>
      <p:sp>
        <p:nvSpPr>
          <p:cNvPr id="313" name="Google Shape;313;p18"/>
          <p:cNvSpPr txBox="1"/>
          <p:nvPr>
            <p:ph idx="1" type="body"/>
          </p:nvPr>
        </p:nvSpPr>
        <p:spPr>
          <a:xfrm>
            <a:off x="1303800" y="167922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Set of machines which can send/</a:t>
            </a:r>
            <a:r>
              <a:rPr lang="en"/>
              <a:t>receive</a:t>
            </a:r>
            <a:r>
              <a:rPr lang="en"/>
              <a:t> messages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Adversary assumed to be part of the network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Adversary: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Sniff, filter, intercept and modify any messages on the network.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Only limited by constraints of the cryptographic protocol used.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5G Authentication</a:t>
            </a:r>
            <a:endParaRPr/>
          </a:p>
        </p:txBody>
      </p:sp>
      <p:sp>
        <p:nvSpPr>
          <p:cNvPr id="319" name="Google Shape;319;p19"/>
          <p:cNvSpPr txBox="1"/>
          <p:nvPr>
            <p:ph idx="1" type="body"/>
          </p:nvPr>
        </p:nvSpPr>
        <p:spPr>
          <a:xfrm>
            <a:off x="1103950" y="147207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700"/>
              <a:buChar char="●"/>
            </a:pPr>
            <a:r>
              <a:rPr lang="en" sz="1700">
                <a:solidFill>
                  <a:srgbClr val="666666"/>
                </a:solidFill>
              </a:rPr>
              <a:t>Cellular Network technologies evolved over a period of time from 2G, 3G, 4G and now 3GPP is developing 5G.</a:t>
            </a:r>
            <a:endParaRPr sz="1700">
              <a:solidFill>
                <a:srgbClr val="666666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700"/>
              <a:buChar char="●"/>
            </a:pPr>
            <a:r>
              <a:rPr lang="en" sz="1700">
                <a:solidFill>
                  <a:srgbClr val="666666"/>
                </a:solidFill>
              </a:rPr>
              <a:t>Studies showed some catch in previous generation-</a:t>
            </a:r>
            <a:endParaRPr sz="1700">
              <a:solidFill>
                <a:srgbClr val="666666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666666"/>
                </a:solidFill>
              </a:rPr>
              <a:t>Lack of network authentication in 2G.</a:t>
            </a:r>
            <a:endParaRPr sz="1700">
              <a:solidFill>
                <a:srgbClr val="666666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666666"/>
                </a:solidFill>
              </a:rPr>
              <a:t>Lack of integration protection and confidentiality in certain signalling messages.</a:t>
            </a:r>
            <a:endParaRPr sz="1700">
              <a:solidFill>
                <a:srgbClr val="666666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ts val="1700"/>
              <a:buChar char="●"/>
            </a:pPr>
            <a:r>
              <a:rPr lang="en" sz="1700">
                <a:solidFill>
                  <a:srgbClr val="666666"/>
                </a:solidFill>
              </a:rPr>
              <a:t>To mitigate these issues 3GPP defines an Authentication and Key Agreement protocol which is a challenge and response authentication protocol based on a symmetric key shared between subscriber and home network.</a:t>
            </a:r>
            <a:endParaRPr sz="17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0"/>
          <p:cNvSpPr txBox="1"/>
          <p:nvPr>
            <p:ph idx="1" type="body"/>
          </p:nvPr>
        </p:nvSpPr>
        <p:spPr>
          <a:xfrm>
            <a:off x="138875" y="697325"/>
            <a:ext cx="8520600" cy="42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5G Authentication is designed in a manner that it is both open(support of Extensible Authentication protocol) and access network agnostic(network supporting 3GPP and for network not supporting 3GPP like wifi and cables).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Several security contexts can be established with one authentication execution, which allows the UE to move from a 3GPP access network to a non 3GPP network without reauthentication.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pic>
        <p:nvPicPr>
          <p:cNvPr id="325" name="Google Shape;32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6913" y="2723400"/>
            <a:ext cx="4864527" cy="225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Working of the 5G EAP-TLS</a:t>
            </a:r>
            <a:endParaRPr/>
          </a:p>
        </p:txBody>
      </p:sp>
      <p:sp>
        <p:nvSpPr>
          <p:cNvPr id="331" name="Google Shape;331;p21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-312261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Char char="●"/>
            </a:pPr>
            <a:r>
              <a:rPr lang="en" sz="1700">
                <a:solidFill>
                  <a:srgbClr val="666666"/>
                </a:solidFill>
              </a:rPr>
              <a:t>EAP-TLS is defined in 5G subscriber authentication in limited use cases such as private networks and IOT environment.</a:t>
            </a:r>
            <a:endParaRPr sz="1700">
              <a:solidFill>
                <a:srgbClr val="666666"/>
              </a:solidFill>
            </a:endParaRPr>
          </a:p>
          <a:p>
            <a:pPr indent="-312261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Char char="●"/>
            </a:pPr>
            <a:r>
              <a:rPr lang="en" sz="1700">
                <a:solidFill>
                  <a:srgbClr val="666666"/>
                </a:solidFill>
              </a:rPr>
              <a:t>When selected as authentication protocol, it is performed between the UE(EAP peer) and AUSF(EAP server) through Security Anchor Function(EAP pass through authenticator) by forwarding EAP-TLS messages back and forth.</a:t>
            </a:r>
            <a:endParaRPr sz="1700">
              <a:solidFill>
                <a:srgbClr val="666666"/>
              </a:solidFill>
            </a:endParaRPr>
          </a:p>
          <a:p>
            <a:pPr indent="-312261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Char char="●"/>
            </a:pPr>
            <a:r>
              <a:rPr lang="en" sz="1700">
                <a:solidFill>
                  <a:srgbClr val="666666"/>
                </a:solidFill>
              </a:rPr>
              <a:t>Mutual Authentication is accomplished by verifying either each others certificate or pre shared key established during hand shaking.</a:t>
            </a:r>
            <a:endParaRPr sz="1700">
              <a:solidFill>
                <a:srgbClr val="666666"/>
              </a:solidFill>
            </a:endParaRPr>
          </a:p>
          <a:p>
            <a:pPr indent="-312261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Char char="●"/>
            </a:pPr>
            <a:r>
              <a:rPr lang="en" sz="1700">
                <a:solidFill>
                  <a:srgbClr val="666666"/>
                </a:solidFill>
              </a:rPr>
              <a:t>At the end a key is derives and the first 256 bits is used to derive the other </a:t>
            </a:r>
            <a:r>
              <a:rPr lang="en" sz="1700">
                <a:solidFill>
                  <a:srgbClr val="666666"/>
                </a:solidFill>
              </a:rPr>
              <a:t>subsequent</a:t>
            </a:r>
            <a:r>
              <a:rPr lang="en" sz="1700">
                <a:solidFill>
                  <a:srgbClr val="666666"/>
                </a:solidFill>
              </a:rPr>
              <a:t> keys.</a:t>
            </a:r>
            <a:endParaRPr sz="17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Research/Plans</a:t>
            </a:r>
            <a:endParaRPr/>
          </a:p>
        </p:txBody>
      </p:sp>
      <p:sp>
        <p:nvSpPr>
          <p:cNvPr id="337" name="Google Shape;337;p22"/>
          <p:cNvSpPr txBox="1"/>
          <p:nvPr/>
        </p:nvSpPr>
        <p:spPr>
          <a:xfrm>
            <a:off x="421850" y="1154500"/>
            <a:ext cx="85773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Independent research of the 5G EAP Protocol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Reading research papers,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Looking at past research documentation from the previous group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Cryptographic Protocol Shapes Analyzer (CPSA) Training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7-week seminar to learn the concepts </a:t>
            </a:r>
            <a:r>
              <a:rPr lang="en"/>
              <a:t>behind</a:t>
            </a:r>
            <a:r>
              <a:rPr lang="en"/>
              <a:t> CPSA (Dolev-Yao Adversary)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Practical training on the language used for the creation of models that will be run through CPSA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Learning to understand the meaning of the shapes and what they imply about the structural properties of a </a:t>
            </a:r>
            <a:r>
              <a:rPr lang="en"/>
              <a:t>protocol.</a:t>
            </a:r>
            <a:endParaRPr/>
          </a:p>
        </p:txBody>
      </p:sp>
      <p:pic>
        <p:nvPicPr>
          <p:cNvPr id="338" name="Google Shape;33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075" y="3478350"/>
            <a:ext cx="3522000" cy="1622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9500" y="139401"/>
            <a:ext cx="1820825" cy="16654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40" name="Google Shape;34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39596" y="3044550"/>
            <a:ext cx="3108650" cy="205581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41" name="Google Shape;341;p22"/>
          <p:cNvSpPr txBox="1"/>
          <p:nvPr/>
        </p:nvSpPr>
        <p:spPr>
          <a:xfrm>
            <a:off x="4241425" y="4723850"/>
            <a:ext cx="333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[1]</a:t>
            </a:r>
            <a:endParaRPr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347" name="Google Shape;347;p23"/>
          <p:cNvSpPr txBox="1"/>
          <p:nvPr/>
        </p:nvSpPr>
        <p:spPr>
          <a:xfrm>
            <a:off x="436625" y="1597875"/>
            <a:ext cx="8373600" cy="3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A.T. Sherman, E. Lanus, M. Liskov, E. Zieglar, R. Chang, E. Golaszewski, R. Wnuk-Fink, C.J. Bonyadi, M. Yaksetig, and I. Blumenfeld, “Formal Methods Analysis of the Secure Remote Password Protocol,” Cyber Defense Lab, University of Maryland, Baltimore, MD, USA, 2020. Accessed: Feb. 9, 2021. [Online]. Available: </a:t>
            </a:r>
            <a:r>
              <a:rPr lang="en" sz="12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https://arxiv.org/abs/2003.07421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Doghmi, Shaddin F., et al. “Searching for Shapes in Cryptographic Protocols.”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and Algorithms for the Construction and Analysis of Systems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pp. 523–537., doi:10.1007/978-3-540-71209-1_41.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J. Zhang, L. Yang, W. Cao and Q. Wang, "Formal Analysis of 5G EAP-TLS Authentication Protocol Using Proverif," in IEEE Access, vol. 8, pp. 23674-23688, 2020, doi: 10.1109/ACCESS.2020.2969474.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Ramsdell, John D., Joshua D. Guttman, Jonathan K. Millen, and Brian O'Hanlon. "An analysis of the CAVES attestation protocol using CPSA."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arXiv preprint arXiv:1207.0418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(2012).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 Lucca Hirschi, Ralf Sasse, Jannik Dreier. Security Issues in the 5G Standard and How Formal Methods Come to the Rescue. ERCIM News, ERCIM, 2019. Hal-02268822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[6] Liskov, M. D., Ramsdell, J. D., Guttman, J. D., &amp; Rowe, P. D. (2016). The Cryptographic Protocol Shapes Analyzer: A Manual.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MITRE Corporation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