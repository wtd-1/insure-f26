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notesMasterIdLst>
    <p:notesMasterId r:id="rId13"/>
  </p:notesMasterIdLst>
  <p:sldIdLst>
    <p:sldId id="256" r:id="rId2"/>
    <p:sldId id="263" r:id="rId3"/>
    <p:sldId id="257" r:id="rId4"/>
    <p:sldId id="264" r:id="rId5"/>
    <p:sldId id="265" r:id="rId6"/>
    <p:sldId id="267" r:id="rId7"/>
    <p:sldId id="266" r:id="rId8"/>
    <p:sldId id="269" r:id="rId9"/>
    <p:sldId id="268" r:id="rId10"/>
    <p:sldId id="270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lib, Mostafa" initials="GM" lastIdx="1" clrIdx="0">
    <p:extLst>
      <p:ext uri="{19B8F6BF-5375-455C-9EA6-DF929625EA0E}">
        <p15:presenceInfo xmlns:p15="http://schemas.microsoft.com/office/powerpoint/2012/main" userId="Galib, Mostaf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F46DC-9E20-0958-65BF-9F4552097D57}" v="8" dt="2020-10-15T23:35:34.234"/>
    <p1510:client id="{2F2BF8B7-74DB-48FF-801B-1EA24EB68848}" v="9" dt="2020-10-15T08:20:02.798"/>
    <p1510:client id="{E2D5E87A-75EF-340A-B0A3-797CAA6E1B39}" v="7" dt="2020-10-15T19:37:18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C2C6B-75B1-44E5-B329-EA5EADE0BE2F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55BE2-2DE4-4311-A7EF-DFDA17E31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2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A1C2265-F8F6-4067-9686-E631AD7A1B33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36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53F29-1947-4024-9356-5712BDB7E82D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4383-7AEC-4B3E-A2A1-476751EACCD4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6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E54B-B3DF-46CC-A487-9D74687F3AB1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7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3B5C-0CA8-499A-A866-EFBCA226A434}" type="datetime1">
              <a:rPr lang="en-US" smtClean="0"/>
              <a:t>10/15/2020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9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A37C-8BED-41D5-9797-CBE43F57C9FE}" type="datetime1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1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2352A-1675-4BB5-9010-2CEDB40B7446}" type="datetime1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5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1FCA-4625-40A2-ACE9-35886D4EE585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0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B8E9-1935-4D4E-AC1B-C08177D36425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5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89395-5C59-428B-B5CA-B582C47132CC}" type="datetime1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2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6B0B-1220-43AE-9AA1-3BA1A3E2BDD8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85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EC016-E1F1-43AB-8F8F-B2211D85E88D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52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5A38-F873-4A9C-BEC7-8C4A8EE7F90C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58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7B83E-7892-457B-8E6A-E903BC4DEEE1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65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75896-CBA0-4859-AF6E-DFA8FD4736BD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3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C64C-9C58-423B-BA36-2BB662B4F9E8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2243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22E9-991C-4746-9CB0-F5DFA582A31D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9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7308406-7AAB-4A30-A867-19A405DE7DD7}" type="datetime1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33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39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4B1AAE32-B51B-4A53-8037-481F03A17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5806" y="815130"/>
            <a:ext cx="3706762" cy="16081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2300" b="1">
                <a:solidFill>
                  <a:srgbClr val="FFFF00"/>
                </a:solidFill>
              </a:rPr>
              <a:t>Cryptographic protocol analysis and verification</a:t>
            </a:r>
            <a:br>
              <a:rPr lang="en-US" sz="2300" b="1"/>
            </a:br>
            <a:br>
              <a:rPr lang="en-US" sz="2300" b="1"/>
            </a:br>
            <a:br>
              <a:rPr lang="en-US" sz="2300" b="1"/>
            </a:br>
            <a:br>
              <a:rPr lang="en-US" sz="2300" b="1"/>
            </a:br>
            <a:endParaRPr lang="en-US" sz="2300" b="1"/>
          </a:p>
        </p:txBody>
      </p:sp>
      <p:pic>
        <p:nvPicPr>
          <p:cNvPr id="37" name="Picture 1">
            <a:extLst>
              <a:ext uri="{FF2B5EF4-FFF2-40B4-BE49-F238E27FC236}">
                <a16:creationId xmlns:a16="http://schemas.microsoft.com/office/drawing/2014/main" id="{7BCF68D6-9C66-4300-BF02-4DBF6A84F7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494" r="16556"/>
          <a:stretch/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C0241619-BC41-43C0-98DA-73925F36A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6827" y="1681336"/>
            <a:ext cx="3706762" cy="3972232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l"/>
            <a:r>
              <a:rPr lang="en-US" b="1" cap="none">
                <a:solidFill>
                  <a:srgbClr val="FFC000"/>
                </a:solidFill>
              </a:rPr>
              <a:t>Project Sponsor</a:t>
            </a:r>
            <a:r>
              <a:rPr lang="en-US" b="1" cap="none"/>
              <a:t>: Ed </a:t>
            </a:r>
            <a:r>
              <a:rPr lang="en-US" b="1" cap="none" err="1"/>
              <a:t>Zieglar</a:t>
            </a:r>
            <a:endParaRPr lang="en-US" b="1" cap="none"/>
          </a:p>
          <a:p>
            <a:pPr algn="l"/>
            <a:endParaRPr lang="en-US" b="1" cap="none"/>
          </a:p>
          <a:p>
            <a:pPr algn="l"/>
            <a:r>
              <a:rPr lang="en-US" b="1" cap="none">
                <a:solidFill>
                  <a:schemeClr val="accent6">
                    <a:lumMod val="60000"/>
                    <a:lumOff val="40000"/>
                  </a:schemeClr>
                </a:solidFill>
              </a:rPr>
              <a:t>TEAM ARMORWARE</a:t>
            </a:r>
            <a:r>
              <a:rPr lang="en-US" b="1" cap="none"/>
              <a:t>:</a:t>
            </a:r>
          </a:p>
          <a:p>
            <a:pPr algn="l">
              <a:buFont typeface="Arial"/>
              <a:buChar char="•"/>
            </a:pPr>
            <a:r>
              <a:rPr lang="en-US" b="1" cap="none"/>
              <a:t>Mostafa Galib</a:t>
            </a:r>
          </a:p>
          <a:p>
            <a:pPr algn="l">
              <a:buFont typeface="Arial"/>
              <a:buChar char="•"/>
            </a:pPr>
            <a:r>
              <a:rPr lang="en-US" b="1" cap="none" err="1"/>
              <a:t>Aj</a:t>
            </a:r>
            <a:r>
              <a:rPr lang="en-US" b="1" cap="none"/>
              <a:t> Shah</a:t>
            </a:r>
          </a:p>
          <a:p>
            <a:pPr algn="l">
              <a:buFont typeface="Arial"/>
              <a:buChar char="•"/>
            </a:pPr>
            <a:r>
              <a:rPr lang="en-US" b="1" cap="none" err="1"/>
              <a:t>Sreevidhya</a:t>
            </a:r>
            <a:r>
              <a:rPr lang="en-US" b="1" cap="none"/>
              <a:t> Ravindran</a:t>
            </a:r>
          </a:p>
          <a:p>
            <a:pPr algn="l">
              <a:buFont typeface="Arial"/>
              <a:buChar char="•"/>
            </a:pPr>
            <a:r>
              <a:rPr lang="en-US" b="1" cap="none"/>
              <a:t>Major Liu</a:t>
            </a:r>
          </a:p>
          <a:p>
            <a:pPr algn="l">
              <a:buFont typeface="Arial"/>
              <a:buChar char="•"/>
            </a:pPr>
            <a:r>
              <a:rPr lang="en-US" b="1" cap="none"/>
              <a:t>Zoraida </a:t>
            </a:r>
            <a:r>
              <a:rPr lang="en-US" b="1" cap="none" err="1"/>
              <a:t>Vences</a:t>
            </a:r>
            <a:endParaRPr lang="en-US" b="1" cap="none"/>
          </a:p>
          <a:p>
            <a:pPr algn="l">
              <a:buFont typeface="Arial"/>
              <a:buChar char="•"/>
            </a:pPr>
            <a:endParaRPr lang="en-US" b="1" cap="none"/>
          </a:p>
          <a:p>
            <a:pPr algn="l"/>
            <a:br>
              <a:rPr lang="en-US" b="1" cap="none"/>
            </a:br>
            <a:br>
              <a:rPr lang="en-US" b="1" cap="none"/>
            </a:br>
            <a:endParaRPr lang="en-US" cap="none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CF92052-3C63-4272-8220-683FF3C9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917" y="6391687"/>
            <a:ext cx="551167" cy="37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DC25EE-239B-4C5F-AAD1-255A7D5F1EE2}" type="slidenum">
              <a:rPr lang="en-US" smtClean="0"/>
              <a:pPr defTabSz="914400"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5F440ADB-961E-4217-A007-CA3051298F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848" y="4953862"/>
            <a:ext cx="3029910" cy="121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5985"/>
            <a:ext cx="10131425" cy="1213282"/>
          </a:xfrm>
        </p:spPr>
        <p:txBody>
          <a:bodyPr>
            <a:normAutofit/>
          </a:bodyPr>
          <a:lstStyle/>
          <a:p>
            <a:pPr algn="just"/>
            <a:r>
              <a:rPr lang="en-US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PROJECT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E355-631F-4318-A216-C1DA1C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58965"/>
            <a:ext cx="9677399" cy="4041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What protocol are we analyzing?</a:t>
            </a:r>
            <a:r>
              <a:rPr lang="en-US" sz="2800" b="1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</a:p>
          <a:p>
            <a:r>
              <a:rPr lang="en-US" sz="2400">
                <a:latin typeface="Agency FB" panose="020B0503020202020204" pitchFamily="34" charset="0"/>
              </a:rPr>
              <a:t>We will be analyzing the security properties of 5G-EAP-TLS authentication protocol</a:t>
            </a:r>
          </a:p>
          <a:p>
            <a:r>
              <a:rPr lang="en-US" sz="2400">
                <a:latin typeface="Agency FB" panose="020B0503020202020204" pitchFamily="34" charset="0"/>
              </a:rPr>
              <a:t>5G network is the next generation of mobile network</a:t>
            </a:r>
          </a:p>
          <a:p>
            <a:r>
              <a:rPr lang="en-US" sz="2400">
                <a:latin typeface="Agency FB"/>
              </a:rPr>
              <a:t>We will use Cryptographic Protocol Shapes Analyzer (CPSA) to model and analyze the 5G-EAP-TLS protocol</a:t>
            </a:r>
          </a:p>
          <a:p>
            <a:endParaRPr lang="en-US" sz="24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000">
              <a:latin typeface="Agency FB" panose="020B0503020202020204" pitchFamily="34" charset="0"/>
            </a:endParaRPr>
          </a:p>
          <a:p>
            <a:endParaRPr lang="en-US" sz="2400"/>
          </a:p>
          <a:p>
            <a:endParaRPr lang="en-US" sz="24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6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51535"/>
            <a:ext cx="10131425" cy="1097872"/>
          </a:xfrm>
        </p:spPr>
        <p:txBody>
          <a:bodyPr>
            <a:normAutofit/>
          </a:bodyPr>
          <a:lstStyle/>
          <a:p>
            <a:pPr algn="just"/>
            <a:r>
              <a:rPr lang="en-US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A brief overview of 5g: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E355-631F-4318-A216-C1DA1C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885243"/>
            <a:ext cx="9677399" cy="42032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>
                <a:latin typeface="Agency FB" panose="020B0503020202020204" pitchFamily="34" charset="0"/>
              </a:rPr>
              <a:t>According to the 3GPP specification, the 5G network architecture can be categorized into these three categories:</a:t>
            </a:r>
          </a:p>
          <a:p>
            <a:r>
              <a:rPr lang="en-US" sz="2400">
                <a:latin typeface="Agency FB" panose="020B0503020202020204" pitchFamily="34" charset="0"/>
              </a:rPr>
              <a:t>User Equipment (UE), which is comprised of these four elements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Subscription Permanent Identifier (SUPI), which is a unique and permanent subscriber identity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Public key of the home network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A long-term secret symmetric key, shared between the subscribers and their corresponding home network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Sequence Number</a:t>
            </a:r>
          </a:p>
          <a:p>
            <a:r>
              <a:rPr lang="en-US" sz="2400">
                <a:latin typeface="Agency FB" panose="020B0503020202020204" pitchFamily="34" charset="0"/>
              </a:rPr>
              <a:t>Serving Network (SN) which acts as a middleware during the authentication process</a:t>
            </a:r>
          </a:p>
          <a:p>
            <a:r>
              <a:rPr lang="en-US" sz="2400">
                <a:latin typeface="Agency FB" panose="020B0503020202020204" pitchFamily="34" charset="0"/>
              </a:rPr>
              <a:t>Home Network (HN) which is responsible for user authentication and which contains the following elements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Authentication Server Function (AUSF), which performs authentication with the UE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Unified Data Management (UDM) to assist in functions related to data management</a:t>
            </a:r>
          </a:p>
          <a:p>
            <a:pPr marL="457200" lvl="1" indent="0">
              <a:buNone/>
            </a:pPr>
            <a:endParaRPr lang="en-US" sz="2000">
              <a:latin typeface="Agency FB" panose="020B0503020202020204" pitchFamily="34" charset="0"/>
            </a:endParaRPr>
          </a:p>
          <a:p>
            <a:pPr marL="457200" lvl="1" indent="0">
              <a:buNone/>
            </a:pPr>
            <a:endParaRPr lang="en-US" sz="2200">
              <a:latin typeface="Agency FB" panose="020B0503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200">
              <a:latin typeface="Agency FB" panose="020B0503020202020204" pitchFamily="34" charset="0"/>
            </a:endParaRPr>
          </a:p>
          <a:p>
            <a:endParaRPr lang="en-US" sz="2400">
              <a:latin typeface="Agency FB" panose="020B0503020202020204" pitchFamily="34" charset="0"/>
            </a:endParaRPr>
          </a:p>
          <a:p>
            <a:endParaRPr lang="en-US" sz="24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000">
              <a:latin typeface="Agency FB" panose="020B0503020202020204" pitchFamily="34" charset="0"/>
            </a:endParaRPr>
          </a:p>
          <a:p>
            <a:endParaRPr lang="en-US" sz="2400"/>
          </a:p>
          <a:p>
            <a:endParaRPr lang="en-US" sz="24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91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04800"/>
            <a:ext cx="10131425" cy="1456267"/>
          </a:xfrm>
        </p:spPr>
        <p:txBody>
          <a:bodyPr>
            <a:normAutofit/>
          </a:bodyPr>
          <a:lstStyle/>
          <a:p>
            <a:pPr algn="just"/>
            <a:r>
              <a:rPr lang="en-US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A Simple architecture diagram of 5g: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E355-631F-4318-A216-C1DA1C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661" y="1761067"/>
            <a:ext cx="9677399" cy="4041912"/>
          </a:xfrm>
        </p:spPr>
        <p:txBody>
          <a:bodyPr>
            <a:normAutofit/>
          </a:bodyPr>
          <a:lstStyle/>
          <a:p>
            <a:endParaRPr lang="en-US" sz="2400">
              <a:latin typeface="Agency FB" panose="020B0503020202020204" pitchFamily="34" charset="0"/>
            </a:endParaRPr>
          </a:p>
          <a:p>
            <a:endParaRPr lang="en-US" sz="24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000">
              <a:latin typeface="Agency FB" panose="020B0503020202020204" pitchFamily="34" charset="0"/>
            </a:endParaRPr>
          </a:p>
          <a:p>
            <a:endParaRPr lang="en-US" sz="2400"/>
          </a:p>
          <a:p>
            <a:endParaRPr lang="en-US" sz="24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D8387A41-392B-45B7-94D0-CE28E90BB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37" y="1761067"/>
            <a:ext cx="8466562" cy="394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2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33690"/>
            <a:ext cx="10131425" cy="1097872"/>
          </a:xfrm>
        </p:spPr>
        <p:txBody>
          <a:bodyPr>
            <a:normAutofit/>
          </a:bodyPr>
          <a:lstStyle/>
          <a:p>
            <a:pPr algn="just"/>
            <a:r>
              <a:rPr lang="en-US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Formal verification of 5g-eap-tls protocol -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E355-631F-4318-A216-C1DA1C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315979"/>
            <a:ext cx="9677399" cy="40419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Modeling Choice</a:t>
            </a:r>
            <a:endParaRPr lang="en-US" sz="28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sz="2400">
                <a:latin typeface="Agency FB" panose="020B0503020202020204" pitchFamily="34" charset="0"/>
              </a:rPr>
              <a:t>We will consider two roles: UE and network NW (a composition of Serving Network and Home Network)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Since serving network and home network communicate through wired connection, we are combining them into one network as wired connection is assumed to be secured</a:t>
            </a:r>
          </a:p>
          <a:p>
            <a:r>
              <a:rPr lang="en-US" sz="2400">
                <a:latin typeface="Agency FB" panose="020B0503020202020204" pitchFamily="34" charset="0"/>
              </a:rPr>
              <a:t>We will model the protocol according to the </a:t>
            </a:r>
            <a:r>
              <a:rPr lang="en-US" sz="2400" err="1">
                <a:latin typeface="Agency FB" panose="020B0503020202020204" pitchFamily="34" charset="0"/>
              </a:rPr>
              <a:t>Dolev</a:t>
            </a:r>
            <a:r>
              <a:rPr lang="en-US" sz="2400">
                <a:latin typeface="Agency FB" panose="020B0503020202020204" pitchFamily="34" charset="0"/>
              </a:rPr>
              <a:t>-Yao model, which is: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Cryptography is assumed to be perfect, which is a message can only be decrypted by someone who has the right key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Messages are assumed to be abstract terms, i.e. either the intruder learns the complete message because of having the key, or the intruder learns nothing at all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>
                <a:latin typeface="Agency FB" panose="020B0503020202020204" pitchFamily="34" charset="0"/>
              </a:rPr>
              <a:t>Network is assumed to be under full control of the intruder  </a:t>
            </a: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4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000">
              <a:latin typeface="Agency FB" panose="020B0503020202020204" pitchFamily="34" charset="0"/>
            </a:endParaRPr>
          </a:p>
          <a:p>
            <a:endParaRPr lang="en-US" sz="2400"/>
          </a:p>
          <a:p>
            <a:endParaRPr lang="en-US" sz="24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73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06532"/>
            <a:ext cx="10131425" cy="1015013"/>
          </a:xfrm>
        </p:spPr>
        <p:txBody>
          <a:bodyPr>
            <a:normAutofit/>
          </a:bodyPr>
          <a:lstStyle/>
          <a:p>
            <a:pPr algn="just"/>
            <a:r>
              <a:rPr lang="en-US" sz="2800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Formal verification of 5g-eap-tls protocol -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E355-631F-4318-A216-C1DA1C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56031"/>
            <a:ext cx="9230556" cy="3083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Formal Model Diagram of 5G-EAP-TLS protocol </a:t>
            </a:r>
            <a:endParaRPr lang="en-US" sz="20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4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0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6" descr="Diagram&#10;&#10;Description automatically generated">
            <a:extLst>
              <a:ext uri="{FF2B5EF4-FFF2-40B4-BE49-F238E27FC236}">
                <a16:creationId xmlns:a16="http://schemas.microsoft.com/office/drawing/2014/main" id="{DF1C0EE1-38CA-46BD-8DEC-59611DE75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512" y="1288606"/>
            <a:ext cx="6016977" cy="529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3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127247"/>
            <a:ext cx="10131425" cy="884808"/>
          </a:xfrm>
        </p:spPr>
        <p:txBody>
          <a:bodyPr>
            <a:normAutofit/>
          </a:bodyPr>
          <a:lstStyle/>
          <a:p>
            <a:pPr algn="just"/>
            <a:r>
              <a:rPr lang="en-US" sz="2800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Formal verification of 5g-eap-tls protocol -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E355-631F-4318-A216-C1DA1C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500327"/>
            <a:ext cx="10131425" cy="523042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b="1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Formal Model</a:t>
            </a:r>
            <a:endParaRPr lang="en-US" sz="33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900">
                <a:latin typeface="Agency FB" panose="020B0503020202020204" pitchFamily="34" charset="0"/>
              </a:rPr>
              <a:t>UE generates a nonce, N</a:t>
            </a:r>
            <a:r>
              <a:rPr lang="en-US" sz="2900" baseline="-25000">
                <a:latin typeface="Agency FB" panose="020B0503020202020204" pitchFamily="34" charset="0"/>
              </a:rPr>
              <a:t>UE1</a:t>
            </a:r>
            <a:r>
              <a:rPr lang="en-US" sz="2900">
                <a:latin typeface="Agency FB" panose="020B0503020202020204" pitchFamily="34" charset="0"/>
              </a:rPr>
              <a:t> and encrypts SUPI, N</a:t>
            </a:r>
            <a:r>
              <a:rPr lang="en-US" sz="2900" baseline="-25000">
                <a:latin typeface="Agency FB" panose="020B0503020202020204" pitchFamily="34" charset="0"/>
              </a:rPr>
              <a:t>UE1</a:t>
            </a:r>
            <a:r>
              <a:rPr lang="en-US" sz="2900">
                <a:latin typeface="Agency FB" panose="020B0503020202020204" pitchFamily="34" charset="0"/>
              </a:rPr>
              <a:t> with the public key of NW to send the data to NW</a:t>
            </a:r>
          </a:p>
          <a:p>
            <a:pPr marL="457200" indent="-457200">
              <a:buAutoNum type="arabicPeriod"/>
            </a:pPr>
            <a:r>
              <a:rPr lang="en-US" sz="2900">
                <a:latin typeface="Agency FB" panose="020B0503020202020204" pitchFamily="34" charset="0"/>
              </a:rPr>
              <a:t>NW replies with TLS-Start message to indicate the initiation of the TLS process</a:t>
            </a:r>
          </a:p>
          <a:p>
            <a:pPr marL="457200" indent="-457200">
              <a:buAutoNum type="arabicPeriod"/>
            </a:pPr>
            <a:r>
              <a:rPr lang="en-US" sz="2900">
                <a:latin typeface="Agency FB" panose="020B0503020202020204" pitchFamily="34" charset="0"/>
              </a:rPr>
              <a:t>UE generates another nonce, N</a:t>
            </a:r>
            <a:r>
              <a:rPr lang="en-US" sz="2900" baseline="-25000">
                <a:latin typeface="Agency FB" panose="020B0503020202020204" pitchFamily="34" charset="0"/>
              </a:rPr>
              <a:t>UE2</a:t>
            </a:r>
            <a:r>
              <a:rPr lang="en-US" sz="2900">
                <a:latin typeface="Agency FB" panose="020B0503020202020204" pitchFamily="34" charset="0"/>
              </a:rPr>
              <a:t> and sends it to NW together with a constant string Method-UE to indicate the method of calculation for the authentication process</a:t>
            </a:r>
          </a:p>
          <a:p>
            <a:pPr marL="457200" indent="-457200">
              <a:buAutoNum type="arabicPeriod"/>
            </a:pPr>
            <a:r>
              <a:rPr lang="en-US" sz="2900">
                <a:latin typeface="Agency FB" panose="020B0503020202020204" pitchFamily="34" charset="0"/>
              </a:rPr>
              <a:t>NW generates a nonce N</a:t>
            </a:r>
            <a:r>
              <a:rPr lang="en-US" sz="2900" baseline="-25000">
                <a:latin typeface="Agency FB" panose="020B0503020202020204" pitchFamily="34" charset="0"/>
              </a:rPr>
              <a:t>NW</a:t>
            </a:r>
            <a:r>
              <a:rPr lang="en-US" sz="2900">
                <a:latin typeface="Agency FB" panose="020B0503020202020204" pitchFamily="34" charset="0"/>
              </a:rPr>
              <a:t> and sends it to UE along with NW’s certificate and a constant string Method-NW to indicate the authentication method</a:t>
            </a:r>
          </a:p>
          <a:p>
            <a:pPr marL="457200" indent="-457200">
              <a:buAutoNum type="arabicPeriod"/>
            </a:pPr>
            <a:r>
              <a:rPr lang="en-US" sz="2900">
                <a:latin typeface="Agency FB" panose="020B0503020202020204" pitchFamily="34" charset="0"/>
              </a:rPr>
              <a:t>UE authenticates the certificate of NW and upon successful authentication: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900">
                <a:latin typeface="Agency FB" panose="020B0503020202020204" pitchFamily="34" charset="0"/>
              </a:rPr>
              <a:t>UE generates a new nonce N</a:t>
            </a:r>
            <a:r>
              <a:rPr lang="en-US" sz="2900" baseline="-25000">
                <a:latin typeface="Agency FB" panose="020B0503020202020204" pitchFamily="34" charset="0"/>
              </a:rPr>
              <a:t>UE3</a:t>
            </a:r>
            <a:r>
              <a:rPr lang="en-US" sz="2900">
                <a:latin typeface="Agency FB" panose="020B0503020202020204" pitchFamily="34" charset="0"/>
              </a:rPr>
              <a:t> and computes the session key from N</a:t>
            </a:r>
            <a:r>
              <a:rPr lang="en-US" sz="2900" baseline="-25000">
                <a:latin typeface="Agency FB" panose="020B0503020202020204" pitchFamily="34" charset="0"/>
              </a:rPr>
              <a:t>UE2</a:t>
            </a:r>
            <a:r>
              <a:rPr lang="en-US" sz="2900">
                <a:latin typeface="Agency FB" panose="020B0503020202020204" pitchFamily="34" charset="0"/>
              </a:rPr>
              <a:t>, N</a:t>
            </a:r>
            <a:r>
              <a:rPr lang="en-US" sz="2900" baseline="-25000">
                <a:latin typeface="Agency FB" panose="020B0503020202020204" pitchFamily="34" charset="0"/>
              </a:rPr>
              <a:t>NW</a:t>
            </a:r>
            <a:r>
              <a:rPr lang="en-US" sz="2900">
                <a:latin typeface="Agency FB" panose="020B0503020202020204" pitchFamily="34" charset="0"/>
              </a:rPr>
              <a:t> and N</a:t>
            </a:r>
            <a:r>
              <a:rPr lang="en-US" sz="2900" baseline="-25000">
                <a:latin typeface="Agency FB" panose="020B0503020202020204" pitchFamily="34" charset="0"/>
              </a:rPr>
              <a:t>UE3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900">
                <a:latin typeface="Agency FB" panose="020B0503020202020204" pitchFamily="34" charset="0"/>
              </a:rPr>
              <a:t>UE sends N</a:t>
            </a:r>
            <a:r>
              <a:rPr lang="en-US" sz="2900" baseline="-25000">
                <a:latin typeface="Agency FB" panose="020B0503020202020204" pitchFamily="34" charset="0"/>
              </a:rPr>
              <a:t>UE3</a:t>
            </a:r>
            <a:r>
              <a:rPr lang="en-US" sz="2900">
                <a:latin typeface="Agency FB" panose="020B0503020202020204" pitchFamily="34" charset="0"/>
              </a:rPr>
              <a:t> encrypted with the public key of NW along with UE’s certificate and hash of Handshake-UE string which is encrypted with the session key</a:t>
            </a:r>
          </a:p>
          <a:p>
            <a:pPr marL="457200" indent="-457200">
              <a:buAutoNum type="arabicPeriod"/>
            </a:pPr>
            <a:r>
              <a:rPr lang="en-US" sz="2900">
                <a:latin typeface="Agency FB" panose="020B0503020202020204" pitchFamily="34" charset="0"/>
              </a:rPr>
              <a:t>NW authenticates the certificate of UE and upon successful authentication: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900">
                <a:latin typeface="Agency FB" panose="020B0503020202020204" pitchFamily="34" charset="0"/>
              </a:rPr>
              <a:t>NW computes the session key in the same way as UE did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900">
                <a:latin typeface="Agency FB" panose="020B0503020202020204" pitchFamily="34" charset="0"/>
              </a:rPr>
              <a:t>NW calculates the hash of Handshake-NW and if it is equal to the hash of Handshake-UE, then it claims the authentication to be successful and proceeds to the next step</a:t>
            </a:r>
          </a:p>
          <a:p>
            <a:pPr marL="457200" indent="-457200">
              <a:buAutoNum type="arabicPeriod"/>
            </a:pPr>
            <a:r>
              <a:rPr lang="en-US" sz="2900">
                <a:latin typeface="Agency FB" panose="020B0503020202020204" pitchFamily="34" charset="0"/>
              </a:rPr>
              <a:t>NW sends the hash of Handshake-NW string encrypted with the session key to UE</a:t>
            </a:r>
          </a:p>
          <a:p>
            <a:pPr marL="457200" indent="-457200">
              <a:buAutoNum type="arabicPeriod"/>
            </a:pPr>
            <a:r>
              <a:rPr lang="en-US" sz="2900">
                <a:latin typeface="Agency FB" panose="020B0503020202020204" pitchFamily="34" charset="0"/>
              </a:rPr>
              <a:t>UE compares the hash of Handshake-NW to the hash of Handshake-UE, and if they are equal, then it claims the authentication to be successful</a:t>
            </a: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4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000">
              <a:latin typeface="Agency FB" panose="020B0503020202020204" pitchFamily="34" charset="0"/>
            </a:endParaRPr>
          </a:p>
          <a:p>
            <a:endParaRPr lang="en-US" sz="2400"/>
          </a:p>
          <a:p>
            <a:endParaRPr lang="en-US" sz="24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65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141856"/>
            <a:ext cx="10131425" cy="852256"/>
          </a:xfrm>
        </p:spPr>
        <p:txBody>
          <a:bodyPr>
            <a:normAutofit/>
          </a:bodyPr>
          <a:lstStyle/>
          <a:p>
            <a:pPr algn="just"/>
            <a:r>
              <a:rPr lang="en-US" sz="2800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5G-EAP-TLS Model in </a:t>
            </a:r>
            <a:r>
              <a:rPr lang="en-US" sz="2800" b="1" err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cpsa</a:t>
            </a:r>
            <a:r>
              <a:rPr lang="en-US" sz="2800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 -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E355-631F-4318-A216-C1DA1C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1780"/>
            <a:ext cx="9677399" cy="4041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4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000">
              <a:latin typeface="Agency FB" panose="020B0503020202020204" pitchFamily="34" charset="0"/>
            </a:endParaRPr>
          </a:p>
          <a:p>
            <a:endParaRPr lang="en-US" sz="2400"/>
          </a:p>
          <a:p>
            <a:endParaRPr lang="en-US" sz="24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0D1C5C6-9826-4E47-BF31-79668ED67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33" y="891655"/>
            <a:ext cx="10820398" cy="565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3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141856"/>
            <a:ext cx="10131425" cy="852256"/>
          </a:xfrm>
        </p:spPr>
        <p:txBody>
          <a:bodyPr>
            <a:normAutofit/>
          </a:bodyPr>
          <a:lstStyle/>
          <a:p>
            <a:pPr algn="just"/>
            <a:r>
              <a:rPr lang="en-US" sz="2800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5G-EAP-TLS Model in </a:t>
            </a:r>
            <a:r>
              <a:rPr lang="en-US" sz="2800" b="1" err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cpsa</a:t>
            </a:r>
            <a:r>
              <a:rPr lang="en-US" sz="2800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 -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FE355-631F-4318-A216-C1DA1C32D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1780"/>
            <a:ext cx="9677399" cy="40419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400"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US" sz="2400">
              <a:latin typeface="Agency FB" panose="020B0503020202020204" pitchFamily="34" charset="0"/>
            </a:endParaRPr>
          </a:p>
          <a:p>
            <a:endParaRPr lang="en-US" sz="2000">
              <a:latin typeface="Agency FB" panose="020B0503020202020204" pitchFamily="34" charset="0"/>
            </a:endParaRPr>
          </a:p>
          <a:p>
            <a:endParaRPr lang="en-US" sz="2400"/>
          </a:p>
          <a:p>
            <a:endParaRPr lang="en-US" sz="2400" b="1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C82D99A-8DD3-4657-924E-844284D7E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45" y="860946"/>
            <a:ext cx="11018519" cy="558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38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98213"/>
            <a:ext cx="10131425" cy="1022773"/>
          </a:xfrm>
        </p:spPr>
        <p:txBody>
          <a:bodyPr>
            <a:normAutofit/>
          </a:bodyPr>
          <a:lstStyle/>
          <a:p>
            <a:pPr algn="just"/>
            <a:r>
              <a:rPr lang="en-US" sz="2800" b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Few sample Shapes generated by </a:t>
            </a:r>
            <a:r>
              <a:rPr lang="en-US" sz="2800" b="1" err="1">
                <a:solidFill>
                  <a:schemeClr val="accent4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cpsa</a:t>
            </a:r>
            <a:endParaRPr lang="en-US" sz="2800" b="1">
              <a:solidFill>
                <a:schemeClr val="accent4">
                  <a:lumMod val="40000"/>
                  <a:lumOff val="6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3" name="Content Placeholder 12" descr="Chart&#10;&#10;Description automatically generated">
            <a:extLst>
              <a:ext uri="{FF2B5EF4-FFF2-40B4-BE49-F238E27FC236}">
                <a16:creationId xmlns:a16="http://schemas.microsoft.com/office/drawing/2014/main" id="{542B5162-4A95-4804-82F7-458B4121F39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80" y="1225232"/>
            <a:ext cx="3616960" cy="53178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0D20-685F-46DD-8765-C738C14A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/>
          </a:p>
        </p:txBody>
      </p:sp>
      <p:pic>
        <p:nvPicPr>
          <p:cNvPr id="15" name="Picture 14" descr="Chart&#10;&#10;Description automatically generated">
            <a:extLst>
              <a:ext uri="{FF2B5EF4-FFF2-40B4-BE49-F238E27FC236}">
                <a16:creationId xmlns:a16="http://schemas.microsoft.com/office/drawing/2014/main" id="{7BB84C19-D966-4989-9F23-6D7BA37F1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954" y="1219200"/>
            <a:ext cx="3819206" cy="53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96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A48-8CE3-450D-9951-B89E9193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2184400"/>
            <a:ext cx="10131425" cy="14562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>
                <a:solidFill>
                  <a:schemeClr val="accent5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Thank you! </a:t>
            </a:r>
            <a:br>
              <a:rPr lang="en-US" sz="8000">
                <a:solidFill>
                  <a:schemeClr val="accent5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</a:br>
            <a:r>
              <a:rPr lang="en-US" sz="8000">
                <a:solidFill>
                  <a:schemeClr val="accent5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Any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6C001-C4B3-40DD-85DC-01F95E86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068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Celestial</vt:lpstr>
      <vt:lpstr>Cryptographic protocol analysis and verification    </vt:lpstr>
      <vt:lpstr>PROJECT DESCRIPTION:</vt:lpstr>
      <vt:lpstr>A brief overview of 5g:</vt:lpstr>
      <vt:lpstr>A Simple architecture diagram of 5g:</vt:lpstr>
      <vt:lpstr>Formal verification of 5g-eap-tls protocol - I</vt:lpstr>
      <vt:lpstr>Formal verification of 5g-eap-tls protocol - II</vt:lpstr>
      <vt:lpstr>Formal verification of 5g-eap-tls protocol - III</vt:lpstr>
      <vt:lpstr>5G-EAP-TLS Model in cpsa - I</vt:lpstr>
      <vt:lpstr>5G-EAP-TLS Model in cpsa - II</vt:lpstr>
      <vt:lpstr>Few sample Shapes generated by cpsa</vt:lpstr>
      <vt:lpstr>Thank you!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Cryptographic protocol analysis and verification    </dc:title>
  <dc:creator>Galib, Mostafa</dc:creator>
  <cp:revision>1</cp:revision>
  <dcterms:created xsi:type="dcterms:W3CDTF">2020-10-15T04:41:50Z</dcterms:created>
  <dcterms:modified xsi:type="dcterms:W3CDTF">2020-10-16T02:15:37Z</dcterms:modified>
</cp:coreProperties>
</file>