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82aed5a03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82aed5a03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82aed5a03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g82aed5a03f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showMasterSp="0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53" name="Google Shape;53;p2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5" name="Google Shape;55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1128713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1123950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33375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90500" y="9525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1" name="Google Shape;61;p2"/>
            <p:cNvSpPr/>
            <p:nvPr/>
          </p:nvSpPr>
          <p:spPr>
            <a:xfrm>
              <a:off x="1290638" y="14288"/>
              <a:ext cx="376238" cy="1801813"/>
            </a:xfrm>
            <a:custGeom>
              <a:rect b="b" l="l" r="r" t="t"/>
              <a:pathLst>
                <a:path extrusionOk="0" h="1135" w="237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2" name="Google Shape;62;p2"/>
            <p:cNvSpPr/>
            <p:nvPr/>
          </p:nvSpPr>
          <p:spPr>
            <a:xfrm>
              <a:off x="1600200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1381125" y="9525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4" name="Google Shape;64;p2"/>
            <p:cNvSpPr/>
            <p:nvPr/>
          </p:nvSpPr>
          <p:spPr>
            <a:xfrm>
              <a:off x="1643063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685925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168592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743075" y="4763"/>
              <a:ext cx="419100" cy="522288"/>
            </a:xfrm>
            <a:custGeom>
              <a:rect b="b" l="l" r="r" t="t"/>
              <a:pathLst>
                <a:path extrusionOk="0" h="329" w="264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2"/>
            <p:cNvSpPr/>
            <p:nvPr/>
          </p:nvSpPr>
          <p:spPr>
            <a:xfrm>
              <a:off x="2119313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952500" y="4763"/>
              <a:ext cx="152400" cy="908050"/>
            </a:xfrm>
            <a:custGeom>
              <a:rect b="b" l="l" r="r" t="t"/>
              <a:pathLst>
                <a:path extrusionOk="0" h="572" w="96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0" name="Google Shape;70;p2"/>
            <p:cNvSpPr/>
            <p:nvPr/>
          </p:nvSpPr>
          <p:spPr>
            <a:xfrm>
              <a:off x="8667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890588" y="15541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738188" y="5622925"/>
              <a:ext cx="338138" cy="1216025"/>
            </a:xfrm>
            <a:custGeom>
              <a:rect b="b" l="l" r="r" t="t"/>
              <a:pathLst>
                <a:path extrusionOk="0" h="766" w="213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3" name="Google Shape;73;p2"/>
            <p:cNvSpPr/>
            <p:nvPr/>
          </p:nvSpPr>
          <p:spPr>
            <a:xfrm>
              <a:off x="647700" y="5480050"/>
              <a:ext cx="157163" cy="157163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66675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0" y="3897313"/>
              <a:ext cx="133350" cy="266700"/>
            </a:xfrm>
            <a:custGeom>
              <a:rect b="b" l="l" r="r" t="t"/>
              <a:pathLst>
                <a:path extrusionOk="0" h="168" w="84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6" name="Google Shape;76;p2"/>
            <p:cNvSpPr/>
            <p:nvPr/>
          </p:nvSpPr>
          <p:spPr>
            <a:xfrm>
              <a:off x="66675" y="414972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0" y="1644650"/>
              <a:ext cx="133350" cy="269875"/>
            </a:xfrm>
            <a:custGeom>
              <a:rect b="b" l="l" r="r" t="t"/>
              <a:pathLst>
                <a:path extrusionOk="0" h="170" w="84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8" name="Google Shape;78;p2"/>
            <p:cNvSpPr/>
            <p:nvPr/>
          </p:nvSpPr>
          <p:spPr>
            <a:xfrm>
              <a:off x="66675" y="146843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695325" y="4763"/>
              <a:ext cx="309563" cy="1558925"/>
            </a:xfrm>
            <a:custGeom>
              <a:rect b="b" l="l" r="r" t="t"/>
              <a:pathLst>
                <a:path extrusionOk="0" h="982" w="195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2"/>
            <p:cNvSpPr/>
            <p:nvPr/>
          </p:nvSpPr>
          <p:spPr>
            <a:xfrm>
              <a:off x="57150" y="48815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38113" y="5060950"/>
              <a:ext cx="304800" cy="1778000"/>
            </a:xfrm>
            <a:custGeom>
              <a:rect b="b" l="l" r="r" t="t"/>
              <a:pathLst>
                <a:path extrusionOk="0" h="1120" w="192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2"/>
            <p:cNvSpPr/>
            <p:nvPr/>
          </p:nvSpPr>
          <p:spPr>
            <a:xfrm>
              <a:off x="561975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76200" y="643096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0" y="5978525"/>
              <a:ext cx="190500" cy="461963"/>
            </a:xfrm>
            <a:custGeom>
              <a:rect b="b" l="l" r="r" t="t"/>
              <a:pathLst>
                <a:path extrusionOk="0" h="291" w="120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1014413" y="1801813"/>
              <a:ext cx="214313" cy="755650"/>
            </a:xfrm>
            <a:custGeom>
              <a:rect b="b" l="l" r="r" t="t"/>
              <a:pathLst>
                <a:path extrusionOk="0" h="476" w="135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7" name="Google Shape;87;p2"/>
            <p:cNvSpPr/>
            <p:nvPr/>
          </p:nvSpPr>
          <p:spPr>
            <a:xfrm>
              <a:off x="938213" y="2547938"/>
              <a:ext cx="166688" cy="160338"/>
            </a:xfrm>
            <a:custGeom>
              <a:rect b="b" l="l" r="r" t="t"/>
              <a:pathLst>
                <a:path extrusionOk="0" h="34" w="35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595313" y="4763"/>
              <a:ext cx="638175" cy="4025900"/>
            </a:xfrm>
            <a:custGeom>
              <a:rect b="b" l="l" r="r" t="t"/>
              <a:pathLst>
                <a:path extrusionOk="0" h="2536" w="402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9" name="Google Shape;89;p2"/>
            <p:cNvSpPr/>
            <p:nvPr/>
          </p:nvSpPr>
          <p:spPr>
            <a:xfrm>
              <a:off x="1223963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1300163" y="1849438"/>
              <a:ext cx="109538" cy="107950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280988" y="3417888"/>
              <a:ext cx="142875" cy="474663"/>
            </a:xfrm>
            <a:custGeom>
              <a:rect b="b" l="l" r="r" t="t"/>
              <a:pathLst>
                <a:path extrusionOk="0" h="299" w="90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2" name="Google Shape;92;p2"/>
            <p:cNvSpPr/>
            <p:nvPr/>
          </p:nvSpPr>
          <p:spPr>
            <a:xfrm>
              <a:off x="238125" y="38830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4763" y="2166938"/>
              <a:ext cx="114300" cy="452438"/>
            </a:xfrm>
            <a:custGeom>
              <a:rect b="b" l="l" r="r" t="t"/>
              <a:pathLst>
                <a:path extrusionOk="0" h="285" w="72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52388" y="2066925"/>
              <a:ext cx="109538" cy="109538"/>
            </a:xfrm>
            <a:custGeom>
              <a:rect b="b" l="l" r="r" t="t"/>
              <a:pathLst>
                <a:path extrusionOk="0" h="23" w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1319213" y="5041900"/>
              <a:ext cx="371475" cy="1801813"/>
            </a:xfrm>
            <a:custGeom>
              <a:rect b="b" l="l" r="r" t="t"/>
              <a:pathLst>
                <a:path extrusionOk="0" h="1135" w="234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7" name="Google Shape;97;p2"/>
            <p:cNvSpPr/>
            <p:nvPr/>
          </p:nvSpPr>
          <p:spPr>
            <a:xfrm>
              <a:off x="1147763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19150" y="3983038"/>
              <a:ext cx="347663" cy="2860675"/>
            </a:xfrm>
            <a:custGeom>
              <a:rect b="b" l="l" r="r" t="t"/>
              <a:pathLst>
                <a:path extrusionOk="0" h="1802" w="219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9" name="Google Shape;99;p2"/>
            <p:cNvSpPr/>
            <p:nvPr/>
          </p:nvSpPr>
          <p:spPr>
            <a:xfrm>
              <a:off x="728663" y="3806825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624013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1404938" y="5422900"/>
              <a:ext cx="371475" cy="1425575"/>
            </a:xfrm>
            <a:custGeom>
              <a:rect b="b" l="l" r="r" t="t"/>
              <a:pathLst>
                <a:path extrusionOk="0" h="898" w="234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2" name="Google Shape;102;p2"/>
            <p:cNvSpPr/>
            <p:nvPr/>
          </p:nvSpPr>
          <p:spPr>
            <a:xfrm>
              <a:off x="1666875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1709738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709738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766888" y="6330950"/>
              <a:ext cx="419100" cy="527050"/>
            </a:xfrm>
            <a:custGeom>
              <a:rect b="b" l="l" r="r" t="t"/>
              <a:pathLst>
                <a:path extrusionOk="0" h="332" w="264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/>
            <p:nvPr/>
          </p:nvSpPr>
          <p:spPr>
            <a:xfrm>
              <a:off x="2147888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504825" y="9525"/>
              <a:ext cx="233363" cy="5103813"/>
            </a:xfrm>
            <a:custGeom>
              <a:rect b="b" l="l" r="r" t="t"/>
              <a:pathLst>
                <a:path extrusionOk="0" h="3215" w="147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2"/>
            <p:cNvSpPr/>
            <p:nvPr/>
          </p:nvSpPr>
          <p:spPr>
            <a:xfrm>
              <a:off x="633413" y="5103813"/>
              <a:ext cx="185738" cy="185738"/>
            </a:xfrm>
            <a:custGeom>
              <a:rect b="b" l="l" r="r" t="t"/>
              <a:pathLst>
                <a:path extrusionOk="0" h="39" w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rgbClr val="3B4B5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2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  <a:defRPr sz="2000" cap="none">
                <a:solidFill>
                  <a:schemeClr val="lt2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9pPr>
          </a:lstStyle>
          <a:p/>
        </p:txBody>
      </p:sp>
      <p:sp>
        <p:nvSpPr>
          <p:cNvPr id="111" name="Google Shape;111;p2"/>
          <p:cNvSpPr txBox="1"/>
          <p:nvPr>
            <p:ph idx="10" type="dt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"/>
          <p:cNvSpPr txBox="1"/>
          <p:nvPr>
            <p:ph idx="11" type="ftr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"/>
          <p:cNvSpPr txBox="1"/>
          <p:nvPr>
            <p:ph idx="12" type="sldNum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ontent" type="obj">
  <p:cSld name="OBJECT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3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17" name="Google Shape;117;p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"/>
          <p:cNvSpPr txBox="1"/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"/>
          <p:cNvSpPr txBox="1"/>
          <p:nvPr>
            <p:ph idx="1" type="body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5"/>
          <p:cNvSpPr txBox="1"/>
          <p:nvPr>
            <p:ph idx="1" type="body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29" name="Google Shape;129;p5"/>
          <p:cNvSpPr txBox="1"/>
          <p:nvPr>
            <p:ph idx="2" type="body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0" name="Google Shape;130;p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ison" type="twoTxTwoObj">
  <p:cSld name="TWO_OBJECTS_WITH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"/>
          <p:cNvSpPr txBox="1"/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6"/>
          <p:cNvSpPr txBox="1"/>
          <p:nvPr>
            <p:ph idx="1" type="body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6" name="Google Shape;136;p6"/>
          <p:cNvSpPr txBox="1"/>
          <p:nvPr>
            <p:ph idx="2" type="body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7" name="Google Shape;137;p6"/>
          <p:cNvSpPr txBox="1"/>
          <p:nvPr>
            <p:ph idx="3" type="body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38" name="Google Shape;138;p6"/>
          <p:cNvSpPr txBox="1"/>
          <p:nvPr>
            <p:ph idx="4" type="body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39" name="Google Shape;139;p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4" name="Google Shape;144;p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t with Caption" type="objTx">
  <p:cSld name="OBJECT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154" name="Google Shape;154;p9"/>
          <p:cNvSpPr txBox="1"/>
          <p:nvPr>
            <p:ph idx="2" type="body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55" name="Google Shape;155;p9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9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9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icture with Caption" type="picTx">
  <p:cSld name="PICTURE_WITH_CAPTION_TEXT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0"/>
          <p:cNvSpPr/>
          <p:nvPr>
            <p:ph idx="2" type="pic"/>
          </p:nvPr>
        </p:nvSpPr>
        <p:spPr>
          <a:xfrm>
            <a:off x="7380721" y="609601"/>
            <a:ext cx="3666690" cy="5181599"/>
          </a:xfrm>
          <a:prstGeom prst="round2DiagRect">
            <a:avLst>
              <a:gd fmla="val 5608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2" name="Google Shape;162;p10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0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0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Panoramic Picture with Caption">
  <p:cSld name="Panoramic Picture with Caption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11"/>
          <p:cNvSpPr/>
          <p:nvPr>
            <p:ph idx="2" type="pic"/>
          </p:nvPr>
        </p:nvSpPr>
        <p:spPr>
          <a:xfrm>
            <a:off x="1141411" y="606426"/>
            <a:ext cx="9912354" cy="3299778"/>
          </a:xfrm>
          <a:prstGeom prst="round2DiagRect">
            <a:avLst>
              <a:gd fmla="val 4860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b="0" i="0" sz="32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68" name="Google Shape;168;p11"/>
          <p:cNvSpPr txBox="1"/>
          <p:nvPr>
            <p:ph idx="1" type="body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69" name="Google Shape;169;p1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1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1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Caption">
  <p:cSld name="Title and Caption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75" name="Google Shape;175;p12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6" name="Google Shape;176;p12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12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Quote with Caption">
  <p:cSld name="Quote with Caption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3"/>
          <p:cNvSpPr txBox="1"/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3"/>
          <p:cNvSpPr txBox="1"/>
          <p:nvPr>
            <p:ph idx="1" type="body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1" name="Google Shape;181;p13"/>
          <p:cNvSpPr txBox="1"/>
          <p:nvPr>
            <p:ph idx="2" type="body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82" name="Google Shape;182;p13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13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4" name="Google Shape;184;p13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6" name="Google Shape;186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Twentieth Century"/>
              <a:buNone/>
            </a:pPr>
            <a:r>
              <a:rPr b="0" i="0" lang="en-US" sz="8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Name Card">
  <p:cSld name="Name Card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"/>
          <p:cNvSpPr txBox="1"/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14"/>
          <p:cNvSpPr txBox="1"/>
          <p:nvPr>
            <p:ph idx="1" type="body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sz="18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9pPr>
          </a:lstStyle>
          <a:p/>
        </p:txBody>
      </p:sp>
      <p:sp>
        <p:nvSpPr>
          <p:cNvPr id="190" name="Google Shape;190;p14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1" name="Google Shape;191;p14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4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Column">
  <p:cSld name="3 Column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5"/>
          <p:cNvSpPr txBox="1"/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" name="Google Shape;195;p15"/>
          <p:cNvSpPr txBox="1"/>
          <p:nvPr>
            <p:ph idx="1" type="body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6" name="Google Shape;196;p15"/>
          <p:cNvSpPr txBox="1"/>
          <p:nvPr>
            <p:ph idx="2" type="body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7" name="Google Shape;197;p15"/>
          <p:cNvSpPr txBox="1"/>
          <p:nvPr>
            <p:ph idx="3" type="body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198" name="Google Shape;198;p15"/>
          <p:cNvSpPr txBox="1"/>
          <p:nvPr>
            <p:ph idx="4" type="body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199" name="Google Shape;199;p15"/>
          <p:cNvSpPr txBox="1"/>
          <p:nvPr>
            <p:ph idx="5" type="body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0" sz="24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0" name="Google Shape;200;p15"/>
          <p:cNvSpPr txBox="1"/>
          <p:nvPr>
            <p:ph idx="6" type="body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1" name="Google Shape;201;p15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15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15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3 Picture Column">
  <p:cSld name="3 Picture Column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6"/>
          <p:cNvSpPr txBox="1"/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16"/>
          <p:cNvSpPr txBox="1"/>
          <p:nvPr>
            <p:ph idx="1" type="body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07" name="Google Shape;207;p16"/>
          <p:cNvSpPr/>
          <p:nvPr>
            <p:ph idx="2" type="pic"/>
          </p:nvPr>
        </p:nvSpPr>
        <p:spPr>
          <a:xfrm>
            <a:off x="1141413" y="2666998"/>
            <a:ext cx="31952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08" name="Google Shape;208;p16"/>
          <p:cNvSpPr txBox="1"/>
          <p:nvPr>
            <p:ph idx="3" type="body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09" name="Google Shape;209;p16"/>
          <p:cNvSpPr txBox="1"/>
          <p:nvPr>
            <p:ph idx="4" type="body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0" name="Google Shape;210;p16"/>
          <p:cNvSpPr/>
          <p:nvPr>
            <p:ph idx="5" type="pic"/>
          </p:nvPr>
        </p:nvSpPr>
        <p:spPr>
          <a:xfrm>
            <a:off x="4489053" y="2666998"/>
            <a:ext cx="3198940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11" name="Google Shape;211;p16"/>
          <p:cNvSpPr txBox="1"/>
          <p:nvPr>
            <p:ph idx="6" type="body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2" name="Google Shape;212;p16"/>
          <p:cNvSpPr txBox="1"/>
          <p:nvPr>
            <p:ph idx="7" type="body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0" sz="2000" cap="none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1600"/>
            </a:lvl9pPr>
          </a:lstStyle>
          <a:p/>
        </p:txBody>
      </p:sp>
      <p:sp>
        <p:nvSpPr>
          <p:cNvPr id="213" name="Google Shape;213;p16"/>
          <p:cNvSpPr/>
          <p:nvPr>
            <p:ph idx="8" type="pic"/>
          </p:nvPr>
        </p:nvSpPr>
        <p:spPr>
          <a:xfrm>
            <a:off x="7852442" y="2666998"/>
            <a:ext cx="3194969" cy="1524000"/>
          </a:xfrm>
          <a:prstGeom prst="round2DiagRect">
            <a:avLst>
              <a:gd fmla="val 16667" name="adj1"/>
              <a:gd fmla="val 0" name="adj2"/>
            </a:avLst>
          </a:prstGeom>
          <a:noFill/>
          <a:ln cap="sq" cmpd="sng" w="19050">
            <a:solidFill>
              <a:srgbClr val="B0BFC7">
                <a:alpha val="60000"/>
              </a:srgbClr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88900" rotWithShape="0" algn="t" dir="54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214" name="Google Shape;214;p16"/>
          <p:cNvSpPr txBox="1"/>
          <p:nvPr>
            <p:ph idx="9" type="body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75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5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125"/>
              <a:buNone/>
              <a:defRPr sz="900"/>
            </a:lvl9pPr>
          </a:lstStyle>
          <a:p/>
        </p:txBody>
      </p:sp>
      <p:sp>
        <p:nvSpPr>
          <p:cNvPr id="215" name="Google Shape;215;p16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16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16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Vertical Text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7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17"/>
          <p:cNvSpPr txBox="1"/>
          <p:nvPr>
            <p:ph idx="1" type="body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1" name="Google Shape;221;p17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17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17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Vertical Title and Text" type="vertTitleAndTx">
  <p:cSld name="VERTICAL_TITLE_AND_VERTICAL_TEX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8"/>
          <p:cNvSpPr txBox="1"/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18"/>
          <p:cNvSpPr txBox="1"/>
          <p:nvPr>
            <p:ph idx="1" type="body"/>
          </p:nvPr>
        </p:nvSpPr>
        <p:spPr>
          <a:xfrm rot="5400000">
            <a:off x="2424904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1475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1pPr>
            <a:lvl2pPr indent="-371475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2pPr>
            <a:lvl3pPr indent="-371475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3pPr>
            <a:lvl4pPr indent="-371475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4pPr>
            <a:lvl5pPr indent="-371475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5pPr>
            <a:lvl6pPr indent="-371475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6pPr>
            <a:lvl7pPr indent="-371475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7pPr>
            <a:lvl8pPr indent="-371475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8pPr>
            <a:lvl9pPr indent="-371475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  <a:defRPr/>
            </a:lvl9pPr>
          </a:lstStyle>
          <a:p/>
        </p:txBody>
      </p:sp>
      <p:sp>
        <p:nvSpPr>
          <p:cNvPr id="227" name="Google Shape;227;p18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18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9" name="Google Shape;229;p18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theme" Target="../theme/theme2.xml"/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19" Type="http://schemas.openxmlformats.org/officeDocument/2006/relationships/slideLayout" Target="../slideLayouts/slideLayout17.xml"/><Relationship Id="rId6" Type="http://schemas.openxmlformats.org/officeDocument/2006/relationships/slideLayout" Target="../slideLayouts/slideLayout4.xml"/><Relationship Id="rId1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2">
            <a:alphaModFix amt="30000"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7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8" name="Google Shape;8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9" name="Google Shape;9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" name="Google Shape;10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" name="Google Shape;11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" name="Google Shape;12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rect b="b" l="l" r="r" t="t"/>
                <a:pathLst>
                  <a:path extrusionOk="0" h="1141" w="233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3" name="Google Shape;13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rect b="b" l="l" r="r" t="t"/>
                <a:pathLst>
                  <a:path extrusionOk="0" h="901" w="233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5" name="Google Shape;15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6" name="Google Shape;16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rect b="b" l="l" r="r" t="t"/>
                <a:pathLst>
                  <a:path extrusionOk="0" h="332" w="266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rect b="b" l="l" r="r" t="t"/>
                <a:pathLst>
                  <a:path extrusionOk="0" h="31" w="34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20" name="Google Shape;20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 cap="flat" cmpd="sng" w="9525">
                <a:solidFill>
                  <a:srgbClr val="FFFF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21" name="Google Shape;21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rect b="b" l="l" r="r" t="t"/>
                <a:pathLst>
                  <a:path extrusionOk="0" h="80" w="78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2" name="Google Shape;22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rect b="b" l="l" r="r" t="t"/>
                <a:pathLst>
                  <a:path extrusionOk="0" h="303" w="9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rect b="b" l="l" r="r" t="t"/>
                <a:pathLst>
                  <a:path extrusionOk="0" h="300" w="9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4" name="Google Shape;24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rect b="b" l="l" r="r" t="t"/>
                <a:pathLst>
                  <a:path extrusionOk="0" h="23" w="24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rect b="b" l="l" r="r" t="t"/>
                <a:pathLst>
                  <a:path extrusionOk="0" h="1135" w="233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rect b="b" l="l" r="r" t="t"/>
                <a:pathLst>
                  <a:path extrusionOk="0" h="766" w="54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9" name="Google Shape;29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rect b="b" l="l" r="r" t="t"/>
                <a:pathLst>
                  <a:path extrusionOk="0" h="898" w="236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rect b="b" l="l" r="r" t="t"/>
                <a:pathLst>
                  <a:path extrusionOk="0" h="575" w="96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2" name="Google Shape;32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rect b="b" l="l" r="r" t="t"/>
                <a:pathLst>
                  <a:path extrusionOk="0" h="326" w="263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rect b="b" l="l" r="r" t="t"/>
                <a:pathLst>
                  <a:path extrusionOk="0" h="31" w="33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6" name="Google Shape;36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37" name="Google Shape;37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rect b="b" l="l" r="r" t="t"/>
                <a:pathLst>
                  <a:path extrusionOk="0" h="323" w="26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8" name="Google Shape;38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rect b="b" l="l" r="r" t="t"/>
                <a:pathLst>
                  <a:path extrusionOk="0" h="32" w="33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rect b="b" l="l" r="r" t="t"/>
                <a:pathLst>
                  <a:path extrusionOk="0" h="727" w="188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1" name="Google Shape;41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rect b="b" l="l" r="r" t="t"/>
                <a:pathLst>
                  <a:path extrusionOk="0" h="33" w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rect b="b" l="l" r="r" t="t"/>
                <a:pathLst>
                  <a:path extrusionOk="0" h="973" w="192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3" name="Google Shape;43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rect b="b" l="l" r="r" t="t"/>
                <a:pathLst>
                  <a:path extrusionOk="0" h="1135" w="194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rect b="b" l="l" r="r" t="t"/>
                <a:pathLst>
                  <a:path extrusionOk="0" h="40" w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lt2"/>
                  </a:gs>
                  <a:gs pos="100000">
                    <a:srgbClr val="3B4B54"/>
                  </a:gs>
                </a:gsLst>
                <a:lin ang="54000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7" name="Google Shape;47;p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91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8735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71475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25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556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556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16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39725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39725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39725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39725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50"/>
              <a:buFont typeface="Arial"/>
              <a:buChar char="•"/>
              <a:defRPr b="0" i="0" sz="14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49" name="Google Shape;49;p1"/>
          <p:cNvSpPr txBox="1"/>
          <p:nvPr>
            <p:ph idx="10" type="dt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0" name="Google Shape;50;p1"/>
          <p:cNvSpPr txBox="1"/>
          <p:nvPr>
            <p:ph idx="11" type="ftr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51" name="Google Shape;51;p1"/>
          <p:cNvSpPr txBox="1"/>
          <p:nvPr>
            <p:ph idx="12" type="sldNum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4.png"/><Relationship Id="rId9" Type="http://schemas.openxmlformats.org/officeDocument/2006/relationships/image" Target="../media/image10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11.png"/><Relationship Id="rId8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en.wikipedia.org/wiki/Dedicated_short-range_communications" TargetMode="External"/><Relationship Id="rId4" Type="http://schemas.openxmlformats.org/officeDocument/2006/relationships/hyperlink" Target="https://www.extremetech.com/extreme/176093-v2v-what-are-vehicle-to-vehicle-communications-and-how-does-it-work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 txBox="1"/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wentieth Century"/>
              <a:buNone/>
            </a:pPr>
            <a:r>
              <a:rPr lang="en-US"/>
              <a:t>WIRELESS VEHICLE (V2V) COMMUNICATIONS</a:t>
            </a:r>
            <a:endParaRPr/>
          </a:p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THE UNIVERSITY OF TEXAS</a:t>
            </a:r>
            <a:br>
              <a:rPr lang="en-US"/>
            </a:br>
            <a:r>
              <a:rPr lang="en-US"/>
              <a:t>MEMBERS: RICARDO ALANIS, LUCAS CASTRO, BRANDON MARZIK, BRADLEY OLBREY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500"/>
              <a:buNone/>
            </a:pPr>
            <a:r>
              <a:rPr lang="en-US"/>
              <a:t>SPONSOR</a:t>
            </a:r>
            <a:r>
              <a:rPr lang="en-US"/>
              <a:t>: ROLAND VARRIALE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0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OVERVIEW</a:t>
            </a:r>
            <a:endParaRPr/>
          </a:p>
        </p:txBody>
      </p:sp>
      <p:grpSp>
        <p:nvGrpSpPr>
          <p:cNvPr id="241" name="Google Shape;241;p20"/>
          <p:cNvGrpSpPr/>
          <p:nvPr/>
        </p:nvGrpSpPr>
        <p:grpSpPr>
          <a:xfrm>
            <a:off x="1145621" y="3126391"/>
            <a:ext cx="9897583" cy="1727578"/>
            <a:chOff x="4208" y="707571"/>
            <a:chExt cx="9897583" cy="1727578"/>
          </a:xfrm>
        </p:grpSpPr>
        <p:sp>
          <p:nvSpPr>
            <p:cNvPr id="242" name="Google Shape;242;p20"/>
            <p:cNvSpPr/>
            <p:nvPr/>
          </p:nvSpPr>
          <p:spPr>
            <a:xfrm>
              <a:off x="284939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20"/>
            <p:cNvSpPr/>
            <p:nvPr/>
          </p:nvSpPr>
          <p:spPr>
            <a:xfrm>
              <a:off x="472094" y="894725"/>
              <a:ext cx="503876" cy="503876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20"/>
            <p:cNvSpPr/>
            <p:nvPr/>
          </p:nvSpPr>
          <p:spPr>
            <a:xfrm>
              <a:off x="4208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0"/>
            <p:cNvSpPr txBox="1"/>
            <p:nvPr/>
          </p:nvSpPr>
          <p:spPr>
            <a:xfrm>
              <a:off x="4208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BACKGROUND</a:t>
              </a:r>
              <a:endParaRPr/>
            </a:p>
          </p:txBody>
        </p:sp>
        <p:sp>
          <p:nvSpPr>
            <p:cNvPr id="246" name="Google Shape;246;p20"/>
            <p:cNvSpPr/>
            <p:nvPr/>
          </p:nvSpPr>
          <p:spPr>
            <a:xfrm>
              <a:off x="1976526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20"/>
            <p:cNvSpPr/>
            <p:nvPr/>
          </p:nvSpPr>
          <p:spPr>
            <a:xfrm>
              <a:off x="2163681" y="894725"/>
              <a:ext cx="503876" cy="503876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20"/>
            <p:cNvSpPr/>
            <p:nvPr/>
          </p:nvSpPr>
          <p:spPr>
            <a:xfrm>
              <a:off x="1695795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20"/>
            <p:cNvSpPr txBox="1"/>
            <p:nvPr/>
          </p:nvSpPr>
          <p:spPr>
            <a:xfrm>
              <a:off x="1695795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PROJECT FOCUS</a:t>
              </a:r>
              <a:endParaRPr/>
            </a:p>
          </p:txBody>
        </p:sp>
        <p:sp>
          <p:nvSpPr>
            <p:cNvPr id="250" name="Google Shape;250;p20"/>
            <p:cNvSpPr/>
            <p:nvPr/>
          </p:nvSpPr>
          <p:spPr>
            <a:xfrm>
              <a:off x="3668113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20"/>
            <p:cNvSpPr/>
            <p:nvPr/>
          </p:nvSpPr>
          <p:spPr>
            <a:xfrm>
              <a:off x="3855268" y="894725"/>
              <a:ext cx="503876" cy="503876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20"/>
            <p:cNvSpPr/>
            <p:nvPr/>
          </p:nvSpPr>
          <p:spPr>
            <a:xfrm>
              <a:off x="3387382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3387382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APPROACH</a:t>
              </a:r>
              <a:endParaRPr/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5359700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20"/>
            <p:cNvSpPr/>
            <p:nvPr/>
          </p:nvSpPr>
          <p:spPr>
            <a:xfrm>
              <a:off x="5546854" y="894725"/>
              <a:ext cx="503876" cy="503876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20"/>
            <p:cNvSpPr/>
            <p:nvPr/>
          </p:nvSpPr>
          <p:spPr>
            <a:xfrm>
              <a:off x="5078969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5078969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PROGRESS</a:t>
              </a:r>
              <a:endParaRPr/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7051287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20"/>
            <p:cNvSpPr/>
            <p:nvPr/>
          </p:nvSpPr>
          <p:spPr>
            <a:xfrm>
              <a:off x="7238441" y="894725"/>
              <a:ext cx="503876" cy="503876"/>
            </a:xfrm>
            <a:prstGeom prst="rect">
              <a:avLst/>
            </a:prstGeom>
            <a:blipFill rotWithShape="1">
              <a:blip r:embed="rId8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6770556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6770556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WORK TO BE DONE</a:t>
              </a: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8742874" y="707571"/>
              <a:ext cx="878185" cy="878185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20"/>
            <p:cNvSpPr/>
            <p:nvPr/>
          </p:nvSpPr>
          <p:spPr>
            <a:xfrm>
              <a:off x="8930028" y="894725"/>
              <a:ext cx="503876" cy="503876"/>
            </a:xfrm>
            <a:prstGeom prst="rect">
              <a:avLst/>
            </a:prstGeom>
            <a:blipFill rotWithShape="1">
              <a:blip r:embed="rId9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0"/>
            <p:cNvSpPr/>
            <p:nvPr/>
          </p:nvSpPr>
          <p:spPr>
            <a:xfrm>
              <a:off x="8462143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8462143" y="1859290"/>
              <a:ext cx="1439648" cy="57585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wentieth Century"/>
                <a:buNone/>
              </a:pPr>
              <a:r>
                <a:rPr b="0" i="0" lang="en-US" sz="18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ISSUES ENCOUNTERED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VEHICLE TO VEHICLE COMMUNICATION</a:t>
            </a:r>
            <a:endParaRPr/>
          </a:p>
        </p:txBody>
      </p:sp>
      <p:grpSp>
        <p:nvGrpSpPr>
          <p:cNvPr id="271" name="Google Shape;271;p21"/>
          <p:cNvGrpSpPr/>
          <p:nvPr/>
        </p:nvGrpSpPr>
        <p:grpSpPr>
          <a:xfrm>
            <a:off x="1141413" y="2419203"/>
            <a:ext cx="9906000" cy="3141954"/>
            <a:chOff x="0" y="383"/>
            <a:chExt cx="9906000" cy="3141954"/>
          </a:xfrm>
        </p:grpSpPr>
        <p:sp>
          <p:nvSpPr>
            <p:cNvPr id="272" name="Google Shape;272;p21"/>
            <p:cNvSpPr/>
            <p:nvPr/>
          </p:nvSpPr>
          <p:spPr>
            <a:xfrm>
              <a:off x="0" y="383"/>
              <a:ext cx="9906000" cy="89770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21"/>
            <p:cNvSpPr/>
            <p:nvPr/>
          </p:nvSpPr>
          <p:spPr>
            <a:xfrm>
              <a:off x="271554" y="202366"/>
              <a:ext cx="493735" cy="493735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21"/>
            <p:cNvSpPr/>
            <p:nvPr/>
          </p:nvSpPr>
          <p:spPr>
            <a:xfrm>
              <a:off x="1036844" y="383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1"/>
            <p:cNvSpPr txBox="1"/>
            <p:nvPr/>
          </p:nvSpPr>
          <p:spPr>
            <a:xfrm>
              <a:off x="1036844" y="383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000" lIns="95000" spcFirstLastPara="1" rIns="95000" wrap="square" tIns="9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Twentieth Century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With the increase of autonomous cars and smarter vehicles the protocol they use to communicate critical information needs to be defined. </a:t>
              </a:r>
              <a:endParaRPr/>
            </a:p>
          </p:txBody>
        </p:sp>
        <p:sp>
          <p:nvSpPr>
            <p:cNvPr id="276" name="Google Shape;276;p21"/>
            <p:cNvSpPr/>
            <p:nvPr/>
          </p:nvSpPr>
          <p:spPr>
            <a:xfrm>
              <a:off x="0" y="1122509"/>
              <a:ext cx="9906000" cy="89770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1"/>
            <p:cNvSpPr/>
            <p:nvPr/>
          </p:nvSpPr>
          <p:spPr>
            <a:xfrm>
              <a:off x="271554" y="1324492"/>
              <a:ext cx="493735" cy="493735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21"/>
            <p:cNvSpPr/>
            <p:nvPr/>
          </p:nvSpPr>
          <p:spPr>
            <a:xfrm>
              <a:off x="1036844" y="1122509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21"/>
            <p:cNvSpPr txBox="1"/>
            <p:nvPr/>
          </p:nvSpPr>
          <p:spPr>
            <a:xfrm>
              <a:off x="1036844" y="1122509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000" lIns="95000" spcFirstLastPara="1" rIns="95000" wrap="square" tIns="9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Twentieth Century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Vehicles would be able to exchange speed information, location information, direction, and emergency information while in operation.</a:t>
              </a:r>
              <a:endParaRPr/>
            </a:p>
          </p:txBody>
        </p:sp>
        <p:sp>
          <p:nvSpPr>
            <p:cNvPr id="280" name="Google Shape;280;p21"/>
            <p:cNvSpPr/>
            <p:nvPr/>
          </p:nvSpPr>
          <p:spPr>
            <a:xfrm>
              <a:off x="0" y="2244636"/>
              <a:ext cx="9906000" cy="897701"/>
            </a:xfrm>
            <a:prstGeom prst="roundRect">
              <a:avLst>
                <a:gd fmla="val 10000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1"/>
            <p:cNvSpPr/>
            <p:nvPr/>
          </p:nvSpPr>
          <p:spPr>
            <a:xfrm>
              <a:off x="271554" y="2446619"/>
              <a:ext cx="493735" cy="493735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1"/>
            <p:cNvSpPr/>
            <p:nvPr/>
          </p:nvSpPr>
          <p:spPr>
            <a:xfrm>
              <a:off x="1036844" y="2244636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1"/>
            <p:cNvSpPr txBox="1"/>
            <p:nvPr/>
          </p:nvSpPr>
          <p:spPr>
            <a:xfrm>
              <a:off x="1036844" y="2244636"/>
              <a:ext cx="8869155" cy="89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5000" lIns="95000" spcFirstLastPara="1" rIns="95000" wrap="square" tIns="950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Twentieth Century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These operations would later be pulled into exchanging information with the infrastructure of the road and information pulled from pedestrians.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2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DEDICATED SHORT-RANGE COMMUNICATION</a:t>
            </a:r>
            <a:endParaRPr/>
          </a:p>
        </p:txBody>
      </p:sp>
      <p:grpSp>
        <p:nvGrpSpPr>
          <p:cNvPr id="289" name="Google Shape;289;p22"/>
          <p:cNvGrpSpPr/>
          <p:nvPr/>
        </p:nvGrpSpPr>
        <p:grpSpPr>
          <a:xfrm>
            <a:off x="1141413" y="2418820"/>
            <a:ext cx="9906000" cy="3142720"/>
            <a:chOff x="0" y="0"/>
            <a:chExt cx="9906000" cy="3142720"/>
          </a:xfrm>
        </p:grpSpPr>
        <p:cxnSp>
          <p:nvCxnSpPr>
            <p:cNvPr id="290" name="Google Shape;290;p22"/>
            <p:cNvCxnSpPr/>
            <p:nvPr/>
          </p:nvCxnSpPr>
          <p:spPr>
            <a:xfrm>
              <a:off x="0" y="0"/>
              <a:ext cx="9906000" cy="0"/>
            </a:xfrm>
            <a:prstGeom prst="straightConnector1">
              <a:avLst/>
            </a:prstGeom>
            <a:gradFill>
              <a:gsLst>
                <a:gs pos="0">
                  <a:srgbClr val="EC8D5E"/>
                </a:gs>
                <a:gs pos="100000">
                  <a:srgbClr val="DD6723"/>
                </a:gs>
              </a:gsLst>
              <a:lin ang="5400000" scaled="0"/>
            </a:gradFill>
            <a:ln cap="flat" cmpd="sng" w="9525">
              <a:solidFill>
                <a:srgbClr val="E77F4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1" name="Google Shape;291;p22"/>
            <p:cNvSpPr/>
            <p:nvPr/>
          </p:nvSpPr>
          <p:spPr>
            <a:xfrm>
              <a:off x="0" y="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" name="Google Shape;292;p22"/>
            <p:cNvSpPr txBox="1"/>
            <p:nvPr/>
          </p:nvSpPr>
          <p:spPr>
            <a:xfrm>
              <a:off x="0" y="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wentieth Century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DSRC is one-way or two-way short-range to medium-range wireless communication channels specifically designed for automotive use. </a:t>
              </a:r>
              <a:endParaRPr/>
            </a:p>
          </p:txBody>
        </p:sp>
        <p:cxnSp>
          <p:nvCxnSpPr>
            <p:cNvPr id="293" name="Google Shape;293;p22"/>
            <p:cNvCxnSpPr/>
            <p:nvPr/>
          </p:nvCxnSpPr>
          <p:spPr>
            <a:xfrm>
              <a:off x="0" y="785680"/>
              <a:ext cx="9906000" cy="0"/>
            </a:xfrm>
            <a:prstGeom prst="straightConnector1">
              <a:avLst/>
            </a:prstGeom>
            <a:gradFill>
              <a:gsLst>
                <a:gs pos="0">
                  <a:srgbClr val="E1BE60"/>
                </a:gs>
                <a:gs pos="100000">
                  <a:srgbClr val="D0A729"/>
                </a:gs>
              </a:gsLst>
              <a:lin ang="5400000" scaled="0"/>
            </a:gradFill>
            <a:ln cap="flat" cmpd="sng" w="9525">
              <a:solidFill>
                <a:srgbClr val="DBB64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4" name="Google Shape;294;p22"/>
            <p:cNvSpPr/>
            <p:nvPr/>
          </p:nvSpPr>
          <p:spPr>
            <a:xfrm>
              <a:off x="0" y="78568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22"/>
            <p:cNvSpPr txBox="1"/>
            <p:nvPr/>
          </p:nvSpPr>
          <p:spPr>
            <a:xfrm>
              <a:off x="0" y="78568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wentieth Century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An amendment was made to the IEEE 802.11 standard to include enhancements to support intelligent transportation systems (ITS).</a:t>
              </a:r>
              <a:endParaRPr/>
            </a:p>
          </p:txBody>
        </p:sp>
        <p:cxnSp>
          <p:nvCxnSpPr>
            <p:cNvPr id="296" name="Google Shape;296;p22"/>
            <p:cNvCxnSpPr/>
            <p:nvPr/>
          </p:nvCxnSpPr>
          <p:spPr>
            <a:xfrm>
              <a:off x="0" y="1571360"/>
              <a:ext cx="9906000" cy="0"/>
            </a:xfrm>
            <a:prstGeom prst="straightConnector1">
              <a:avLst/>
            </a:prstGeom>
            <a:gradFill>
              <a:gsLst>
                <a:gs pos="0">
                  <a:srgbClr val="C2D562"/>
                </a:gs>
                <a:gs pos="100000">
                  <a:srgbClr val="AEC32E"/>
                </a:gs>
              </a:gsLst>
              <a:lin ang="5400000" scaled="0"/>
            </a:gradFill>
            <a:ln cap="flat" cmpd="sng" w="9525">
              <a:solidFill>
                <a:srgbClr val="BBCF49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97" name="Google Shape;297;p22"/>
            <p:cNvSpPr/>
            <p:nvPr/>
          </p:nvSpPr>
          <p:spPr>
            <a:xfrm>
              <a:off x="0" y="157136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0" y="157136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wentieth Century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This involves data exchanges between high speed vehicles and the road side infrastructure using DSRC. </a:t>
              </a:r>
              <a:endParaRPr/>
            </a:p>
          </p:txBody>
        </p:sp>
        <p:cxnSp>
          <p:nvCxnSpPr>
            <p:cNvPr id="299" name="Google Shape;299;p22"/>
            <p:cNvCxnSpPr/>
            <p:nvPr/>
          </p:nvCxnSpPr>
          <p:spPr>
            <a:xfrm>
              <a:off x="0" y="2357040"/>
              <a:ext cx="9906000" cy="0"/>
            </a:xfrm>
            <a:prstGeom prst="straightConnector1">
              <a:avLst/>
            </a:prstGeom>
            <a:gradFill>
              <a:gsLst>
                <a:gs pos="0">
                  <a:srgbClr val="8FC966"/>
                </a:gs>
                <a:gs pos="100000">
                  <a:srgbClr val="6FB734"/>
                </a:gs>
              </a:gsLst>
              <a:lin ang="5400000" scaled="0"/>
            </a:gradFill>
            <a:ln cap="flat" cmpd="sng" w="9525">
              <a:solidFill>
                <a:srgbClr val="82C24E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00" name="Google Shape;300;p22"/>
            <p:cNvSpPr/>
            <p:nvPr/>
          </p:nvSpPr>
          <p:spPr>
            <a:xfrm>
              <a:off x="0" y="235704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22"/>
            <p:cNvSpPr txBox="1"/>
            <p:nvPr/>
          </p:nvSpPr>
          <p:spPr>
            <a:xfrm>
              <a:off x="0" y="2357040"/>
              <a:ext cx="9906000" cy="785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wentieth Century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This amendments licenses the 5.9 GHz band (5.85-5.925 GHz) to be dedicated for this purpose. This is also known as 802.11p.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5B67"/>
            </a:gs>
            <a:gs pos="100000">
              <a:srgbClr val="151924"/>
            </a:gs>
          </a:gsLst>
          <a:lin ang="5040000" scaled="0"/>
        </a:gra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/>
          <p:nvPr/>
        </p:nvSpPr>
        <p:spPr>
          <a:xfrm>
            <a:off x="25400" y="-14287"/>
            <a:ext cx="12192000" cy="6858000"/>
          </a:xfrm>
          <a:prstGeom prst="rect">
            <a:avLst/>
          </a:prstGeom>
          <a:gradFill>
            <a:gsLst>
              <a:gs pos="0">
                <a:srgbClr val="4E5B67"/>
              </a:gs>
              <a:gs pos="100000">
                <a:srgbClr val="151924"/>
              </a:gs>
            </a:gsLst>
            <a:lin ang="504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307" name="Google Shape;307;p23"/>
          <p:cNvGrpSpPr/>
          <p:nvPr/>
        </p:nvGrpSpPr>
        <p:grpSpPr>
          <a:xfrm>
            <a:off x="-14288" y="0"/>
            <a:ext cx="1220788" cy="6858001"/>
            <a:chOff x="-14288" y="0"/>
            <a:chExt cx="1220788" cy="6858001"/>
          </a:xfrm>
        </p:grpSpPr>
        <p:sp>
          <p:nvSpPr>
            <p:cNvPr id="308" name="Google Shape;308;p23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3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23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23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12" name="Google Shape;312;p23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3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14" name="Google Shape;314;p23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15" name="Google Shape;315;p23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18" name="Google Shape;318;p23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9" name="Google Shape;319;p23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20" name="Google Shape;320;p23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21" name="Google Shape;321;p23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22" name="Google Shape;322;p23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23" name="Google Shape;323;p23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3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3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26" name="Google Shape;326;p23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3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28" name="Google Shape;328;p23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3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30" name="Google Shape;330;p23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31" name="Google Shape;331;p23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3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3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34" name="Google Shape;334;p23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5" name="Google Shape;335;p23"/>
          <p:cNvSpPr txBox="1"/>
          <p:nvPr>
            <p:ph type="title"/>
          </p:nvPr>
        </p:nvSpPr>
        <p:spPr>
          <a:xfrm>
            <a:off x="1141413" y="1082673"/>
            <a:ext cx="2869416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/>
              <a:t>PROJECT FOCUS</a:t>
            </a:r>
            <a:endParaRPr/>
          </a:p>
        </p:txBody>
      </p:sp>
      <p:cxnSp>
        <p:nvCxnSpPr>
          <p:cNvPr id="336" name="Google Shape;336;p23"/>
          <p:cNvCxnSpPr/>
          <p:nvPr/>
        </p:nvCxnSpPr>
        <p:spPr>
          <a:xfrm>
            <a:off x="4654296" y="1454684"/>
            <a:ext cx="0" cy="3649129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23"/>
          <p:cNvSpPr txBox="1"/>
          <p:nvPr>
            <p:ph idx="1" type="body"/>
          </p:nvPr>
        </p:nvSpPr>
        <p:spPr>
          <a:xfrm>
            <a:off x="5297763" y="1082673"/>
            <a:ext cx="5751237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The 802.11p specification in the IEEE standard is pretty bare at the moment.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There are no security specifications for the protocol currently built into it.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Our goal is to attempt an a basic DDOS attack to see the practicality of an attack against the V2X system. </a:t>
            </a:r>
            <a:endParaRPr/>
          </a:p>
        </p:txBody>
      </p:sp>
      <p:grpSp>
        <p:nvGrpSpPr>
          <p:cNvPr id="338" name="Google Shape;338;p23"/>
          <p:cNvGrpSpPr/>
          <p:nvPr/>
        </p:nvGrpSpPr>
        <p:grpSpPr>
          <a:xfrm>
            <a:off x="11364912" y="0"/>
            <a:ext cx="674688" cy="6848476"/>
            <a:chOff x="11364912" y="0"/>
            <a:chExt cx="674688" cy="6848476"/>
          </a:xfrm>
        </p:grpSpPr>
        <p:sp>
          <p:nvSpPr>
            <p:cNvPr id="339" name="Google Shape;339;p23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40" name="Google Shape;340;p23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3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3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43" name="Google Shape;343;p23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3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45" name="Google Shape;345;p23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3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47" name="Google Shape;347;p23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3"/>
            <p:cNvSpPr/>
            <p:nvPr/>
          </p:nvSpPr>
          <p:spPr>
            <a:xfrm>
              <a:off x="11939587" y="6596063"/>
              <a:ext cx="23813" cy="252413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4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THREAT SCOPE</a:t>
            </a:r>
            <a:endParaRPr/>
          </a:p>
        </p:txBody>
      </p:sp>
      <p:grpSp>
        <p:nvGrpSpPr>
          <p:cNvPr id="354" name="Google Shape;354;p24"/>
          <p:cNvGrpSpPr/>
          <p:nvPr/>
        </p:nvGrpSpPr>
        <p:grpSpPr>
          <a:xfrm>
            <a:off x="1141413" y="2418858"/>
            <a:ext cx="9905999" cy="3142644"/>
            <a:chOff x="0" y="38"/>
            <a:chExt cx="9905999" cy="3142644"/>
          </a:xfrm>
        </p:grpSpPr>
        <p:sp>
          <p:nvSpPr>
            <p:cNvPr id="355" name="Google Shape;355;p24"/>
            <p:cNvSpPr/>
            <p:nvPr/>
          </p:nvSpPr>
          <p:spPr>
            <a:xfrm rot="5400000">
              <a:off x="6122881" y="-2403383"/>
              <a:ext cx="1226397" cy="633984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F6D7CE">
                <a:alpha val="89803"/>
              </a:srgbClr>
            </a:solidFill>
            <a:ln cap="flat" cmpd="sng" w="9525">
              <a:solidFill>
                <a:srgbClr val="F6D7CE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4"/>
            <p:cNvSpPr txBox="1"/>
            <p:nvPr/>
          </p:nvSpPr>
          <p:spPr>
            <a:xfrm>
              <a:off x="3566160" y="213206"/>
              <a:ext cx="6279972" cy="1106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Has no physical access or wireless access to any system i.e. cars, RSU, traffic lights etc.</a:t>
              </a:r>
              <a:endParaRPr/>
            </a:p>
          </p:txBody>
        </p:sp>
        <p:sp>
          <p:nvSpPr>
            <p:cNvPr id="357" name="Google Shape;357;p24"/>
            <p:cNvSpPr/>
            <p:nvPr/>
          </p:nvSpPr>
          <p:spPr>
            <a:xfrm>
              <a:off x="0" y="38"/>
              <a:ext cx="3566160" cy="153299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C8D5E"/>
                </a:gs>
                <a:gs pos="100000">
                  <a:srgbClr val="DD6723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4"/>
            <p:cNvSpPr txBox="1"/>
            <p:nvPr/>
          </p:nvSpPr>
          <p:spPr>
            <a:xfrm>
              <a:off x="74835" y="74873"/>
              <a:ext cx="3416490" cy="1383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Twentieth Century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 attackers has no ability to modify any system currently operating in the ecosystem. </a:t>
              </a:r>
              <a:endParaRPr/>
            </a:p>
          </p:txBody>
        </p:sp>
        <p:sp>
          <p:nvSpPr>
            <p:cNvPr id="359" name="Google Shape;359;p24"/>
            <p:cNvSpPr/>
            <p:nvPr/>
          </p:nvSpPr>
          <p:spPr>
            <a:xfrm rot="5400000">
              <a:off x="6122881" y="-793735"/>
              <a:ext cx="1226397" cy="6339840"/>
            </a:xfrm>
            <a:prstGeom prst="round2SameRect">
              <a:avLst>
                <a:gd fmla="val 16667" name="adj1"/>
                <a:gd fmla="val 0" name="adj2"/>
              </a:avLst>
            </a:prstGeom>
            <a:solidFill>
              <a:srgbClr val="D7E9CE">
                <a:alpha val="89803"/>
              </a:srgbClr>
            </a:solidFill>
            <a:ln cap="flat" cmpd="sng" w="9525">
              <a:solidFill>
                <a:srgbClr val="D7E9CE">
                  <a:alpha val="89803"/>
                </a:srgbClr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4"/>
            <p:cNvSpPr txBox="1"/>
            <p:nvPr/>
          </p:nvSpPr>
          <p:spPr>
            <a:xfrm>
              <a:off x="3566160" y="1822854"/>
              <a:ext cx="6279972" cy="1106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9525" lIns="99050" spcFirstLastPara="1" rIns="99050" wrap="square" tIns="49525">
              <a:noAutofit/>
            </a:bodyPr>
            <a:lstStyle/>
            <a:p>
              <a:pPr indent="-228600" lvl="1" marL="2286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wentieth Century"/>
                <a:buChar char="•"/>
              </a:pPr>
              <a:r>
                <a:rPr b="0" i="0" lang="en-US" sz="26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Can introduce their own RSU to the system. </a:t>
              </a:r>
              <a:endParaRPr/>
            </a:p>
          </p:txBody>
        </p:sp>
        <p:sp>
          <p:nvSpPr>
            <p:cNvPr id="361" name="Google Shape;361;p24"/>
            <p:cNvSpPr/>
            <p:nvPr/>
          </p:nvSpPr>
          <p:spPr>
            <a:xfrm>
              <a:off x="0" y="1609685"/>
              <a:ext cx="3566160" cy="1532997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8FC966"/>
                </a:gs>
                <a:gs pos="100000">
                  <a:srgbClr val="6FB7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4"/>
            <p:cNvSpPr txBox="1"/>
            <p:nvPr/>
          </p:nvSpPr>
          <p:spPr>
            <a:xfrm>
              <a:off x="74835" y="1684520"/>
              <a:ext cx="3416490" cy="1383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3800" lIns="87625" spcFirstLastPara="1" rIns="87625" wrap="square" tIns="4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300"/>
                <a:buFont typeface="Twentieth Century"/>
                <a:buNone/>
              </a:pPr>
              <a:r>
                <a:rPr b="0" i="0" lang="en-US" sz="23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 attacker can only introduce new devices to the network that add information to the network. </a:t>
              </a: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APPROACH</a:t>
            </a:r>
            <a:endParaRPr/>
          </a:p>
        </p:txBody>
      </p:sp>
      <p:grpSp>
        <p:nvGrpSpPr>
          <p:cNvPr id="368" name="Google Shape;368;p25"/>
          <p:cNvGrpSpPr/>
          <p:nvPr/>
        </p:nvGrpSpPr>
        <p:grpSpPr>
          <a:xfrm>
            <a:off x="1141413" y="2249920"/>
            <a:ext cx="9906000" cy="3540846"/>
            <a:chOff x="0" y="432"/>
            <a:chExt cx="9906000" cy="3540846"/>
          </a:xfrm>
        </p:grpSpPr>
        <p:sp>
          <p:nvSpPr>
            <p:cNvPr id="369" name="Google Shape;369;p25"/>
            <p:cNvSpPr/>
            <p:nvPr/>
          </p:nvSpPr>
          <p:spPr>
            <a:xfrm>
              <a:off x="0" y="432"/>
              <a:ext cx="9906000" cy="1011670"/>
            </a:xfrm>
            <a:prstGeom prst="roundRect">
              <a:avLst>
                <a:gd fmla="val 10000" name="adj"/>
              </a:avLst>
            </a:prstGeom>
            <a:solidFill>
              <a:srgbClr val="E77F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5"/>
            <p:cNvSpPr/>
            <p:nvPr/>
          </p:nvSpPr>
          <p:spPr>
            <a:xfrm>
              <a:off x="306030" y="228058"/>
              <a:ext cx="556418" cy="556418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5"/>
            <p:cNvSpPr/>
            <p:nvPr/>
          </p:nvSpPr>
          <p:spPr>
            <a:xfrm>
              <a:off x="1168479" y="432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5"/>
            <p:cNvSpPr txBox="1"/>
            <p:nvPr/>
          </p:nvSpPr>
          <p:spPr>
            <a:xfrm>
              <a:off x="1168479" y="432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050" lIns="107050" spcFirstLastPara="1" rIns="107050" wrap="square" tIns="107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Use the Veins framework with OMNeT++ to simulate an attack against wireless communicating vehicles. </a:t>
              </a:r>
              <a:endParaRPr/>
            </a:p>
          </p:txBody>
        </p:sp>
        <p:sp>
          <p:nvSpPr>
            <p:cNvPr id="373" name="Google Shape;373;p25"/>
            <p:cNvSpPr/>
            <p:nvPr/>
          </p:nvSpPr>
          <p:spPr>
            <a:xfrm>
              <a:off x="0" y="1265020"/>
              <a:ext cx="9906000" cy="1011670"/>
            </a:xfrm>
            <a:prstGeom prst="roundRect">
              <a:avLst>
                <a:gd fmla="val 10000" name="adj"/>
              </a:avLst>
            </a:prstGeom>
            <a:solidFill>
              <a:srgbClr val="D5CE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5"/>
            <p:cNvSpPr/>
            <p:nvPr/>
          </p:nvSpPr>
          <p:spPr>
            <a:xfrm>
              <a:off x="306030" y="1492646"/>
              <a:ext cx="556418" cy="556418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5"/>
            <p:cNvSpPr/>
            <p:nvPr/>
          </p:nvSpPr>
          <p:spPr>
            <a:xfrm>
              <a:off x="1168479" y="1265020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5"/>
            <p:cNvSpPr txBox="1"/>
            <p:nvPr/>
          </p:nvSpPr>
          <p:spPr>
            <a:xfrm>
              <a:off x="1168479" y="1265020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050" lIns="107050" spcFirstLastPara="1" rIns="107050" wrap="square" tIns="107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Introduce a new device to the network (malicious road side unit) to conduct an attack inside the ecosystem.</a:t>
              </a:r>
              <a:endParaRPr/>
            </a:p>
          </p:txBody>
        </p:sp>
        <p:sp>
          <p:nvSpPr>
            <p:cNvPr id="377" name="Google Shape;377;p25"/>
            <p:cNvSpPr/>
            <p:nvPr/>
          </p:nvSpPr>
          <p:spPr>
            <a:xfrm>
              <a:off x="0" y="2529608"/>
              <a:ext cx="9906000" cy="1011670"/>
            </a:xfrm>
            <a:prstGeom prst="roundRect">
              <a:avLst>
                <a:gd fmla="val 10000" name="adj"/>
              </a:avLst>
            </a:prstGeom>
            <a:solidFill>
              <a:srgbClr val="82C2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5"/>
            <p:cNvSpPr/>
            <p:nvPr/>
          </p:nvSpPr>
          <p:spPr>
            <a:xfrm>
              <a:off x="306030" y="2757234"/>
              <a:ext cx="556418" cy="556418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5"/>
            <p:cNvSpPr/>
            <p:nvPr/>
          </p:nvSpPr>
          <p:spPr>
            <a:xfrm>
              <a:off x="1168479" y="2529608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5"/>
            <p:cNvSpPr txBox="1"/>
            <p:nvPr/>
          </p:nvSpPr>
          <p:spPr>
            <a:xfrm>
              <a:off x="1168479" y="2529608"/>
              <a:ext cx="8737520" cy="10116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7050" lIns="107050" spcFirstLastPara="1" rIns="107050" wrap="square" tIns="107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Twentieth Century"/>
                <a:buNone/>
              </a:pPr>
              <a:r>
                <a:rPr b="0" i="0" lang="en-US" sz="21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The two techniques we are attempting is to send a large amount of messages to overload the network or increase the gain of the radio to send messages that overpower other messages causing them to be distorted. 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5B67"/>
            </a:gs>
            <a:gs pos="100000">
              <a:srgbClr val="151924"/>
            </a:gs>
          </a:gsLst>
          <a:lin ang="5040000" scaled="0"/>
        </a:gradFill>
      </p:bgPr>
    </p:bg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6"/>
          <p:cNvSpPr/>
          <p:nvPr/>
        </p:nvSpPr>
        <p:spPr>
          <a:xfrm>
            <a:off x="25400" y="-14287"/>
            <a:ext cx="12192000" cy="6858000"/>
          </a:xfrm>
          <a:prstGeom prst="rect">
            <a:avLst/>
          </a:prstGeom>
          <a:gradFill>
            <a:gsLst>
              <a:gs pos="0">
                <a:srgbClr val="4E5B67"/>
              </a:gs>
              <a:gs pos="100000">
                <a:srgbClr val="151924"/>
              </a:gs>
            </a:gsLst>
            <a:lin ang="504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386" name="Google Shape;386;p26"/>
          <p:cNvGrpSpPr/>
          <p:nvPr/>
        </p:nvGrpSpPr>
        <p:grpSpPr>
          <a:xfrm>
            <a:off x="-14288" y="0"/>
            <a:ext cx="1220788" cy="6858001"/>
            <a:chOff x="-14288" y="0"/>
            <a:chExt cx="1220788" cy="6858001"/>
          </a:xfrm>
        </p:grpSpPr>
        <p:sp>
          <p:nvSpPr>
            <p:cNvPr id="387" name="Google Shape;387;p26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" name="Google Shape;388;p26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" name="Google Shape;389;p26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p26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91" name="Google Shape;391;p26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6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93" name="Google Shape;393;p26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94" name="Google Shape;394;p26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" name="Google Shape;395;p26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" name="Google Shape;396;p26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397" name="Google Shape;397;p26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98" name="Google Shape;398;p26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399" name="Google Shape;399;p26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0" name="Google Shape;400;p26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1" name="Google Shape;401;p26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2" name="Google Shape;402;p26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6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26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5" name="Google Shape;405;p26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6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7" name="Google Shape;407;p26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26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09" name="Google Shape;409;p26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10" name="Google Shape;410;p26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26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6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13" name="Google Shape;413;p26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4" name="Google Shape;414;p26"/>
          <p:cNvSpPr txBox="1"/>
          <p:nvPr>
            <p:ph type="title"/>
          </p:nvPr>
        </p:nvSpPr>
        <p:spPr>
          <a:xfrm>
            <a:off x="1141413" y="1082673"/>
            <a:ext cx="2869416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/>
              <a:t>PROGRESS</a:t>
            </a:r>
            <a:endParaRPr/>
          </a:p>
        </p:txBody>
      </p:sp>
      <p:cxnSp>
        <p:nvCxnSpPr>
          <p:cNvPr id="415" name="Google Shape;415;p26"/>
          <p:cNvCxnSpPr/>
          <p:nvPr/>
        </p:nvCxnSpPr>
        <p:spPr>
          <a:xfrm>
            <a:off x="4654296" y="1454684"/>
            <a:ext cx="0" cy="3649129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6" name="Google Shape;416;p26"/>
          <p:cNvSpPr txBox="1"/>
          <p:nvPr>
            <p:ph idx="1" type="body"/>
          </p:nvPr>
        </p:nvSpPr>
        <p:spPr>
          <a:xfrm>
            <a:off x="5297763" y="1082673"/>
            <a:ext cx="5751237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Learning the OMNeT++ and Veins framework.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Learn how to operate the SUMO traffic simulator.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Get a working simulation working under normal conditions. </a:t>
            </a:r>
            <a:endParaRPr/>
          </a:p>
        </p:txBody>
      </p:sp>
      <p:grpSp>
        <p:nvGrpSpPr>
          <p:cNvPr id="417" name="Google Shape;417;p26"/>
          <p:cNvGrpSpPr/>
          <p:nvPr/>
        </p:nvGrpSpPr>
        <p:grpSpPr>
          <a:xfrm>
            <a:off x="11364912" y="0"/>
            <a:ext cx="674688" cy="6848476"/>
            <a:chOff x="11364912" y="0"/>
            <a:chExt cx="674688" cy="6848476"/>
          </a:xfrm>
        </p:grpSpPr>
        <p:sp>
          <p:nvSpPr>
            <p:cNvPr id="418" name="Google Shape;418;p26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19" name="Google Shape;419;p26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22" name="Google Shape;422;p26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26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24" name="Google Shape;424;p26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26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26" name="Google Shape;426;p26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26"/>
            <p:cNvSpPr/>
            <p:nvPr/>
          </p:nvSpPr>
          <p:spPr>
            <a:xfrm>
              <a:off x="11939587" y="6596063"/>
              <a:ext cx="23813" cy="252413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5B67"/>
            </a:gs>
            <a:gs pos="100000">
              <a:srgbClr val="151924"/>
            </a:gs>
          </a:gsLst>
          <a:lin ang="5040080" scaled="0"/>
        </a:gra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7"/>
          <p:cNvSpPr/>
          <p:nvPr/>
        </p:nvSpPr>
        <p:spPr>
          <a:xfrm>
            <a:off x="25400" y="-14287"/>
            <a:ext cx="12192000" cy="6858000"/>
          </a:xfrm>
          <a:prstGeom prst="rect">
            <a:avLst/>
          </a:prstGeom>
          <a:gradFill>
            <a:gsLst>
              <a:gs pos="0">
                <a:srgbClr val="4E5B67"/>
              </a:gs>
              <a:gs pos="100000">
                <a:srgbClr val="151924"/>
              </a:gs>
            </a:gsLst>
            <a:lin ang="504008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433" name="Google Shape;433;p27"/>
          <p:cNvGrpSpPr/>
          <p:nvPr/>
        </p:nvGrpSpPr>
        <p:grpSpPr>
          <a:xfrm>
            <a:off x="-14288" y="0"/>
            <a:ext cx="1220788" cy="6858000"/>
            <a:chOff x="-14288" y="0"/>
            <a:chExt cx="1220788" cy="6858000"/>
          </a:xfrm>
        </p:grpSpPr>
        <p:sp>
          <p:nvSpPr>
            <p:cNvPr id="434" name="Google Shape;434;p27"/>
            <p:cNvSpPr/>
            <p:nvPr/>
          </p:nvSpPr>
          <p:spPr>
            <a:xfrm>
              <a:off x="114300" y="4763"/>
              <a:ext cx="23700" cy="2181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27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27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27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38" name="Google Shape;438;p27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27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0" name="Google Shape;440;p27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1" name="Google Shape;441;p27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27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27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4" name="Google Shape;444;p27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5" name="Google Shape;445;p27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46" name="Google Shape;446;p27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7" name="Google Shape;447;p27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8" name="Google Shape;448;p27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49" name="Google Shape;449;p27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27"/>
            <p:cNvSpPr/>
            <p:nvPr/>
          </p:nvSpPr>
          <p:spPr>
            <a:xfrm>
              <a:off x="133350" y="4662488"/>
              <a:ext cx="23700" cy="2181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27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52" name="Google Shape;452;p27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27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54" name="Google Shape;454;p27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27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56" name="Google Shape;456;p27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57" name="Google Shape;457;p27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27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27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60" name="Google Shape;460;p27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1" name="Google Shape;461;p27"/>
          <p:cNvSpPr txBox="1"/>
          <p:nvPr>
            <p:ph type="title"/>
          </p:nvPr>
        </p:nvSpPr>
        <p:spPr>
          <a:xfrm>
            <a:off x="1141413" y="1082673"/>
            <a:ext cx="28695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/>
              <a:t>PROGRESS</a:t>
            </a:r>
            <a:endParaRPr/>
          </a:p>
        </p:txBody>
      </p:sp>
      <p:cxnSp>
        <p:nvCxnSpPr>
          <p:cNvPr id="462" name="Google Shape;462;p27"/>
          <p:cNvCxnSpPr/>
          <p:nvPr/>
        </p:nvCxnSpPr>
        <p:spPr>
          <a:xfrm>
            <a:off x="4654296" y="1454684"/>
            <a:ext cx="0" cy="3649200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698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463" name="Google Shape;463;p27"/>
          <p:cNvGrpSpPr/>
          <p:nvPr/>
        </p:nvGrpSpPr>
        <p:grpSpPr>
          <a:xfrm>
            <a:off x="11364912" y="0"/>
            <a:ext cx="674688" cy="6848475"/>
            <a:chOff x="11364912" y="0"/>
            <a:chExt cx="674688" cy="6848475"/>
          </a:xfrm>
        </p:grpSpPr>
        <p:sp>
          <p:nvSpPr>
            <p:cNvPr id="464" name="Google Shape;464;p27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65" name="Google Shape;465;p27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7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27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68" name="Google Shape;468;p27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7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70" name="Google Shape;470;p27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27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72" name="Google Shape;472;p27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7"/>
            <p:cNvSpPr/>
            <p:nvPr/>
          </p:nvSpPr>
          <p:spPr>
            <a:xfrm>
              <a:off x="11939587" y="6596063"/>
              <a:ext cx="23700" cy="252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74" name="Google Shape;47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1413" y="684526"/>
            <a:ext cx="8729174" cy="5727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5B67"/>
            </a:gs>
            <a:gs pos="100000">
              <a:srgbClr val="151924"/>
            </a:gs>
          </a:gsLst>
          <a:lin ang="5040080" scaled="0"/>
        </a:gra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28"/>
          <p:cNvSpPr/>
          <p:nvPr/>
        </p:nvSpPr>
        <p:spPr>
          <a:xfrm>
            <a:off x="25400" y="-14287"/>
            <a:ext cx="12192000" cy="6858000"/>
          </a:xfrm>
          <a:prstGeom prst="rect">
            <a:avLst/>
          </a:prstGeom>
          <a:gradFill>
            <a:gsLst>
              <a:gs pos="0">
                <a:srgbClr val="4E5B67"/>
              </a:gs>
              <a:gs pos="100000">
                <a:srgbClr val="151924"/>
              </a:gs>
            </a:gsLst>
            <a:lin ang="504008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480" name="Google Shape;480;p28"/>
          <p:cNvGrpSpPr/>
          <p:nvPr/>
        </p:nvGrpSpPr>
        <p:grpSpPr>
          <a:xfrm>
            <a:off x="-14288" y="0"/>
            <a:ext cx="1220788" cy="6858000"/>
            <a:chOff x="-14288" y="0"/>
            <a:chExt cx="1220788" cy="6858000"/>
          </a:xfrm>
        </p:grpSpPr>
        <p:sp>
          <p:nvSpPr>
            <p:cNvPr id="481" name="Google Shape;481;p28"/>
            <p:cNvSpPr/>
            <p:nvPr/>
          </p:nvSpPr>
          <p:spPr>
            <a:xfrm>
              <a:off x="114300" y="4763"/>
              <a:ext cx="23700" cy="2181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28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28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28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85" name="Google Shape;485;p28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28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87" name="Google Shape;487;p28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88" name="Google Shape;488;p28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28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28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91" name="Google Shape;491;p28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92" name="Google Shape;492;p28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493" name="Google Shape;493;p28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94" name="Google Shape;494;p28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95" name="Google Shape;495;p28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96" name="Google Shape;496;p28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28"/>
            <p:cNvSpPr/>
            <p:nvPr/>
          </p:nvSpPr>
          <p:spPr>
            <a:xfrm>
              <a:off x="133350" y="4662488"/>
              <a:ext cx="23700" cy="2181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28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499" name="Google Shape;499;p28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28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01" name="Google Shape;501;p28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28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03" name="Google Shape;503;p28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04" name="Google Shape;504;p28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28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28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07" name="Google Shape;507;p28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28"/>
          <p:cNvSpPr txBox="1"/>
          <p:nvPr>
            <p:ph type="title"/>
          </p:nvPr>
        </p:nvSpPr>
        <p:spPr>
          <a:xfrm>
            <a:off x="1141413" y="1082673"/>
            <a:ext cx="2869500" cy="470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Twentieth Century"/>
              <a:buNone/>
            </a:pPr>
            <a:r>
              <a:rPr lang="en-US" sz="4000"/>
              <a:t>PROGRESS</a:t>
            </a:r>
            <a:endParaRPr/>
          </a:p>
        </p:txBody>
      </p:sp>
      <p:cxnSp>
        <p:nvCxnSpPr>
          <p:cNvPr id="509" name="Google Shape;509;p28"/>
          <p:cNvCxnSpPr/>
          <p:nvPr/>
        </p:nvCxnSpPr>
        <p:spPr>
          <a:xfrm>
            <a:off x="4654296" y="1454684"/>
            <a:ext cx="0" cy="3649200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69800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510" name="Google Shape;510;p28"/>
          <p:cNvGrpSpPr/>
          <p:nvPr/>
        </p:nvGrpSpPr>
        <p:grpSpPr>
          <a:xfrm>
            <a:off x="11364912" y="0"/>
            <a:ext cx="674688" cy="6848475"/>
            <a:chOff x="11364912" y="0"/>
            <a:chExt cx="674688" cy="6848475"/>
          </a:xfrm>
        </p:grpSpPr>
        <p:sp>
          <p:nvSpPr>
            <p:cNvPr id="511" name="Google Shape;511;p28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12" name="Google Shape;512;p28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8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28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15" name="Google Shape;515;p28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8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17" name="Google Shape;517;p28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28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19" name="Google Shape;519;p28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28"/>
            <p:cNvSpPr/>
            <p:nvPr/>
          </p:nvSpPr>
          <p:spPr>
            <a:xfrm>
              <a:off x="11939587" y="6596063"/>
              <a:ext cx="23700" cy="252300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1" name="Google Shape;521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7914"/>
            <a:ext cx="12192000" cy="6782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29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WORK TO BE DONE</a:t>
            </a:r>
            <a:endParaRPr/>
          </a:p>
        </p:txBody>
      </p:sp>
      <p:grpSp>
        <p:nvGrpSpPr>
          <p:cNvPr id="527" name="Google Shape;527;p29"/>
          <p:cNvGrpSpPr/>
          <p:nvPr/>
        </p:nvGrpSpPr>
        <p:grpSpPr>
          <a:xfrm>
            <a:off x="1195038" y="2490343"/>
            <a:ext cx="9798750" cy="3060001"/>
            <a:chOff x="53625" y="240855"/>
            <a:chExt cx="9798750" cy="3060001"/>
          </a:xfrm>
        </p:grpSpPr>
        <p:sp>
          <p:nvSpPr>
            <p:cNvPr id="528" name="Google Shape;528;p29"/>
            <p:cNvSpPr/>
            <p:nvPr/>
          </p:nvSpPr>
          <p:spPr>
            <a:xfrm>
              <a:off x="624000" y="240855"/>
              <a:ext cx="1784250" cy="1784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E77F4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29"/>
            <p:cNvSpPr/>
            <p:nvPr/>
          </p:nvSpPr>
          <p:spPr>
            <a:xfrm>
              <a:off x="1004250" y="621105"/>
              <a:ext cx="1023750" cy="102375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9"/>
            <p:cNvSpPr/>
            <p:nvPr/>
          </p:nvSpPr>
          <p:spPr>
            <a:xfrm>
              <a:off x="53625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9"/>
            <p:cNvSpPr txBox="1"/>
            <p:nvPr/>
          </p:nvSpPr>
          <p:spPr>
            <a:xfrm>
              <a:off x="53625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GET A WORKING RSU INSIDE OF THE SIMULATION.</a:t>
              </a:r>
              <a:endParaRPr/>
            </a:p>
          </p:txBody>
        </p:sp>
        <p:sp>
          <p:nvSpPr>
            <p:cNvPr id="532" name="Google Shape;532;p29"/>
            <p:cNvSpPr/>
            <p:nvPr/>
          </p:nvSpPr>
          <p:spPr>
            <a:xfrm>
              <a:off x="4060875" y="240855"/>
              <a:ext cx="1784250" cy="1784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D5CE4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9"/>
            <p:cNvSpPr/>
            <p:nvPr/>
          </p:nvSpPr>
          <p:spPr>
            <a:xfrm>
              <a:off x="4441125" y="621105"/>
              <a:ext cx="1023750" cy="1023750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9"/>
            <p:cNvSpPr/>
            <p:nvPr/>
          </p:nvSpPr>
          <p:spPr>
            <a:xfrm>
              <a:off x="3490500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9"/>
            <p:cNvSpPr txBox="1"/>
            <p:nvPr/>
          </p:nvSpPr>
          <p:spPr>
            <a:xfrm>
              <a:off x="3490500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PROGRAM THE DDOS ATTACK INTO THE SIMULATION. </a:t>
              </a:r>
              <a:endParaRPr/>
            </a:p>
          </p:txBody>
        </p:sp>
        <p:sp>
          <p:nvSpPr>
            <p:cNvPr id="536" name="Google Shape;536;p29"/>
            <p:cNvSpPr/>
            <p:nvPr/>
          </p:nvSpPr>
          <p:spPr>
            <a:xfrm>
              <a:off x="7497750" y="240855"/>
              <a:ext cx="1784250" cy="1784250"/>
            </a:xfrm>
            <a:prstGeom prst="round2DiagRect">
              <a:avLst>
                <a:gd fmla="val 29727" name="adj1"/>
                <a:gd fmla="val 0" name="adj2"/>
              </a:avLst>
            </a:prstGeom>
            <a:solidFill>
              <a:srgbClr val="82C24E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9"/>
            <p:cNvSpPr/>
            <p:nvPr/>
          </p:nvSpPr>
          <p:spPr>
            <a:xfrm>
              <a:off x="7878000" y="621105"/>
              <a:ext cx="1023750" cy="1023750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9"/>
            <p:cNvSpPr/>
            <p:nvPr/>
          </p:nvSpPr>
          <p:spPr>
            <a:xfrm>
              <a:off x="6927375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9"/>
            <p:cNvSpPr txBox="1"/>
            <p:nvPr/>
          </p:nvSpPr>
          <p:spPr>
            <a:xfrm>
              <a:off x="6927375" y="2580856"/>
              <a:ext cx="2925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900"/>
                <a:buFont typeface="Twentieth Century"/>
                <a:buNone/>
              </a:pPr>
              <a:r>
                <a:rPr b="0" i="0" lang="en-US" sz="1900" u="none" cap="none" strike="noStrike">
                  <a:solidFill>
                    <a:schemeClr val="lt1"/>
                  </a:solidFill>
                  <a:latin typeface="Twentieth Century"/>
                  <a:ea typeface="Twentieth Century"/>
                  <a:cs typeface="Twentieth Century"/>
                  <a:sym typeface="Twentieth Century"/>
                </a:rPr>
                <a:t>EXPERIMENT WITH THE MESSAGES AND THE GAIN OF THE RADIOS. </a:t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gradFill>
          <a:gsLst>
            <a:gs pos="0">
              <a:srgbClr val="4E5B67"/>
            </a:gs>
            <a:gs pos="100000">
              <a:srgbClr val="151924"/>
            </a:gs>
          </a:gsLst>
          <a:lin ang="5040000" scaled="0"/>
        </a:gradFill>
      </p:bgPr>
    </p:bg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0"/>
          <p:cNvSpPr/>
          <p:nvPr/>
        </p:nvSpPr>
        <p:spPr>
          <a:xfrm>
            <a:off x="25400" y="-14287"/>
            <a:ext cx="12192000" cy="6858000"/>
          </a:xfrm>
          <a:prstGeom prst="rect">
            <a:avLst/>
          </a:prstGeom>
          <a:gradFill>
            <a:gsLst>
              <a:gs pos="0">
                <a:srgbClr val="4E5B67"/>
              </a:gs>
              <a:gs pos="100000">
                <a:srgbClr val="151924"/>
              </a:gs>
            </a:gsLst>
            <a:lin ang="504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grpSp>
        <p:nvGrpSpPr>
          <p:cNvPr id="545" name="Google Shape;545;p30"/>
          <p:cNvGrpSpPr/>
          <p:nvPr/>
        </p:nvGrpSpPr>
        <p:grpSpPr>
          <a:xfrm>
            <a:off x="-14288" y="0"/>
            <a:ext cx="1220788" cy="6858001"/>
            <a:chOff x="-14288" y="0"/>
            <a:chExt cx="1220788" cy="6858001"/>
          </a:xfrm>
        </p:grpSpPr>
        <p:sp>
          <p:nvSpPr>
            <p:cNvPr id="546" name="Google Shape;546;p30"/>
            <p:cNvSpPr/>
            <p:nvPr/>
          </p:nvSpPr>
          <p:spPr>
            <a:xfrm>
              <a:off x="114300" y="4763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0"/>
            <p:cNvSpPr/>
            <p:nvPr/>
          </p:nvSpPr>
          <p:spPr>
            <a:xfrm>
              <a:off x="33337" y="217646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0"/>
            <p:cNvSpPr/>
            <p:nvPr/>
          </p:nvSpPr>
          <p:spPr>
            <a:xfrm>
              <a:off x="28575" y="4021138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0"/>
            <p:cNvSpPr/>
            <p:nvPr/>
          </p:nvSpPr>
          <p:spPr>
            <a:xfrm>
              <a:off x="200025" y="4763"/>
              <a:ext cx="369888" cy="1811338"/>
            </a:xfrm>
            <a:custGeom>
              <a:rect b="b" l="l" r="r" t="t"/>
              <a:pathLst>
                <a:path extrusionOk="0" h="1141" w="233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50" name="Google Shape;550;p30"/>
            <p:cNvSpPr/>
            <p:nvPr/>
          </p:nvSpPr>
          <p:spPr>
            <a:xfrm>
              <a:off x="503237" y="1801813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0"/>
            <p:cNvSpPr/>
            <p:nvPr/>
          </p:nvSpPr>
          <p:spPr>
            <a:xfrm>
              <a:off x="285750" y="4763"/>
              <a:ext cx="369888" cy="1430338"/>
            </a:xfrm>
            <a:custGeom>
              <a:rect b="b" l="l" r="r" t="t"/>
              <a:pathLst>
                <a:path extrusionOk="0" h="901" w="233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52" name="Google Shape;552;p30"/>
            <p:cNvSpPr/>
            <p:nvPr/>
          </p:nvSpPr>
          <p:spPr>
            <a:xfrm>
              <a:off x="546100" y="0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53" name="Google Shape;553;p30"/>
            <p:cNvSpPr/>
            <p:nvPr/>
          </p:nvSpPr>
          <p:spPr>
            <a:xfrm>
              <a:off x="588962" y="14208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0"/>
            <p:cNvSpPr/>
            <p:nvPr/>
          </p:nvSpPr>
          <p:spPr>
            <a:xfrm>
              <a:off x="588962" y="9032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0"/>
            <p:cNvSpPr/>
            <p:nvPr/>
          </p:nvSpPr>
          <p:spPr>
            <a:xfrm>
              <a:off x="641350" y="0"/>
              <a:ext cx="422275" cy="527050"/>
            </a:xfrm>
            <a:custGeom>
              <a:rect b="b" l="l" r="r" t="t"/>
              <a:pathLst>
                <a:path extrusionOk="0" h="332" w="266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56" name="Google Shape;556;p30"/>
            <p:cNvSpPr/>
            <p:nvPr/>
          </p:nvSpPr>
          <p:spPr>
            <a:xfrm>
              <a:off x="1020762" y="488950"/>
              <a:ext cx="161925" cy="147638"/>
            </a:xfrm>
            <a:custGeom>
              <a:rect b="b" l="l" r="r" t="t"/>
              <a:pathLst>
                <a:path extrusionOk="0" h="31" w="34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557" name="Google Shape;557;p30"/>
            <p:cNvCxnSpPr/>
            <p:nvPr/>
          </p:nvCxnSpPr>
          <p:spPr>
            <a:xfrm>
              <a:off x="-4763" y="9525"/>
              <a:ext cx="0" cy="0"/>
            </a:xfrm>
            <a:prstGeom prst="straightConnector1">
              <a:avLst/>
            </a:prstGeom>
            <a:solidFill>
              <a:schemeClr val="lt1">
                <a:alpha val="60000"/>
              </a:schemeClr>
            </a:solidFill>
            <a:ln cap="flat" cmpd="sng" w="9525">
              <a:solidFill>
                <a:srgbClr val="FFFFFF"/>
              </a:solidFill>
              <a:prstDash val="solid"/>
              <a:miter lim="800000"/>
              <a:headEnd len="med" w="med" type="none"/>
              <a:tailEnd len="med" w="med" type="none"/>
            </a:ln>
          </p:spPr>
        </p:cxnSp>
        <p:sp>
          <p:nvSpPr>
            <p:cNvPr id="558" name="Google Shape;558;p30"/>
            <p:cNvSpPr/>
            <p:nvPr/>
          </p:nvSpPr>
          <p:spPr>
            <a:xfrm>
              <a:off x="9525" y="1801813"/>
              <a:ext cx="123825" cy="127000"/>
            </a:xfrm>
            <a:custGeom>
              <a:rect b="b" l="l" r="r" t="t"/>
              <a:pathLst>
                <a:path extrusionOk="0" h="80" w="78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59" name="Google Shape;559;p30"/>
            <p:cNvSpPr/>
            <p:nvPr/>
          </p:nvSpPr>
          <p:spPr>
            <a:xfrm>
              <a:off x="-9525" y="3549650"/>
              <a:ext cx="147638" cy="481013"/>
            </a:xfrm>
            <a:custGeom>
              <a:rect b="b" l="l" r="r" t="t"/>
              <a:pathLst>
                <a:path extrusionOk="0" h="303" w="9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0" name="Google Shape;560;p30"/>
            <p:cNvSpPr/>
            <p:nvPr/>
          </p:nvSpPr>
          <p:spPr>
            <a:xfrm>
              <a:off x="128587" y="1382713"/>
              <a:ext cx="142875" cy="476250"/>
            </a:xfrm>
            <a:custGeom>
              <a:rect b="b" l="l" r="r" t="t"/>
              <a:pathLst>
                <a:path extrusionOk="0" h="300" w="9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1" name="Google Shape;561;p30"/>
            <p:cNvSpPr/>
            <p:nvPr/>
          </p:nvSpPr>
          <p:spPr>
            <a:xfrm>
              <a:off x="204787" y="1849438"/>
              <a:ext cx="114300" cy="107950"/>
            </a:xfrm>
            <a:custGeom>
              <a:rect b="b" l="l" r="r" t="t"/>
              <a:pathLst>
                <a:path extrusionOk="0" h="23" w="24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0"/>
            <p:cNvSpPr/>
            <p:nvPr/>
          </p:nvSpPr>
          <p:spPr>
            <a:xfrm>
              <a:off x="133350" y="4662488"/>
              <a:ext cx="23813" cy="2181225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0"/>
            <p:cNvSpPr/>
            <p:nvPr/>
          </p:nvSpPr>
          <p:spPr>
            <a:xfrm>
              <a:off x="223837" y="5041900"/>
              <a:ext cx="369888" cy="1801813"/>
            </a:xfrm>
            <a:custGeom>
              <a:rect b="b" l="l" r="r" t="t"/>
              <a:pathLst>
                <a:path extrusionOk="0" h="1135" w="233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4" name="Google Shape;564;p30"/>
            <p:cNvSpPr/>
            <p:nvPr/>
          </p:nvSpPr>
          <p:spPr>
            <a:xfrm>
              <a:off x="52387" y="44815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0"/>
            <p:cNvSpPr/>
            <p:nvPr/>
          </p:nvSpPr>
          <p:spPr>
            <a:xfrm>
              <a:off x="-14288" y="5627688"/>
              <a:ext cx="85725" cy="1216025"/>
            </a:xfrm>
            <a:custGeom>
              <a:rect b="b" l="l" r="r" t="t"/>
              <a:pathLst>
                <a:path extrusionOk="0" h="766" w="54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6" name="Google Shape;566;p30"/>
            <p:cNvSpPr/>
            <p:nvPr/>
          </p:nvSpPr>
          <p:spPr>
            <a:xfrm>
              <a:off x="527050" y="48672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0"/>
            <p:cNvSpPr/>
            <p:nvPr/>
          </p:nvSpPr>
          <p:spPr>
            <a:xfrm>
              <a:off x="309562" y="5422900"/>
              <a:ext cx="374650" cy="1425575"/>
            </a:xfrm>
            <a:custGeom>
              <a:rect b="b" l="l" r="r" t="t"/>
              <a:pathLst>
                <a:path extrusionOk="0" h="898" w="236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8" name="Google Shape;568;p30"/>
            <p:cNvSpPr/>
            <p:nvPr/>
          </p:nvSpPr>
          <p:spPr>
            <a:xfrm>
              <a:off x="569912" y="5945188"/>
              <a:ext cx="152400" cy="912813"/>
            </a:xfrm>
            <a:custGeom>
              <a:rect b="b" l="l" r="r" t="t"/>
              <a:pathLst>
                <a:path extrusionOk="0" h="575" w="96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69" name="Google Shape;569;p30"/>
            <p:cNvSpPr/>
            <p:nvPr/>
          </p:nvSpPr>
          <p:spPr>
            <a:xfrm>
              <a:off x="612775" y="5246688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0"/>
            <p:cNvSpPr/>
            <p:nvPr/>
          </p:nvSpPr>
          <p:spPr>
            <a:xfrm>
              <a:off x="612775" y="5764213"/>
              <a:ext cx="190500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0"/>
            <p:cNvSpPr/>
            <p:nvPr/>
          </p:nvSpPr>
          <p:spPr>
            <a:xfrm>
              <a:off x="669925" y="6330950"/>
              <a:ext cx="417513" cy="517525"/>
            </a:xfrm>
            <a:custGeom>
              <a:rect b="b" l="l" r="r" t="t"/>
              <a:pathLst>
                <a:path extrusionOk="0" h="326" w="263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72" name="Google Shape;572;p30"/>
            <p:cNvSpPr/>
            <p:nvPr/>
          </p:nvSpPr>
          <p:spPr>
            <a:xfrm>
              <a:off x="1049337" y="6221413"/>
              <a:ext cx="157163" cy="147638"/>
            </a:xfrm>
            <a:custGeom>
              <a:rect b="b" l="l" r="r" t="t"/>
              <a:pathLst>
                <a:path extrusionOk="0" h="31" w="33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3" name="Google Shape;573;p30"/>
          <p:cNvSpPr txBox="1"/>
          <p:nvPr>
            <p:ph type="title"/>
          </p:nvPr>
        </p:nvSpPr>
        <p:spPr>
          <a:xfrm>
            <a:off x="1141413" y="1082673"/>
            <a:ext cx="2869416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wentieth Century"/>
              <a:buNone/>
            </a:pPr>
            <a:r>
              <a:rPr lang="en-US" sz="3400"/>
              <a:t>ISSUES ENCOUNTERED</a:t>
            </a:r>
            <a:endParaRPr/>
          </a:p>
        </p:txBody>
      </p:sp>
      <p:cxnSp>
        <p:nvCxnSpPr>
          <p:cNvPr id="574" name="Google Shape;574;p30"/>
          <p:cNvCxnSpPr/>
          <p:nvPr/>
        </p:nvCxnSpPr>
        <p:spPr>
          <a:xfrm>
            <a:off x="4654296" y="1454684"/>
            <a:ext cx="0" cy="3649129"/>
          </a:xfrm>
          <a:prstGeom prst="straightConnector1">
            <a:avLst/>
          </a:prstGeom>
          <a:noFill/>
          <a:ln cap="flat" cmpd="sng" w="25400">
            <a:solidFill>
              <a:schemeClr val="lt1">
                <a:alpha val="69803"/>
              </a:schemeClr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0"/>
          <p:cNvSpPr txBox="1"/>
          <p:nvPr>
            <p:ph idx="1" type="body"/>
          </p:nvPr>
        </p:nvSpPr>
        <p:spPr>
          <a:xfrm>
            <a:off x="5297763" y="1082673"/>
            <a:ext cx="5751237" cy="47085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Not a lot of documentation for using Veins.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OMNeT++ is not very straight forward. 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50"/>
              <a:buChar char="•"/>
            </a:pPr>
            <a:r>
              <a:rPr lang="en-US" sz="1800"/>
              <a:t>Limited knowledge with radios.</a:t>
            </a:r>
            <a:endParaRPr/>
          </a:p>
        </p:txBody>
      </p:sp>
      <p:grpSp>
        <p:nvGrpSpPr>
          <p:cNvPr id="576" name="Google Shape;576;p30"/>
          <p:cNvGrpSpPr/>
          <p:nvPr/>
        </p:nvGrpSpPr>
        <p:grpSpPr>
          <a:xfrm>
            <a:off x="11364912" y="0"/>
            <a:ext cx="674688" cy="6848476"/>
            <a:chOff x="11364912" y="0"/>
            <a:chExt cx="674688" cy="6848476"/>
          </a:xfrm>
        </p:grpSpPr>
        <p:sp>
          <p:nvSpPr>
            <p:cNvPr id="577" name="Google Shape;577;p30"/>
            <p:cNvSpPr/>
            <p:nvPr/>
          </p:nvSpPr>
          <p:spPr>
            <a:xfrm>
              <a:off x="11483975" y="0"/>
              <a:ext cx="417513" cy="512763"/>
            </a:xfrm>
            <a:custGeom>
              <a:rect b="b" l="l" r="r" t="t"/>
              <a:pathLst>
                <a:path extrusionOk="0" h="323" w="26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78" name="Google Shape;578;p30"/>
            <p:cNvSpPr/>
            <p:nvPr/>
          </p:nvSpPr>
          <p:spPr>
            <a:xfrm>
              <a:off x="11364912" y="474663"/>
              <a:ext cx="157163" cy="152400"/>
            </a:xfrm>
            <a:custGeom>
              <a:rect b="b" l="l" r="r" t="t"/>
              <a:pathLst>
                <a:path extrusionOk="0" h="32" w="33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0"/>
            <p:cNvSpPr/>
            <p:nvPr/>
          </p:nvSpPr>
          <p:spPr>
            <a:xfrm>
              <a:off x="11631612" y="1539875"/>
              <a:ext cx="188913" cy="190500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0"/>
            <p:cNvSpPr/>
            <p:nvPr/>
          </p:nvSpPr>
          <p:spPr>
            <a:xfrm>
              <a:off x="11531600" y="5694363"/>
              <a:ext cx="298450" cy="1154113"/>
            </a:xfrm>
            <a:custGeom>
              <a:rect b="b" l="l" r="r" t="t"/>
              <a:pathLst>
                <a:path extrusionOk="0" h="727" w="188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81" name="Google Shape;581;p30"/>
            <p:cNvSpPr/>
            <p:nvPr/>
          </p:nvSpPr>
          <p:spPr>
            <a:xfrm>
              <a:off x="11772900" y="5551488"/>
              <a:ext cx="157163" cy="155575"/>
            </a:xfrm>
            <a:custGeom>
              <a:rect b="b" l="l" r="r" t="t"/>
              <a:pathLst>
                <a:path extrusionOk="0" h="33" w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0"/>
            <p:cNvSpPr/>
            <p:nvPr/>
          </p:nvSpPr>
          <p:spPr>
            <a:xfrm>
              <a:off x="11710987" y="4763"/>
              <a:ext cx="304800" cy="1544638"/>
            </a:xfrm>
            <a:custGeom>
              <a:rect b="b" l="l" r="r" t="t"/>
              <a:pathLst>
                <a:path extrusionOk="0" h="973" w="192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83" name="Google Shape;583;p30"/>
            <p:cNvSpPr/>
            <p:nvPr/>
          </p:nvSpPr>
          <p:spPr>
            <a:xfrm>
              <a:off x="11636375" y="4867275"/>
              <a:ext cx="188913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0"/>
            <p:cNvSpPr/>
            <p:nvPr/>
          </p:nvSpPr>
          <p:spPr>
            <a:xfrm>
              <a:off x="11441112" y="5046663"/>
              <a:ext cx="307975" cy="1801813"/>
            </a:xfrm>
            <a:custGeom>
              <a:rect b="b" l="l" r="r" t="t"/>
              <a:pathLst>
                <a:path extrusionOk="0" h="1135" w="194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</p:sp>
        <p:sp>
          <p:nvSpPr>
            <p:cNvPr id="585" name="Google Shape;585;p30"/>
            <p:cNvSpPr/>
            <p:nvPr/>
          </p:nvSpPr>
          <p:spPr>
            <a:xfrm>
              <a:off x="11849100" y="6416675"/>
              <a:ext cx="190500" cy="188913"/>
            </a:xfrm>
            <a:custGeom>
              <a:rect b="b" l="l" r="r" t="t"/>
              <a:pathLst>
                <a:path extrusionOk="0" h="40" w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0"/>
            <p:cNvSpPr/>
            <p:nvPr/>
          </p:nvSpPr>
          <p:spPr>
            <a:xfrm>
              <a:off x="11939587" y="6596063"/>
              <a:ext cx="23813" cy="252413"/>
            </a:xfrm>
            <a:prstGeom prst="rect">
              <a:avLst/>
            </a:pr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1"/>
          <p:cNvSpPr txBox="1"/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/>
              <a:t>REFERENCES</a:t>
            </a:r>
            <a:endParaRPr/>
          </a:p>
        </p:txBody>
      </p:sp>
      <p:sp>
        <p:nvSpPr>
          <p:cNvPr id="592" name="Google Shape;592;p31"/>
          <p:cNvSpPr txBox="1"/>
          <p:nvPr>
            <p:ph idx="1" type="body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https://en.wikipedia.org/wiki/Dedicated_short-range_communications</a:t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https://www.extremetech.com/extreme/176093-v2v-what-are-vehicle-to-vehicle-communications-and-how-does-it-work</a:t>
            </a:r>
            <a:endParaRPr/>
          </a:p>
          <a:p>
            <a:pPr indent="-381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