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17"/>
      <p:bold r:id="rId18"/>
      <p:italic r:id="rId19"/>
      <p:boldItalic r:id="rId20"/>
    </p:embeddedFont>
    <p:embeddedFont>
      <p:font typeface="Gill Sans" panose="020B0604020202020204" charset="0"/>
      <p:regular r:id="rId21"/>
      <p:bold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B5FA55-2709-475E-9926-66A940C91A77}">
  <a:tblStyle styleId="{29B5FA55-2709-475E-9926-66A940C91A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0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2076819138_9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12076819138_9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2076819138_9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12076819138_9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207681913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207681913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076819138_9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12076819138_9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212258ed2e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212258ed2e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207681913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207681913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07681913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207681913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Clr>
                <a:srgbClr val="903163"/>
              </a:buClr>
              <a:buSzPts val="1600"/>
              <a:buFont typeface="Noto Sans Symbols"/>
              <a:buChar char="◼"/>
            </a:pPr>
            <a:r>
              <a:rPr lang="en" sz="18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Obtain understanding of data poisoning techniques and fundamentals</a:t>
            </a:r>
            <a:endParaRPr sz="18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903163"/>
              </a:buClr>
              <a:buSzPts val="1600"/>
              <a:buFont typeface="Noto Sans Symbols"/>
              <a:buChar char="◼"/>
            </a:pPr>
            <a:r>
              <a:rPr lang="en" sz="18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Apply techniques to kaggle dataset</a:t>
            </a:r>
            <a:endParaRPr sz="18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903163"/>
              </a:buClr>
              <a:buSzPts val="1600"/>
              <a:buFont typeface="Noto Sans Symbols"/>
              <a:buChar char="◼"/>
            </a:pPr>
            <a:r>
              <a:rPr lang="en" sz="18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Understand parameters of drebin dataset</a:t>
            </a:r>
            <a:endParaRPr sz="18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903163"/>
              </a:buClr>
              <a:buSzPts val="1600"/>
              <a:buFont typeface="Noto Sans Symbols"/>
              <a:buChar char="◼"/>
            </a:pPr>
            <a:r>
              <a:rPr lang="en" sz="18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Identify weaknesses in the dataset</a:t>
            </a:r>
            <a:endParaRPr sz="18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903163"/>
              </a:buClr>
              <a:buSzPts val="1600"/>
              <a:buFont typeface="Noto Sans Symbols"/>
              <a:buChar char="◼"/>
            </a:pPr>
            <a:r>
              <a:rPr lang="en" sz="18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Try to poison the drebin dataset</a:t>
            </a:r>
            <a:endParaRPr sz="18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903163"/>
              </a:buClr>
              <a:buSzPts val="1600"/>
              <a:buFont typeface="Noto Sans Symbols"/>
              <a:buChar char="◼"/>
            </a:pPr>
            <a:r>
              <a:rPr lang="en" sz="18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Take our learning and identify prevention to known poisoning attacks</a:t>
            </a:r>
            <a:endParaRPr sz="18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Previous slide ^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wanted to have a good idea about what our plan was from the beginning, and create a schedule we could follow. So this shows our progress and timeline for the work done so far.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completed work on understanding data poisoning, simple datasets, learning from that the parameters to target, and then methods to target those parameters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still in progress for that last bit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looking forward to identifying ways in which we can prevent this happening to other models and datasets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eventually we will summarize our research in a report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20da7824e8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20da7824e8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Before we could do our own research we had to get a background of previous work done in our topic.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AutoNum type="arabicPeriod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Rosenberg et. al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compiles the latest list of possible attacks against machine learning algorithms and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possible defenses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For example it goes through blackbox based attacks for facial recognition and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fingerprinting and also adversarial attacks to generate fake data.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AutoNum type="arabicPeriod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Severio Giogio et. al.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goes through effective attacks on ML models specifically using PDFs and PeX files as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inputs.  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goes through effective ways on how to disguise malicious code in a format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where the models are not able to easily recognize the features and think it is a harmless file.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goes through ways of defending against such attacks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AutoNum type="arabicPeriod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Mehra, Aksahy et al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focuses on defense and goes through the randomized smoothing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technique. 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this technique makes it a harder to poison data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It isn’t poison proof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They were able to poison a dataset with imperceptible changes.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4. 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looked at the concept of a shapley value as introduced by Lloyd Shapley.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050"/>
              <a:buChar char="-"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A shapley value is used in machine learning to help identify the contribution an individual feature has towards the model.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our project mainly attempts to test these ideas on real datasets of malicious software. Our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project will clarify the real threat that adversaries can have by poisoning datasets that are in use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FFFFF"/>
                </a:highlight>
              </a:rPr>
              <a:t>by actors that identify malicious software.</a:t>
            </a:r>
            <a:endParaRPr sz="10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2076819138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2076819138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076819138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2076819138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207681913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2076819138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20da7824e8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20da7824e8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207681913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207681913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34900" y="2314324"/>
            <a:ext cx="8447100" cy="24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  <a:defRPr sz="27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435896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spcBef>
                <a:spcPts val="200"/>
              </a:spcBef>
              <a:spcAft>
                <a:spcPts val="0"/>
              </a:spcAft>
              <a:buSzPts val="1100"/>
              <a:buNone/>
              <a:defRPr sz="1200" cap="none">
                <a:solidFill>
                  <a:schemeClr val="accent2"/>
                </a:solidFill>
              </a:defRPr>
            </a:lvl1pPr>
            <a:lvl2pPr lvl="1" algn="ctr" rtl="0">
              <a:spcBef>
                <a:spcPts val="5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5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500"/>
              </a:spcBef>
              <a:spcAft>
                <a:spcPts val="500"/>
              </a:spcAft>
              <a:buSzPts val="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6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335863" y="3856481"/>
            <a:ext cx="84681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35895" y="2282933"/>
            <a:ext cx="82722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  <a:defRPr sz="2700" b="0" cap="none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spcBef>
                <a:spcPts val="300"/>
              </a:spcBef>
              <a:spcAft>
                <a:spcPts val="0"/>
              </a:spcAft>
              <a:buSzPts val="1200"/>
              <a:buNone/>
              <a:defRPr sz="1400" cap="none">
                <a:solidFill>
                  <a:schemeClr val="accent2"/>
                </a:solidFill>
              </a:defRPr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500"/>
              </a:spcBef>
              <a:spcAft>
                <a:spcPts val="50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334486" y="454915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435895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2"/>
          </p:nvPr>
        </p:nvSpPr>
        <p:spPr>
          <a:xfrm>
            <a:off x="4641313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334486" y="454915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665414" y="1688169"/>
            <a:ext cx="3815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spcBef>
                <a:spcPts val="300"/>
              </a:spcBef>
              <a:spcAft>
                <a:spcPts val="0"/>
              </a:spcAft>
              <a:buSzPts val="1500"/>
              <a:buNone/>
              <a:defRPr sz="1700" b="0">
                <a:solidFill>
                  <a:schemeClr val="accent2"/>
                </a:solidFill>
              </a:defRPr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5pPr>
            <a:lvl6pPr marL="2743200" lvl="5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6pPr>
            <a:lvl7pPr marL="3200400" lvl="6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7pPr>
            <a:lvl8pPr marL="3657600" lvl="7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8pPr>
            <a:lvl9pPr marL="4114800" lvl="8" indent="-228600" algn="l" rtl="0">
              <a:spcBef>
                <a:spcPts val="500"/>
              </a:spcBef>
              <a:spcAft>
                <a:spcPts val="500"/>
              </a:spcAft>
              <a:buSzPts val="1100"/>
              <a:buNone/>
              <a:defRPr sz="1200" b="1"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2"/>
          </p:nvPr>
        </p:nvSpPr>
        <p:spPr>
          <a:xfrm>
            <a:off x="435896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3"/>
          </p:nvPr>
        </p:nvSpPr>
        <p:spPr>
          <a:xfrm>
            <a:off x="4892801" y="1688169"/>
            <a:ext cx="38154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spcBef>
                <a:spcPts val="300"/>
              </a:spcBef>
              <a:spcAft>
                <a:spcPts val="0"/>
              </a:spcAft>
              <a:buSzPts val="1500"/>
              <a:buNone/>
              <a:defRPr sz="1700" b="0">
                <a:solidFill>
                  <a:schemeClr val="accent2"/>
                </a:solidFill>
              </a:defRPr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5pPr>
            <a:lvl6pPr marL="2743200" lvl="5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6pPr>
            <a:lvl7pPr marL="3200400" lvl="6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7pPr>
            <a:lvl8pPr marL="3657600" lvl="7" indent="-228600" algn="l" rtl="0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8pPr>
            <a:lvl9pPr marL="4114800" lvl="8" indent="-228600" algn="l" rtl="0">
              <a:spcBef>
                <a:spcPts val="500"/>
              </a:spcBef>
              <a:spcAft>
                <a:spcPts val="500"/>
              </a:spcAft>
              <a:buSzPts val="1100"/>
              <a:buNone/>
              <a:defRPr sz="1200" b="1"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4"/>
          </p:nvPr>
        </p:nvSpPr>
        <p:spPr>
          <a:xfrm>
            <a:off x="4663282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330512" y="454915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431921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335863" y="3856480"/>
            <a:ext cx="8473800" cy="9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435894" y="3946722"/>
            <a:ext cx="3682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9F276A"/>
              </a:buClr>
              <a:buSzPts val="1500"/>
              <a:buFont typeface="Gill Sans"/>
              <a:buNone/>
              <a:defRPr sz="1500" b="0"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335862" y="450900"/>
            <a:ext cx="8469600" cy="3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17500" algn="l" rtl="0"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500">
                <a:solidFill>
                  <a:schemeClr val="dk2"/>
                </a:solidFill>
              </a:defRPr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 sz="1400">
                <a:solidFill>
                  <a:schemeClr val="dk2"/>
                </a:solidFill>
              </a:defRPr>
            </a:lvl2pPr>
            <a:lvl3pPr marL="1371600" lvl="2" indent="-298450" algn="l" rtl="0">
              <a:spcBef>
                <a:spcPts val="500"/>
              </a:spcBef>
              <a:spcAft>
                <a:spcPts val="0"/>
              </a:spcAft>
              <a:buSzPts val="1100"/>
              <a:buChar char="◼"/>
              <a:defRPr sz="1200">
                <a:solidFill>
                  <a:schemeClr val="dk2"/>
                </a:solidFill>
              </a:defRPr>
            </a:lvl3pPr>
            <a:lvl4pPr marL="1828800" lvl="3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4pPr>
            <a:lvl5pPr marL="2286000" lvl="4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5pPr>
            <a:lvl6pPr marL="2743200" lvl="5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6pPr>
            <a:lvl7pPr marL="3200400" lvl="6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7pPr>
            <a:lvl8pPr marL="3657600" lvl="7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8pPr>
            <a:lvl9pPr marL="4114800" lvl="8" indent="-292100" algn="l" rtl="0">
              <a:spcBef>
                <a:spcPts val="500"/>
              </a:spcBef>
              <a:spcAft>
                <a:spcPts val="50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2"/>
          </p:nvPr>
        </p:nvSpPr>
        <p:spPr>
          <a:xfrm>
            <a:off x="4305617" y="3946722"/>
            <a:ext cx="44025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r" rtl="0">
              <a:spcBef>
                <a:spcPts val="20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lt1"/>
                </a:solidFill>
              </a:defRPr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4pPr>
            <a:lvl5pPr marL="2286000" lvl="4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5pPr>
            <a:lvl6pPr marL="2743200" lvl="5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6pPr>
            <a:lvl7pPr marL="3200400" lvl="6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7pPr>
            <a:lvl8pPr marL="3657600" lvl="7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8pPr>
            <a:lvl9pPr marL="4114800" lvl="8" indent="-228600" algn="l" rtl="0">
              <a:spcBef>
                <a:spcPts val="500"/>
              </a:spcBef>
              <a:spcAft>
                <a:spcPts val="500"/>
              </a:spcAft>
              <a:buSzPts val="600"/>
              <a:buNone/>
              <a:defRPr sz="700"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435895" y="3520042"/>
            <a:ext cx="8272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Gill Sans"/>
              <a:buNone/>
              <a:defRPr sz="1800" b="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>
            <a:spLocks noGrp="1"/>
          </p:cNvSpPr>
          <p:nvPr>
            <p:ph type="pic" idx="2"/>
          </p:nvPr>
        </p:nvSpPr>
        <p:spPr>
          <a:xfrm>
            <a:off x="335863" y="449794"/>
            <a:ext cx="8468100" cy="26679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435894" y="3945095"/>
            <a:ext cx="82722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1pPr>
            <a:lvl2pPr marL="914400" lvl="1" indent="-228600" algn="l" rtl="0">
              <a:spcBef>
                <a:spcPts val="5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 rtl="0"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4pPr>
            <a:lvl5pPr marL="2286000" lvl="4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5pPr>
            <a:lvl6pPr marL="2743200" lvl="5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6pPr>
            <a:lvl7pPr marL="3200400" lvl="6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7pPr>
            <a:lvl8pPr marL="3657600" lvl="7" indent="-228600" algn="l" rtl="0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8pPr>
            <a:lvl9pPr marL="4114800" lvl="8" indent="-228600" algn="l" rtl="0">
              <a:spcBef>
                <a:spcPts val="500"/>
              </a:spcBef>
              <a:spcAft>
                <a:spcPts val="500"/>
              </a:spcAft>
              <a:buSzPts val="600"/>
              <a:buNone/>
              <a:defRPr sz="700"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1"/>
          </p:nvPr>
        </p:nvSpPr>
        <p:spPr>
          <a:xfrm rot="5400000">
            <a:off x="3250956" y="-1063048"/>
            <a:ext cx="2642100" cy="82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298450" algn="l" rtl="0">
              <a:spcBef>
                <a:spcPts val="500"/>
              </a:spcBef>
              <a:spcAft>
                <a:spcPts val="0"/>
              </a:spcAft>
              <a:buSzPts val="1100"/>
              <a:buChar char="◼"/>
              <a:defRPr/>
            </a:lvl2pPr>
            <a:lvl3pPr marL="1371600" lvl="2" indent="-292100" algn="l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/>
            </a:lvl3pPr>
            <a:lvl4pPr marL="1828800" lvl="3" indent="-279400" algn="l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4pPr>
            <a:lvl5pPr marL="2286000" lvl="4" indent="-279400" algn="l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>
            <a:off x="6629401" y="449794"/>
            <a:ext cx="2180100" cy="436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 rot="5400000">
            <a:off x="5437324" y="1698995"/>
            <a:ext cx="3887400" cy="15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1598552" y="-510655"/>
            <a:ext cx="3887400" cy="5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 rtl="0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dt" idx="10"/>
          </p:nvPr>
        </p:nvSpPr>
        <p:spPr>
          <a:xfrm>
            <a:off x="6745255" y="4467103"/>
            <a:ext cx="99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9F276A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ftr" idx="11"/>
          </p:nvPr>
        </p:nvSpPr>
        <p:spPr>
          <a:xfrm>
            <a:off x="581192" y="4463858"/>
            <a:ext cx="592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sldNum" idx="12"/>
          </p:nvPr>
        </p:nvSpPr>
        <p:spPr>
          <a:xfrm>
            <a:off x="7834961" y="4467103"/>
            <a:ext cx="87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35894" y="528843"/>
            <a:ext cx="827220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  <a:defRPr sz="2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35894" y="1752002"/>
            <a:ext cx="8272200" cy="26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34901" y="342900"/>
            <a:ext cx="2777400" cy="7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khandakarashrafi.akbar@utdallas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ctrTitle"/>
          </p:nvPr>
        </p:nvSpPr>
        <p:spPr>
          <a:xfrm>
            <a:off x="5334277" y="640725"/>
            <a:ext cx="3059100" cy="16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Roboto"/>
              <a:buNone/>
            </a:pPr>
            <a:r>
              <a:rPr lang="en" sz="2100" b="1" i="1" u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DATA POISONING OF AN INFORMATION SECURITY MACHINE LEARNING MODEL</a:t>
            </a:r>
            <a:endParaRPr sz="2100"/>
          </a:p>
        </p:txBody>
      </p:sp>
      <p:sp>
        <p:nvSpPr>
          <p:cNvPr id="142" name="Google Shape;142;p25"/>
          <p:cNvSpPr txBox="1">
            <a:spLocks noGrp="1"/>
          </p:cNvSpPr>
          <p:nvPr>
            <p:ph type="subTitle" idx="1"/>
          </p:nvPr>
        </p:nvSpPr>
        <p:spPr>
          <a:xfrm>
            <a:off x="5334277" y="3084910"/>
            <a:ext cx="30591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200" b="1" i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" sz="2200" b="1" i="1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TD TEAM-2</a:t>
            </a:r>
            <a:endParaRPr sz="22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SzPts val="1100"/>
              <a:buNone/>
            </a:pPr>
            <a:r>
              <a:rPr lang="en" sz="2200" b="1" i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MID-TERM PRESENTATION</a:t>
            </a:r>
            <a:endParaRPr sz="2200">
              <a:solidFill>
                <a:srgbClr val="FFFFFF"/>
              </a:solidFill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25" y="951925"/>
            <a:ext cx="4981149" cy="328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</a:pPr>
            <a:r>
              <a:rPr lang="en"/>
              <a:t>TEAM MEMBERS</a:t>
            </a:r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11" cy="275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228600" lvl="0" indent="-234950" algn="l" rtl="0">
              <a:spcBef>
                <a:spcPts val="0"/>
              </a:spcBef>
              <a:spcAft>
                <a:spcPts val="0"/>
              </a:spcAft>
              <a:buSzPts val="1300"/>
              <a:buChar char="◼"/>
            </a:pPr>
            <a:r>
              <a:rPr lang="en" sz="1500" dirty="0"/>
              <a:t>Rishi Dandu	(Graduate Student)		-           rkd160030@utdallas.edu </a:t>
            </a:r>
            <a:endParaRPr sz="1500" dirty="0"/>
          </a:p>
          <a:p>
            <a:pPr marL="228600" lvl="0" indent="-234950" algn="l" rtl="0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500" dirty="0"/>
              <a:t>Ravi Teja Avuthu	(Graduate Student)		-           rxa210038@utdallas.edu </a:t>
            </a:r>
            <a:endParaRPr sz="1500" dirty="0"/>
          </a:p>
          <a:p>
            <a:pPr marL="228600" lvl="0" indent="-234950" algn="l" rtl="0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500" dirty="0"/>
              <a:t>Harrison Hamric	(Under-Graduate Student)	-           hgh160130@utdallas.edu </a:t>
            </a:r>
            <a:endParaRPr sz="1500" dirty="0"/>
          </a:p>
          <a:p>
            <a:pPr marL="228600" lvl="0" indent="-234950" algn="l" rtl="0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500" dirty="0"/>
              <a:t>Payton Harmon    	(Under-Graduate Student)	-           pnh170000@utdallas.edu </a:t>
            </a:r>
            <a:endParaRPr sz="1500" dirty="0"/>
          </a:p>
          <a:p>
            <a:pPr marL="228600" lvl="0" indent="-234950" algn="l" rtl="0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500" dirty="0"/>
              <a:t>Ashrafi Akbar 	(phd Student)		-           </a:t>
            </a:r>
            <a:r>
              <a:rPr lang="en" sz="1500" dirty="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khandakarashrafi.akbar@utdallas.edu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◼"/>
            </a:pPr>
            <a:r>
              <a:rPr lang="en" sz="1800"/>
              <a:t>Introduction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en" sz="1800"/>
              <a:t>Schedule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en" sz="1800"/>
              <a:t>Progress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en" sz="1800"/>
              <a:t>Previous Work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en" sz="1800"/>
              <a:t>Results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en" sz="1800"/>
              <a:t>Issues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en" sz="1800"/>
              <a:t>Questions</a:t>
            </a:r>
            <a:endParaRPr sz="1800"/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ill Sans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11" cy="275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◼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Machine learning (ML) is the study of computer algorithms that can improve automatically through experience and by the use of data.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◼"/>
            </a:pPr>
            <a:r>
              <a:rPr lang="en">
                <a:solidFill>
                  <a:schemeClr val="dk1"/>
                </a:solidFill>
              </a:rPr>
              <a:t>Machine Learning (ML) classifier is an algorithm that automatically orders or categorizes data into one or more classes.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◼"/>
            </a:pPr>
            <a:r>
              <a:rPr lang="en">
                <a:solidFill>
                  <a:schemeClr val="dk1"/>
                </a:solidFill>
              </a:rPr>
              <a:t>Many of these detection systems boast impressive performance </a:t>
            </a:r>
            <a:r>
              <a:rPr lang="en" b="1">
                <a:solidFill>
                  <a:schemeClr val="dk1"/>
                </a:solidFill>
              </a:rPr>
              <a:t>however…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◼"/>
            </a:pPr>
            <a:r>
              <a:rPr lang="en">
                <a:solidFill>
                  <a:schemeClr val="dk1"/>
                </a:solidFill>
              </a:rPr>
              <a:t>ML systems often aren’t designed to be robust against adversarial attacks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◼"/>
            </a:pPr>
            <a:r>
              <a:rPr lang="en" sz="1400">
                <a:solidFill>
                  <a:schemeClr val="dk1"/>
                </a:solidFill>
              </a:rPr>
              <a:t>Data Poisoning Attacks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◼"/>
            </a:pPr>
            <a:r>
              <a:rPr lang="en" sz="1400">
                <a:solidFill>
                  <a:schemeClr val="dk1"/>
                </a:solidFill>
              </a:rPr>
              <a:t>Evasion Attacks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◼"/>
            </a:pPr>
            <a:r>
              <a:rPr lang="en" b="1">
                <a:solidFill>
                  <a:schemeClr val="dk1"/>
                </a:solidFill>
              </a:rPr>
              <a:t>Goal:</a:t>
            </a:r>
            <a:r>
              <a:rPr lang="en">
                <a:solidFill>
                  <a:schemeClr val="dk1"/>
                </a:solidFill>
              </a:rPr>
              <a:t> Identify feasible techniques to prevent data poisoning on the drebin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dataset and come up  with paradigms to help prevent data poisoning attacks.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299" y="2384775"/>
            <a:ext cx="2262151" cy="27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Cont.</a:t>
            </a:r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385794" y="1389697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  <p:grpSp>
        <p:nvGrpSpPr>
          <p:cNvPr id="169" name="Google Shape;169;p29"/>
          <p:cNvGrpSpPr/>
          <p:nvPr/>
        </p:nvGrpSpPr>
        <p:grpSpPr>
          <a:xfrm>
            <a:off x="435891" y="1389700"/>
            <a:ext cx="8172032" cy="773339"/>
            <a:chOff x="485966" y="1313850"/>
            <a:chExt cx="8172032" cy="773339"/>
          </a:xfrm>
        </p:grpSpPr>
        <p:sp>
          <p:nvSpPr>
            <p:cNvPr id="170" name="Google Shape;170;p29"/>
            <p:cNvSpPr/>
            <p:nvPr/>
          </p:nvSpPr>
          <p:spPr>
            <a:xfrm>
              <a:off x="507143" y="1313850"/>
              <a:ext cx="2616777" cy="773339"/>
            </a:xfrm>
            <a:custGeom>
              <a:avLst/>
              <a:gdLst/>
              <a:ahLst/>
              <a:cxnLst/>
              <a:rect l="l" t="t" r="r" b="b"/>
              <a:pathLst>
                <a:path w="123564" h="36517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17"/>
                    <a:pt x="17658" y="36517"/>
                  </a:cubicBezTo>
                  <a:lnTo>
                    <a:pt x="105907" y="36517"/>
                  </a:lnTo>
                  <a:cubicBezTo>
                    <a:pt x="115658" y="36517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9"/>
            <p:cNvSpPr/>
            <p:nvPr/>
          </p:nvSpPr>
          <p:spPr>
            <a:xfrm>
              <a:off x="485966" y="1313850"/>
              <a:ext cx="773085" cy="773339"/>
            </a:xfrm>
            <a:custGeom>
              <a:avLst/>
              <a:gdLst/>
              <a:ahLst/>
              <a:cxnLst/>
              <a:rect l="l" t="t" r="r" b="b"/>
              <a:pathLst>
                <a:path w="36505" h="36517" extrusionOk="0">
                  <a:moveTo>
                    <a:pt x="18253" y="0"/>
                  </a:moveTo>
                  <a:cubicBezTo>
                    <a:pt x="8168" y="0"/>
                    <a:pt x="1" y="8180"/>
                    <a:pt x="1" y="18252"/>
                  </a:cubicBezTo>
                  <a:cubicBezTo>
                    <a:pt x="1" y="28337"/>
                    <a:pt x="8168" y="36517"/>
                    <a:pt x="18253" y="36517"/>
                  </a:cubicBezTo>
                  <a:cubicBezTo>
                    <a:pt x="28326" y="36517"/>
                    <a:pt x="36505" y="28337"/>
                    <a:pt x="36505" y="18252"/>
                  </a:cubicBezTo>
                  <a:cubicBezTo>
                    <a:pt x="36505" y="8180"/>
                    <a:pt x="28326" y="0"/>
                    <a:pt x="18253" y="0"/>
                  </a:cubicBezTo>
                  <a:close/>
                </a:path>
              </a:pathLst>
            </a:custGeom>
            <a:solidFill>
              <a:srgbClr val="BCB6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9"/>
            <p:cNvSpPr txBox="1"/>
            <p:nvPr/>
          </p:nvSpPr>
          <p:spPr>
            <a:xfrm>
              <a:off x="1484909" y="1548144"/>
              <a:ext cx="13452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Data Evasion</a:t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3" name="Google Shape;173;p29"/>
            <p:cNvSpPr/>
            <p:nvPr/>
          </p:nvSpPr>
          <p:spPr>
            <a:xfrm>
              <a:off x="3274196" y="1313850"/>
              <a:ext cx="2616777" cy="773339"/>
            </a:xfrm>
            <a:custGeom>
              <a:avLst/>
              <a:gdLst/>
              <a:ahLst/>
              <a:cxnLst/>
              <a:rect l="l" t="t" r="r" b="b"/>
              <a:pathLst>
                <a:path w="123564" h="36517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17"/>
                    <a:pt x="17658" y="36517"/>
                  </a:cubicBezTo>
                  <a:lnTo>
                    <a:pt x="105907" y="36517"/>
                  </a:lnTo>
                  <a:cubicBezTo>
                    <a:pt x="115658" y="36517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9"/>
            <p:cNvSpPr txBox="1"/>
            <p:nvPr/>
          </p:nvSpPr>
          <p:spPr>
            <a:xfrm>
              <a:off x="3399535" y="1565122"/>
              <a:ext cx="2366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most common attack on machine learning model performed during inference.</a:t>
              </a:r>
              <a:endParaRPr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" name="Google Shape;175;p29"/>
            <p:cNvSpPr/>
            <p:nvPr/>
          </p:nvSpPr>
          <p:spPr>
            <a:xfrm>
              <a:off x="859951" y="1544032"/>
              <a:ext cx="145176" cy="95237"/>
            </a:xfrm>
            <a:custGeom>
              <a:avLst/>
              <a:gdLst/>
              <a:ahLst/>
              <a:cxnLst/>
              <a:rect l="l" t="t" r="r" b="b"/>
              <a:pathLst>
                <a:path w="4191" h="274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05"/>
                    <a:pt x="158" y="662"/>
                    <a:pt x="315" y="662"/>
                  </a:cubicBezTo>
                  <a:lnTo>
                    <a:pt x="2426" y="662"/>
                  </a:lnTo>
                  <a:cubicBezTo>
                    <a:pt x="2615" y="662"/>
                    <a:pt x="2773" y="820"/>
                    <a:pt x="2773" y="1009"/>
                  </a:cubicBezTo>
                  <a:lnTo>
                    <a:pt x="2773" y="1576"/>
                  </a:lnTo>
                  <a:lnTo>
                    <a:pt x="2678" y="1450"/>
                  </a:lnTo>
                  <a:cubicBezTo>
                    <a:pt x="2615" y="1387"/>
                    <a:pt x="2521" y="1355"/>
                    <a:pt x="2430" y="1355"/>
                  </a:cubicBezTo>
                  <a:cubicBezTo>
                    <a:pt x="2340" y="1355"/>
                    <a:pt x="2253" y="1387"/>
                    <a:pt x="2206" y="1450"/>
                  </a:cubicBezTo>
                  <a:cubicBezTo>
                    <a:pt x="2080" y="1576"/>
                    <a:pt x="2080" y="1796"/>
                    <a:pt x="2206" y="1922"/>
                  </a:cubicBezTo>
                  <a:lnTo>
                    <a:pt x="2899" y="2647"/>
                  </a:lnTo>
                  <a:cubicBezTo>
                    <a:pt x="2993" y="2710"/>
                    <a:pt x="3056" y="2741"/>
                    <a:pt x="3151" y="2741"/>
                  </a:cubicBezTo>
                  <a:cubicBezTo>
                    <a:pt x="3214" y="2741"/>
                    <a:pt x="3340" y="2710"/>
                    <a:pt x="3371" y="2647"/>
                  </a:cubicBezTo>
                  <a:lnTo>
                    <a:pt x="4096" y="1922"/>
                  </a:lnTo>
                  <a:cubicBezTo>
                    <a:pt x="4191" y="1796"/>
                    <a:pt x="4191" y="1576"/>
                    <a:pt x="4096" y="1450"/>
                  </a:cubicBezTo>
                  <a:cubicBezTo>
                    <a:pt x="4033" y="1387"/>
                    <a:pt x="3938" y="1355"/>
                    <a:pt x="3848" y="1355"/>
                  </a:cubicBezTo>
                  <a:cubicBezTo>
                    <a:pt x="3757" y="1355"/>
                    <a:pt x="3671" y="1387"/>
                    <a:pt x="3623" y="1450"/>
                  </a:cubicBezTo>
                  <a:lnTo>
                    <a:pt x="3497" y="1576"/>
                  </a:lnTo>
                  <a:lnTo>
                    <a:pt x="3497" y="1009"/>
                  </a:lnTo>
                  <a:cubicBezTo>
                    <a:pt x="3497" y="442"/>
                    <a:pt x="3025" y="0"/>
                    <a:pt x="2458" y="0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9"/>
            <p:cNvSpPr/>
            <p:nvPr/>
          </p:nvSpPr>
          <p:spPr>
            <a:xfrm>
              <a:off x="713701" y="1760693"/>
              <a:ext cx="146285" cy="96313"/>
            </a:xfrm>
            <a:custGeom>
              <a:avLst/>
              <a:gdLst/>
              <a:ahLst/>
              <a:cxnLst/>
              <a:rect l="l" t="t" r="r" b="b"/>
              <a:pathLst>
                <a:path w="4223" h="2773" extrusionOk="0">
                  <a:moveTo>
                    <a:pt x="1056" y="0"/>
                  </a:moveTo>
                  <a:cubicBezTo>
                    <a:pt x="969" y="0"/>
                    <a:pt x="883" y="32"/>
                    <a:pt x="820" y="95"/>
                  </a:cubicBezTo>
                  <a:lnTo>
                    <a:pt x="95" y="820"/>
                  </a:lnTo>
                  <a:cubicBezTo>
                    <a:pt x="1" y="914"/>
                    <a:pt x="1" y="1166"/>
                    <a:pt x="95" y="1292"/>
                  </a:cubicBezTo>
                  <a:cubicBezTo>
                    <a:pt x="158" y="1339"/>
                    <a:pt x="253" y="1363"/>
                    <a:pt x="343" y="1363"/>
                  </a:cubicBezTo>
                  <a:cubicBezTo>
                    <a:pt x="434" y="1363"/>
                    <a:pt x="521" y="1339"/>
                    <a:pt x="568" y="1292"/>
                  </a:cubicBezTo>
                  <a:lnTo>
                    <a:pt x="694" y="1166"/>
                  </a:lnTo>
                  <a:lnTo>
                    <a:pt x="694" y="1702"/>
                  </a:lnTo>
                  <a:cubicBezTo>
                    <a:pt x="757" y="2300"/>
                    <a:pt x="1229" y="2773"/>
                    <a:pt x="1765" y="2773"/>
                  </a:cubicBezTo>
                  <a:lnTo>
                    <a:pt x="3844" y="2773"/>
                  </a:lnTo>
                  <a:cubicBezTo>
                    <a:pt x="4065" y="2773"/>
                    <a:pt x="4222" y="2615"/>
                    <a:pt x="4222" y="2426"/>
                  </a:cubicBezTo>
                  <a:cubicBezTo>
                    <a:pt x="4222" y="2237"/>
                    <a:pt x="4065" y="2080"/>
                    <a:pt x="3844" y="2080"/>
                  </a:cubicBezTo>
                  <a:lnTo>
                    <a:pt x="1765" y="2080"/>
                  </a:lnTo>
                  <a:cubicBezTo>
                    <a:pt x="1576" y="2080"/>
                    <a:pt x="1418" y="1922"/>
                    <a:pt x="1418" y="1702"/>
                  </a:cubicBezTo>
                  <a:lnTo>
                    <a:pt x="1418" y="1166"/>
                  </a:lnTo>
                  <a:lnTo>
                    <a:pt x="1544" y="1292"/>
                  </a:lnTo>
                  <a:cubicBezTo>
                    <a:pt x="1592" y="1339"/>
                    <a:pt x="1678" y="1363"/>
                    <a:pt x="1769" y="1363"/>
                  </a:cubicBezTo>
                  <a:cubicBezTo>
                    <a:pt x="1859" y="1363"/>
                    <a:pt x="1954" y="1339"/>
                    <a:pt x="2017" y="1292"/>
                  </a:cubicBezTo>
                  <a:cubicBezTo>
                    <a:pt x="2112" y="1166"/>
                    <a:pt x="2112" y="914"/>
                    <a:pt x="2017" y="820"/>
                  </a:cubicBezTo>
                  <a:lnTo>
                    <a:pt x="1292" y="95"/>
                  </a:lnTo>
                  <a:cubicBezTo>
                    <a:pt x="1229" y="32"/>
                    <a:pt x="1143" y="0"/>
                    <a:pt x="1056" y="0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9"/>
            <p:cNvSpPr/>
            <p:nvPr/>
          </p:nvSpPr>
          <p:spPr>
            <a:xfrm>
              <a:off x="666764" y="1494781"/>
              <a:ext cx="193222" cy="241877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94"/>
                  </a:moveTo>
                  <a:cubicBezTo>
                    <a:pt x="3372" y="694"/>
                    <a:pt x="3782" y="1166"/>
                    <a:pt x="3782" y="1734"/>
                  </a:cubicBezTo>
                  <a:cubicBezTo>
                    <a:pt x="3782" y="2301"/>
                    <a:pt x="3309" y="2742"/>
                    <a:pt x="2773" y="2742"/>
                  </a:cubicBezTo>
                  <a:cubicBezTo>
                    <a:pt x="2175" y="2742"/>
                    <a:pt x="1734" y="2269"/>
                    <a:pt x="1734" y="1734"/>
                  </a:cubicBezTo>
                  <a:cubicBezTo>
                    <a:pt x="1734" y="1166"/>
                    <a:pt x="2206" y="694"/>
                    <a:pt x="2773" y="694"/>
                  </a:cubicBezTo>
                  <a:close/>
                  <a:moveTo>
                    <a:pt x="2773" y="3466"/>
                  </a:moveTo>
                  <a:cubicBezTo>
                    <a:pt x="3908" y="3466"/>
                    <a:pt x="4853" y="4411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1"/>
                    <a:pt x="1639" y="3466"/>
                    <a:pt x="2773" y="3466"/>
                  </a:cubicBezTo>
                  <a:close/>
                  <a:moveTo>
                    <a:pt x="2805" y="1"/>
                  </a:moveTo>
                  <a:cubicBezTo>
                    <a:pt x="1860" y="1"/>
                    <a:pt x="1072" y="788"/>
                    <a:pt x="1072" y="1734"/>
                  </a:cubicBezTo>
                  <a:cubicBezTo>
                    <a:pt x="1072" y="2238"/>
                    <a:pt x="1324" y="2710"/>
                    <a:pt x="1671" y="3025"/>
                  </a:cubicBezTo>
                  <a:cubicBezTo>
                    <a:pt x="726" y="3466"/>
                    <a:pt x="64" y="4443"/>
                    <a:pt x="64" y="5577"/>
                  </a:cubicBezTo>
                  <a:lnTo>
                    <a:pt x="64" y="6617"/>
                  </a:lnTo>
                  <a:cubicBezTo>
                    <a:pt x="1" y="6806"/>
                    <a:pt x="159" y="6963"/>
                    <a:pt x="379" y="6963"/>
                  </a:cubicBezTo>
                  <a:lnTo>
                    <a:pt x="5199" y="6963"/>
                  </a:lnTo>
                  <a:cubicBezTo>
                    <a:pt x="5420" y="6963"/>
                    <a:pt x="5577" y="6806"/>
                    <a:pt x="5577" y="6617"/>
                  </a:cubicBezTo>
                  <a:lnTo>
                    <a:pt x="5577" y="5577"/>
                  </a:lnTo>
                  <a:cubicBezTo>
                    <a:pt x="5577" y="4443"/>
                    <a:pt x="4884" y="3498"/>
                    <a:pt x="3939" y="3025"/>
                  </a:cubicBezTo>
                  <a:cubicBezTo>
                    <a:pt x="4317" y="2710"/>
                    <a:pt x="4538" y="2238"/>
                    <a:pt x="4538" y="1734"/>
                  </a:cubicBezTo>
                  <a:cubicBezTo>
                    <a:pt x="4538" y="788"/>
                    <a:pt x="3750" y="1"/>
                    <a:pt x="2805" y="1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9"/>
            <p:cNvSpPr/>
            <p:nvPr/>
          </p:nvSpPr>
          <p:spPr>
            <a:xfrm>
              <a:off x="885030" y="1664380"/>
              <a:ext cx="193222" cy="241877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63"/>
                  </a:moveTo>
                  <a:cubicBezTo>
                    <a:pt x="3372" y="663"/>
                    <a:pt x="3782" y="1135"/>
                    <a:pt x="3782" y="1702"/>
                  </a:cubicBezTo>
                  <a:cubicBezTo>
                    <a:pt x="3782" y="2238"/>
                    <a:pt x="3309" y="2710"/>
                    <a:pt x="2773" y="2710"/>
                  </a:cubicBezTo>
                  <a:cubicBezTo>
                    <a:pt x="2175" y="2710"/>
                    <a:pt x="1734" y="2238"/>
                    <a:pt x="1734" y="1702"/>
                  </a:cubicBezTo>
                  <a:cubicBezTo>
                    <a:pt x="1734" y="1135"/>
                    <a:pt x="2175" y="663"/>
                    <a:pt x="2773" y="663"/>
                  </a:cubicBezTo>
                  <a:close/>
                  <a:moveTo>
                    <a:pt x="2773" y="3467"/>
                  </a:moveTo>
                  <a:cubicBezTo>
                    <a:pt x="3908" y="3467"/>
                    <a:pt x="4853" y="4412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2"/>
                    <a:pt x="1639" y="3467"/>
                    <a:pt x="2773" y="3467"/>
                  </a:cubicBezTo>
                  <a:close/>
                  <a:moveTo>
                    <a:pt x="2773" y="1"/>
                  </a:moveTo>
                  <a:cubicBezTo>
                    <a:pt x="1828" y="1"/>
                    <a:pt x="1041" y="789"/>
                    <a:pt x="1041" y="1734"/>
                  </a:cubicBezTo>
                  <a:cubicBezTo>
                    <a:pt x="1041" y="2238"/>
                    <a:pt x="1261" y="2710"/>
                    <a:pt x="1608" y="3025"/>
                  </a:cubicBezTo>
                  <a:cubicBezTo>
                    <a:pt x="663" y="3467"/>
                    <a:pt x="1" y="4443"/>
                    <a:pt x="1" y="5546"/>
                  </a:cubicBezTo>
                  <a:lnTo>
                    <a:pt x="1" y="6617"/>
                  </a:lnTo>
                  <a:cubicBezTo>
                    <a:pt x="1" y="6806"/>
                    <a:pt x="159" y="6964"/>
                    <a:pt x="379" y="6964"/>
                  </a:cubicBezTo>
                  <a:lnTo>
                    <a:pt x="5199" y="6964"/>
                  </a:lnTo>
                  <a:cubicBezTo>
                    <a:pt x="5420" y="6964"/>
                    <a:pt x="5577" y="6806"/>
                    <a:pt x="5577" y="6617"/>
                  </a:cubicBezTo>
                  <a:lnTo>
                    <a:pt x="5577" y="5546"/>
                  </a:lnTo>
                  <a:cubicBezTo>
                    <a:pt x="5514" y="4412"/>
                    <a:pt x="4853" y="3467"/>
                    <a:pt x="3908" y="3025"/>
                  </a:cubicBezTo>
                  <a:cubicBezTo>
                    <a:pt x="4254" y="2710"/>
                    <a:pt x="4506" y="2238"/>
                    <a:pt x="4506" y="1734"/>
                  </a:cubicBezTo>
                  <a:cubicBezTo>
                    <a:pt x="4506" y="789"/>
                    <a:pt x="3719" y="1"/>
                    <a:pt x="2773" y="1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9"/>
            <p:cNvSpPr/>
            <p:nvPr/>
          </p:nvSpPr>
          <p:spPr>
            <a:xfrm>
              <a:off x="6041221" y="1313850"/>
              <a:ext cx="2616777" cy="773339"/>
            </a:xfrm>
            <a:custGeom>
              <a:avLst/>
              <a:gdLst/>
              <a:ahLst/>
              <a:cxnLst/>
              <a:rect l="l" t="t" r="r" b="b"/>
              <a:pathLst>
                <a:path w="123564" h="36517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17"/>
                    <a:pt x="17658" y="36517"/>
                  </a:cubicBezTo>
                  <a:lnTo>
                    <a:pt x="105907" y="36517"/>
                  </a:lnTo>
                  <a:cubicBezTo>
                    <a:pt x="115658" y="36517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D1C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9"/>
            <p:cNvSpPr txBox="1"/>
            <p:nvPr/>
          </p:nvSpPr>
          <p:spPr>
            <a:xfrm>
              <a:off x="6227997" y="1588647"/>
              <a:ext cx="2366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A typical example is to change few pixels of image before uploading it to the model so that recognition system fails to classify the result.</a:t>
              </a:r>
              <a:endParaRPr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1" name="Google Shape;181;p29"/>
          <p:cNvGrpSpPr/>
          <p:nvPr/>
        </p:nvGrpSpPr>
        <p:grpSpPr>
          <a:xfrm>
            <a:off x="485991" y="2462373"/>
            <a:ext cx="8172032" cy="773339"/>
            <a:chOff x="485966" y="2196110"/>
            <a:chExt cx="8172032" cy="773339"/>
          </a:xfrm>
        </p:grpSpPr>
        <p:sp>
          <p:nvSpPr>
            <p:cNvPr id="182" name="Google Shape;182;p29"/>
            <p:cNvSpPr/>
            <p:nvPr/>
          </p:nvSpPr>
          <p:spPr>
            <a:xfrm>
              <a:off x="507143" y="2196237"/>
              <a:ext cx="2616777" cy="773085"/>
            </a:xfrm>
            <a:custGeom>
              <a:avLst/>
              <a:gdLst/>
              <a:ahLst/>
              <a:cxnLst/>
              <a:rect l="l" t="t" r="r" b="b"/>
              <a:pathLst>
                <a:path w="123564" h="36505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05"/>
                    <a:pt x="17658" y="36505"/>
                  </a:cubicBezTo>
                  <a:lnTo>
                    <a:pt x="105907" y="36505"/>
                  </a:lnTo>
                  <a:cubicBezTo>
                    <a:pt x="115658" y="36505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8FC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9"/>
            <p:cNvSpPr/>
            <p:nvPr/>
          </p:nvSpPr>
          <p:spPr>
            <a:xfrm>
              <a:off x="6041221" y="2196237"/>
              <a:ext cx="2616777" cy="773085"/>
            </a:xfrm>
            <a:custGeom>
              <a:avLst/>
              <a:gdLst/>
              <a:ahLst/>
              <a:cxnLst/>
              <a:rect l="l" t="t" r="r" b="b"/>
              <a:pathLst>
                <a:path w="123564" h="36505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05"/>
                    <a:pt x="17658" y="36505"/>
                  </a:cubicBezTo>
                  <a:lnTo>
                    <a:pt x="105907" y="36505"/>
                  </a:lnTo>
                  <a:cubicBezTo>
                    <a:pt x="115658" y="36505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8FC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9"/>
            <p:cNvSpPr/>
            <p:nvPr/>
          </p:nvSpPr>
          <p:spPr>
            <a:xfrm>
              <a:off x="3274196" y="2196237"/>
              <a:ext cx="2616777" cy="773085"/>
            </a:xfrm>
            <a:custGeom>
              <a:avLst/>
              <a:gdLst/>
              <a:ahLst/>
              <a:cxnLst/>
              <a:rect l="l" t="t" r="r" b="b"/>
              <a:pathLst>
                <a:path w="123564" h="36505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05"/>
                    <a:pt x="17658" y="36505"/>
                  </a:cubicBezTo>
                  <a:lnTo>
                    <a:pt x="105907" y="36505"/>
                  </a:lnTo>
                  <a:cubicBezTo>
                    <a:pt x="115658" y="36505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8FC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9"/>
            <p:cNvSpPr/>
            <p:nvPr/>
          </p:nvSpPr>
          <p:spPr>
            <a:xfrm>
              <a:off x="485966" y="2196110"/>
              <a:ext cx="773085" cy="773339"/>
            </a:xfrm>
            <a:custGeom>
              <a:avLst/>
              <a:gdLst/>
              <a:ahLst/>
              <a:cxnLst/>
              <a:rect l="l" t="t" r="r" b="b"/>
              <a:pathLst>
                <a:path w="36505" h="36517" extrusionOk="0">
                  <a:moveTo>
                    <a:pt x="18253" y="0"/>
                  </a:moveTo>
                  <a:cubicBezTo>
                    <a:pt x="8168" y="0"/>
                    <a:pt x="1" y="8180"/>
                    <a:pt x="1" y="18253"/>
                  </a:cubicBezTo>
                  <a:cubicBezTo>
                    <a:pt x="1" y="28337"/>
                    <a:pt x="8168" y="36517"/>
                    <a:pt x="18253" y="36517"/>
                  </a:cubicBezTo>
                  <a:cubicBezTo>
                    <a:pt x="28326" y="36517"/>
                    <a:pt x="36505" y="28337"/>
                    <a:pt x="36505" y="18253"/>
                  </a:cubicBezTo>
                  <a:cubicBezTo>
                    <a:pt x="36505" y="8180"/>
                    <a:pt x="28326" y="0"/>
                    <a:pt x="18253" y="0"/>
                  </a:cubicBezTo>
                  <a:close/>
                </a:path>
              </a:pathLst>
            </a:custGeom>
            <a:solidFill>
              <a:srgbClr val="76B2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9"/>
            <p:cNvSpPr/>
            <p:nvPr/>
          </p:nvSpPr>
          <p:spPr>
            <a:xfrm>
              <a:off x="547993" y="2258392"/>
              <a:ext cx="648794" cy="648773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24" y="0"/>
                  </a:moveTo>
                  <a:cubicBezTo>
                    <a:pt x="6858" y="0"/>
                    <a:pt x="0" y="6858"/>
                    <a:pt x="0" y="15312"/>
                  </a:cubicBezTo>
                  <a:cubicBezTo>
                    <a:pt x="0" y="23777"/>
                    <a:pt x="6858" y="30635"/>
                    <a:pt x="15324" y="30635"/>
                  </a:cubicBezTo>
                  <a:cubicBezTo>
                    <a:pt x="23777" y="30635"/>
                    <a:pt x="30635" y="23777"/>
                    <a:pt x="30635" y="15312"/>
                  </a:cubicBezTo>
                  <a:cubicBezTo>
                    <a:pt x="30635" y="6858"/>
                    <a:pt x="23777" y="0"/>
                    <a:pt x="15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/>
            </a:p>
          </p:txBody>
        </p:sp>
        <p:sp>
          <p:nvSpPr>
            <p:cNvPr id="187" name="Google Shape;187;p29"/>
            <p:cNvSpPr txBox="1"/>
            <p:nvPr/>
          </p:nvSpPr>
          <p:spPr>
            <a:xfrm>
              <a:off x="1484975" y="2427864"/>
              <a:ext cx="13452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Data Poisoning</a:t>
              </a:r>
              <a:endParaRPr sz="16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88" name="Google Shape;188;p29"/>
            <p:cNvSpPr txBox="1"/>
            <p:nvPr/>
          </p:nvSpPr>
          <p:spPr>
            <a:xfrm>
              <a:off x="3399510" y="2460679"/>
              <a:ext cx="2366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The attacker can exploit the ML model by poisoning the data before sending the data to the model for training.</a:t>
              </a:r>
              <a:endParaRPr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" name="Google Shape;189;p29"/>
            <p:cNvSpPr/>
            <p:nvPr/>
          </p:nvSpPr>
          <p:spPr>
            <a:xfrm>
              <a:off x="666767" y="2351323"/>
              <a:ext cx="411483" cy="462914"/>
            </a:xfrm>
            <a:custGeom>
              <a:avLst/>
              <a:gdLst/>
              <a:ahLst/>
              <a:cxnLst/>
              <a:rect l="l" t="t" r="r" b="b"/>
              <a:pathLst>
                <a:path w="10493" h="11800" extrusionOk="0">
                  <a:moveTo>
                    <a:pt x="5294" y="709"/>
                  </a:moveTo>
                  <a:cubicBezTo>
                    <a:pt x="6350" y="1316"/>
                    <a:pt x="7422" y="1602"/>
                    <a:pt x="8487" y="1602"/>
                  </a:cubicBezTo>
                  <a:cubicBezTo>
                    <a:pt x="8915" y="1602"/>
                    <a:pt x="9343" y="1556"/>
                    <a:pt x="9767" y="1465"/>
                  </a:cubicBezTo>
                  <a:lnTo>
                    <a:pt x="9767" y="5026"/>
                  </a:lnTo>
                  <a:cubicBezTo>
                    <a:pt x="9767" y="7798"/>
                    <a:pt x="7940" y="10287"/>
                    <a:pt x="5294" y="11137"/>
                  </a:cubicBezTo>
                  <a:cubicBezTo>
                    <a:pt x="2647" y="10350"/>
                    <a:pt x="789" y="7798"/>
                    <a:pt x="789" y="5026"/>
                  </a:cubicBezTo>
                  <a:lnTo>
                    <a:pt x="789" y="1465"/>
                  </a:lnTo>
                  <a:cubicBezTo>
                    <a:pt x="1222" y="1556"/>
                    <a:pt x="1654" y="1602"/>
                    <a:pt x="2084" y="1602"/>
                  </a:cubicBezTo>
                  <a:cubicBezTo>
                    <a:pt x="3153" y="1602"/>
                    <a:pt x="4215" y="1316"/>
                    <a:pt x="5294" y="709"/>
                  </a:cubicBezTo>
                  <a:close/>
                  <a:moveTo>
                    <a:pt x="5266" y="0"/>
                  </a:moveTo>
                  <a:cubicBezTo>
                    <a:pt x="5207" y="0"/>
                    <a:pt x="5152" y="16"/>
                    <a:pt x="5105" y="48"/>
                  </a:cubicBezTo>
                  <a:cubicBezTo>
                    <a:pt x="4065" y="646"/>
                    <a:pt x="3057" y="930"/>
                    <a:pt x="2017" y="930"/>
                  </a:cubicBezTo>
                  <a:cubicBezTo>
                    <a:pt x="1513" y="930"/>
                    <a:pt x="1009" y="835"/>
                    <a:pt x="473" y="678"/>
                  </a:cubicBezTo>
                  <a:cubicBezTo>
                    <a:pt x="440" y="669"/>
                    <a:pt x="408" y="665"/>
                    <a:pt x="378" y="665"/>
                  </a:cubicBezTo>
                  <a:cubicBezTo>
                    <a:pt x="297" y="665"/>
                    <a:pt x="228" y="695"/>
                    <a:pt x="158" y="741"/>
                  </a:cubicBezTo>
                  <a:cubicBezTo>
                    <a:pt x="95" y="804"/>
                    <a:pt x="1" y="898"/>
                    <a:pt x="1" y="993"/>
                  </a:cubicBezTo>
                  <a:lnTo>
                    <a:pt x="1" y="4994"/>
                  </a:lnTo>
                  <a:cubicBezTo>
                    <a:pt x="127" y="8176"/>
                    <a:pt x="2206" y="10917"/>
                    <a:pt x="5199" y="11799"/>
                  </a:cubicBezTo>
                  <a:lnTo>
                    <a:pt x="5357" y="11799"/>
                  </a:lnTo>
                  <a:cubicBezTo>
                    <a:pt x="8350" y="10917"/>
                    <a:pt x="10492" y="8176"/>
                    <a:pt x="10492" y="5026"/>
                  </a:cubicBezTo>
                  <a:lnTo>
                    <a:pt x="10492" y="1056"/>
                  </a:lnTo>
                  <a:cubicBezTo>
                    <a:pt x="10492" y="930"/>
                    <a:pt x="10429" y="835"/>
                    <a:pt x="10335" y="772"/>
                  </a:cubicBezTo>
                  <a:cubicBezTo>
                    <a:pt x="10282" y="720"/>
                    <a:pt x="10230" y="697"/>
                    <a:pt x="10173" y="697"/>
                  </a:cubicBezTo>
                  <a:cubicBezTo>
                    <a:pt x="10126" y="697"/>
                    <a:pt x="10076" y="713"/>
                    <a:pt x="10019" y="741"/>
                  </a:cubicBezTo>
                  <a:cubicBezTo>
                    <a:pt x="9509" y="876"/>
                    <a:pt x="9006" y="946"/>
                    <a:pt x="8504" y="946"/>
                  </a:cubicBezTo>
                  <a:cubicBezTo>
                    <a:pt x="7490" y="946"/>
                    <a:pt x="6485" y="659"/>
                    <a:pt x="5451" y="48"/>
                  </a:cubicBezTo>
                  <a:cubicBezTo>
                    <a:pt x="5388" y="16"/>
                    <a:pt x="5325" y="0"/>
                    <a:pt x="5266" y="0"/>
                  </a:cubicBezTo>
                  <a:close/>
                </a:path>
              </a:pathLst>
            </a:custGeom>
            <a:solidFill>
              <a:srgbClr val="8FC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9"/>
            <p:cNvSpPr/>
            <p:nvPr/>
          </p:nvSpPr>
          <p:spPr>
            <a:xfrm>
              <a:off x="780451" y="2460696"/>
              <a:ext cx="191526" cy="217570"/>
            </a:xfrm>
            <a:custGeom>
              <a:avLst/>
              <a:gdLst/>
              <a:ahLst/>
              <a:cxnLst/>
              <a:rect l="l" t="t" r="r" b="b"/>
              <a:pathLst>
                <a:path w="4884" h="5546" extrusionOk="0">
                  <a:moveTo>
                    <a:pt x="2426" y="694"/>
                  </a:moveTo>
                  <a:cubicBezTo>
                    <a:pt x="2836" y="694"/>
                    <a:pt x="3151" y="1009"/>
                    <a:pt x="3151" y="1418"/>
                  </a:cubicBezTo>
                  <a:cubicBezTo>
                    <a:pt x="3151" y="1796"/>
                    <a:pt x="2836" y="2111"/>
                    <a:pt x="2426" y="2111"/>
                  </a:cubicBezTo>
                  <a:cubicBezTo>
                    <a:pt x="2048" y="2111"/>
                    <a:pt x="1733" y="1796"/>
                    <a:pt x="1733" y="1418"/>
                  </a:cubicBezTo>
                  <a:cubicBezTo>
                    <a:pt x="1733" y="1009"/>
                    <a:pt x="2048" y="694"/>
                    <a:pt x="2426" y="694"/>
                  </a:cubicBezTo>
                  <a:close/>
                  <a:moveTo>
                    <a:pt x="2426" y="2742"/>
                  </a:moveTo>
                  <a:cubicBezTo>
                    <a:pt x="3371" y="2742"/>
                    <a:pt x="4159" y="3529"/>
                    <a:pt x="4159" y="4474"/>
                  </a:cubicBezTo>
                  <a:lnTo>
                    <a:pt x="4159" y="4821"/>
                  </a:lnTo>
                  <a:lnTo>
                    <a:pt x="693" y="4821"/>
                  </a:lnTo>
                  <a:lnTo>
                    <a:pt x="693" y="4474"/>
                  </a:lnTo>
                  <a:cubicBezTo>
                    <a:pt x="693" y="3529"/>
                    <a:pt x="1481" y="2742"/>
                    <a:pt x="2426" y="2742"/>
                  </a:cubicBezTo>
                  <a:close/>
                  <a:moveTo>
                    <a:pt x="2458" y="1"/>
                  </a:moveTo>
                  <a:cubicBezTo>
                    <a:pt x="1733" y="1"/>
                    <a:pt x="1103" y="599"/>
                    <a:pt x="1103" y="1355"/>
                  </a:cubicBezTo>
                  <a:cubicBezTo>
                    <a:pt x="1103" y="1733"/>
                    <a:pt x="1198" y="2048"/>
                    <a:pt x="1450" y="2269"/>
                  </a:cubicBezTo>
                  <a:cubicBezTo>
                    <a:pt x="630" y="2647"/>
                    <a:pt x="63" y="3498"/>
                    <a:pt x="63" y="4474"/>
                  </a:cubicBezTo>
                  <a:lnTo>
                    <a:pt x="63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4506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17" y="2647"/>
                    <a:pt x="3497" y="2269"/>
                  </a:cubicBezTo>
                  <a:cubicBezTo>
                    <a:pt x="3718" y="2048"/>
                    <a:pt x="3844" y="1702"/>
                    <a:pt x="3844" y="1355"/>
                  </a:cubicBezTo>
                  <a:cubicBezTo>
                    <a:pt x="3844" y="599"/>
                    <a:pt x="3214" y="1"/>
                    <a:pt x="2458" y="1"/>
                  </a:cubicBezTo>
                  <a:close/>
                </a:path>
              </a:pathLst>
            </a:custGeom>
            <a:solidFill>
              <a:srgbClr val="8FC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9"/>
            <p:cNvSpPr txBox="1"/>
            <p:nvPr/>
          </p:nvSpPr>
          <p:spPr>
            <a:xfrm>
              <a:off x="6291885" y="2460679"/>
              <a:ext cx="2366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This results in impaired model which is trained on wrong train data and wrong classification of test data.</a:t>
              </a:r>
              <a:endParaRPr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2" name="Google Shape;192;p29"/>
          <p:cNvSpPr/>
          <p:nvPr/>
        </p:nvSpPr>
        <p:spPr>
          <a:xfrm>
            <a:off x="435900" y="1389675"/>
            <a:ext cx="801900" cy="773400"/>
          </a:xfrm>
          <a:prstGeom prst="ellipse">
            <a:avLst/>
          </a:prstGeom>
          <a:solidFill>
            <a:srgbClr val="EBEBEB"/>
          </a:solidFill>
          <a:ln w="9525" cap="flat" cmpd="sng">
            <a:solidFill>
              <a:srgbClr val="C5C5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9"/>
          <p:cNvSpPr/>
          <p:nvPr/>
        </p:nvSpPr>
        <p:spPr>
          <a:xfrm>
            <a:off x="486000" y="2462325"/>
            <a:ext cx="801900" cy="773400"/>
          </a:xfrm>
          <a:prstGeom prst="ellipse">
            <a:avLst/>
          </a:prstGeom>
          <a:solidFill>
            <a:srgbClr val="EBEBEB"/>
          </a:solidFill>
          <a:ln w="9525" cap="flat" cmpd="sng">
            <a:solidFill>
              <a:srgbClr val="C5C5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2361" y="3235725"/>
            <a:ext cx="2099075" cy="179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Cont.</a:t>
            </a:r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/>
          </a:p>
        </p:txBody>
      </p:sp>
      <p:pic>
        <p:nvPicPr>
          <p:cNvPr id="201" name="Google Shape;20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00" y="1501727"/>
            <a:ext cx="3044568" cy="22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 txBox="1"/>
          <p:nvPr/>
        </p:nvSpPr>
        <p:spPr>
          <a:xfrm>
            <a:off x="1674000" y="3761250"/>
            <a:ext cx="13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Gill Sans"/>
                <a:ea typeface="Gill Sans"/>
                <a:cs typeface="Gill Sans"/>
                <a:sym typeface="Gill Sans"/>
              </a:rPr>
              <a:t>Proper image of a dog</a:t>
            </a:r>
            <a:endParaRPr sz="9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435900" y="3761250"/>
            <a:ext cx="1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Gill Sans"/>
                <a:ea typeface="Gill Sans"/>
                <a:cs typeface="Gill Sans"/>
                <a:sym typeface="Gill Sans"/>
              </a:rPr>
              <a:t>Modified image which looks like a cat</a:t>
            </a:r>
            <a:endParaRPr sz="9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9425" y="1501725"/>
            <a:ext cx="3044574" cy="235796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/>
          <p:nvPr/>
        </p:nvSpPr>
        <p:spPr>
          <a:xfrm>
            <a:off x="3577425" y="1734975"/>
            <a:ext cx="144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Data Evasion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3577425" y="2135175"/>
            <a:ext cx="1074900" cy="4617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0"/>
          <p:cNvSpPr txBox="1"/>
          <p:nvPr/>
        </p:nvSpPr>
        <p:spPr>
          <a:xfrm>
            <a:off x="4667600" y="2886500"/>
            <a:ext cx="137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Data Poisoning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4815500" y="3286700"/>
            <a:ext cx="1074900" cy="400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✓"/>
            </a:pPr>
            <a:r>
              <a:rPr lang="en" sz="1800"/>
              <a:t>Understanding data poisoning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" sz="1800"/>
              <a:t>Poisoning a dataset 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" sz="1800"/>
              <a:t>Understanding the parameters of the Drebin dataset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" sz="1800"/>
              <a:t>Identifying parameters that can be poisoned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800"/>
              <a:t>Poisoning those parameters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x"/>
            </a:pPr>
            <a:r>
              <a:rPr lang="en" sz="1800"/>
              <a:t>Identify method to discover poisoning and mitigate damage</a:t>
            </a:r>
            <a:endParaRPr sz="18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x"/>
            </a:pPr>
            <a:r>
              <a:rPr lang="en" sz="1800"/>
              <a:t>Summarize our research and deliver a digestible report</a:t>
            </a:r>
            <a:endParaRPr sz="1800"/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sz="1800"/>
          </a:p>
        </p:txBody>
      </p:sp>
      <p:graphicFrame>
        <p:nvGraphicFramePr>
          <p:cNvPr id="215" name="Google Shape;215;p31"/>
          <p:cNvGraphicFramePr/>
          <p:nvPr/>
        </p:nvGraphicFramePr>
        <p:xfrm>
          <a:off x="683275" y="3685325"/>
          <a:ext cx="7336950" cy="1219140"/>
        </p:xfrm>
        <a:graphic>
          <a:graphicData uri="http://schemas.openxmlformats.org/drawingml/2006/table">
            <a:tbl>
              <a:tblPr>
                <a:noFill/>
                <a:tableStyleId>{29B5FA55-2709-475E-9926-66A940C91A77}</a:tableStyleId>
              </a:tblPr>
              <a:tblGrid>
                <a:gridCol w="244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Phase 1 (Complete)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Phase 2 (In Progress)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Phase 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Understanding poisoning, finding parameters to poison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Poisoning parameters and dataset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Identify methods to discover poisoning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Summarize research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Work</a:t>
            </a:r>
            <a:endParaRPr/>
          </a:p>
        </p:txBody>
      </p:sp>
      <p:sp>
        <p:nvSpPr>
          <p:cNvPr id="221" name="Google Shape;221;p3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Rosenberg, Ishai, et al. "Adversarial machine learning attacks and defense methods in the cyber security domain." ACM Computing Surveys (CSUR) 54.5 (2021): 1-36.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Lists machine learning attacks and defenses.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Severi, Giorgio, et al. "{Explanation-Guided} Backdoor Poisoning Attacks Against Malware Classifiers." 30th USENIX Security Symposium (USENIX Security 21). 2021.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Demonstrates specific attack on machine learning models.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Mehra, Akshay, et al. "How robust are randomized smoothing based defenses to data poisoning?." Proceedings of the IEEE/CVF Conference on Computer Vision and Pattern Recognition. 2021.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Randomized smoothing defense technique.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Shapley, Lloyd S. "Notes on the n-Person Game—II: The Value of an n-Person Game.(1951)." (1951).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</a:t>
            </a: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11150" algn="l" rtl="0">
              <a:spcBef>
                <a:spcPts val="300"/>
              </a:spcBef>
              <a:spcAft>
                <a:spcPts val="0"/>
              </a:spcAft>
              <a:buSzPts val="1300"/>
              <a:buChar char="◼"/>
            </a:pPr>
            <a:r>
              <a:rPr lang="en" sz="1500"/>
              <a:t>Developed understanding of  Data Evasion vs Data Poisoning and the various related issues along with SHAP values and explainable AI fundamentals</a:t>
            </a:r>
            <a:endParaRPr sz="15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◼"/>
            </a:pPr>
            <a:r>
              <a:rPr lang="en" sz="1500"/>
              <a:t>Acquired and investigated the Android drebin dataset</a:t>
            </a:r>
            <a:endParaRPr sz="15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◼"/>
            </a:pPr>
            <a:r>
              <a:rPr lang="en" sz="1500"/>
              <a:t>Found pre-existing data poisoning libraries(SecML) that we are applying to the Android(drebin) dataset</a:t>
            </a:r>
            <a:endParaRPr sz="15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◼"/>
            </a:pPr>
            <a:r>
              <a:rPr lang="en" sz="1500"/>
              <a:t>Generated adversarial examples to confuse SVM classifier (Data Evasion)</a:t>
            </a:r>
            <a:endParaRPr sz="15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◼"/>
            </a:pPr>
            <a:r>
              <a:rPr lang="en" sz="1500"/>
              <a:t>In the process of finding effective features to poison to reduce accuracy of classifier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body" idx="1"/>
          </p:nvPr>
        </p:nvSpPr>
        <p:spPr>
          <a:xfrm>
            <a:off x="-6349656" y="3591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  <p:pic>
        <p:nvPicPr>
          <p:cNvPr id="234" name="Google Shape;23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15" y="1887097"/>
            <a:ext cx="4657487" cy="128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6798" y="1989000"/>
            <a:ext cx="4207199" cy="124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2550" y="4182775"/>
            <a:ext cx="4380886" cy="221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4250" y="3427150"/>
            <a:ext cx="6511923" cy="5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</a:t>
            </a:r>
            <a:endParaRPr/>
          </a:p>
        </p:txBody>
      </p:sp>
      <p:sp>
        <p:nvSpPr>
          <p:cNvPr id="243" name="Google Shape;243;p3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500"/>
              </a:spcBef>
              <a:spcAft>
                <a:spcPts val="0"/>
              </a:spcAft>
              <a:buSzPts val="1500"/>
              <a:buChar char="◼"/>
            </a:pPr>
            <a:r>
              <a:rPr lang="en"/>
              <a:t>Concepts initially took a little time to understand </a:t>
            </a:r>
            <a:endParaRPr/>
          </a:p>
          <a:p>
            <a:pPr marL="457200" lvl="0" indent="-323850" algn="l" rtl="0">
              <a:spcBef>
                <a:spcPts val="500"/>
              </a:spcBef>
              <a:spcAft>
                <a:spcPts val="0"/>
              </a:spcAft>
              <a:buSzPts val="1500"/>
              <a:buChar char="◼"/>
            </a:pPr>
            <a:r>
              <a:rPr lang="en"/>
              <a:t>Had issues working with the existing data structures of secML and how to use them with sci-kit learn</a:t>
            </a:r>
            <a:endParaRPr/>
          </a:p>
          <a:p>
            <a:pPr marL="457200" lvl="0" indent="-323850" algn="l" rtl="0">
              <a:spcBef>
                <a:spcPts val="500"/>
              </a:spcBef>
              <a:spcAft>
                <a:spcPts val="0"/>
              </a:spcAft>
              <a:buSzPts val="1500"/>
              <a:buChar char="◼"/>
            </a:pPr>
            <a:r>
              <a:rPr lang="en"/>
              <a:t>Difficult to work with sparse matrix as it is hard to visually see the features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and Next Steps</a:t>
            </a:r>
            <a:endParaRPr/>
          </a:p>
        </p:txBody>
      </p:sp>
      <p:sp>
        <p:nvSpPr>
          <p:cNvPr id="249" name="Google Shape;249;p3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04800" algn="l" rtl="0">
              <a:spcBef>
                <a:spcPts val="30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Data Poisoning vs Data Evasion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Looked at Feature Selection methods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Researched previous work on specific attacks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Used existing libraries to perform Data Evasion attacks on the drebin dataset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Currently trying to poison data to reduce accuracy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◼"/>
            </a:pPr>
            <a:r>
              <a:rPr lang="en"/>
              <a:t>Try to identify techniques to prevent these type of attacks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255" name="Google Shape;255;p3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1066</Words>
  <Application>Microsoft Office PowerPoint</Application>
  <PresentationFormat>On-screen Show (16:9)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Gill Sans</vt:lpstr>
      <vt:lpstr>Noto Sans Symbols</vt:lpstr>
      <vt:lpstr>Fira Sans Extra Condensed Medium</vt:lpstr>
      <vt:lpstr>Roboto</vt:lpstr>
      <vt:lpstr>Arial</vt:lpstr>
      <vt:lpstr>Simple Light</vt:lpstr>
      <vt:lpstr>Dividend</vt:lpstr>
      <vt:lpstr>DATA POISONING OF AN INFORMATION SECURITY MACHINE LEARNING MODEL</vt:lpstr>
      <vt:lpstr>TEAM MEMBERS</vt:lpstr>
      <vt:lpstr>Agenda</vt:lpstr>
      <vt:lpstr>Introduction</vt:lpstr>
      <vt:lpstr>Introduction Cont.</vt:lpstr>
      <vt:lpstr>Introduction Cont.</vt:lpstr>
      <vt:lpstr>Schedule</vt:lpstr>
      <vt:lpstr>Previous Work</vt:lpstr>
      <vt:lpstr>Progress</vt:lpstr>
      <vt:lpstr>Results</vt:lpstr>
      <vt:lpstr>Issues</vt:lpstr>
      <vt:lpstr>Summary and Next Steps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POISONING OF AN INFORMATION SECURITY MACHINE LEARNING MODEL</dc:title>
  <cp:lastModifiedBy>Avuthu, Raviteja</cp:lastModifiedBy>
  <cp:revision>1</cp:revision>
  <dcterms:modified xsi:type="dcterms:W3CDTF">2022-04-01T02:58:50Z</dcterms:modified>
</cp:coreProperties>
</file>