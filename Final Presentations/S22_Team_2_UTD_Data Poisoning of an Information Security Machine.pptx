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6858000" cy="9144000"/>
  <p:embeddedFontLst>
    <p:embeddedFont>
      <p:font typeface="Fira Sans Extra Condensed Medium" panose="020B0603050000020004" pitchFamily="34" charset="0"/>
      <p:regular r:id="rId23"/>
      <p:bold r:id="rId24"/>
      <p:italic r:id="rId25"/>
      <p:boldItalic r:id="rId26"/>
    </p:embeddedFont>
    <p:embeddedFont>
      <p:font typeface="Gill Sans" panose="020B0502020104020203" pitchFamily="34" charset="-79"/>
      <p:regular r:id="rId27"/>
      <p:bold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A539AD-B3E7-46BD-B474-872019228F65}">
  <a:tblStyle styleId="{6CA539AD-B3E7-46BD-B474-872019228F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9"/>
  </p:normalViewPr>
  <p:slideViewPr>
    <p:cSldViewPr snapToGrid="0">
      <p:cViewPr varScale="1">
        <p:scale>
          <a:sx n="144" d="100"/>
          <a:sy n="144" d="100"/>
        </p:scale>
        <p:origin x="72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Regression_analysis" TargetMode="External"/><Relationship Id="rId3" Type="http://schemas.openxmlformats.org/officeDocument/2006/relationships/hyperlink" Target="https://en.wikipedia.org/wiki/Machine_learning" TargetMode="External"/><Relationship Id="rId7" Type="http://schemas.openxmlformats.org/officeDocument/2006/relationships/hyperlink" Target="https://en.wikipedia.org/wiki/Statistical_classification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Algorithm" TargetMode="External"/><Relationship Id="rId5" Type="http://schemas.openxmlformats.org/officeDocument/2006/relationships/hyperlink" Target="https://en.wikipedia.org/wiki/Supervised_learning" TargetMode="External"/><Relationship Id="rId4" Type="http://schemas.openxmlformats.org/officeDocument/2006/relationships/hyperlink" Target="https://en.wikipedia.org/wiki/Support-vector_machine#cite_note-CorinnaCortes-1" TargetMode="Externa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2076819138_9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12076819138_9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2076819138_9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12076819138_9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26e3d7d04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26e3d7d04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2076819138_9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12076819138_9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212258ed2e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212258ed2e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2076819138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2076819138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207681913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2076819138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Payton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20da7824e8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20da7824e8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The paper that provided the most guidance on our process was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AutoNum type="arabicPeriod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Severio Giogio et. al.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Char char="-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goes through effective attacks on ML models specifically using PDFs and PeX files as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inputs.  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Char char="-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goes through effective ways on how to disguise malicious code in a format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where the models are not able to easily recognize the features and think it is a harmless file.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Char char="-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goes through ways of defending against such attacks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Char char="-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Uses a shapley value as their explanation method. A shapley value is used in machine learning to help identify the contribution an individual feature has towards the model.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our project mainly attempts to test these ideas on real datasets of malicious software. Our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project will clarify the real threat that adversaries can have by poisoning and evading datasets that are in use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by actors that identify malicious software.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276bae34e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276bae34e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Payton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Instead of using shapley values we use gradient * input. Gradient * input is method we’re using to generate numbers to see if benign or malicious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Very positive is malicious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276bae34e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276bae34e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Harrison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276bae34e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276bae34e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Harrison: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 on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Machine: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In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 learning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en" sz="1050" b="1">
                <a:solidFill>
                  <a:schemeClr val="dk1"/>
                </a:solidFill>
                <a:highlight>
                  <a:srgbClr val="FFFFFF"/>
                </a:highlight>
              </a:rPr>
              <a:t>support-vector machines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lang="en" sz="1050" b="1">
                <a:solidFill>
                  <a:schemeClr val="dk1"/>
                </a:solidFill>
                <a:highlight>
                  <a:srgbClr val="FFFFFF"/>
                </a:highlight>
              </a:rPr>
              <a:t>SVMs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, also </a:t>
            </a:r>
            <a:r>
              <a:rPr lang="en" sz="1050" b="1">
                <a:solidFill>
                  <a:schemeClr val="dk1"/>
                </a:solidFill>
                <a:highlight>
                  <a:srgbClr val="FFFFFF"/>
                </a:highlight>
              </a:rPr>
              <a:t>support-vector networks</a:t>
            </a:r>
            <a:r>
              <a:rPr lang="en" sz="1400" baseline="300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) are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supervised learning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 models with associated learning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algorithms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 that analyze data for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classification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 and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regression analysis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Linear Kernel:</a:t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Linear Kernel is </a:t>
            </a:r>
            <a:r>
              <a:rPr lang="en" sz="1200" b="1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used when the data is Linearly separable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, that is, it can be separated using a single Line. It is one of the most common kernels to be used. It is mostly used when there are a Large number of Features in a particular Data Set.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2076819138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2076819138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developed understanding of data evasion vs poisoning and the various issues with SHAP values, and explainable AI fundamentals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acquired and thoroughly investigated the drebin dataset containing Android samples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found existing data poisoning libraries that we applied to the drebin dataset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were able to generate adversarial examples to confuse the SVM classifier - which is data evasion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also poisoned data effectively to reduce accuracy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we are working on a process to poison based on specific permission to reduce the gradient times input score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26e3d7d04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26e3d7d04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26f56e8808_7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26f56e8808_7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26e3d7d047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26e3d7d047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26f56e8808_7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26f56e8808_7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2076819138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2076819138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20da7824e8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20da7824e8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2076819138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2076819138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334900" y="2314324"/>
            <a:ext cx="8447100" cy="247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435893" y="765323"/>
            <a:ext cx="82452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Gill Sans"/>
              <a:buNone/>
              <a:defRPr sz="2700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435896" y="1871584"/>
            <a:ext cx="82452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spcBef>
                <a:spcPts val="200"/>
              </a:spcBef>
              <a:spcAft>
                <a:spcPts val="0"/>
              </a:spcAft>
              <a:buSzPts val="1100"/>
              <a:buNone/>
              <a:defRPr sz="1200" cap="none">
                <a:solidFill>
                  <a:schemeClr val="accent2"/>
                </a:solidFill>
              </a:defRPr>
            </a:lvl1pPr>
            <a:lvl2pPr lvl="1" algn="ctr" rtl="0">
              <a:spcBef>
                <a:spcPts val="5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5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500"/>
              </a:spcBef>
              <a:spcAft>
                <a:spcPts val="500"/>
              </a:spcAft>
              <a:buSzPts val="8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6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 rtl="0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335863" y="3856481"/>
            <a:ext cx="84681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435895" y="2282933"/>
            <a:ext cx="8272200" cy="1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Gill Sans"/>
              <a:buNone/>
              <a:defRPr sz="2700" b="0" cap="none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spcBef>
                <a:spcPts val="300"/>
              </a:spcBef>
              <a:spcAft>
                <a:spcPts val="0"/>
              </a:spcAft>
              <a:buSzPts val="1200"/>
              <a:buNone/>
              <a:defRPr sz="1400" cap="none">
                <a:solidFill>
                  <a:schemeClr val="accent2"/>
                </a:solidFill>
              </a:defRPr>
            </a:lvl1pPr>
            <a:lvl2pPr marL="914400" lvl="1" indent="-228600" algn="l" rtl="0">
              <a:spcBef>
                <a:spcPts val="50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500"/>
              </a:spcBef>
              <a:spcAft>
                <a:spcPts val="50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334486" y="454915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435895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 rtl="0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2"/>
          </p:nvPr>
        </p:nvSpPr>
        <p:spPr>
          <a:xfrm>
            <a:off x="4641313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 rtl="0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>
            <a:off x="334486" y="454915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665414" y="1688169"/>
            <a:ext cx="3815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spcBef>
                <a:spcPts val="300"/>
              </a:spcBef>
              <a:spcAft>
                <a:spcPts val="0"/>
              </a:spcAft>
              <a:buSzPts val="1500"/>
              <a:buNone/>
              <a:defRPr sz="1700" b="0">
                <a:solidFill>
                  <a:schemeClr val="accent2"/>
                </a:solidFill>
              </a:defRPr>
            </a:lvl1pPr>
            <a:lvl2pPr marL="914400" lvl="1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 rtl="0">
              <a:spcBef>
                <a:spcPts val="5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4pPr>
            <a:lvl5pPr marL="2286000" lvl="4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5pPr>
            <a:lvl6pPr marL="2743200" lvl="5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6pPr>
            <a:lvl7pPr marL="3200400" lvl="6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7pPr>
            <a:lvl8pPr marL="3657600" lvl="7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8pPr>
            <a:lvl9pPr marL="4114800" lvl="8" indent="-228600" algn="l" rtl="0">
              <a:spcBef>
                <a:spcPts val="500"/>
              </a:spcBef>
              <a:spcAft>
                <a:spcPts val="500"/>
              </a:spcAft>
              <a:buSzPts val="1100"/>
              <a:buNone/>
              <a:defRPr sz="1200" b="1"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2"/>
          </p:nvPr>
        </p:nvSpPr>
        <p:spPr>
          <a:xfrm>
            <a:off x="435896" y="2194539"/>
            <a:ext cx="40449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 rtl="0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3"/>
          </p:nvPr>
        </p:nvSpPr>
        <p:spPr>
          <a:xfrm>
            <a:off x="4892801" y="1688169"/>
            <a:ext cx="38154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spcBef>
                <a:spcPts val="300"/>
              </a:spcBef>
              <a:spcAft>
                <a:spcPts val="0"/>
              </a:spcAft>
              <a:buSzPts val="1500"/>
              <a:buNone/>
              <a:defRPr sz="1700" b="0">
                <a:solidFill>
                  <a:schemeClr val="accent2"/>
                </a:solidFill>
              </a:defRPr>
            </a:lvl1pPr>
            <a:lvl2pPr marL="914400" lvl="1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 rtl="0">
              <a:spcBef>
                <a:spcPts val="5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4pPr>
            <a:lvl5pPr marL="2286000" lvl="4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5pPr>
            <a:lvl6pPr marL="2743200" lvl="5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6pPr>
            <a:lvl7pPr marL="3200400" lvl="6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7pPr>
            <a:lvl8pPr marL="3657600" lvl="7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8pPr>
            <a:lvl9pPr marL="4114800" lvl="8" indent="-228600" algn="l" rtl="0">
              <a:spcBef>
                <a:spcPts val="500"/>
              </a:spcBef>
              <a:spcAft>
                <a:spcPts val="500"/>
              </a:spcAft>
              <a:buSzPts val="1100"/>
              <a:buNone/>
              <a:defRPr sz="1200" b="1"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4"/>
          </p:nvPr>
        </p:nvSpPr>
        <p:spPr>
          <a:xfrm>
            <a:off x="4663282" y="2194539"/>
            <a:ext cx="40449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 rtl="0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330512" y="454915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431921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335863" y="3856480"/>
            <a:ext cx="8473800" cy="9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435894" y="3946722"/>
            <a:ext cx="3682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9F276A"/>
              </a:buClr>
              <a:buSzPts val="1500"/>
              <a:buFont typeface="Gill Sans"/>
              <a:buNone/>
              <a:defRPr sz="1500" b="0"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1"/>
          </p:nvPr>
        </p:nvSpPr>
        <p:spPr>
          <a:xfrm>
            <a:off x="335862" y="450900"/>
            <a:ext cx="8469600" cy="3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17500" algn="l" rtl="0"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500">
                <a:solidFill>
                  <a:schemeClr val="dk2"/>
                </a:solidFill>
              </a:defRPr>
            </a:lvl1pPr>
            <a:lvl2pPr marL="914400" lvl="1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 sz="1400">
                <a:solidFill>
                  <a:schemeClr val="dk2"/>
                </a:solidFill>
              </a:defRPr>
            </a:lvl2pPr>
            <a:lvl3pPr marL="1371600" lvl="2" indent="-298450" algn="l" rtl="0">
              <a:spcBef>
                <a:spcPts val="500"/>
              </a:spcBef>
              <a:spcAft>
                <a:spcPts val="0"/>
              </a:spcAft>
              <a:buSzPts val="1100"/>
              <a:buChar char="◼"/>
              <a:defRPr sz="1200">
                <a:solidFill>
                  <a:schemeClr val="dk2"/>
                </a:solidFill>
              </a:defRPr>
            </a:lvl3pPr>
            <a:lvl4pPr marL="1828800" lvl="3" indent="-292100" algn="l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4pPr>
            <a:lvl5pPr marL="2286000" lvl="4" indent="-292100" algn="l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5pPr>
            <a:lvl6pPr marL="2743200" lvl="5" indent="-292100" algn="l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6pPr>
            <a:lvl7pPr marL="3200400" lvl="6" indent="-292100" algn="l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7pPr>
            <a:lvl8pPr marL="3657600" lvl="7" indent="-292100" algn="l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8pPr>
            <a:lvl9pPr marL="4114800" lvl="8" indent="-292100" algn="l" rtl="0">
              <a:spcBef>
                <a:spcPts val="500"/>
              </a:spcBef>
              <a:spcAft>
                <a:spcPts val="50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2"/>
          </p:nvPr>
        </p:nvSpPr>
        <p:spPr>
          <a:xfrm>
            <a:off x="4305617" y="3946722"/>
            <a:ext cx="44025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r" rtl="0">
              <a:spcBef>
                <a:spcPts val="20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lt1"/>
                </a:solidFill>
              </a:defRPr>
            </a:lvl1pPr>
            <a:lvl2pPr marL="914400" lvl="1" indent="-228600" algn="l" rtl="0"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2pPr>
            <a:lvl3pPr marL="1371600" lvl="2" indent="-228600" algn="l" rtl="0"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4pPr>
            <a:lvl5pPr marL="2286000" lvl="4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5pPr>
            <a:lvl6pPr marL="2743200" lvl="5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6pPr>
            <a:lvl7pPr marL="3200400" lvl="6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7pPr>
            <a:lvl8pPr marL="3657600" lvl="7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8pPr>
            <a:lvl9pPr marL="4114800" lvl="8" indent="-228600" algn="l" rtl="0">
              <a:spcBef>
                <a:spcPts val="500"/>
              </a:spcBef>
              <a:spcAft>
                <a:spcPts val="500"/>
              </a:spcAft>
              <a:buSzPts val="600"/>
              <a:buNone/>
              <a:defRPr sz="700"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435895" y="3520042"/>
            <a:ext cx="8272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Gill Sans"/>
              <a:buNone/>
              <a:defRPr sz="1800" b="0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2"/>
          <p:cNvSpPr>
            <a:spLocks noGrp="1"/>
          </p:cNvSpPr>
          <p:nvPr>
            <p:ph type="pic" idx="2"/>
          </p:nvPr>
        </p:nvSpPr>
        <p:spPr>
          <a:xfrm>
            <a:off x="335863" y="449794"/>
            <a:ext cx="8468100" cy="26679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2"/>
          <p:cNvSpPr txBox="1">
            <a:spLocks noGrp="1"/>
          </p:cNvSpPr>
          <p:nvPr>
            <p:ph type="body" idx="1"/>
          </p:nvPr>
        </p:nvSpPr>
        <p:spPr>
          <a:xfrm>
            <a:off x="435894" y="3945095"/>
            <a:ext cx="82722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1pPr>
            <a:lvl2pPr marL="914400" lvl="1" indent="-228600" algn="l" rtl="0">
              <a:spcBef>
                <a:spcPts val="5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 rtl="0"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4pPr>
            <a:lvl5pPr marL="2286000" lvl="4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5pPr>
            <a:lvl6pPr marL="2743200" lvl="5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6pPr>
            <a:lvl7pPr marL="3200400" lvl="6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7pPr>
            <a:lvl8pPr marL="3657600" lvl="7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8pPr>
            <a:lvl9pPr marL="4114800" lvl="8" indent="-228600" algn="l" rtl="0">
              <a:spcBef>
                <a:spcPts val="500"/>
              </a:spcBef>
              <a:spcAft>
                <a:spcPts val="500"/>
              </a:spcAft>
              <a:buSzPts val="600"/>
              <a:buNone/>
              <a:defRPr sz="700"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body" idx="1"/>
          </p:nvPr>
        </p:nvSpPr>
        <p:spPr>
          <a:xfrm rot="5400000">
            <a:off x="3250956" y="-1063048"/>
            <a:ext cx="2642100" cy="82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298450" algn="l" rtl="0">
              <a:spcBef>
                <a:spcPts val="500"/>
              </a:spcBef>
              <a:spcAft>
                <a:spcPts val="0"/>
              </a:spcAft>
              <a:buSzPts val="1100"/>
              <a:buChar char="◼"/>
              <a:defRPr/>
            </a:lvl2pPr>
            <a:lvl3pPr marL="1371600" lvl="2" indent="-292100" algn="l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/>
            </a:lvl3pPr>
            <a:lvl4pPr marL="1828800" lvl="3" indent="-279400" algn="l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4pPr>
            <a:lvl5pPr marL="2286000" lvl="4" indent="-279400" algn="l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5pPr>
            <a:lvl6pPr marL="2743200" lvl="5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 rtl="0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/>
          <p:nvPr/>
        </p:nvSpPr>
        <p:spPr>
          <a:xfrm>
            <a:off x="6629401" y="449794"/>
            <a:ext cx="2180100" cy="436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 rot="5400000">
            <a:off x="5437324" y="1698995"/>
            <a:ext cx="3887400" cy="15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1598552" y="-510655"/>
            <a:ext cx="3887400" cy="5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 rtl="0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dt" idx="10"/>
          </p:nvPr>
        </p:nvSpPr>
        <p:spPr>
          <a:xfrm>
            <a:off x="6745255" y="4467103"/>
            <a:ext cx="99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ftr" idx="11"/>
          </p:nvPr>
        </p:nvSpPr>
        <p:spPr>
          <a:xfrm>
            <a:off x="581192" y="4463858"/>
            <a:ext cx="592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sldNum" idx="12"/>
          </p:nvPr>
        </p:nvSpPr>
        <p:spPr>
          <a:xfrm>
            <a:off x="7834961" y="4467103"/>
            <a:ext cx="87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35894" y="528843"/>
            <a:ext cx="8272200" cy="8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ill Sans"/>
              <a:buNone/>
              <a:defRPr sz="2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35894" y="1752002"/>
            <a:ext cx="8272200" cy="26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34901" y="342900"/>
            <a:ext cx="2777400" cy="7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3181373" y="342900"/>
            <a:ext cx="2777400" cy="6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ctrTitle"/>
          </p:nvPr>
        </p:nvSpPr>
        <p:spPr>
          <a:xfrm>
            <a:off x="5334277" y="640725"/>
            <a:ext cx="3059100" cy="16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Roboto"/>
              <a:buNone/>
            </a:pPr>
            <a:r>
              <a:rPr lang="en" sz="2100" b="1" i="1" u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DATA POISONING OF AN INFORMATION SECURITY MACHINE LEARNING MODEL</a:t>
            </a:r>
            <a:endParaRPr sz="2100"/>
          </a:p>
        </p:txBody>
      </p:sp>
      <p:sp>
        <p:nvSpPr>
          <p:cNvPr id="142" name="Google Shape;142;p25"/>
          <p:cNvSpPr txBox="1">
            <a:spLocks noGrp="1"/>
          </p:cNvSpPr>
          <p:nvPr>
            <p:ph type="subTitle" idx="1"/>
          </p:nvPr>
        </p:nvSpPr>
        <p:spPr>
          <a:xfrm>
            <a:off x="5334277" y="3084910"/>
            <a:ext cx="30591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200" b="1" i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" sz="2200" b="1" i="1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TD TEAM-2</a:t>
            </a:r>
            <a:endParaRPr sz="22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SzPts val="1100"/>
              <a:buNone/>
            </a:pPr>
            <a:r>
              <a:rPr lang="en" sz="2200" b="1" i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FINAL PRESENTATION</a:t>
            </a:r>
            <a:endParaRPr sz="2200">
              <a:solidFill>
                <a:srgbClr val="FFFFFF"/>
              </a:solidFill>
            </a:endParaRPr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125" y="951925"/>
            <a:ext cx="4981149" cy="328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ill Sans"/>
              <a:buNone/>
            </a:pPr>
            <a:r>
              <a:rPr lang="en"/>
              <a:t>TEAM MEMBERS</a:t>
            </a:r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11" cy="2758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228600" lvl="0" indent="-234950" algn="l" rtl="0">
              <a:spcBef>
                <a:spcPts val="0"/>
              </a:spcBef>
              <a:spcAft>
                <a:spcPts val="0"/>
              </a:spcAft>
              <a:buSzPts val="1300"/>
              <a:buChar char="◼"/>
            </a:pPr>
            <a:r>
              <a:rPr lang="en" sz="1500" dirty="0"/>
              <a:t>Rishi Dandu	(Graduate Student)		- 	rkd160030@utdallas.edu </a:t>
            </a:r>
            <a:endParaRPr sz="1500" dirty="0"/>
          </a:p>
          <a:p>
            <a:pPr marL="228600" lvl="0" indent="-234950" algn="l" rtl="0">
              <a:spcBef>
                <a:spcPts val="700"/>
              </a:spcBef>
              <a:spcAft>
                <a:spcPts val="0"/>
              </a:spcAft>
              <a:buSzPts val="1300"/>
              <a:buChar char="◼"/>
            </a:pPr>
            <a:r>
              <a:rPr lang="en" sz="1500" dirty="0"/>
              <a:t>Ravi Teja </a:t>
            </a:r>
            <a:r>
              <a:rPr lang="en" sz="1500" dirty="0" err="1"/>
              <a:t>Avuthu</a:t>
            </a:r>
            <a:r>
              <a:rPr lang="en" sz="1500" dirty="0"/>
              <a:t>	(Graduate Student)		- 	rxa210038@utdallas.edu </a:t>
            </a:r>
            <a:endParaRPr sz="1500" dirty="0"/>
          </a:p>
          <a:p>
            <a:pPr marL="228600" lvl="0" indent="-234950" algn="l" rtl="0">
              <a:spcBef>
                <a:spcPts val="700"/>
              </a:spcBef>
              <a:spcAft>
                <a:spcPts val="0"/>
              </a:spcAft>
              <a:buSzPts val="1300"/>
              <a:buChar char="◼"/>
            </a:pPr>
            <a:r>
              <a:rPr lang="en" sz="1500" dirty="0"/>
              <a:t>Harrison Hamric	(Under-Graduate Student)	- 	hgh160130@utdallas.edu </a:t>
            </a:r>
            <a:endParaRPr sz="1500" dirty="0"/>
          </a:p>
          <a:p>
            <a:pPr marL="228600" lvl="0" indent="-234950" algn="l" rtl="0">
              <a:spcBef>
                <a:spcPts val="700"/>
              </a:spcBef>
              <a:spcAft>
                <a:spcPts val="0"/>
              </a:spcAft>
              <a:buSzPts val="1300"/>
              <a:buChar char="◼"/>
            </a:pPr>
            <a:r>
              <a:rPr lang="en" sz="1500" dirty="0"/>
              <a:t>Payton Harmon    	(Under-Graduate Student)	-	pnh170000@utdallas.edu </a:t>
            </a:r>
            <a:endParaRPr sz="1500" dirty="0"/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55" name="Google Shape;155;p2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lnSpcReduction="10000"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■"/>
            </a:pPr>
            <a:r>
              <a:rPr lang="en" sz="1800"/>
              <a:t>Introduction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800"/>
              <a:t>Methods and Procedure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800"/>
              <a:t>Previous Work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800"/>
              <a:t>Findings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800"/>
              <a:t>Issues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800"/>
              <a:t>Results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800"/>
              <a:t>Conclusions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800"/>
              <a:t>Questions</a:t>
            </a:r>
            <a:endParaRPr sz="1800"/>
          </a:p>
          <a:p>
            <a:pPr marL="45720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ill Sans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435899" y="1635375"/>
            <a:ext cx="6414900" cy="27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◼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Machine learning (ML) is the study of computer algorithms that can improve automatically through experience and by the use of data.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◼"/>
            </a:pPr>
            <a:r>
              <a:rPr lang="en">
                <a:solidFill>
                  <a:schemeClr val="dk1"/>
                </a:solidFill>
              </a:rPr>
              <a:t>Machine Learning (ML) classifier is an algorithm that automatically orders or categorizes data into one or more classes.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◼"/>
            </a:pPr>
            <a:r>
              <a:rPr lang="en">
                <a:solidFill>
                  <a:schemeClr val="dk1"/>
                </a:solidFill>
              </a:rPr>
              <a:t>Many of these detection systems boast impressive performance </a:t>
            </a:r>
            <a:r>
              <a:rPr lang="en" b="1">
                <a:solidFill>
                  <a:schemeClr val="dk1"/>
                </a:solidFill>
              </a:rPr>
              <a:t>however…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◼"/>
            </a:pPr>
            <a:r>
              <a:rPr lang="en">
                <a:solidFill>
                  <a:schemeClr val="dk1"/>
                </a:solidFill>
              </a:rPr>
              <a:t>ML systems often aren’t designed to be robust against adversarial attacks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◼"/>
            </a:pPr>
            <a:r>
              <a:rPr lang="en" sz="1400">
                <a:solidFill>
                  <a:schemeClr val="dk1"/>
                </a:solidFill>
              </a:rPr>
              <a:t>Data Poisoning Attacks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◼"/>
            </a:pPr>
            <a:r>
              <a:rPr lang="en" sz="1400">
                <a:solidFill>
                  <a:schemeClr val="dk1"/>
                </a:solidFill>
              </a:rPr>
              <a:t>Evasion Attacks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◼"/>
            </a:pPr>
            <a:r>
              <a:rPr lang="en" b="1">
                <a:solidFill>
                  <a:schemeClr val="dk1"/>
                </a:solidFill>
              </a:rPr>
              <a:t>Goal:</a:t>
            </a:r>
            <a:r>
              <a:rPr lang="en">
                <a:solidFill>
                  <a:schemeClr val="dk1"/>
                </a:solidFill>
              </a:rPr>
              <a:t> Successfully understand the methods of data poisoning and data evasion and implement them </a:t>
            </a:r>
            <a:endParaRPr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◼"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7325" y="1741175"/>
            <a:ext cx="2088700" cy="25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Cont.</a:t>
            </a:r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385794" y="241832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  <p:grpSp>
        <p:nvGrpSpPr>
          <p:cNvPr id="169" name="Google Shape;169;p29"/>
          <p:cNvGrpSpPr/>
          <p:nvPr/>
        </p:nvGrpSpPr>
        <p:grpSpPr>
          <a:xfrm>
            <a:off x="467841" y="1465900"/>
            <a:ext cx="8108131" cy="773339"/>
            <a:chOff x="485966" y="1313850"/>
            <a:chExt cx="8108131" cy="773339"/>
          </a:xfrm>
        </p:grpSpPr>
        <p:sp>
          <p:nvSpPr>
            <p:cNvPr id="170" name="Google Shape;170;p29"/>
            <p:cNvSpPr/>
            <p:nvPr/>
          </p:nvSpPr>
          <p:spPr>
            <a:xfrm>
              <a:off x="507143" y="1313850"/>
              <a:ext cx="2616777" cy="773339"/>
            </a:xfrm>
            <a:custGeom>
              <a:avLst/>
              <a:gdLst/>
              <a:ahLst/>
              <a:cxnLst/>
              <a:rect l="l" t="t" r="r" b="b"/>
              <a:pathLst>
                <a:path w="123564" h="36517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17"/>
                    <a:pt x="17658" y="36517"/>
                  </a:cubicBezTo>
                  <a:lnTo>
                    <a:pt x="105907" y="36517"/>
                  </a:lnTo>
                  <a:cubicBezTo>
                    <a:pt x="115658" y="36517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rgbClr val="D1C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9"/>
            <p:cNvSpPr/>
            <p:nvPr/>
          </p:nvSpPr>
          <p:spPr>
            <a:xfrm>
              <a:off x="485966" y="1313850"/>
              <a:ext cx="773085" cy="773339"/>
            </a:xfrm>
            <a:custGeom>
              <a:avLst/>
              <a:gdLst/>
              <a:ahLst/>
              <a:cxnLst/>
              <a:rect l="l" t="t" r="r" b="b"/>
              <a:pathLst>
                <a:path w="36505" h="36517" extrusionOk="0">
                  <a:moveTo>
                    <a:pt x="18253" y="0"/>
                  </a:moveTo>
                  <a:cubicBezTo>
                    <a:pt x="8168" y="0"/>
                    <a:pt x="1" y="8180"/>
                    <a:pt x="1" y="18252"/>
                  </a:cubicBezTo>
                  <a:cubicBezTo>
                    <a:pt x="1" y="28337"/>
                    <a:pt x="8168" y="36517"/>
                    <a:pt x="18253" y="36517"/>
                  </a:cubicBezTo>
                  <a:cubicBezTo>
                    <a:pt x="28326" y="36517"/>
                    <a:pt x="36505" y="28337"/>
                    <a:pt x="36505" y="18252"/>
                  </a:cubicBezTo>
                  <a:cubicBezTo>
                    <a:pt x="36505" y="8180"/>
                    <a:pt x="28326" y="0"/>
                    <a:pt x="18253" y="0"/>
                  </a:cubicBezTo>
                  <a:close/>
                </a:path>
              </a:pathLst>
            </a:custGeom>
            <a:solidFill>
              <a:srgbClr val="BCB6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9"/>
            <p:cNvSpPr txBox="1"/>
            <p:nvPr/>
          </p:nvSpPr>
          <p:spPr>
            <a:xfrm>
              <a:off x="1484909" y="1548144"/>
              <a:ext cx="1345200" cy="3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Data Evasion</a:t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73" name="Google Shape;173;p29"/>
            <p:cNvSpPr/>
            <p:nvPr/>
          </p:nvSpPr>
          <p:spPr>
            <a:xfrm>
              <a:off x="3274196" y="1313850"/>
              <a:ext cx="2616777" cy="773339"/>
            </a:xfrm>
            <a:custGeom>
              <a:avLst/>
              <a:gdLst/>
              <a:ahLst/>
              <a:cxnLst/>
              <a:rect l="l" t="t" r="r" b="b"/>
              <a:pathLst>
                <a:path w="123564" h="36517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17"/>
                    <a:pt x="17658" y="36517"/>
                  </a:cubicBezTo>
                  <a:lnTo>
                    <a:pt x="105907" y="36517"/>
                  </a:lnTo>
                  <a:cubicBezTo>
                    <a:pt x="115658" y="36517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rgbClr val="D1C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9"/>
            <p:cNvSpPr txBox="1"/>
            <p:nvPr/>
          </p:nvSpPr>
          <p:spPr>
            <a:xfrm>
              <a:off x="3399535" y="1565122"/>
              <a:ext cx="2366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most common attack on machine learning model performed during inference.</a:t>
              </a:r>
              <a:endParaRPr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5" name="Google Shape;175;p29"/>
            <p:cNvSpPr/>
            <p:nvPr/>
          </p:nvSpPr>
          <p:spPr>
            <a:xfrm>
              <a:off x="859951" y="1544032"/>
              <a:ext cx="145176" cy="95237"/>
            </a:xfrm>
            <a:custGeom>
              <a:avLst/>
              <a:gdLst/>
              <a:ahLst/>
              <a:cxnLst/>
              <a:rect l="l" t="t" r="r" b="b"/>
              <a:pathLst>
                <a:path w="4191" h="274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05"/>
                    <a:pt x="158" y="662"/>
                    <a:pt x="315" y="662"/>
                  </a:cubicBezTo>
                  <a:lnTo>
                    <a:pt x="2426" y="662"/>
                  </a:lnTo>
                  <a:cubicBezTo>
                    <a:pt x="2615" y="662"/>
                    <a:pt x="2773" y="820"/>
                    <a:pt x="2773" y="1009"/>
                  </a:cubicBezTo>
                  <a:lnTo>
                    <a:pt x="2773" y="1576"/>
                  </a:lnTo>
                  <a:lnTo>
                    <a:pt x="2678" y="1450"/>
                  </a:lnTo>
                  <a:cubicBezTo>
                    <a:pt x="2615" y="1387"/>
                    <a:pt x="2521" y="1355"/>
                    <a:pt x="2430" y="1355"/>
                  </a:cubicBezTo>
                  <a:cubicBezTo>
                    <a:pt x="2340" y="1355"/>
                    <a:pt x="2253" y="1387"/>
                    <a:pt x="2206" y="1450"/>
                  </a:cubicBezTo>
                  <a:cubicBezTo>
                    <a:pt x="2080" y="1576"/>
                    <a:pt x="2080" y="1796"/>
                    <a:pt x="2206" y="1922"/>
                  </a:cubicBezTo>
                  <a:lnTo>
                    <a:pt x="2899" y="2647"/>
                  </a:lnTo>
                  <a:cubicBezTo>
                    <a:pt x="2993" y="2710"/>
                    <a:pt x="3056" y="2741"/>
                    <a:pt x="3151" y="2741"/>
                  </a:cubicBezTo>
                  <a:cubicBezTo>
                    <a:pt x="3214" y="2741"/>
                    <a:pt x="3340" y="2710"/>
                    <a:pt x="3371" y="2647"/>
                  </a:cubicBezTo>
                  <a:lnTo>
                    <a:pt x="4096" y="1922"/>
                  </a:lnTo>
                  <a:cubicBezTo>
                    <a:pt x="4191" y="1796"/>
                    <a:pt x="4191" y="1576"/>
                    <a:pt x="4096" y="1450"/>
                  </a:cubicBezTo>
                  <a:cubicBezTo>
                    <a:pt x="4033" y="1387"/>
                    <a:pt x="3938" y="1355"/>
                    <a:pt x="3848" y="1355"/>
                  </a:cubicBezTo>
                  <a:cubicBezTo>
                    <a:pt x="3757" y="1355"/>
                    <a:pt x="3671" y="1387"/>
                    <a:pt x="3623" y="1450"/>
                  </a:cubicBezTo>
                  <a:lnTo>
                    <a:pt x="3497" y="1576"/>
                  </a:lnTo>
                  <a:lnTo>
                    <a:pt x="3497" y="1009"/>
                  </a:lnTo>
                  <a:cubicBezTo>
                    <a:pt x="3497" y="442"/>
                    <a:pt x="3025" y="0"/>
                    <a:pt x="2458" y="0"/>
                  </a:cubicBezTo>
                  <a:close/>
                </a:path>
              </a:pathLst>
            </a:custGeom>
            <a:solidFill>
              <a:srgbClr val="D1C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9"/>
            <p:cNvSpPr/>
            <p:nvPr/>
          </p:nvSpPr>
          <p:spPr>
            <a:xfrm>
              <a:off x="713701" y="1760693"/>
              <a:ext cx="146285" cy="96313"/>
            </a:xfrm>
            <a:custGeom>
              <a:avLst/>
              <a:gdLst/>
              <a:ahLst/>
              <a:cxnLst/>
              <a:rect l="l" t="t" r="r" b="b"/>
              <a:pathLst>
                <a:path w="4223" h="2773" extrusionOk="0">
                  <a:moveTo>
                    <a:pt x="1056" y="0"/>
                  </a:moveTo>
                  <a:cubicBezTo>
                    <a:pt x="969" y="0"/>
                    <a:pt x="883" y="32"/>
                    <a:pt x="820" y="95"/>
                  </a:cubicBezTo>
                  <a:lnTo>
                    <a:pt x="95" y="820"/>
                  </a:lnTo>
                  <a:cubicBezTo>
                    <a:pt x="1" y="914"/>
                    <a:pt x="1" y="1166"/>
                    <a:pt x="95" y="1292"/>
                  </a:cubicBezTo>
                  <a:cubicBezTo>
                    <a:pt x="158" y="1339"/>
                    <a:pt x="253" y="1363"/>
                    <a:pt x="343" y="1363"/>
                  </a:cubicBezTo>
                  <a:cubicBezTo>
                    <a:pt x="434" y="1363"/>
                    <a:pt x="521" y="1339"/>
                    <a:pt x="568" y="1292"/>
                  </a:cubicBezTo>
                  <a:lnTo>
                    <a:pt x="694" y="1166"/>
                  </a:lnTo>
                  <a:lnTo>
                    <a:pt x="694" y="1702"/>
                  </a:lnTo>
                  <a:cubicBezTo>
                    <a:pt x="757" y="2300"/>
                    <a:pt x="1229" y="2773"/>
                    <a:pt x="1765" y="2773"/>
                  </a:cubicBezTo>
                  <a:lnTo>
                    <a:pt x="3844" y="2773"/>
                  </a:lnTo>
                  <a:cubicBezTo>
                    <a:pt x="4065" y="2773"/>
                    <a:pt x="4222" y="2615"/>
                    <a:pt x="4222" y="2426"/>
                  </a:cubicBezTo>
                  <a:cubicBezTo>
                    <a:pt x="4222" y="2237"/>
                    <a:pt x="4065" y="2080"/>
                    <a:pt x="3844" y="2080"/>
                  </a:cubicBezTo>
                  <a:lnTo>
                    <a:pt x="1765" y="2080"/>
                  </a:lnTo>
                  <a:cubicBezTo>
                    <a:pt x="1576" y="2080"/>
                    <a:pt x="1418" y="1922"/>
                    <a:pt x="1418" y="1702"/>
                  </a:cubicBezTo>
                  <a:lnTo>
                    <a:pt x="1418" y="1166"/>
                  </a:lnTo>
                  <a:lnTo>
                    <a:pt x="1544" y="1292"/>
                  </a:lnTo>
                  <a:cubicBezTo>
                    <a:pt x="1592" y="1339"/>
                    <a:pt x="1678" y="1363"/>
                    <a:pt x="1769" y="1363"/>
                  </a:cubicBezTo>
                  <a:cubicBezTo>
                    <a:pt x="1859" y="1363"/>
                    <a:pt x="1954" y="1339"/>
                    <a:pt x="2017" y="1292"/>
                  </a:cubicBezTo>
                  <a:cubicBezTo>
                    <a:pt x="2112" y="1166"/>
                    <a:pt x="2112" y="914"/>
                    <a:pt x="2017" y="820"/>
                  </a:cubicBezTo>
                  <a:lnTo>
                    <a:pt x="1292" y="95"/>
                  </a:lnTo>
                  <a:cubicBezTo>
                    <a:pt x="1229" y="32"/>
                    <a:pt x="1143" y="0"/>
                    <a:pt x="1056" y="0"/>
                  </a:cubicBezTo>
                  <a:close/>
                </a:path>
              </a:pathLst>
            </a:custGeom>
            <a:solidFill>
              <a:srgbClr val="D1C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9"/>
            <p:cNvSpPr/>
            <p:nvPr/>
          </p:nvSpPr>
          <p:spPr>
            <a:xfrm>
              <a:off x="666764" y="1494781"/>
              <a:ext cx="193222" cy="241877"/>
            </a:xfrm>
            <a:custGeom>
              <a:avLst/>
              <a:gdLst/>
              <a:ahLst/>
              <a:cxnLst/>
              <a:rect l="l" t="t" r="r" b="b"/>
              <a:pathLst>
                <a:path w="5578" h="6964" extrusionOk="0">
                  <a:moveTo>
                    <a:pt x="2773" y="694"/>
                  </a:moveTo>
                  <a:cubicBezTo>
                    <a:pt x="3372" y="694"/>
                    <a:pt x="3782" y="1166"/>
                    <a:pt x="3782" y="1734"/>
                  </a:cubicBezTo>
                  <a:cubicBezTo>
                    <a:pt x="3782" y="2301"/>
                    <a:pt x="3309" y="2742"/>
                    <a:pt x="2773" y="2742"/>
                  </a:cubicBezTo>
                  <a:cubicBezTo>
                    <a:pt x="2175" y="2742"/>
                    <a:pt x="1734" y="2269"/>
                    <a:pt x="1734" y="1734"/>
                  </a:cubicBezTo>
                  <a:cubicBezTo>
                    <a:pt x="1734" y="1166"/>
                    <a:pt x="2206" y="694"/>
                    <a:pt x="2773" y="694"/>
                  </a:cubicBezTo>
                  <a:close/>
                  <a:moveTo>
                    <a:pt x="2773" y="3466"/>
                  </a:moveTo>
                  <a:cubicBezTo>
                    <a:pt x="3908" y="3466"/>
                    <a:pt x="4853" y="4411"/>
                    <a:pt x="4853" y="5546"/>
                  </a:cubicBezTo>
                  <a:lnTo>
                    <a:pt x="4853" y="6270"/>
                  </a:lnTo>
                  <a:lnTo>
                    <a:pt x="694" y="6270"/>
                  </a:lnTo>
                  <a:lnTo>
                    <a:pt x="694" y="5546"/>
                  </a:lnTo>
                  <a:cubicBezTo>
                    <a:pt x="694" y="4411"/>
                    <a:pt x="1639" y="3466"/>
                    <a:pt x="2773" y="3466"/>
                  </a:cubicBezTo>
                  <a:close/>
                  <a:moveTo>
                    <a:pt x="2805" y="1"/>
                  </a:moveTo>
                  <a:cubicBezTo>
                    <a:pt x="1860" y="1"/>
                    <a:pt x="1072" y="788"/>
                    <a:pt x="1072" y="1734"/>
                  </a:cubicBezTo>
                  <a:cubicBezTo>
                    <a:pt x="1072" y="2238"/>
                    <a:pt x="1324" y="2710"/>
                    <a:pt x="1671" y="3025"/>
                  </a:cubicBezTo>
                  <a:cubicBezTo>
                    <a:pt x="726" y="3466"/>
                    <a:pt x="64" y="4443"/>
                    <a:pt x="64" y="5577"/>
                  </a:cubicBezTo>
                  <a:lnTo>
                    <a:pt x="64" y="6617"/>
                  </a:lnTo>
                  <a:cubicBezTo>
                    <a:pt x="1" y="6806"/>
                    <a:pt x="159" y="6963"/>
                    <a:pt x="379" y="6963"/>
                  </a:cubicBezTo>
                  <a:lnTo>
                    <a:pt x="5199" y="6963"/>
                  </a:lnTo>
                  <a:cubicBezTo>
                    <a:pt x="5420" y="6963"/>
                    <a:pt x="5577" y="6806"/>
                    <a:pt x="5577" y="6617"/>
                  </a:cubicBezTo>
                  <a:lnTo>
                    <a:pt x="5577" y="5577"/>
                  </a:lnTo>
                  <a:cubicBezTo>
                    <a:pt x="5577" y="4443"/>
                    <a:pt x="4884" y="3498"/>
                    <a:pt x="3939" y="3025"/>
                  </a:cubicBezTo>
                  <a:cubicBezTo>
                    <a:pt x="4317" y="2710"/>
                    <a:pt x="4538" y="2238"/>
                    <a:pt x="4538" y="1734"/>
                  </a:cubicBezTo>
                  <a:cubicBezTo>
                    <a:pt x="4538" y="788"/>
                    <a:pt x="3750" y="1"/>
                    <a:pt x="2805" y="1"/>
                  </a:cubicBezTo>
                  <a:close/>
                </a:path>
              </a:pathLst>
            </a:custGeom>
            <a:solidFill>
              <a:srgbClr val="D1C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9"/>
            <p:cNvSpPr/>
            <p:nvPr/>
          </p:nvSpPr>
          <p:spPr>
            <a:xfrm>
              <a:off x="885030" y="1664380"/>
              <a:ext cx="193222" cy="241877"/>
            </a:xfrm>
            <a:custGeom>
              <a:avLst/>
              <a:gdLst/>
              <a:ahLst/>
              <a:cxnLst/>
              <a:rect l="l" t="t" r="r" b="b"/>
              <a:pathLst>
                <a:path w="5578" h="6964" extrusionOk="0">
                  <a:moveTo>
                    <a:pt x="2773" y="663"/>
                  </a:moveTo>
                  <a:cubicBezTo>
                    <a:pt x="3372" y="663"/>
                    <a:pt x="3782" y="1135"/>
                    <a:pt x="3782" y="1702"/>
                  </a:cubicBezTo>
                  <a:cubicBezTo>
                    <a:pt x="3782" y="2238"/>
                    <a:pt x="3309" y="2710"/>
                    <a:pt x="2773" y="2710"/>
                  </a:cubicBezTo>
                  <a:cubicBezTo>
                    <a:pt x="2175" y="2710"/>
                    <a:pt x="1734" y="2238"/>
                    <a:pt x="1734" y="1702"/>
                  </a:cubicBezTo>
                  <a:cubicBezTo>
                    <a:pt x="1734" y="1135"/>
                    <a:pt x="2175" y="663"/>
                    <a:pt x="2773" y="663"/>
                  </a:cubicBezTo>
                  <a:close/>
                  <a:moveTo>
                    <a:pt x="2773" y="3467"/>
                  </a:moveTo>
                  <a:cubicBezTo>
                    <a:pt x="3908" y="3467"/>
                    <a:pt x="4853" y="4412"/>
                    <a:pt x="4853" y="5546"/>
                  </a:cubicBezTo>
                  <a:lnTo>
                    <a:pt x="4853" y="6270"/>
                  </a:lnTo>
                  <a:lnTo>
                    <a:pt x="694" y="6270"/>
                  </a:lnTo>
                  <a:lnTo>
                    <a:pt x="694" y="5546"/>
                  </a:lnTo>
                  <a:cubicBezTo>
                    <a:pt x="694" y="4412"/>
                    <a:pt x="1639" y="3467"/>
                    <a:pt x="2773" y="3467"/>
                  </a:cubicBezTo>
                  <a:close/>
                  <a:moveTo>
                    <a:pt x="2773" y="1"/>
                  </a:moveTo>
                  <a:cubicBezTo>
                    <a:pt x="1828" y="1"/>
                    <a:pt x="1041" y="789"/>
                    <a:pt x="1041" y="1734"/>
                  </a:cubicBezTo>
                  <a:cubicBezTo>
                    <a:pt x="1041" y="2238"/>
                    <a:pt x="1261" y="2710"/>
                    <a:pt x="1608" y="3025"/>
                  </a:cubicBezTo>
                  <a:cubicBezTo>
                    <a:pt x="663" y="3467"/>
                    <a:pt x="1" y="4443"/>
                    <a:pt x="1" y="5546"/>
                  </a:cubicBezTo>
                  <a:lnTo>
                    <a:pt x="1" y="6617"/>
                  </a:lnTo>
                  <a:cubicBezTo>
                    <a:pt x="1" y="6806"/>
                    <a:pt x="159" y="6964"/>
                    <a:pt x="379" y="6964"/>
                  </a:cubicBezTo>
                  <a:lnTo>
                    <a:pt x="5199" y="6964"/>
                  </a:lnTo>
                  <a:cubicBezTo>
                    <a:pt x="5420" y="6964"/>
                    <a:pt x="5577" y="6806"/>
                    <a:pt x="5577" y="6617"/>
                  </a:cubicBezTo>
                  <a:lnTo>
                    <a:pt x="5577" y="5546"/>
                  </a:lnTo>
                  <a:cubicBezTo>
                    <a:pt x="5514" y="4412"/>
                    <a:pt x="4853" y="3467"/>
                    <a:pt x="3908" y="3025"/>
                  </a:cubicBezTo>
                  <a:cubicBezTo>
                    <a:pt x="4254" y="2710"/>
                    <a:pt x="4506" y="2238"/>
                    <a:pt x="4506" y="1734"/>
                  </a:cubicBezTo>
                  <a:cubicBezTo>
                    <a:pt x="4506" y="789"/>
                    <a:pt x="3719" y="1"/>
                    <a:pt x="2773" y="1"/>
                  </a:cubicBezTo>
                  <a:close/>
                </a:path>
              </a:pathLst>
            </a:custGeom>
            <a:solidFill>
              <a:srgbClr val="D1C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9"/>
            <p:cNvSpPr txBox="1"/>
            <p:nvPr/>
          </p:nvSpPr>
          <p:spPr>
            <a:xfrm>
              <a:off x="6227997" y="1588647"/>
              <a:ext cx="2366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0" name="Google Shape;180;p29"/>
          <p:cNvGrpSpPr/>
          <p:nvPr/>
        </p:nvGrpSpPr>
        <p:grpSpPr>
          <a:xfrm>
            <a:off x="485991" y="3299260"/>
            <a:ext cx="8172019" cy="773339"/>
            <a:chOff x="485966" y="2196110"/>
            <a:chExt cx="8172019" cy="773339"/>
          </a:xfrm>
        </p:grpSpPr>
        <p:sp>
          <p:nvSpPr>
            <p:cNvPr id="181" name="Google Shape;181;p29"/>
            <p:cNvSpPr/>
            <p:nvPr/>
          </p:nvSpPr>
          <p:spPr>
            <a:xfrm>
              <a:off x="507143" y="2196237"/>
              <a:ext cx="2616777" cy="773085"/>
            </a:xfrm>
            <a:custGeom>
              <a:avLst/>
              <a:gdLst/>
              <a:ahLst/>
              <a:cxnLst/>
              <a:rect l="l" t="t" r="r" b="b"/>
              <a:pathLst>
                <a:path w="123564" h="36505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05"/>
                    <a:pt x="17658" y="36505"/>
                  </a:cubicBezTo>
                  <a:lnTo>
                    <a:pt x="105907" y="36505"/>
                  </a:lnTo>
                  <a:cubicBezTo>
                    <a:pt x="115658" y="36505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rgbClr val="8FC0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9"/>
            <p:cNvSpPr/>
            <p:nvPr/>
          </p:nvSpPr>
          <p:spPr>
            <a:xfrm>
              <a:off x="3274196" y="2196237"/>
              <a:ext cx="2616777" cy="773085"/>
            </a:xfrm>
            <a:custGeom>
              <a:avLst/>
              <a:gdLst/>
              <a:ahLst/>
              <a:cxnLst/>
              <a:rect l="l" t="t" r="r" b="b"/>
              <a:pathLst>
                <a:path w="123564" h="36505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05"/>
                    <a:pt x="17658" y="36505"/>
                  </a:cubicBezTo>
                  <a:lnTo>
                    <a:pt x="105907" y="36505"/>
                  </a:lnTo>
                  <a:cubicBezTo>
                    <a:pt x="115658" y="36505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rgbClr val="8FC0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9"/>
            <p:cNvSpPr/>
            <p:nvPr/>
          </p:nvSpPr>
          <p:spPr>
            <a:xfrm>
              <a:off x="485966" y="2196110"/>
              <a:ext cx="773085" cy="773339"/>
            </a:xfrm>
            <a:custGeom>
              <a:avLst/>
              <a:gdLst/>
              <a:ahLst/>
              <a:cxnLst/>
              <a:rect l="l" t="t" r="r" b="b"/>
              <a:pathLst>
                <a:path w="36505" h="36517" extrusionOk="0">
                  <a:moveTo>
                    <a:pt x="18253" y="0"/>
                  </a:moveTo>
                  <a:cubicBezTo>
                    <a:pt x="8168" y="0"/>
                    <a:pt x="1" y="8180"/>
                    <a:pt x="1" y="18253"/>
                  </a:cubicBezTo>
                  <a:cubicBezTo>
                    <a:pt x="1" y="28337"/>
                    <a:pt x="8168" y="36517"/>
                    <a:pt x="18253" y="36517"/>
                  </a:cubicBezTo>
                  <a:cubicBezTo>
                    <a:pt x="28326" y="36517"/>
                    <a:pt x="36505" y="28337"/>
                    <a:pt x="36505" y="18253"/>
                  </a:cubicBezTo>
                  <a:cubicBezTo>
                    <a:pt x="36505" y="8180"/>
                    <a:pt x="28326" y="0"/>
                    <a:pt x="18253" y="0"/>
                  </a:cubicBezTo>
                  <a:close/>
                </a:path>
              </a:pathLst>
            </a:custGeom>
            <a:solidFill>
              <a:srgbClr val="76B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9"/>
            <p:cNvSpPr/>
            <p:nvPr/>
          </p:nvSpPr>
          <p:spPr>
            <a:xfrm>
              <a:off x="547993" y="2258392"/>
              <a:ext cx="648794" cy="648773"/>
            </a:xfrm>
            <a:custGeom>
              <a:avLst/>
              <a:gdLst/>
              <a:ahLst/>
              <a:cxnLst/>
              <a:rect l="l" t="t" r="r" b="b"/>
              <a:pathLst>
                <a:path w="30636" h="30635" extrusionOk="0">
                  <a:moveTo>
                    <a:pt x="15324" y="0"/>
                  </a:moveTo>
                  <a:cubicBezTo>
                    <a:pt x="6858" y="0"/>
                    <a:pt x="0" y="6858"/>
                    <a:pt x="0" y="15312"/>
                  </a:cubicBezTo>
                  <a:cubicBezTo>
                    <a:pt x="0" y="23777"/>
                    <a:pt x="6858" y="30635"/>
                    <a:pt x="15324" y="30635"/>
                  </a:cubicBezTo>
                  <a:cubicBezTo>
                    <a:pt x="23777" y="30635"/>
                    <a:pt x="30635" y="23777"/>
                    <a:pt x="30635" y="15312"/>
                  </a:cubicBezTo>
                  <a:cubicBezTo>
                    <a:pt x="30635" y="6858"/>
                    <a:pt x="23777" y="0"/>
                    <a:pt x="153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/>
            </a:p>
          </p:txBody>
        </p:sp>
        <p:sp>
          <p:nvSpPr>
            <p:cNvPr id="185" name="Google Shape;185;p29"/>
            <p:cNvSpPr txBox="1"/>
            <p:nvPr/>
          </p:nvSpPr>
          <p:spPr>
            <a:xfrm>
              <a:off x="1484975" y="2427864"/>
              <a:ext cx="1345200" cy="3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Data Poisoning</a:t>
              </a:r>
              <a:endParaRPr sz="16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86" name="Google Shape;186;p29"/>
            <p:cNvSpPr txBox="1"/>
            <p:nvPr/>
          </p:nvSpPr>
          <p:spPr>
            <a:xfrm>
              <a:off x="3399510" y="2460679"/>
              <a:ext cx="2366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The attacker can exploit the ML model by poisoning the data before sending the data to the model for training.</a:t>
              </a:r>
              <a:endParaRPr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" name="Google Shape;187;p29"/>
            <p:cNvSpPr/>
            <p:nvPr/>
          </p:nvSpPr>
          <p:spPr>
            <a:xfrm>
              <a:off x="666767" y="2351323"/>
              <a:ext cx="411483" cy="462914"/>
            </a:xfrm>
            <a:custGeom>
              <a:avLst/>
              <a:gdLst/>
              <a:ahLst/>
              <a:cxnLst/>
              <a:rect l="l" t="t" r="r" b="b"/>
              <a:pathLst>
                <a:path w="10493" h="11800" extrusionOk="0">
                  <a:moveTo>
                    <a:pt x="5294" y="709"/>
                  </a:moveTo>
                  <a:cubicBezTo>
                    <a:pt x="6350" y="1316"/>
                    <a:pt x="7422" y="1602"/>
                    <a:pt x="8487" y="1602"/>
                  </a:cubicBezTo>
                  <a:cubicBezTo>
                    <a:pt x="8915" y="1602"/>
                    <a:pt x="9343" y="1556"/>
                    <a:pt x="9767" y="1465"/>
                  </a:cubicBezTo>
                  <a:lnTo>
                    <a:pt x="9767" y="5026"/>
                  </a:lnTo>
                  <a:cubicBezTo>
                    <a:pt x="9767" y="7798"/>
                    <a:pt x="7940" y="10287"/>
                    <a:pt x="5294" y="11137"/>
                  </a:cubicBezTo>
                  <a:cubicBezTo>
                    <a:pt x="2647" y="10350"/>
                    <a:pt x="789" y="7798"/>
                    <a:pt x="789" y="5026"/>
                  </a:cubicBezTo>
                  <a:lnTo>
                    <a:pt x="789" y="1465"/>
                  </a:lnTo>
                  <a:cubicBezTo>
                    <a:pt x="1222" y="1556"/>
                    <a:pt x="1654" y="1602"/>
                    <a:pt x="2084" y="1602"/>
                  </a:cubicBezTo>
                  <a:cubicBezTo>
                    <a:pt x="3153" y="1602"/>
                    <a:pt x="4215" y="1316"/>
                    <a:pt x="5294" y="709"/>
                  </a:cubicBezTo>
                  <a:close/>
                  <a:moveTo>
                    <a:pt x="5266" y="0"/>
                  </a:moveTo>
                  <a:cubicBezTo>
                    <a:pt x="5207" y="0"/>
                    <a:pt x="5152" y="16"/>
                    <a:pt x="5105" y="48"/>
                  </a:cubicBezTo>
                  <a:cubicBezTo>
                    <a:pt x="4065" y="646"/>
                    <a:pt x="3057" y="930"/>
                    <a:pt x="2017" y="930"/>
                  </a:cubicBezTo>
                  <a:cubicBezTo>
                    <a:pt x="1513" y="930"/>
                    <a:pt x="1009" y="835"/>
                    <a:pt x="473" y="678"/>
                  </a:cubicBezTo>
                  <a:cubicBezTo>
                    <a:pt x="440" y="669"/>
                    <a:pt x="408" y="665"/>
                    <a:pt x="378" y="665"/>
                  </a:cubicBezTo>
                  <a:cubicBezTo>
                    <a:pt x="297" y="665"/>
                    <a:pt x="228" y="695"/>
                    <a:pt x="158" y="741"/>
                  </a:cubicBezTo>
                  <a:cubicBezTo>
                    <a:pt x="95" y="804"/>
                    <a:pt x="1" y="898"/>
                    <a:pt x="1" y="993"/>
                  </a:cubicBezTo>
                  <a:lnTo>
                    <a:pt x="1" y="4994"/>
                  </a:lnTo>
                  <a:cubicBezTo>
                    <a:pt x="127" y="8176"/>
                    <a:pt x="2206" y="10917"/>
                    <a:pt x="5199" y="11799"/>
                  </a:cubicBezTo>
                  <a:lnTo>
                    <a:pt x="5357" y="11799"/>
                  </a:lnTo>
                  <a:cubicBezTo>
                    <a:pt x="8350" y="10917"/>
                    <a:pt x="10492" y="8176"/>
                    <a:pt x="10492" y="5026"/>
                  </a:cubicBezTo>
                  <a:lnTo>
                    <a:pt x="10492" y="1056"/>
                  </a:lnTo>
                  <a:cubicBezTo>
                    <a:pt x="10492" y="930"/>
                    <a:pt x="10429" y="835"/>
                    <a:pt x="10335" y="772"/>
                  </a:cubicBezTo>
                  <a:cubicBezTo>
                    <a:pt x="10282" y="720"/>
                    <a:pt x="10230" y="697"/>
                    <a:pt x="10173" y="697"/>
                  </a:cubicBezTo>
                  <a:cubicBezTo>
                    <a:pt x="10126" y="697"/>
                    <a:pt x="10076" y="713"/>
                    <a:pt x="10019" y="741"/>
                  </a:cubicBezTo>
                  <a:cubicBezTo>
                    <a:pt x="9509" y="876"/>
                    <a:pt x="9006" y="946"/>
                    <a:pt x="8504" y="946"/>
                  </a:cubicBezTo>
                  <a:cubicBezTo>
                    <a:pt x="7490" y="946"/>
                    <a:pt x="6485" y="659"/>
                    <a:pt x="5451" y="48"/>
                  </a:cubicBezTo>
                  <a:cubicBezTo>
                    <a:pt x="5388" y="16"/>
                    <a:pt x="5325" y="0"/>
                    <a:pt x="5266" y="0"/>
                  </a:cubicBezTo>
                  <a:close/>
                </a:path>
              </a:pathLst>
            </a:custGeom>
            <a:solidFill>
              <a:srgbClr val="8FC0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9"/>
            <p:cNvSpPr/>
            <p:nvPr/>
          </p:nvSpPr>
          <p:spPr>
            <a:xfrm>
              <a:off x="780451" y="2460696"/>
              <a:ext cx="191526" cy="217570"/>
            </a:xfrm>
            <a:custGeom>
              <a:avLst/>
              <a:gdLst/>
              <a:ahLst/>
              <a:cxnLst/>
              <a:rect l="l" t="t" r="r" b="b"/>
              <a:pathLst>
                <a:path w="4884" h="5546" extrusionOk="0">
                  <a:moveTo>
                    <a:pt x="2426" y="694"/>
                  </a:moveTo>
                  <a:cubicBezTo>
                    <a:pt x="2836" y="694"/>
                    <a:pt x="3151" y="1009"/>
                    <a:pt x="3151" y="1418"/>
                  </a:cubicBezTo>
                  <a:cubicBezTo>
                    <a:pt x="3151" y="1796"/>
                    <a:pt x="2836" y="2111"/>
                    <a:pt x="2426" y="2111"/>
                  </a:cubicBezTo>
                  <a:cubicBezTo>
                    <a:pt x="2048" y="2111"/>
                    <a:pt x="1733" y="1796"/>
                    <a:pt x="1733" y="1418"/>
                  </a:cubicBezTo>
                  <a:cubicBezTo>
                    <a:pt x="1733" y="1009"/>
                    <a:pt x="2048" y="694"/>
                    <a:pt x="2426" y="694"/>
                  </a:cubicBezTo>
                  <a:close/>
                  <a:moveTo>
                    <a:pt x="2426" y="2742"/>
                  </a:moveTo>
                  <a:cubicBezTo>
                    <a:pt x="3371" y="2742"/>
                    <a:pt x="4159" y="3529"/>
                    <a:pt x="4159" y="4474"/>
                  </a:cubicBezTo>
                  <a:lnTo>
                    <a:pt x="4159" y="4821"/>
                  </a:lnTo>
                  <a:lnTo>
                    <a:pt x="693" y="4821"/>
                  </a:lnTo>
                  <a:lnTo>
                    <a:pt x="693" y="4474"/>
                  </a:lnTo>
                  <a:cubicBezTo>
                    <a:pt x="693" y="3529"/>
                    <a:pt x="1481" y="2742"/>
                    <a:pt x="2426" y="2742"/>
                  </a:cubicBezTo>
                  <a:close/>
                  <a:moveTo>
                    <a:pt x="2458" y="1"/>
                  </a:moveTo>
                  <a:cubicBezTo>
                    <a:pt x="1733" y="1"/>
                    <a:pt x="1103" y="599"/>
                    <a:pt x="1103" y="1355"/>
                  </a:cubicBezTo>
                  <a:cubicBezTo>
                    <a:pt x="1103" y="1733"/>
                    <a:pt x="1198" y="2048"/>
                    <a:pt x="1450" y="2269"/>
                  </a:cubicBezTo>
                  <a:cubicBezTo>
                    <a:pt x="630" y="2647"/>
                    <a:pt x="63" y="3498"/>
                    <a:pt x="63" y="4474"/>
                  </a:cubicBezTo>
                  <a:lnTo>
                    <a:pt x="63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4506" y="5546"/>
                  </a:lnTo>
                  <a:cubicBezTo>
                    <a:pt x="4726" y="5546"/>
                    <a:pt x="4884" y="5388"/>
                    <a:pt x="4884" y="5199"/>
                  </a:cubicBezTo>
                  <a:lnTo>
                    <a:pt x="4884" y="4474"/>
                  </a:lnTo>
                  <a:cubicBezTo>
                    <a:pt x="4884" y="3498"/>
                    <a:pt x="4317" y="2647"/>
                    <a:pt x="3497" y="2269"/>
                  </a:cubicBezTo>
                  <a:cubicBezTo>
                    <a:pt x="3718" y="2048"/>
                    <a:pt x="3844" y="1702"/>
                    <a:pt x="3844" y="1355"/>
                  </a:cubicBezTo>
                  <a:cubicBezTo>
                    <a:pt x="3844" y="599"/>
                    <a:pt x="3214" y="1"/>
                    <a:pt x="2458" y="1"/>
                  </a:cubicBezTo>
                  <a:close/>
                </a:path>
              </a:pathLst>
            </a:custGeom>
            <a:solidFill>
              <a:srgbClr val="8FC0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9"/>
            <p:cNvSpPr txBox="1"/>
            <p:nvPr/>
          </p:nvSpPr>
          <p:spPr>
            <a:xfrm>
              <a:off x="6291885" y="2460679"/>
              <a:ext cx="2366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0" name="Google Shape;190;p29"/>
          <p:cNvSpPr/>
          <p:nvPr/>
        </p:nvSpPr>
        <p:spPr>
          <a:xfrm>
            <a:off x="486000" y="1465863"/>
            <a:ext cx="801900" cy="773400"/>
          </a:xfrm>
          <a:prstGeom prst="ellipse">
            <a:avLst/>
          </a:prstGeom>
          <a:solidFill>
            <a:srgbClr val="EBEBEB"/>
          </a:solidFill>
          <a:ln w="9525" cap="flat" cmpd="sng">
            <a:solidFill>
              <a:srgbClr val="C5C5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9"/>
          <p:cNvSpPr/>
          <p:nvPr/>
        </p:nvSpPr>
        <p:spPr>
          <a:xfrm>
            <a:off x="486000" y="3299213"/>
            <a:ext cx="801900" cy="773400"/>
          </a:xfrm>
          <a:prstGeom prst="ellipse">
            <a:avLst/>
          </a:prstGeom>
          <a:solidFill>
            <a:srgbClr val="EBEBEB"/>
          </a:solidFill>
          <a:ln w="9525" cap="flat" cmpd="sng">
            <a:solidFill>
              <a:srgbClr val="C5C5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29"/>
          <p:cNvPicPr preferRelativeResize="0"/>
          <p:nvPr/>
        </p:nvPicPr>
        <p:blipFill rotWithShape="1">
          <a:blip r:embed="rId3">
            <a:alphaModFix/>
          </a:blip>
          <a:srcRect l="49854" b="23218"/>
          <a:stretch/>
        </p:blipFill>
        <p:spPr>
          <a:xfrm>
            <a:off x="6008276" y="3150000"/>
            <a:ext cx="2191249" cy="187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9"/>
          <p:cNvPicPr preferRelativeResize="0"/>
          <p:nvPr/>
        </p:nvPicPr>
        <p:blipFill rotWithShape="1">
          <a:blip r:embed="rId3">
            <a:alphaModFix/>
          </a:blip>
          <a:srcRect r="49854" b="23218"/>
          <a:stretch/>
        </p:blipFill>
        <p:spPr>
          <a:xfrm>
            <a:off x="6008275" y="1052950"/>
            <a:ext cx="2191249" cy="187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Cont. (Stop Sign)</a:t>
            </a:r>
            <a:endParaRPr/>
          </a:p>
        </p:txBody>
      </p:sp>
      <p:sp>
        <p:nvSpPr>
          <p:cNvPr id="199" name="Google Shape;199;p30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/>
          </a:p>
        </p:txBody>
      </p:sp>
      <p:sp>
        <p:nvSpPr>
          <p:cNvPr id="200" name="Google Shape;200;p30"/>
          <p:cNvSpPr txBox="1"/>
          <p:nvPr/>
        </p:nvSpPr>
        <p:spPr>
          <a:xfrm>
            <a:off x="435900" y="3761250"/>
            <a:ext cx="1238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1" name="Google Shape;201;p30"/>
          <p:cNvSpPr txBox="1"/>
          <p:nvPr/>
        </p:nvSpPr>
        <p:spPr>
          <a:xfrm>
            <a:off x="3577425" y="1734975"/>
            <a:ext cx="144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Data Evasion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2" name="Google Shape;202;p30"/>
          <p:cNvSpPr/>
          <p:nvPr/>
        </p:nvSpPr>
        <p:spPr>
          <a:xfrm>
            <a:off x="3577425" y="2135175"/>
            <a:ext cx="1074900" cy="4617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0"/>
          <p:cNvSpPr txBox="1"/>
          <p:nvPr/>
        </p:nvSpPr>
        <p:spPr>
          <a:xfrm>
            <a:off x="4667600" y="2886500"/>
            <a:ext cx="137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Data Poisoning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4" name="Google Shape;204;p30"/>
          <p:cNvSpPr/>
          <p:nvPr/>
        </p:nvSpPr>
        <p:spPr>
          <a:xfrm>
            <a:off x="4815500" y="3286700"/>
            <a:ext cx="1074900" cy="400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" name="Google Shape;2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" y="1654350"/>
            <a:ext cx="3568616" cy="142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2380" y="2135175"/>
            <a:ext cx="3058796" cy="241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</a:t>
            </a:r>
            <a:endParaRPr/>
          </a:p>
        </p:txBody>
      </p:sp>
      <p:sp>
        <p:nvSpPr>
          <p:cNvPr id="212" name="Google Shape;212;p3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✓"/>
            </a:pPr>
            <a:r>
              <a:rPr lang="en" sz="1800"/>
              <a:t>Understanding data poisoning and data evasion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" sz="1800"/>
              <a:t>Poisoning a dataset 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" sz="1800"/>
              <a:t>Understanding the parameters of the Drebin dataset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" sz="1800"/>
              <a:t>Identifying features that can be poisoned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" sz="1800"/>
              <a:t>Poisoning the dataset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" sz="1800"/>
              <a:t>Summarize our research and deliver a digestible report</a:t>
            </a:r>
            <a:endParaRPr sz="1800"/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sz="1800"/>
          </a:p>
        </p:txBody>
      </p:sp>
      <p:graphicFrame>
        <p:nvGraphicFramePr>
          <p:cNvPr id="213" name="Google Shape;213;p31"/>
          <p:cNvGraphicFramePr/>
          <p:nvPr/>
        </p:nvGraphicFramePr>
        <p:xfrm>
          <a:off x="626875" y="339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{6CA539AD-B3E7-46BD-B474-872019228F65}</a:tableStyleId>
              </a:tblPr>
              <a:tblGrid>
                <a:gridCol w="244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Phase 1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Phase 2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Phase 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Understanding poisoning and evasion, finding appropriate dataset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 Explanation method, try to identify important features to run backdoor attack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Ran experiments creating adversarial examples, poisoning data and dataset,</a:t>
                      </a:r>
                      <a:r>
                        <a:rPr lang="en"/>
                        <a:t>Summarize research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Work</a:t>
            </a:r>
            <a:endParaRPr/>
          </a:p>
        </p:txBody>
      </p:sp>
      <p:sp>
        <p:nvSpPr>
          <p:cNvPr id="219" name="Google Shape;219;p32"/>
          <p:cNvSpPr txBox="1">
            <a:spLocks noGrp="1"/>
          </p:cNvSpPr>
          <p:nvPr>
            <p:ph type="body" idx="1"/>
          </p:nvPr>
        </p:nvSpPr>
        <p:spPr>
          <a:xfrm>
            <a:off x="435898" y="1879088"/>
            <a:ext cx="50631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Severi, Giorgio, et al. "{Explanation-Guided} Backdoor Poisoning Attacks Against Malware Classifiers." 30th USENIX Security Symposium (USENIX Security 21). 2021.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◼"/>
            </a:pPr>
            <a:r>
              <a:rPr lang="en" sz="1400"/>
              <a:t>Demonstrates specific attack on machine learning models.</a:t>
            </a:r>
            <a:endParaRPr sz="1400"/>
          </a:p>
          <a:p>
            <a:pPr marL="914400" lvl="1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</a:pPr>
            <a:r>
              <a:rPr lang="en" sz="1400"/>
              <a:t>Used Shapley values to estimate the influence of features on model predictions </a:t>
            </a:r>
            <a:endParaRPr/>
          </a:p>
          <a:p>
            <a:pPr marL="45720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  <p:pic>
        <p:nvPicPr>
          <p:cNvPr id="220" name="Google Shape;22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5075" y="1528900"/>
            <a:ext cx="2693025" cy="336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Explanation method</a:t>
            </a:r>
            <a:endParaRPr/>
          </a:p>
        </p:txBody>
      </p:sp>
      <p:sp>
        <p:nvSpPr>
          <p:cNvPr id="226" name="Google Shape;226;p33"/>
          <p:cNvSpPr txBox="1">
            <a:spLocks noGrp="1"/>
          </p:cNvSpPr>
          <p:nvPr>
            <p:ph type="body" idx="1"/>
          </p:nvPr>
        </p:nvSpPr>
        <p:spPr>
          <a:xfrm>
            <a:off x="435900" y="1651900"/>
            <a:ext cx="6328500" cy="17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20000"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Method: </a:t>
            </a: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gradient × input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04800" algn="l" rtl="0">
              <a:spcBef>
                <a:spcPts val="500"/>
              </a:spcBef>
              <a:spcAft>
                <a:spcPts val="0"/>
              </a:spcAft>
              <a:buSzPts val="1200"/>
              <a:buFont typeface="Gill Sans"/>
              <a:buChar char="◼"/>
            </a:pPr>
            <a:r>
              <a:rPr lang="en"/>
              <a:t>Explains the value of the input by taking the input value we want times the gradient function of the dataset.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Determines the level of impact an input has towards being benign or malicious.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Useful for sparse datasets.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>
                <a:solidFill>
                  <a:srgbClr val="CC0000"/>
                </a:solidFill>
              </a:rPr>
              <a:t>Malicious </a:t>
            </a:r>
            <a:r>
              <a:rPr lang="en"/>
              <a:t>Feature: Large positive value.</a:t>
            </a:r>
            <a:endParaRPr/>
          </a:p>
          <a:p>
            <a:pPr marL="914400" lvl="1" indent="-2984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Char char="◼"/>
            </a:pPr>
            <a:r>
              <a:rPr lang="en" sz="1100" b="1">
                <a:solidFill>
                  <a:srgbClr val="A31515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449006:"suspicious_calls::android/telephony/TelephonyManager;-&gt;getNetworkOperator"</a:t>
            </a:r>
            <a:endParaRPr sz="11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>
                <a:solidFill>
                  <a:srgbClr val="0B5394"/>
                </a:solidFill>
              </a:rPr>
              <a:t>Benign </a:t>
            </a:r>
            <a:r>
              <a:rPr lang="en"/>
              <a:t>Feature: Large negative value.</a:t>
            </a:r>
            <a:endParaRPr/>
          </a:p>
        </p:txBody>
      </p:sp>
      <p:sp>
        <p:nvSpPr>
          <p:cNvPr id="227" name="Google Shape;227;p33"/>
          <p:cNvSpPr txBox="1">
            <a:spLocks noGrp="1"/>
          </p:cNvSpPr>
          <p:nvPr>
            <p:ph type="body" idx="1"/>
          </p:nvPr>
        </p:nvSpPr>
        <p:spPr>
          <a:xfrm>
            <a:off x="2463293" y="3537375"/>
            <a:ext cx="1176600" cy="402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r>
              <a:rPr lang="en" b="1">
                <a:solidFill>
                  <a:srgbClr val="0B5394"/>
                </a:solidFill>
              </a:rPr>
              <a:t>Benign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228" name="Google Shape;228;p33"/>
          <p:cNvSpPr txBox="1">
            <a:spLocks noGrp="1"/>
          </p:cNvSpPr>
          <p:nvPr>
            <p:ph type="body" idx="4294967295"/>
          </p:nvPr>
        </p:nvSpPr>
        <p:spPr>
          <a:xfrm>
            <a:off x="2463300" y="3939375"/>
            <a:ext cx="1904400" cy="815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486013: -34.46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738587: -27.37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838592: -25.30</a:t>
            </a:r>
            <a:endParaRPr/>
          </a:p>
        </p:txBody>
      </p:sp>
      <p:sp>
        <p:nvSpPr>
          <p:cNvPr id="229" name="Google Shape;229;p33"/>
          <p:cNvSpPr txBox="1">
            <a:spLocks noGrp="1"/>
          </p:cNvSpPr>
          <p:nvPr>
            <p:ph type="body" idx="4294967295"/>
          </p:nvPr>
        </p:nvSpPr>
        <p:spPr>
          <a:xfrm>
            <a:off x="4977301" y="3530925"/>
            <a:ext cx="1058400" cy="414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r>
              <a:rPr lang="en" b="1">
                <a:solidFill>
                  <a:srgbClr val="CC0000"/>
                </a:solidFill>
              </a:rPr>
              <a:t>Malicious</a:t>
            </a:r>
            <a:endParaRPr b="1">
              <a:solidFill>
                <a:srgbClr val="CC0000"/>
              </a:solidFill>
            </a:endParaRPr>
          </a:p>
        </p:txBody>
      </p:sp>
      <p:sp>
        <p:nvSpPr>
          <p:cNvPr id="230" name="Google Shape;230;p33"/>
          <p:cNvSpPr txBox="1">
            <a:spLocks noGrp="1"/>
          </p:cNvSpPr>
          <p:nvPr>
            <p:ph type="body" idx="4294967295"/>
          </p:nvPr>
        </p:nvSpPr>
        <p:spPr>
          <a:xfrm>
            <a:off x="4977300" y="3918675"/>
            <a:ext cx="1703400" cy="856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449006: 60.51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716186: 50.02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444650: 34.65</a:t>
            </a:r>
            <a:endParaRPr/>
          </a:p>
        </p:txBody>
      </p:sp>
      <p:sp>
        <p:nvSpPr>
          <p:cNvPr id="231" name="Google Shape;231;p33"/>
          <p:cNvSpPr txBox="1"/>
          <p:nvPr/>
        </p:nvSpPr>
        <p:spPr>
          <a:xfrm>
            <a:off x="4714000" y="3037225"/>
            <a:ext cx="466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Dataset We Are Using? </a:t>
            </a:r>
            <a:endParaRPr/>
          </a:p>
        </p:txBody>
      </p:sp>
      <p:sp>
        <p:nvSpPr>
          <p:cNvPr id="237" name="Google Shape;237;p34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342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◼"/>
            </a:pPr>
            <a:r>
              <a:rPr lang="en" sz="1600"/>
              <a:t>The Drebin Dataset</a:t>
            </a:r>
            <a:endParaRPr sz="16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◼"/>
            </a:pPr>
            <a:r>
              <a:rPr lang="en" sz="1600"/>
              <a:t>Drebin is one of the most used academic dataset of android malware in the information security community</a:t>
            </a:r>
            <a:endParaRPr sz="16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◼"/>
            </a:pPr>
            <a:r>
              <a:rPr lang="en" sz="1600">
                <a:highlight>
                  <a:srgbClr val="FFFFFF"/>
                </a:highlight>
              </a:rPr>
              <a:t>123,453 sample data for Android applications</a:t>
            </a:r>
            <a:endParaRPr sz="1600"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◼"/>
            </a:pPr>
            <a:r>
              <a:rPr lang="en" sz="1600">
                <a:highlight>
                  <a:srgbClr val="FFFFFF"/>
                </a:highlight>
              </a:rPr>
              <a:t>5560 malicious samples and as many as 545,333 behavioral features</a:t>
            </a:r>
            <a:endParaRPr sz="1300"/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Arp, D. (n.d.). </a:t>
            </a:r>
            <a:r>
              <a:rPr lang="en" sz="1100" i="1"/>
              <a:t>Drebin Dataset</a:t>
            </a:r>
            <a:r>
              <a:rPr lang="en" sz="1100"/>
              <a:t>. The Drebin Dataset. Retrieved May 5, 2022, from https://www.sec.tu-bs.de/~danarp/drebin/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Classifier </a:t>
            </a:r>
            <a:endParaRPr/>
          </a:p>
        </p:txBody>
      </p:sp>
      <p:sp>
        <p:nvSpPr>
          <p:cNvPr id="243" name="Google Shape;243;p35"/>
          <p:cNvSpPr txBox="1">
            <a:spLocks noGrp="1"/>
          </p:cNvSpPr>
          <p:nvPr>
            <p:ph type="body" idx="1"/>
          </p:nvPr>
        </p:nvSpPr>
        <p:spPr>
          <a:xfrm>
            <a:off x="348450" y="1432500"/>
            <a:ext cx="40779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We are using a Support Vector Machine as our classifier with a linear kernel</a:t>
            </a:r>
            <a:endParaRPr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Support Vector Machine is a supervised learning model that analyzes data for classification and regression analysis</a:t>
            </a:r>
            <a:endParaRPr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It is good for supervised learning and leads to a good accuracy (89%)</a:t>
            </a:r>
            <a:endParaRPr/>
          </a:p>
        </p:txBody>
      </p:sp>
      <p:pic>
        <p:nvPicPr>
          <p:cNvPr id="244" name="Google Shape;24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0050" y="1978225"/>
            <a:ext cx="4313350" cy="221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</a:t>
            </a:r>
            <a:endParaRPr/>
          </a:p>
        </p:txBody>
      </p:sp>
      <p:sp>
        <p:nvSpPr>
          <p:cNvPr id="250" name="Google Shape;250;p3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457200" lvl="0" indent="-323850" algn="l" rtl="0">
              <a:spcBef>
                <a:spcPts val="300"/>
              </a:spcBef>
              <a:spcAft>
                <a:spcPts val="0"/>
              </a:spcAft>
              <a:buSzPts val="1500"/>
              <a:buChar char="◼"/>
            </a:pPr>
            <a:r>
              <a:rPr lang="en" sz="1500"/>
              <a:t>Developed understanding of  Data Evasion vs Data Poisoning and the various related issues along with SHAP values and explainable AI fundamentals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◼"/>
            </a:pPr>
            <a:r>
              <a:rPr lang="en" sz="1500"/>
              <a:t>Acquired and investigated the Android drebin dataset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◼"/>
            </a:pPr>
            <a:r>
              <a:rPr lang="en" sz="1500"/>
              <a:t>Found pre-existing data poisoning libraries(SecML) that we are applying to the Android(drebin) dataset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◼"/>
            </a:pPr>
            <a:r>
              <a:rPr lang="en" sz="1500"/>
              <a:t>Generated adversarial examples to confuse SVM classifier (Data Evasion)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◼"/>
            </a:pPr>
            <a:r>
              <a:rPr lang="en" sz="1500"/>
              <a:t>Poisoned the general data effectively to reduce accuracy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◼"/>
            </a:pPr>
            <a:r>
              <a:rPr lang="en" sz="1500"/>
              <a:t>Working on process to poison based of a specific permission to reduce the gradient * input score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 of Data Evasion Attack</a:t>
            </a:r>
            <a:endParaRPr/>
          </a:p>
        </p:txBody>
      </p:sp>
      <p:sp>
        <p:nvSpPr>
          <p:cNvPr id="256" name="Google Shape;256;p37"/>
          <p:cNvSpPr txBox="1">
            <a:spLocks noGrp="1"/>
          </p:cNvSpPr>
          <p:nvPr>
            <p:ph type="body" idx="1"/>
          </p:nvPr>
        </p:nvSpPr>
        <p:spPr>
          <a:xfrm>
            <a:off x="5938596" y="1635375"/>
            <a:ext cx="27696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  <p:sp>
        <p:nvSpPr>
          <p:cNvPr id="257" name="Google Shape;257;p37"/>
          <p:cNvSpPr/>
          <p:nvPr/>
        </p:nvSpPr>
        <p:spPr>
          <a:xfrm>
            <a:off x="695175" y="1730715"/>
            <a:ext cx="2694900" cy="32973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7"/>
          <p:cNvSpPr txBox="1"/>
          <p:nvPr/>
        </p:nvSpPr>
        <p:spPr>
          <a:xfrm>
            <a:off x="802364" y="1815253"/>
            <a:ext cx="24804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/>
              <a:t>Program Features</a:t>
            </a:r>
            <a:endParaRPr sz="2600" b="1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486013 = -10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738587 = -27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lang="en" sz="2200">
                <a:solidFill>
                  <a:srgbClr val="FF0000"/>
                </a:solidFill>
              </a:rPr>
              <a:t>449006 = 60</a:t>
            </a:r>
            <a:endParaRPr sz="2200">
              <a:solidFill>
                <a:srgbClr val="FF0000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334384 = - 5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896875 = - 23</a:t>
            </a:r>
            <a:endParaRPr sz="16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Verdict: </a:t>
            </a:r>
            <a:r>
              <a:rPr lang="en" sz="1800">
                <a:solidFill>
                  <a:srgbClr val="0000FF"/>
                </a:solidFill>
              </a:rPr>
              <a:t>Benign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259" name="Google Shape;259;p37"/>
          <p:cNvSpPr txBox="1"/>
          <p:nvPr/>
        </p:nvSpPr>
        <p:spPr>
          <a:xfrm>
            <a:off x="3224843" y="3365704"/>
            <a:ext cx="1000800" cy="392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Malicious</a:t>
            </a:r>
            <a:endParaRPr b="1"/>
          </a:p>
        </p:txBody>
      </p:sp>
      <p:cxnSp>
        <p:nvCxnSpPr>
          <p:cNvPr id="260" name="Google Shape;260;p37"/>
          <p:cNvCxnSpPr>
            <a:stCxn id="259" idx="1"/>
          </p:cNvCxnSpPr>
          <p:nvPr/>
        </p:nvCxnSpPr>
        <p:spPr>
          <a:xfrm rot="10800000">
            <a:off x="3016043" y="3561154"/>
            <a:ext cx="208800" cy="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1" name="Google Shape;261;p37"/>
          <p:cNvSpPr txBox="1"/>
          <p:nvPr/>
        </p:nvSpPr>
        <p:spPr>
          <a:xfrm>
            <a:off x="1421052" y="1331750"/>
            <a:ext cx="124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Evasion</a:t>
            </a:r>
            <a:endParaRPr sz="2000" b="1"/>
          </a:p>
        </p:txBody>
      </p:sp>
      <p:sp>
        <p:nvSpPr>
          <p:cNvPr id="262" name="Google Shape;262;p37"/>
          <p:cNvSpPr txBox="1"/>
          <p:nvPr/>
        </p:nvSpPr>
        <p:spPr>
          <a:xfrm>
            <a:off x="3628425" y="2763900"/>
            <a:ext cx="5307900" cy="20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rgbClr val="A31515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449006:"suspicious_calls::android/telephony/TelephonyManager;-&gt;getNetworkOperator"</a:t>
            </a:r>
            <a:endParaRPr sz="1150" b="1">
              <a:solidFill>
                <a:srgbClr val="A31515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solidFill>
                <a:srgbClr val="A31515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solidFill>
                <a:srgbClr val="A31515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solidFill>
                <a:srgbClr val="A31515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solidFill>
                <a:srgbClr val="A31515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solidFill>
                <a:srgbClr val="A31515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 b="1">
                <a:solidFill>
                  <a:srgbClr val="A31515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* WE are on Testing Data </a:t>
            </a:r>
            <a:endParaRPr sz="1150" b="1">
              <a:solidFill>
                <a:srgbClr val="A31515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 of Data Poisoning Attack</a:t>
            </a:r>
            <a:endParaRPr/>
          </a:p>
        </p:txBody>
      </p:sp>
      <p:sp>
        <p:nvSpPr>
          <p:cNvPr id="268" name="Google Shape;268;p3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/>
          </a:p>
        </p:txBody>
      </p:sp>
      <p:sp>
        <p:nvSpPr>
          <p:cNvPr id="269" name="Google Shape;269;p38"/>
          <p:cNvSpPr txBox="1">
            <a:spLocks noGrp="1"/>
          </p:cNvSpPr>
          <p:nvPr>
            <p:ph type="body" idx="1"/>
          </p:nvPr>
        </p:nvSpPr>
        <p:spPr>
          <a:xfrm>
            <a:off x="5938596" y="1635375"/>
            <a:ext cx="27696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  <p:sp>
        <p:nvSpPr>
          <p:cNvPr id="270" name="Google Shape;270;p38"/>
          <p:cNvSpPr/>
          <p:nvPr/>
        </p:nvSpPr>
        <p:spPr>
          <a:xfrm>
            <a:off x="695175" y="1730715"/>
            <a:ext cx="2694900" cy="32973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8"/>
          <p:cNvSpPr txBox="1"/>
          <p:nvPr/>
        </p:nvSpPr>
        <p:spPr>
          <a:xfrm>
            <a:off x="802364" y="1815253"/>
            <a:ext cx="24804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/>
              <a:t>Training Set</a:t>
            </a:r>
            <a:endParaRPr sz="2600" b="1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486013 = -10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738587 = -27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lang="en" sz="2200">
                <a:solidFill>
                  <a:srgbClr val="FF0000"/>
                </a:solidFill>
              </a:rPr>
              <a:t>449006 = 60</a:t>
            </a:r>
            <a:endParaRPr sz="2200">
              <a:solidFill>
                <a:srgbClr val="FF0000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334384 = - 5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896875 = - 23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{more benign values…}</a:t>
            </a:r>
            <a:endParaRPr sz="22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Verdict: </a:t>
            </a:r>
            <a:r>
              <a:rPr lang="en" sz="1800">
                <a:solidFill>
                  <a:srgbClr val="0000FF"/>
                </a:solidFill>
              </a:rPr>
              <a:t>Benign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872423" y="1286825"/>
            <a:ext cx="234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Poisoning</a:t>
            </a:r>
            <a:endParaRPr sz="2000" b="1"/>
          </a:p>
        </p:txBody>
      </p:sp>
      <p:sp>
        <p:nvSpPr>
          <p:cNvPr id="273" name="Google Shape;273;p38"/>
          <p:cNvSpPr txBox="1"/>
          <p:nvPr/>
        </p:nvSpPr>
        <p:spPr>
          <a:xfrm>
            <a:off x="3628425" y="2763900"/>
            <a:ext cx="5307900" cy="20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rgbClr val="A31515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449006:"suspicious_calls::android/telephony/TelephonyManager;-&gt;getNetworkOperator"</a:t>
            </a:r>
            <a:endParaRPr sz="1150" b="1">
              <a:solidFill>
                <a:srgbClr val="A31515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solidFill>
                <a:srgbClr val="A31515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01625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A31515"/>
              </a:buClr>
              <a:buSzPts val="1150"/>
              <a:buFont typeface="Courier New"/>
              <a:buChar char="●"/>
            </a:pPr>
            <a:r>
              <a:rPr lang="en" sz="1150" b="1">
                <a:solidFill>
                  <a:srgbClr val="A31515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Ex: row 151 add benign features</a:t>
            </a:r>
            <a:endParaRPr sz="1150" b="1">
              <a:solidFill>
                <a:srgbClr val="A31515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solidFill>
                <a:srgbClr val="A31515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solidFill>
                <a:srgbClr val="A31515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solidFill>
                <a:srgbClr val="A31515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rgbClr val="A31515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* WE are on Training Data </a:t>
            </a:r>
            <a:endParaRPr sz="1150" b="1">
              <a:solidFill>
                <a:srgbClr val="A31515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</a:t>
            </a:r>
            <a:endParaRPr/>
          </a:p>
        </p:txBody>
      </p:sp>
      <p:sp>
        <p:nvSpPr>
          <p:cNvPr id="279" name="Google Shape;279;p3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r>
              <a:rPr lang="en"/>
              <a:t>E</a:t>
            </a:r>
            <a:endParaRPr/>
          </a:p>
        </p:txBody>
      </p:sp>
      <p:pic>
        <p:nvPicPr>
          <p:cNvPr id="280" name="Google Shape;28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431" y="1635374"/>
            <a:ext cx="4315519" cy="259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907" y="1635375"/>
            <a:ext cx="4315519" cy="259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/>
        </p:nvSpPr>
        <p:spPr>
          <a:xfrm>
            <a:off x="9342275" y="3715925"/>
            <a:ext cx="604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3" name="Google Shape;283;p39"/>
          <p:cNvSpPr txBox="1"/>
          <p:nvPr/>
        </p:nvSpPr>
        <p:spPr>
          <a:xfrm>
            <a:off x="1945213" y="4394175"/>
            <a:ext cx="129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Data Evasion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4" name="Google Shape;284;p39"/>
          <p:cNvSpPr txBox="1"/>
          <p:nvPr/>
        </p:nvSpPr>
        <p:spPr>
          <a:xfrm>
            <a:off x="6260725" y="4394175"/>
            <a:ext cx="129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Data Poisoning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Permission Based (Gradient * input) Poisoning </a:t>
            </a:r>
            <a:endParaRPr/>
          </a:p>
        </p:txBody>
      </p:sp>
      <p:sp>
        <p:nvSpPr>
          <p:cNvPr id="290" name="Google Shape;290;p40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Currently making the process to where a user can select a specific permission they want to poisoning in the model and then automatically change the (gradient * input score) to make that said permission less malicious</a:t>
            </a:r>
            <a:endParaRPr/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Reason: confuse the model admin to think that a specific permission is not even malicious  </a:t>
            </a: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en"/>
              <a:t>For example: 449006: 60.51 –&gt; 449006: -12.53 </a:t>
            </a:r>
            <a:endParaRPr/>
          </a:p>
        </p:txBody>
      </p:sp>
      <p:pic>
        <p:nvPicPr>
          <p:cNvPr id="291" name="Google Shape;29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500" y="3441525"/>
            <a:ext cx="3984600" cy="8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</a:t>
            </a:r>
            <a:endParaRPr/>
          </a:p>
        </p:txBody>
      </p:sp>
      <p:sp>
        <p:nvSpPr>
          <p:cNvPr id="297" name="Google Shape;297;p4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lnSpcReduction="20000"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500"/>
              </a:spcBef>
              <a:spcAft>
                <a:spcPts val="0"/>
              </a:spcAft>
              <a:buSzPts val="1400"/>
              <a:buChar char="◼"/>
            </a:pPr>
            <a:r>
              <a:rPr lang="en"/>
              <a:t>Concepts initially took a little time to understand </a:t>
            </a:r>
            <a:endParaRPr/>
          </a:p>
          <a:p>
            <a:pPr marL="457200" lvl="0" indent="-317500" algn="l" rtl="0">
              <a:spcBef>
                <a:spcPts val="500"/>
              </a:spcBef>
              <a:spcAft>
                <a:spcPts val="0"/>
              </a:spcAft>
              <a:buSzPts val="1400"/>
              <a:buChar char="◼"/>
            </a:pPr>
            <a:r>
              <a:rPr lang="en"/>
              <a:t>Had issues working with the existing data structures of secML and how to use them with sci-kit learn</a:t>
            </a:r>
            <a:endParaRPr/>
          </a:p>
          <a:p>
            <a:pPr marL="457200" lvl="0" indent="-317500" algn="l" rtl="0">
              <a:spcBef>
                <a:spcPts val="500"/>
              </a:spcBef>
              <a:spcAft>
                <a:spcPts val="0"/>
              </a:spcAft>
              <a:buSzPts val="1400"/>
              <a:buChar char="◼"/>
            </a:pPr>
            <a:r>
              <a:rPr lang="en"/>
              <a:t>Difficult to work with sparse matrix as it is hard to visually see the features</a:t>
            </a:r>
            <a:endParaRPr/>
          </a:p>
          <a:p>
            <a:pPr marL="457200" lvl="0" indent="-317500" algn="l" rtl="0">
              <a:spcBef>
                <a:spcPts val="500"/>
              </a:spcBef>
              <a:spcAft>
                <a:spcPts val="0"/>
              </a:spcAft>
              <a:buSzPts val="1400"/>
              <a:buChar char="◼"/>
            </a:pPr>
            <a:r>
              <a:rPr lang="en"/>
              <a:t>Difficulty to complete the permission based poisoning</a:t>
            </a:r>
            <a:endParaRPr/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</a:t>
            </a:r>
            <a:endParaRPr/>
          </a:p>
        </p:txBody>
      </p:sp>
      <p:sp>
        <p:nvSpPr>
          <p:cNvPr id="303" name="Google Shape;303;p42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Data Poisoning vs Data Evasion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Looked at Feature Selection methods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Researched previous work on specific attacks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Used existing libraries to perform Data Evasion attacks on the drebin dataset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Poisoned drebin dataset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Come up with process to poison based on gradient * input</a:t>
            </a:r>
            <a:endParaRPr/>
          </a:p>
          <a:p>
            <a:pPr marL="45720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309" name="Google Shape;309;p4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1320</Words>
  <Application>Microsoft Macintosh PowerPoint</Application>
  <PresentationFormat>On-screen Show (16:9)</PresentationFormat>
  <Paragraphs>201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Noto Sans Symbols</vt:lpstr>
      <vt:lpstr>Arial</vt:lpstr>
      <vt:lpstr>Courier New</vt:lpstr>
      <vt:lpstr>Fira Sans Extra Condensed Medium</vt:lpstr>
      <vt:lpstr>Roboto</vt:lpstr>
      <vt:lpstr>Gill Sans</vt:lpstr>
      <vt:lpstr>Simple Light</vt:lpstr>
      <vt:lpstr>Dividend</vt:lpstr>
      <vt:lpstr>DATA POISONING OF AN INFORMATION SECURITY MACHINE LEARNING MODEL</vt:lpstr>
      <vt:lpstr>TEAM MEMBERS</vt:lpstr>
      <vt:lpstr>Agenda</vt:lpstr>
      <vt:lpstr>Introduction</vt:lpstr>
      <vt:lpstr>Introduction Cont.</vt:lpstr>
      <vt:lpstr>Introduction Cont. (Stop Sign)</vt:lpstr>
      <vt:lpstr>Schedule</vt:lpstr>
      <vt:lpstr>Previous Work</vt:lpstr>
      <vt:lpstr>Our Explanation method</vt:lpstr>
      <vt:lpstr>What Is The Dataset We Are Using? </vt:lpstr>
      <vt:lpstr>What is the Classifier </vt:lpstr>
      <vt:lpstr>Progress</vt:lpstr>
      <vt:lpstr>Diagram of Data Evasion Attack</vt:lpstr>
      <vt:lpstr>Diagram of Data Poisoning Attack</vt:lpstr>
      <vt:lpstr>Result</vt:lpstr>
      <vt:lpstr>Permission Based (Gradient * input) Poisoning </vt:lpstr>
      <vt:lpstr>Issues</vt:lpstr>
      <vt:lpstr>Summary 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POISONING OF AN INFORMATION SECURITY MACHINE LEARNING MODEL</dc:title>
  <cp:lastModifiedBy>Dandu, Rishi</cp:lastModifiedBy>
  <cp:revision>1</cp:revision>
  <dcterms:modified xsi:type="dcterms:W3CDTF">2022-05-06T03:04:19Z</dcterms:modified>
</cp:coreProperties>
</file>