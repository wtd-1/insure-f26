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Nunito"/>
      <p:regular r:id="rId32"/>
      <p:bold r:id="rId33"/>
      <p:italic r:id="rId34"/>
      <p:boldItalic r:id="rId35"/>
    </p:embeddedFont>
    <p:embeddedFont>
      <p:font typeface="Maven Pro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Nunito-bold.fntdata"/><Relationship Id="rId10" Type="http://schemas.openxmlformats.org/officeDocument/2006/relationships/slide" Target="slides/slide5.xml"/><Relationship Id="rId32" Type="http://schemas.openxmlformats.org/officeDocument/2006/relationships/font" Target="fonts/Nunito-regular.fntdata"/><Relationship Id="rId13" Type="http://schemas.openxmlformats.org/officeDocument/2006/relationships/slide" Target="slides/slide8.xml"/><Relationship Id="rId35" Type="http://schemas.openxmlformats.org/officeDocument/2006/relationships/font" Target="fonts/Nunito-boldItalic.fntdata"/><Relationship Id="rId12" Type="http://schemas.openxmlformats.org/officeDocument/2006/relationships/slide" Target="slides/slide7.xml"/><Relationship Id="rId34" Type="http://schemas.openxmlformats.org/officeDocument/2006/relationships/font" Target="fonts/Nunito-italic.fntdata"/><Relationship Id="rId15" Type="http://schemas.openxmlformats.org/officeDocument/2006/relationships/slide" Target="slides/slide10.xml"/><Relationship Id="rId37" Type="http://schemas.openxmlformats.org/officeDocument/2006/relationships/font" Target="fonts/MavenPro-bold.fntdata"/><Relationship Id="rId14" Type="http://schemas.openxmlformats.org/officeDocument/2006/relationships/slide" Target="slides/slide9.xml"/><Relationship Id="rId36" Type="http://schemas.openxmlformats.org/officeDocument/2006/relationships/font" Target="fonts/MavenPr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c7207ed8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c7207ed8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c7207ed8a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c7207ed8a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c7207ed8a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c7207ed8a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c9e0c2fd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c9e0c2fd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c9e0c2fd3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c9e0c2fd3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c9e0c2fd3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c9e0c2fd3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c949ba26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c949ba26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c949ba263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c949ba263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c949ba263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c949ba26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d839e1a39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d839e1a39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d839e1a39c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d839e1a39c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d839e1a39c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d839e1a39c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d71ff9bd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d71ff9bd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d71ff9bd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d71ff9bd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d71ff9bd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d71ff9bd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71ff9bd9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71ff9bd9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d3d5dc64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d3d5dc64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d839e1a39c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d839e1a39c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d839e1a39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d839e1a39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d839e1a39c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d839e1a39c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d839e1a39c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d839e1a39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d839e1a39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d839e1a39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d839e1a39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d839e1a39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d839e1a39c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d839e1a39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c7207ed8a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c7207ed8a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d839e1a39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d839e1a39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arxiv.org/abs/2003.07421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623408" y="207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80"/>
              <a:t>Cryptographic Protocol Analysis and Verification</a:t>
            </a:r>
            <a:endParaRPr b="1" sz="458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623400" y="2612100"/>
            <a:ext cx="8520600" cy="23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aven Pro"/>
                <a:ea typeface="Maven Pro"/>
                <a:cs typeface="Maven Pro"/>
                <a:sym typeface="Maven Pro"/>
              </a:rPr>
              <a:t>Members:                                                    Project Sponsor:</a:t>
            </a:r>
            <a:endParaRPr sz="24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Maven Pro"/>
                <a:ea typeface="Maven Pro"/>
                <a:cs typeface="Maven Pro"/>
                <a:sym typeface="Maven Pro"/>
              </a:rPr>
              <a:t>Juhi Patel</a:t>
            </a:r>
            <a:r>
              <a:rPr lang="en" sz="2400">
                <a:solidFill>
                  <a:srgbClr val="666666"/>
                </a:solidFill>
                <a:latin typeface="Maven Pro"/>
                <a:ea typeface="Maven Pro"/>
                <a:cs typeface="Maven Pro"/>
                <a:sym typeface="Maven Pro"/>
              </a:rPr>
              <a:t>                                                     Dr. Ed Zieglar                           Kunal Mangalorekar</a:t>
            </a:r>
            <a:endParaRPr sz="2400">
              <a:solidFill>
                <a:srgbClr val="666666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Maven Pro"/>
                <a:ea typeface="Maven Pro"/>
                <a:cs typeface="Maven Pro"/>
                <a:sym typeface="Maven Pro"/>
              </a:rPr>
              <a:t>Lizabeth Trevino</a:t>
            </a:r>
            <a:endParaRPr sz="2400">
              <a:solidFill>
                <a:srgbClr val="666666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66666"/>
                </a:solidFill>
                <a:latin typeface="Maven Pro"/>
                <a:ea typeface="Maven Pro"/>
                <a:cs typeface="Maven Pro"/>
                <a:sym typeface="Maven Pro"/>
              </a:rPr>
              <a:t>Nidhi Jawandhia</a:t>
            </a:r>
            <a:endParaRPr sz="2400">
              <a:solidFill>
                <a:srgbClr val="666666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Introduction to Cryptographic Protocols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Introduction to CPSA and Dolev-Yao model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Introduction to 5G EAP TLS 1.2 &amp; 1.3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Overview Our 5g EAP TLS 1.2 &amp; 1.3 models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Analysis of generated CPSA shapes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Problems faced and Future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Cryptographic Protocols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8272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set of rules that are designed to allow secure communication over an untrusted network such as the internet.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No face-to-face interaction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No way of knowing who you are talking to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Attackers can wreak havoc without proper cryptographic protocols in place.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Man-in-the-middle, spoofing, etc.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Tools used in cryptographic protocols: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Keys, authentications, encryptions, etc.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 do we know protocols are secure?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250" y="3413400"/>
            <a:ext cx="4081174" cy="146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CPSA (</a:t>
            </a:r>
            <a:r>
              <a:rPr lang="en" sz="2133">
                <a:solidFill>
                  <a:srgbClr val="000000"/>
                </a:solidFill>
              </a:rPr>
              <a:t>Cryptographic Protocol Shapes Analyzer</a:t>
            </a:r>
            <a:r>
              <a:rPr lang="en"/>
              <a:t>)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Designed to assist in the design and analysis cryptographic protocols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Analysis is performed </a:t>
            </a:r>
            <a:r>
              <a:rPr lang="en"/>
              <a:t>within a Dolev-Yao model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Input: Protocol definition and an execution skeleton(.lsp or .scm)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75" y="2707962"/>
            <a:ext cx="5059575" cy="146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6750" y="2667550"/>
            <a:ext cx="2954925" cy="154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Introduction to CPSA (</a:t>
            </a:r>
            <a:r>
              <a:rPr lang="en" sz="2133"/>
              <a:t>Cryptographic Protocol Shapes Analyzer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319100" y="1597875"/>
            <a:ext cx="8656500" cy="3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Output: Runs all possible executions based on the description with the presence of the Dolev-Yao adversary (.xhtml)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enumeration is called a ‘shape’ of the protocol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CPSA is aimed to reveal only structural flaws in the protocol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3750" y="2179000"/>
            <a:ext cx="1594350" cy="267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2973" y="2030973"/>
            <a:ext cx="3339825" cy="19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Dolev-Yao model</a:t>
            </a:r>
            <a:endParaRPr/>
          </a:p>
        </p:txBody>
      </p:sp>
      <p:sp>
        <p:nvSpPr>
          <p:cNvPr id="313" name="Google Shape;313;p18"/>
          <p:cNvSpPr txBox="1"/>
          <p:nvPr>
            <p:ph idx="1" type="body"/>
          </p:nvPr>
        </p:nvSpPr>
        <p:spPr>
          <a:xfrm>
            <a:off x="1303800" y="16792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Set of machines which can send/</a:t>
            </a:r>
            <a:r>
              <a:rPr lang="en"/>
              <a:t>receive</a:t>
            </a:r>
            <a:r>
              <a:rPr lang="en"/>
              <a:t> messages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Adversary assumed to be part of the 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Adversary: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Sniff, filter, intercept and modify any messages on the network.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Only limited by constraints of the cryptographic protocol used.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5G Authentication</a:t>
            </a:r>
            <a:endParaRPr/>
          </a:p>
        </p:txBody>
      </p:sp>
      <p:sp>
        <p:nvSpPr>
          <p:cNvPr id="319" name="Google Shape;319;p19"/>
          <p:cNvSpPr txBox="1"/>
          <p:nvPr>
            <p:ph idx="1" type="body"/>
          </p:nvPr>
        </p:nvSpPr>
        <p:spPr>
          <a:xfrm>
            <a:off x="1103950" y="14720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Char char="●"/>
            </a:pPr>
            <a:r>
              <a:rPr lang="en" sz="1700">
                <a:solidFill>
                  <a:srgbClr val="666666"/>
                </a:solidFill>
              </a:rPr>
              <a:t>Cellular Network technologies evolved over a period of time from 2G, 3G, 4G and now 3GPP is developing 5G.</a:t>
            </a:r>
            <a:endParaRPr sz="1700">
              <a:solidFill>
                <a:srgbClr val="666666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Char char="●"/>
            </a:pPr>
            <a:r>
              <a:rPr lang="en" sz="1700">
                <a:solidFill>
                  <a:srgbClr val="666666"/>
                </a:solidFill>
              </a:rPr>
              <a:t>Studies showed some catch in previous generation-</a:t>
            </a:r>
            <a:endParaRPr sz="17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</a:rPr>
              <a:t>Lack of network authentication in 2G.</a:t>
            </a:r>
            <a:endParaRPr sz="17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</a:rPr>
              <a:t>Lack of integration protection and confidentiality in certain signalling messages.</a:t>
            </a:r>
            <a:endParaRPr sz="1700">
              <a:solidFill>
                <a:srgbClr val="666666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700"/>
              <a:buChar char="●"/>
            </a:pPr>
            <a:r>
              <a:rPr lang="en" sz="1700">
                <a:solidFill>
                  <a:srgbClr val="666666"/>
                </a:solidFill>
              </a:rPr>
              <a:t>To mitigate these issues 3GPP defines an Authentication and Key Agreement protocol which is a challenge and response authentication protocol based on a symmetric key shared between subscriber and home network.</a:t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idx="1" type="body"/>
          </p:nvPr>
        </p:nvSpPr>
        <p:spPr>
          <a:xfrm>
            <a:off x="138875" y="697325"/>
            <a:ext cx="8520600" cy="42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5G Authentication is designed in a manner that it is both open(support of Extensible Authentication protocol) and access network agnostic(network supporting 3GPP and for network not supporting 3GPP like wifi and cables).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Several security contexts can be established with one authentication execution, which allows the UE to move from a 3GPP access network to a non 3GPP network without reauthentication.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325" name="Google Shape;3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13" y="2723400"/>
            <a:ext cx="4864527" cy="225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of the 5G EAP-TLS</a:t>
            </a:r>
            <a:endParaRPr/>
          </a:p>
        </p:txBody>
      </p:sp>
      <p:sp>
        <p:nvSpPr>
          <p:cNvPr id="331" name="Google Shape;331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1700">
                <a:solidFill>
                  <a:srgbClr val="666666"/>
                </a:solidFill>
              </a:rPr>
              <a:t>EAP-TLS is defined in 5G subscriber authentication in limited use cases such as private networks and IOT environment.</a:t>
            </a:r>
            <a:endParaRPr sz="1700">
              <a:solidFill>
                <a:srgbClr val="666666"/>
              </a:solidFill>
            </a:endParaRPr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1700">
                <a:solidFill>
                  <a:srgbClr val="666666"/>
                </a:solidFill>
              </a:rPr>
              <a:t>When selected as authentication protocol, it is performed between the UE(EAP peer) and AUSF(EAP server) through Security Anchor Function(EAP pass through authenticator) by forwarding EAP-TLS messages back and forth.</a:t>
            </a:r>
            <a:endParaRPr sz="1700">
              <a:solidFill>
                <a:srgbClr val="666666"/>
              </a:solidFill>
            </a:endParaRPr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1700">
                <a:solidFill>
                  <a:srgbClr val="666666"/>
                </a:solidFill>
              </a:rPr>
              <a:t>Mutual Authentication is accomplished by verifying either each others certificate or pre shared key established during hand shaking.</a:t>
            </a:r>
            <a:endParaRPr sz="1700">
              <a:solidFill>
                <a:srgbClr val="666666"/>
              </a:solidFill>
            </a:endParaRPr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1700">
                <a:solidFill>
                  <a:srgbClr val="666666"/>
                </a:solidFill>
              </a:rPr>
              <a:t>At the end a key is derives and the first 256 bits is used to derive the other </a:t>
            </a:r>
            <a:r>
              <a:rPr lang="en" sz="1700">
                <a:solidFill>
                  <a:srgbClr val="666666"/>
                </a:solidFill>
              </a:rPr>
              <a:t>subsequent</a:t>
            </a:r>
            <a:r>
              <a:rPr lang="en" sz="1700">
                <a:solidFill>
                  <a:srgbClr val="666666"/>
                </a:solidFill>
              </a:rPr>
              <a:t> keys.</a:t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 between EAP TLS 1.2 and 1.3</a:t>
            </a:r>
            <a:endParaRPr/>
          </a:p>
        </p:txBody>
      </p:sp>
      <p:sp>
        <p:nvSpPr>
          <p:cNvPr id="337" name="Google Shape;337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TLS 1.3 offers several </a:t>
            </a:r>
            <a:r>
              <a:rPr lang="en"/>
              <a:t>improvements</a:t>
            </a:r>
            <a:r>
              <a:rPr lang="en"/>
              <a:t> over earlier versions.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Most notably a faster TLS </a:t>
            </a:r>
            <a:r>
              <a:rPr lang="en"/>
              <a:t>handshake</a:t>
            </a:r>
            <a:r>
              <a:rPr lang="en"/>
              <a:t> and simpler and more secure cipher suites.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Zero RTT(</a:t>
            </a:r>
            <a:r>
              <a:rPr lang="en"/>
              <a:t>Round Trip Time</a:t>
            </a:r>
            <a:r>
              <a:rPr lang="en"/>
              <a:t>) key </a:t>
            </a:r>
            <a:r>
              <a:rPr lang="en"/>
              <a:t>exchanges</a:t>
            </a:r>
            <a:r>
              <a:rPr lang="en"/>
              <a:t> further streamline the TLS handshake.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the client connected before, TLS 1.3 allows zero-roundtrip handshake.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    Server stores secret info from previous connections.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Though 0-RTT might have security implications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Lack of full forward secrecy(like private certificate compromise)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Possible replay attack issues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TLS 1.3 has mechanism to deal with both.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Together these changes provide better performance and stronger security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7713" y="152400"/>
            <a:ext cx="668856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 between EAP TLS 1.2 and TLS 1.3</a:t>
            </a:r>
            <a:endParaRPr/>
          </a:p>
        </p:txBody>
      </p:sp>
      <p:sp>
        <p:nvSpPr>
          <p:cNvPr id="348" name="Google Shape;348;p24"/>
          <p:cNvSpPr txBox="1"/>
          <p:nvPr>
            <p:ph idx="1" type="body"/>
          </p:nvPr>
        </p:nvSpPr>
        <p:spPr>
          <a:xfrm>
            <a:off x="1100500" y="1597875"/>
            <a:ext cx="33789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removed from EAP TLS 1.3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Static RSA handshake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CBC MtE modes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RC4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SHA1/MD5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Compression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Renegotiation</a:t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4806900" y="1597875"/>
            <a:ext cx="3527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Features Added to TLS 1.3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Full Handshake signature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Downgrade Protection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Curve 25519 and 448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Abbreviated resumption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5G EAP TLS 1.2 Model</a:t>
            </a:r>
            <a:endParaRPr/>
          </a:p>
        </p:txBody>
      </p:sp>
      <p:sp>
        <p:nvSpPr>
          <p:cNvPr id="355" name="Google Shape;355;p25"/>
          <p:cNvSpPr txBox="1"/>
          <p:nvPr>
            <p:ph idx="1" type="body"/>
          </p:nvPr>
        </p:nvSpPr>
        <p:spPr>
          <a:xfrm>
            <a:off x="605150" y="1562425"/>
            <a:ext cx="3274200" cy="3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Altered previous team’s 5G EAP-TLS 1.2 Model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Added missing messages #7 &amp; #8 to model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Altered interpretation of the generation of the session key from </a:t>
            </a:r>
            <a:r>
              <a:rPr lang="en"/>
              <a:t>concatenation of R</a:t>
            </a:r>
            <a:r>
              <a:rPr baseline="-25000" lang="en"/>
              <a:t>UE</a:t>
            </a:r>
            <a:r>
              <a:rPr lang="en"/>
              <a:t> , R</a:t>
            </a:r>
            <a:r>
              <a:rPr baseline="-25000" lang="en"/>
              <a:t>prekey</a:t>
            </a:r>
            <a:r>
              <a:rPr lang="en"/>
              <a:t>, R</a:t>
            </a:r>
            <a:r>
              <a:rPr baseline="-25000" lang="en"/>
              <a:t>AUSF</a:t>
            </a:r>
            <a:r>
              <a:rPr lang="en"/>
              <a:t> to the hash of those values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Tried to fix the generation of multiple client (UE) and server (AUSF) instances</a:t>
            </a:r>
            <a:endParaRPr/>
          </a:p>
        </p:txBody>
      </p:sp>
      <p:pic>
        <p:nvPicPr>
          <p:cNvPr id="356" name="Google Shape;3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150" y="1103150"/>
            <a:ext cx="4744500" cy="385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5"/>
          <p:cNvSpPr/>
          <p:nvPr/>
        </p:nvSpPr>
        <p:spPr>
          <a:xfrm>
            <a:off x="5351500" y="3883400"/>
            <a:ext cx="2466900" cy="381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118957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3907" y="611525"/>
            <a:ext cx="3567843" cy="3988607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6"/>
          <p:cNvSpPr/>
          <p:nvPr/>
        </p:nvSpPr>
        <p:spPr>
          <a:xfrm>
            <a:off x="1470525" y="4458150"/>
            <a:ext cx="1317600" cy="192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5860850" y="2571750"/>
            <a:ext cx="1824600" cy="1593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7745200" y="2835525"/>
            <a:ext cx="479100" cy="139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7745200" y="3746475"/>
            <a:ext cx="479100" cy="139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6"/>
          <p:cNvSpPr txBox="1"/>
          <p:nvPr/>
        </p:nvSpPr>
        <p:spPr>
          <a:xfrm>
            <a:off x="8274950" y="2705325"/>
            <a:ext cx="4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#7</a:t>
            </a:r>
            <a:endParaRPr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9" name="Google Shape;369;p26"/>
          <p:cNvSpPr txBox="1"/>
          <p:nvPr/>
        </p:nvSpPr>
        <p:spPr>
          <a:xfrm>
            <a:off x="8264175" y="3616275"/>
            <a:ext cx="4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#8</a:t>
            </a:r>
            <a:endParaRPr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2873875" y="4484700"/>
            <a:ext cx="479100" cy="139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6"/>
          <p:cNvSpPr txBox="1"/>
          <p:nvPr/>
        </p:nvSpPr>
        <p:spPr>
          <a:xfrm>
            <a:off x="3438725" y="4246800"/>
            <a:ext cx="88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Session Key</a:t>
            </a:r>
            <a:endParaRPr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5G EAP TLS 1.3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7"/>
          <p:cNvSpPr txBox="1"/>
          <p:nvPr>
            <p:ph idx="1" type="body"/>
          </p:nvPr>
        </p:nvSpPr>
        <p:spPr>
          <a:xfrm>
            <a:off x="1155725" y="1231500"/>
            <a:ext cx="4491000" cy="3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Used our 1.2 Model as basis for 1.3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Replaced the TLS 1.2 handshake messages with one we modeled like the diagram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Version 1.3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Model handshake word for word like Figure 1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Didn’t produce any shapes that  terminated the protocol properly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Version 1.3_1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Abstracted components of ClientHello and ServerHello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Produced a properly terminating shape, but also produced shapes that don’t terminate properly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Version 1.3_2 (Final Model)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Changed one line of code( added non-orig for akey)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Produce properly terminating shapes</a:t>
            </a:r>
            <a:endParaRPr/>
          </a:p>
        </p:txBody>
      </p:sp>
      <p:pic>
        <p:nvPicPr>
          <p:cNvPr id="378" name="Google Shape;3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0376" y="2288375"/>
            <a:ext cx="1424950" cy="26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0145" y="170270"/>
            <a:ext cx="3126649" cy="19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9153" y="123663"/>
            <a:ext cx="2814050" cy="26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75" y="90350"/>
            <a:ext cx="6636200" cy="496280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8"/>
          <p:cNvSpPr/>
          <p:nvPr/>
        </p:nvSpPr>
        <p:spPr>
          <a:xfrm>
            <a:off x="702825" y="680875"/>
            <a:ext cx="2345400" cy="8721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8"/>
          <p:cNvSpPr/>
          <p:nvPr/>
        </p:nvSpPr>
        <p:spPr>
          <a:xfrm>
            <a:off x="6913650" y="1014950"/>
            <a:ext cx="2061900" cy="9648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8"/>
          <p:cNvSpPr/>
          <p:nvPr/>
        </p:nvSpPr>
        <p:spPr>
          <a:xfrm>
            <a:off x="3124425" y="956275"/>
            <a:ext cx="625500" cy="1995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3746525" y="610725"/>
            <a:ext cx="805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Nunito"/>
                <a:ea typeface="Nunito"/>
                <a:cs typeface="Nunito"/>
                <a:sym typeface="Nunito"/>
              </a:rPr>
              <a:t>1.2 Model Base</a:t>
            </a:r>
            <a:endParaRPr>
              <a:solidFill>
                <a:srgbClr val="FFFF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0" name="Google Shape;390;p28"/>
          <p:cNvSpPr txBox="1"/>
          <p:nvPr/>
        </p:nvSpPr>
        <p:spPr>
          <a:xfrm>
            <a:off x="5696825" y="956275"/>
            <a:ext cx="805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Nunito"/>
                <a:ea typeface="Nunito"/>
                <a:cs typeface="Nunito"/>
                <a:sym typeface="Nunito"/>
              </a:rPr>
              <a:t>1.2 Model Base</a:t>
            </a:r>
            <a:endParaRPr>
              <a:solidFill>
                <a:srgbClr val="FFFF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6356225" y="1272175"/>
            <a:ext cx="452400" cy="19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5450" y="2163025"/>
            <a:ext cx="2061900" cy="2702269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3" name="Google Shape;393;p28"/>
          <p:cNvSpPr/>
          <p:nvPr/>
        </p:nvSpPr>
        <p:spPr>
          <a:xfrm>
            <a:off x="982100" y="2733150"/>
            <a:ext cx="2503500" cy="218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8"/>
          <p:cNvSpPr/>
          <p:nvPr/>
        </p:nvSpPr>
        <p:spPr>
          <a:xfrm>
            <a:off x="3567925" y="3715175"/>
            <a:ext cx="805200" cy="155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5551025" y="2342225"/>
            <a:ext cx="80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Version1.3</a:t>
            </a:r>
            <a:endParaRPr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6" name="Google Shape;396;p28"/>
          <p:cNvSpPr txBox="1"/>
          <p:nvPr/>
        </p:nvSpPr>
        <p:spPr>
          <a:xfrm>
            <a:off x="2523650" y="4033400"/>
            <a:ext cx="80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Version 1.3_1</a:t>
            </a:r>
            <a:endParaRPr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7" name="Google Shape;397;p28"/>
          <p:cNvSpPr txBox="1"/>
          <p:nvPr/>
        </p:nvSpPr>
        <p:spPr>
          <a:xfrm>
            <a:off x="7030675" y="3086100"/>
            <a:ext cx="1716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Version 1.3 Handshake message gets abstracted to the Version 1.3_1 message</a:t>
            </a:r>
            <a:endParaRPr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011650" cy="22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9"/>
          <p:cNvSpPr txBox="1"/>
          <p:nvPr/>
        </p:nvSpPr>
        <p:spPr>
          <a:xfrm>
            <a:off x="7018900" y="1078713"/>
            <a:ext cx="12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Version 1.3_1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04" name="Google Shape;40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5650" y="2498425"/>
            <a:ext cx="6318054" cy="253707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9"/>
          <p:cNvSpPr txBox="1"/>
          <p:nvPr/>
        </p:nvSpPr>
        <p:spPr>
          <a:xfrm>
            <a:off x="703075" y="3566850"/>
            <a:ext cx="12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Version 1.3_2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3004700" y="3389525"/>
            <a:ext cx="1221000" cy="147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9"/>
          <p:cNvSpPr/>
          <p:nvPr/>
        </p:nvSpPr>
        <p:spPr>
          <a:xfrm>
            <a:off x="3004700" y="4637225"/>
            <a:ext cx="1221000" cy="147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9"/>
          <p:cNvSpPr/>
          <p:nvPr/>
        </p:nvSpPr>
        <p:spPr>
          <a:xfrm>
            <a:off x="4285025" y="3400775"/>
            <a:ext cx="836400" cy="125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9"/>
          <p:cNvSpPr/>
          <p:nvPr/>
        </p:nvSpPr>
        <p:spPr>
          <a:xfrm>
            <a:off x="4285025" y="4648475"/>
            <a:ext cx="836400" cy="125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9"/>
          <p:cNvSpPr txBox="1"/>
          <p:nvPr/>
        </p:nvSpPr>
        <p:spPr>
          <a:xfrm>
            <a:off x="5261925" y="3217175"/>
            <a:ext cx="28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Non-origination assumption for inverse of </a:t>
            </a:r>
            <a:r>
              <a:rPr lang="en" sz="10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asymmetric</a:t>
            </a:r>
            <a:r>
              <a:rPr lang="en" sz="10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 key </a:t>
            </a:r>
            <a:endParaRPr sz="10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1" name="Google Shape;411;p29"/>
          <p:cNvSpPr txBox="1"/>
          <p:nvPr/>
        </p:nvSpPr>
        <p:spPr>
          <a:xfrm>
            <a:off x="5180750" y="4464875"/>
            <a:ext cx="28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Non-origination assumption for inverse of asymmetric key </a:t>
            </a:r>
            <a:endParaRPr sz="10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Shapes in CPSA</a:t>
            </a:r>
            <a:endParaRPr/>
          </a:p>
        </p:txBody>
      </p:sp>
      <p:sp>
        <p:nvSpPr>
          <p:cNvPr id="417" name="Google Shape;417;p30"/>
          <p:cNvSpPr txBox="1"/>
          <p:nvPr>
            <p:ph idx="1" type="body"/>
          </p:nvPr>
        </p:nvSpPr>
        <p:spPr>
          <a:xfrm>
            <a:off x="3410600" y="1484375"/>
            <a:ext cx="5157300" cy="25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Black node represents transmission of message from the node to network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Blue/Red nodes represent </a:t>
            </a:r>
            <a:r>
              <a:rPr lang="en"/>
              <a:t>receptions</a:t>
            </a:r>
            <a:r>
              <a:rPr lang="en"/>
              <a:t> of message from the network to the node.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Solid</a:t>
            </a:r>
            <a:r>
              <a:rPr lang="en"/>
              <a:t> arrows indicate that messages are sent unaltered and can be satisfied(agreed) by the nodes (without adversary </a:t>
            </a:r>
            <a:r>
              <a:rPr lang="en"/>
              <a:t>interference</a:t>
            </a:r>
            <a:r>
              <a:rPr lang="en"/>
              <a:t>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Dotted arrows indicate altered messages or the nodes do not agree on a particular value</a:t>
            </a:r>
            <a:endParaRPr/>
          </a:p>
        </p:txBody>
      </p:sp>
      <p:pic>
        <p:nvPicPr>
          <p:cNvPr id="418" name="Google Shape;41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2311286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1"/>
          <p:cNvSpPr txBox="1"/>
          <p:nvPr>
            <p:ph type="title"/>
          </p:nvPr>
        </p:nvSpPr>
        <p:spPr>
          <a:xfrm>
            <a:off x="3664950" y="124125"/>
            <a:ext cx="49857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EAP TLS v1.2</a:t>
            </a:r>
            <a:endParaRPr/>
          </a:p>
        </p:txBody>
      </p:sp>
      <p:sp>
        <p:nvSpPr>
          <p:cNvPr id="424" name="Google Shape;424;p31"/>
          <p:cNvSpPr txBox="1"/>
          <p:nvPr>
            <p:ph idx="1" type="body"/>
          </p:nvPr>
        </p:nvSpPr>
        <p:spPr>
          <a:xfrm>
            <a:off x="2651175" y="1850275"/>
            <a:ext cx="5909700" cy="17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One shape completed successfully and securely completing the protocol from UE perspective.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Last 2 messages exchanged between UE and AUSF are communicated securely without adversary </a:t>
            </a:r>
            <a:r>
              <a:rPr lang="en"/>
              <a:t>interference in all the completed shapes.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Implies that the session key generated and used for communication is not leaked to the adversary.</a:t>
            </a:r>
            <a:endParaRPr/>
          </a:p>
        </p:txBody>
      </p:sp>
      <p:pic>
        <p:nvPicPr>
          <p:cNvPr id="425" name="Google Shape;42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25" y="0"/>
            <a:ext cx="1400200" cy="517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2"/>
          <p:cNvSpPr txBox="1"/>
          <p:nvPr>
            <p:ph type="title"/>
          </p:nvPr>
        </p:nvSpPr>
        <p:spPr>
          <a:xfrm>
            <a:off x="792900" y="393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EAP TLS v1.2</a:t>
            </a:r>
            <a:endParaRPr/>
          </a:p>
        </p:txBody>
      </p:sp>
      <p:sp>
        <p:nvSpPr>
          <p:cNvPr id="431" name="Google Shape;431;p32"/>
          <p:cNvSpPr txBox="1"/>
          <p:nvPr>
            <p:ph idx="1" type="body"/>
          </p:nvPr>
        </p:nvSpPr>
        <p:spPr>
          <a:xfrm>
            <a:off x="47275" y="2217875"/>
            <a:ext cx="5952300" cy="14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Multiple instances of UE and AUSF exchanging intermediate messages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new role spawned to send messages with new nonces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Last 2 messages exchanged are still completed without alterations</a:t>
            </a:r>
            <a:endParaRPr/>
          </a:p>
        </p:txBody>
      </p:sp>
      <p:pic>
        <p:nvPicPr>
          <p:cNvPr id="432" name="Google Shape;4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0750" y="200100"/>
            <a:ext cx="2576475" cy="48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3"/>
          <p:cNvSpPr txBox="1"/>
          <p:nvPr>
            <p:ph type="title"/>
          </p:nvPr>
        </p:nvSpPr>
        <p:spPr>
          <a:xfrm>
            <a:off x="1803175" y="1636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EAP TLS v1.3_1</a:t>
            </a:r>
            <a:endParaRPr/>
          </a:p>
        </p:txBody>
      </p:sp>
      <p:sp>
        <p:nvSpPr>
          <p:cNvPr id="438" name="Google Shape;438;p33"/>
          <p:cNvSpPr txBox="1"/>
          <p:nvPr>
            <p:ph idx="1" type="body"/>
          </p:nvPr>
        </p:nvSpPr>
        <p:spPr>
          <a:xfrm>
            <a:off x="1545425" y="1643150"/>
            <a:ext cx="5786700" cy="21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First Tree: Shapes could complete on their own without key </a:t>
            </a:r>
            <a:r>
              <a:rPr lang="en"/>
              <a:t>exchange</a:t>
            </a:r>
            <a:r>
              <a:rPr lang="en"/>
              <a:t> indication fault in the implementation/protocol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Private key used for signing had no origination assumption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Adversary could complete it from UEs perspective using this condition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Second Tree : AUSF completing the protocol by itself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9" name="Google Shape;43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0" y="372825"/>
            <a:ext cx="1285925" cy="469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0076" y="583400"/>
            <a:ext cx="1373590" cy="38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4"/>
          <p:cNvSpPr txBox="1"/>
          <p:nvPr>
            <p:ph type="title"/>
          </p:nvPr>
        </p:nvSpPr>
        <p:spPr>
          <a:xfrm>
            <a:off x="1866950" y="211950"/>
            <a:ext cx="51960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EAP TLS v1.3_final</a:t>
            </a:r>
            <a:endParaRPr/>
          </a:p>
        </p:txBody>
      </p:sp>
      <p:sp>
        <p:nvSpPr>
          <p:cNvPr id="446" name="Google Shape;446;p34"/>
          <p:cNvSpPr txBox="1"/>
          <p:nvPr>
            <p:ph idx="1" type="body"/>
          </p:nvPr>
        </p:nvSpPr>
        <p:spPr>
          <a:xfrm>
            <a:off x="1752575" y="3051575"/>
            <a:ext cx="5503500" cy="19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With correct origination assumption about private key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Two trees for two perspectives (UE and AUSF) skeletons.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First tree: UE (client) can </a:t>
            </a:r>
            <a:r>
              <a:rPr lang="en"/>
              <a:t>successfully</a:t>
            </a:r>
            <a:r>
              <a:rPr lang="en"/>
              <a:t> complete the protocol with AUSF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Second Tree: AUSF could complete the protocol by itself since its the server.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protocol completed safely from UE(client) according to our implementation model with CPSA</a:t>
            </a:r>
            <a:endParaRPr/>
          </a:p>
        </p:txBody>
      </p:sp>
      <p:pic>
        <p:nvPicPr>
          <p:cNvPr id="447" name="Google Shape;4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3131" y="990825"/>
            <a:ext cx="254317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425" y="211951"/>
            <a:ext cx="1324575" cy="491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5900" y="69550"/>
            <a:ext cx="65530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Faced</a:t>
            </a:r>
            <a:endParaRPr/>
          </a:p>
        </p:txBody>
      </p:sp>
      <p:sp>
        <p:nvSpPr>
          <p:cNvPr id="455" name="Google Shape;455;p3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5g-EAP-TLS v1.3 has no formal research yet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Difficult to abstract complicated messages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Computing resources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CPSA could run for </a:t>
            </a:r>
            <a:r>
              <a:rPr lang="en" sz="1300"/>
              <a:t>hours depending on the model specifications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CPSA language 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First-time users with little experience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Difficult to diagnose issues at first</a:t>
            </a:r>
            <a:endParaRPr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461" name="Google Shape;461;p36"/>
          <p:cNvSpPr txBox="1"/>
          <p:nvPr>
            <p:ph idx="1" type="body"/>
          </p:nvPr>
        </p:nvSpPr>
        <p:spPr>
          <a:xfrm>
            <a:off x="593325" y="1967850"/>
            <a:ext cx="49941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Model different scenarios of 5G-EAP-TLS v1.3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Eg. ClientHello, Failed Mutual Authentication, etc. 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Find rules to restrict generation of roles in the 1.2 and 1.3 protocols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Multiple instances of UE and AUSF</a:t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462" name="Google Shape;46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1888" y="259000"/>
            <a:ext cx="2151625" cy="22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1100" y="2904900"/>
            <a:ext cx="2293210" cy="198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69" name="Google Shape;469;p37"/>
          <p:cNvSpPr txBox="1"/>
          <p:nvPr/>
        </p:nvSpPr>
        <p:spPr>
          <a:xfrm>
            <a:off x="436625" y="1597875"/>
            <a:ext cx="83736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A.T. Sherman, E. Lanus, M. Liskov, E. Zieglar, R. Chang, E. Golaszewski, R. Wnuk-Fink, C.J. Bonyadi, M. Yaksetig, and I. Blumenfeld, “Formal Methods Analysis of the Secure Remote Password Protocol,” Cyber Defense Lab, University of Maryland, Baltimore, MD, USA, 2020. Accessed: Feb. 9, 2021. [Online]. Available: 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https://arxiv.org/abs/2003.07421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Doghmi, Shaddin F., et al. “Searching for Shapes in Cryptographic Protocols.”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Algorithms for the Construction and Analysis of Systems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pp. 523–537., doi:10.1007/978-3-540-71209-1_41.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J. Zhang, L. Yang, W. Cao and Q. Wang, "Formal Analysis of 5G EAP-TLS Authentication Protocol Using Proverif," in IEEE Access, vol. 8, pp. 23674-23688, 2020, doi: 10.1109/ACCESS.2020.2969474.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Ramsdell, John D., Joshua D. Guttman, Jonathan K. Millen, and Brian O'Hanlon. "An analysis of the CAVES attestation protocol using CPSA."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preprint arXiv:1207.0418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(2012).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Lucca Hirschi, Ralf Sasse, Jannik Dreier. Security Issues in the 5G Standard and How Formal Methods Come to the Rescue. ERCIM News, ERCIM, 2019. Hal-02268822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Liskov, M. D., Ramsdell, J. D., Guttman, J. D., &amp; Rowe, P. D. (2016). The Cryptographic Protocol Shapes Analyzer: A Manual.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MITRE Corporation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8"/>
          <p:cNvSpPr txBox="1"/>
          <p:nvPr>
            <p:ph type="title"/>
          </p:nvPr>
        </p:nvSpPr>
        <p:spPr>
          <a:xfrm>
            <a:off x="1056750" y="20721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Questions?</a:t>
            </a:r>
            <a:endParaRPr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