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Lst>
  <p:sldSz cy="5143500" cx="9144000"/>
  <p:notesSz cx="6858000" cy="9144000"/>
  <p:embeddedFontLst>
    <p:embeddedFont>
      <p:font typeface="Libre Franklin"/>
      <p:regular r:id="rId27"/>
      <p:bold r:id="rId28"/>
      <p:italic r:id="rId29"/>
      <p:boldItalic r:id="rId3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8EE4F467-92B9-4AF2-BB98-2F05673585E7}">
  <a:tblStyle styleId="{8EE4F467-92B9-4AF2-BB98-2F05673585E7}"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font" Target="fonts/LibreFranklin-bold.fntdata"/><Relationship Id="rId27" Type="http://schemas.openxmlformats.org/officeDocument/2006/relationships/font" Target="fonts/LibreFranklin-regular.fntdata"/><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font" Target="fonts/LibreFranklin-italic.fntdata"/><Relationship Id="rId7" Type="http://schemas.openxmlformats.org/officeDocument/2006/relationships/slide" Target="slides/slide1.xml"/><Relationship Id="rId8" Type="http://schemas.openxmlformats.org/officeDocument/2006/relationships/slide" Target="slides/slide2.xml"/><Relationship Id="rId30" Type="http://schemas.openxmlformats.org/officeDocument/2006/relationships/font" Target="fonts/LibreFranklin-boldItalic.fntdata"/><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gf9da8d5ecd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 name="Google Shape;58;gf9da8d5ecd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Technology is currently growing and improving at an exponential, almost uncontrollable rate. One of the byproducts of such advancements are ‘Deepfake’ audio/video files. Before delving any further, I want to provide a brief overview of what a deepfake is. ‘Deepfakes’ are fake media content, created from deep learning algorithms. One example is a realistic swap of faces and/or audio from authentic video and digital content. The term Deep learning, in that statement, refers to a set of algorithms that are capable of teaching themselves to solve a problem given a large enough dataset. To provide a better sense of what I am discussing, here we have a image from a deepfaked video where the algorithms have realistically swapped out the face of the actor Clint Eastwood with the Arnold Schwarzenegger from the movie Dirty Harry.</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 name="Shape 63"/>
        <p:cNvGrpSpPr/>
        <p:nvPr/>
      </p:nvGrpSpPr>
      <p:grpSpPr>
        <a:xfrm>
          <a:off x="0" y="0"/>
          <a:ext cx="0" cy="0"/>
          <a:chOff x="0" y="0"/>
          <a:chExt cx="0" cy="0"/>
        </a:xfrm>
      </p:grpSpPr>
      <p:sp>
        <p:nvSpPr>
          <p:cNvPr id="64" name="Google Shape;64;gf6300ad26a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5" name="Google Shape;65;gf6300ad26a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At first deepfakes can seem harmless, however, upon closer examination they can pose a grave danger to society at large. To understand the reasoning behind this claim lets review the facts at hand. Currently, there are a wide array of tools that are accessible to the public. So anyone can get their hands on such tools and create their own </a:t>
            </a:r>
            <a:r>
              <a:rPr lang="en"/>
              <a:t>deep fakes (free, publicly available examples: 15.ai which can generate voices of characters from video games, and thispersondoesnotexist.com which generates fake human faces)</a:t>
            </a:r>
            <a:r>
              <a:rPr lang="en"/>
              <a:t>. The issue arises when malicious actors use the existing tools at hand to create misleading images, videos, and audio clips. An example to consider is the dangers of a shared video wherein politicians give completely fake speeches, or a real written speech that was never actually given (example: the Nixon speech prepared for if the moon landing failed). As deepfake technology becomes more readily available to the public, it will be easier to spread this fake content at a much faster rate. With the proliferation of such media, it will be increasingly difficult for citizens to be accurately informed on critical issues in their country. Not only that, deep learning algorithms can be leveraged to refine and improve existing deepfake content to look more realistic through each progressive iteration. At some point, a normal viewer may be unable to discern if the content they’re looking at is synthetic or genuine.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 name="Shape 69"/>
        <p:cNvGrpSpPr/>
        <p:nvPr/>
      </p:nvGrpSpPr>
      <p:grpSpPr>
        <a:xfrm>
          <a:off x="0" y="0"/>
          <a:ext cx="0" cy="0"/>
          <a:chOff x="0" y="0"/>
          <a:chExt cx="0" cy="0"/>
        </a:xfrm>
      </p:grpSpPr>
      <p:sp>
        <p:nvSpPr>
          <p:cNvPr id="70" name="Google Shape;70;gf6300ad26a_2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1" name="Google Shape;71;gf6300ad26a_2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The goal of our project seeks to provide a solution to address this rising issue in audio deep fakes specifically. This project was put forth by the John Hopkins Applied Physics Lab with Timothy Davison acting as the main sponsor. Our teams approach is to see if we can develop a machine learning model that accurately classify if a piece of audio is genuine or synthetic (created </a:t>
            </a:r>
            <a:r>
              <a:rPr lang="en"/>
              <a:t>through</a:t>
            </a:r>
            <a:r>
              <a:rPr lang="en"/>
              <a:t> deepfake </a:t>
            </a:r>
            <a:r>
              <a:rPr lang="en"/>
              <a:t>technology</a:t>
            </a:r>
            <a:r>
              <a:rPr lang="en"/>
              <a:t>). The final challenge, which will occur at the end of the semester, will culminate in a real-world exercise in which audio clips published in the recent Anthony Bourdain documentary ‘Roadrunner’ - clips which the filmmakers claim to be indiscernible as real or fake - will be tested by our machine learning model.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 name="Shape 75"/>
        <p:cNvGrpSpPr/>
        <p:nvPr/>
      </p:nvGrpSpPr>
      <p:grpSpPr>
        <a:xfrm>
          <a:off x="0" y="0"/>
          <a:ext cx="0" cy="0"/>
          <a:chOff x="0" y="0"/>
          <a:chExt cx="0" cy="0"/>
        </a:xfrm>
      </p:grpSpPr>
      <p:sp>
        <p:nvSpPr>
          <p:cNvPr id="76" name="Google Shape;76;gf6300ad26a_2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7" name="Google Shape;77;gf6300ad26a_2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Prior to embarking on our project, our first steps were to examine the existing research papers detailing previous attempts at solving this issue. Upon completion of the literature review, it was discovered that the most common approach to detecting audio </a:t>
            </a:r>
            <a:r>
              <a:rPr lang="en"/>
              <a:t>deep fakes</a:t>
            </a:r>
            <a:r>
              <a:rPr lang="en"/>
              <a:t> were to convert audio signals into the frequency domain of </a:t>
            </a:r>
            <a:r>
              <a:rPr lang="en"/>
              <a:t>spectrograms</a:t>
            </a:r>
            <a:r>
              <a:rPr lang="en"/>
              <a:t> for 2D deep learning classifiers. Using spectrograms to train a 2D convolution neural network has achieved over a 95 percent accuracy in spoof detection with the use of transfer learning. Despite the 2D CNN based approach yielding a high accuracy score, it was later revealed that using a ensemble of methods (deep learning models and traditional machine learning models) that were trained on using raw signals and spectrograms respectively has resulted in a much more powerful </a:t>
            </a:r>
            <a:r>
              <a:rPr lang="en"/>
              <a:t>classifier</a:t>
            </a:r>
            <a:r>
              <a:rPr lang="en"/>
              <a:t>.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 name="Shape 81"/>
        <p:cNvGrpSpPr/>
        <p:nvPr/>
      </p:nvGrpSpPr>
      <p:grpSpPr>
        <a:xfrm>
          <a:off x="0" y="0"/>
          <a:ext cx="0" cy="0"/>
          <a:chOff x="0" y="0"/>
          <a:chExt cx="0" cy="0"/>
        </a:xfrm>
      </p:grpSpPr>
      <p:sp>
        <p:nvSpPr>
          <p:cNvPr id="82" name="Google Shape;82;gf7444502b4_1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3" name="Google Shape;83;gf7444502b4_1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Based on our sponsor’s recommendation, we decided to utilize data from the ASVSpoof challenges to train our machine learning models. ASVSpoof is the Automatic Speaker Verification Spoofing and Countermeasures Challenge. It is a bi-annual, competitive challenge where the goal is to develop countermeasures capable of discriminating between bonafide and spoofed or deepfake speech. We have two data sets to work with currently, from the 2019 and 2021 challenges. The 2019 dataset has one bonafide label and six AI labels. The bonafide label means the audio was human generated, but the other 6 labels represent different AI generation methods to create the synthetic audio. The ASVSpoof 2021 dataset has no labels present, but it has the results for evaluation.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 name="Shape 87"/>
        <p:cNvGrpSpPr/>
        <p:nvPr/>
      </p:nvGrpSpPr>
      <p:grpSpPr>
        <a:xfrm>
          <a:off x="0" y="0"/>
          <a:ext cx="0" cy="0"/>
          <a:chOff x="0" y="0"/>
          <a:chExt cx="0" cy="0"/>
        </a:xfrm>
      </p:grpSpPr>
      <p:sp>
        <p:nvSpPr>
          <p:cNvPr id="88" name="Google Shape;88;gf9cb2615ad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9" name="Google Shape;89;gf9cb2615ad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Based on our sponsor’s recommendation, we decided to utilize data from the ASVSpoof challenges to train our machine learning models. ASVSpoof is the Automatic Speaker Verification Spoofing and Countermeasures Challenge. It is a bi-annual, competitive challenge where the goal is to develop countermeasures capable of discriminating between bonafide and spoofed or deepfake speech. We have two data sets to work with currently, from the 2019 and 2021 challenges. The 2019 dataset has one bonafide label and six AI labels. The bonafide label means the audio was human generated, but the other 6 labels represent different AI generation methods to create the synthetic audio. The ASVSpoof 2021 dataset has no labels present, but it has the results for evaluation.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 name="Shape 93"/>
        <p:cNvGrpSpPr/>
        <p:nvPr/>
      </p:nvGrpSpPr>
      <p:grpSpPr>
        <a:xfrm>
          <a:off x="0" y="0"/>
          <a:ext cx="0" cy="0"/>
          <a:chOff x="0" y="0"/>
          <a:chExt cx="0" cy="0"/>
        </a:xfrm>
      </p:grpSpPr>
      <p:sp>
        <p:nvSpPr>
          <p:cNvPr id="94" name="Google Shape;94;gf7444502b4_2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5" name="Google Shape;95;gf7444502b4_2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These</a:t>
            </a:r>
            <a:r>
              <a:rPr lang="en"/>
              <a:t> are some of the </a:t>
            </a:r>
            <a:r>
              <a:rPr lang="en"/>
              <a:t>modalities</a:t>
            </a:r>
            <a:r>
              <a:rPr lang="en"/>
              <a:t> we have derived for an audio flac file from the dataset. The first is the plot of the raw signal </a:t>
            </a:r>
            <a:r>
              <a:rPr lang="en"/>
              <a:t>waveform</a:t>
            </a:r>
            <a:r>
              <a:rPr lang="en"/>
              <a:t> and the next is the spectrogram while the last one is the LFCC which is the latest one we are trying</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gf7444502b4_1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7" name="Google Shape;107;gf7444502b4_1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Class imbalance: </a:t>
            </a:r>
            <a:endParaRPr/>
          </a:p>
          <a:p>
            <a:pPr indent="-298450" lvl="0" marL="457200" rtl="0" algn="l">
              <a:spcBef>
                <a:spcPts val="0"/>
              </a:spcBef>
              <a:spcAft>
                <a:spcPts val="0"/>
              </a:spcAft>
              <a:buSzPts val="1100"/>
              <a:buChar char="-"/>
            </a:pPr>
            <a:r>
              <a:rPr lang="en"/>
              <a:t>2000 bonafide but you have 28,000 AI labels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gf7444502b4_2_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5" name="Google Shape;115;gf7444502b4_2_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As we can see the 2019 dataset has 3 components : train, dev, eval and each group has audio files from </a:t>
            </a:r>
            <a:r>
              <a:rPr lang="en"/>
              <a:t>different</a:t>
            </a:r>
            <a:r>
              <a:rPr lang="en"/>
              <a:t> group of people. These are h plots for the dat </a:t>
            </a:r>
            <a:r>
              <a:rPr lang="en"/>
              <a:t>distribution</a:t>
            </a:r>
            <a:r>
              <a:rPr lang="en"/>
              <a:t> between </a:t>
            </a:r>
            <a:r>
              <a:rPr lang="en"/>
              <a:t>different</a:t>
            </a:r>
            <a:r>
              <a:rPr lang="en"/>
              <a:t> speakers and their Soof or generated audio signals</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 name="Shape 121"/>
        <p:cNvGrpSpPr/>
        <p:nvPr/>
      </p:nvGrpSpPr>
      <p:grpSpPr>
        <a:xfrm>
          <a:off x="0" y="0"/>
          <a:ext cx="0" cy="0"/>
          <a:chOff x="0" y="0"/>
          <a:chExt cx="0" cy="0"/>
        </a:xfrm>
      </p:grpSpPr>
      <p:sp>
        <p:nvSpPr>
          <p:cNvPr id="122" name="Google Shape;122;gf7444502b4_2_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3" name="Google Shape;123;gf7444502b4_2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Class imbalance: </a:t>
            </a:r>
            <a:endParaRPr/>
          </a:p>
          <a:p>
            <a:pPr indent="-298450" lvl="0" marL="457200" rtl="0" algn="l">
              <a:spcBef>
                <a:spcPts val="0"/>
              </a:spcBef>
              <a:spcAft>
                <a:spcPts val="0"/>
              </a:spcAft>
              <a:buSzPts val="1100"/>
              <a:buChar char="-"/>
            </a:pPr>
            <a:r>
              <a:rPr lang="en"/>
              <a:t>2000 bonafide but you have 28,000 AI labels </a:t>
            </a:r>
            <a:endParaRPr/>
          </a:p>
          <a:p>
            <a:pPr indent="0" lvl="0" marL="0" rtl="0" algn="l">
              <a:spcBef>
                <a:spcPts val="0"/>
              </a:spcBef>
              <a:spcAft>
                <a:spcPts val="0"/>
              </a:spcAft>
              <a:buNone/>
            </a:pPr>
            <a:r>
              <a:rPr lang="en"/>
              <a:t>The audio samples in the dataset were flac files, a lossless compressed audio format.</a:t>
            </a:r>
            <a:r>
              <a:rPr lang="en">
                <a:solidFill>
                  <a:schemeClr val="dk1"/>
                </a:solidFill>
              </a:rPr>
              <a:t>Each original human audio signal had number of corresponding Deep faked audio signals(A01,A02,etc. ). </a:t>
            </a:r>
            <a:r>
              <a:rPr lang="en"/>
              <a:t> For training purposes, we wanted to take the audio samples from flac format and generate various other data modalities like spectrograms and LFCCs. The generation of the different data modalities took a while. On top of that, performing model training with the generated data modalities also took a considerable amount of time. This was mainly due to a lack of computational resources. A huge chunk of time was spent on this and as a result were not able to try other data modalities and deep learning approaches.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g106b98d2bc4_1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9" name="Google Shape;129;g106b98d2bc4_1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Most machine learning algorithms work best when the number of samples in each class are about equal. This is because most algorithms are designed to maximize accuracy and reduce errors. However, if the data set is imbalanced then in such cases you will get a pretty high accuracy just be predicting the majority class, but you fail to capture the minority class, which is the most often the point of creating the model in the first place. Given the nature of our dataset, we wanted to explore the one class classification method to train our model to detect </a:t>
            </a:r>
            <a:r>
              <a:rPr lang="en"/>
              <a:t>deep fakes</a:t>
            </a:r>
            <a:r>
              <a:rPr lang="en"/>
              <a:t>. In a one-class classifier is fit on a training dataset that only has examples from the normal class. Once prepared, the model is used to classify new examples as either normal or not-normal or (</a:t>
            </a:r>
            <a:r>
              <a:rPr lang="en"/>
              <a:t>outliers</a:t>
            </a:r>
            <a:r>
              <a:rPr lang="en"/>
              <a:t> or anomalies). In our case, we have a two-class imbalanced classification problem where we can take one class as the normal and the second class as the outlier. In our case, since we had more spoofed data vs bonafide data, we decided to make the spoofed class as normal and bonafide as the outlier.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gf7444502b4_2_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5" name="Google Shape;135;gf7444502b4_2_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g106b98d2bc4_3_19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1" name="Google Shape;141;g106b98d2bc4_3_19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g106b98d2bc4_3_19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9" name="Google Shape;149;g106b98d2bc4_3_19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 name="Shape 153"/>
        <p:cNvGrpSpPr/>
        <p:nvPr/>
      </p:nvGrpSpPr>
      <p:grpSpPr>
        <a:xfrm>
          <a:off x="0" y="0"/>
          <a:ext cx="0" cy="0"/>
          <a:chOff x="0" y="0"/>
          <a:chExt cx="0" cy="0"/>
        </a:xfrm>
      </p:grpSpPr>
      <p:sp>
        <p:nvSpPr>
          <p:cNvPr id="154" name="Google Shape;154;g106b98d30f7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5" name="Google Shape;155;g106b98d30f7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The</a:t>
            </a:r>
            <a:r>
              <a:rPr lang="en"/>
              <a:t> Next approach we have used for the Deepfake audio Detection is Autoencoders. The Idea </a:t>
            </a:r>
            <a:r>
              <a:rPr lang="en"/>
              <a:t>behind</a:t>
            </a:r>
            <a:r>
              <a:rPr lang="en"/>
              <a:t> using this approach is that </a:t>
            </a:r>
            <a:r>
              <a:rPr lang="en"/>
              <a:t>Deep Fake</a:t>
            </a:r>
            <a:r>
              <a:rPr lang="en"/>
              <a:t> audio signals gain or </a:t>
            </a:r>
            <a:r>
              <a:rPr lang="en"/>
              <a:t>lose</a:t>
            </a:r>
            <a:r>
              <a:rPr lang="en"/>
              <a:t> some noise levels if they pass through the neural network during their creation. And as we already know auto encoders will </a:t>
            </a:r>
            <a:r>
              <a:rPr lang="en"/>
              <a:t>reconstruct</a:t>
            </a:r>
            <a:r>
              <a:rPr lang="en"/>
              <a:t> any image into a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 name="Shape 161"/>
        <p:cNvGrpSpPr/>
        <p:nvPr/>
      </p:nvGrpSpPr>
      <p:grpSpPr>
        <a:xfrm>
          <a:off x="0" y="0"/>
          <a:ext cx="0" cy="0"/>
          <a:chOff x="0" y="0"/>
          <a:chExt cx="0" cy="0"/>
        </a:xfrm>
      </p:grpSpPr>
      <p:sp>
        <p:nvSpPr>
          <p:cNvPr id="162" name="Google Shape;162;g106b98d30f7_0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3" name="Google Shape;163;g106b98d30f7_0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g106b98d2bc4_3_1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0" name="Google Shape;170;g106b98d2bc4_3_1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Here we see some of the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g106b98d2bc4_3_20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6" name="Google Shape;176;g106b98d2bc4_3_2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 name="Shape 180"/>
        <p:cNvGrpSpPr/>
        <p:nvPr/>
      </p:nvGrpSpPr>
      <p:grpSpPr>
        <a:xfrm>
          <a:off x="0" y="0"/>
          <a:ext cx="0" cy="0"/>
          <a:chOff x="0" y="0"/>
          <a:chExt cx="0" cy="0"/>
        </a:xfrm>
      </p:grpSpPr>
      <p:sp>
        <p:nvSpPr>
          <p:cNvPr id="181" name="Google Shape;181;gf7444502b4_2_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2" name="Google Shape;182;gf7444502b4_2_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9.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1.png"/><Relationship Id="rId4" Type="http://schemas.openxmlformats.org/officeDocument/2006/relationships/image" Target="../media/image7.png"/><Relationship Id="rId5"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11.png"/><Relationship Id="rId4" Type="http://schemas.openxmlformats.org/officeDocument/2006/relationships/image" Target="../media/image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10.png"/><Relationship Id="rId4" Type="http://schemas.openxmlformats.org/officeDocument/2006/relationships/image" Target="../media/image8.png"/><Relationship Id="rId5" Type="http://schemas.openxmlformats.org/officeDocument/2006/relationships/image" Target="../media/image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3.png"/><Relationship Id="rId4" Type="http://schemas.openxmlformats.org/officeDocument/2006/relationships/image" Target="../media/image6.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414141"/>
        </a:solidFill>
      </p:bgPr>
    </p:bg>
    <p:spTree>
      <p:nvGrpSpPr>
        <p:cNvPr id="53" name="Shape 53"/>
        <p:cNvGrpSpPr/>
        <p:nvPr/>
      </p:nvGrpSpPr>
      <p:grpSpPr>
        <a:xfrm>
          <a:off x="0" y="0"/>
          <a:ext cx="0" cy="0"/>
          <a:chOff x="0" y="0"/>
          <a:chExt cx="0" cy="0"/>
        </a:xfrm>
      </p:grpSpPr>
      <p:sp>
        <p:nvSpPr>
          <p:cNvPr id="54" name="Google Shape;54;p13"/>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b="1" lang="en">
                <a:solidFill>
                  <a:schemeClr val="lt1"/>
                </a:solidFill>
                <a:latin typeface="Libre Franklin"/>
                <a:ea typeface="Libre Franklin"/>
                <a:cs typeface="Libre Franklin"/>
                <a:sym typeface="Libre Franklin"/>
              </a:rPr>
              <a:t>Insure Audio Deepfake</a:t>
            </a:r>
            <a:endParaRPr b="1">
              <a:solidFill>
                <a:schemeClr val="lt1"/>
              </a:solidFill>
              <a:latin typeface="Libre Franklin"/>
              <a:ea typeface="Libre Franklin"/>
              <a:cs typeface="Libre Franklin"/>
              <a:sym typeface="Libre Franklin"/>
            </a:endParaRPr>
          </a:p>
        </p:txBody>
      </p:sp>
      <p:sp>
        <p:nvSpPr>
          <p:cNvPr id="55" name="Google Shape;55;p13"/>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p>
            <a:pPr indent="0" lvl="0" marL="0" rtl="0" algn="ctr">
              <a:lnSpc>
                <a:spcPct val="80000"/>
              </a:lnSpc>
              <a:spcBef>
                <a:spcPts val="0"/>
              </a:spcBef>
              <a:spcAft>
                <a:spcPts val="0"/>
              </a:spcAft>
              <a:buSzPts val="935"/>
              <a:buNone/>
            </a:pPr>
            <a:r>
              <a:rPr i="1" lang="en" sz="1480">
                <a:solidFill>
                  <a:schemeClr val="lt1"/>
                </a:solidFill>
                <a:latin typeface="Libre Franklin"/>
                <a:ea typeface="Libre Franklin"/>
                <a:cs typeface="Libre Franklin"/>
                <a:sym typeface="Libre Franklin"/>
              </a:rPr>
              <a:t>Aidan Gow, Dan Sutter, Sagnik Dakshit, Mohan Reddy, Nihil Patel, Vishnu Kunadharaju</a:t>
            </a:r>
            <a:endParaRPr i="1" sz="1480">
              <a:solidFill>
                <a:schemeClr val="lt1"/>
              </a:solidFill>
              <a:latin typeface="Libre Franklin"/>
              <a:ea typeface="Libre Franklin"/>
              <a:cs typeface="Libre Franklin"/>
              <a:sym typeface="Libre Franklin"/>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414141"/>
        </a:solidFill>
      </p:bgPr>
    </p:bg>
    <p:spTree>
      <p:nvGrpSpPr>
        <p:cNvPr id="59" name="Shape 59"/>
        <p:cNvGrpSpPr/>
        <p:nvPr/>
      </p:nvGrpSpPr>
      <p:grpSpPr>
        <a:xfrm>
          <a:off x="0" y="0"/>
          <a:ext cx="0" cy="0"/>
          <a:chOff x="0" y="0"/>
          <a:chExt cx="0" cy="0"/>
        </a:xfrm>
      </p:grpSpPr>
      <p:sp>
        <p:nvSpPr>
          <p:cNvPr id="60" name="Google Shape;60;p1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b="1" lang="en">
                <a:solidFill>
                  <a:schemeClr val="lt1"/>
                </a:solidFill>
                <a:latin typeface="Libre Franklin"/>
                <a:ea typeface="Libre Franklin"/>
                <a:cs typeface="Libre Franklin"/>
                <a:sym typeface="Libre Franklin"/>
              </a:rPr>
              <a:t>Introduction to Deepfakes</a:t>
            </a:r>
            <a:endParaRPr b="1">
              <a:solidFill>
                <a:schemeClr val="lt1"/>
              </a:solidFill>
              <a:latin typeface="Libre Franklin"/>
              <a:ea typeface="Libre Franklin"/>
              <a:cs typeface="Libre Franklin"/>
              <a:sym typeface="Libre Franklin"/>
            </a:endParaRPr>
          </a:p>
        </p:txBody>
      </p:sp>
      <p:sp>
        <p:nvSpPr>
          <p:cNvPr id="61" name="Google Shape;61;p1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Clr>
                <a:schemeClr val="lt1"/>
              </a:buClr>
              <a:buSzPts val="1800"/>
              <a:buFont typeface="Libre Franklin"/>
              <a:buChar char="●"/>
            </a:pPr>
            <a:r>
              <a:rPr lang="en">
                <a:solidFill>
                  <a:schemeClr val="lt1"/>
                </a:solidFill>
                <a:latin typeface="Libre Franklin"/>
                <a:ea typeface="Libre Franklin"/>
                <a:cs typeface="Libre Franklin"/>
                <a:sym typeface="Libre Franklin"/>
              </a:rPr>
              <a:t>‘Deepfakes’ are fake media, created from deep learning algorithms. One example is to realistically swap faces and audio from authentic video and digital content. </a:t>
            </a:r>
            <a:endParaRPr>
              <a:solidFill>
                <a:schemeClr val="lt1"/>
              </a:solidFill>
              <a:latin typeface="Libre Franklin"/>
              <a:ea typeface="Libre Franklin"/>
              <a:cs typeface="Libre Franklin"/>
              <a:sym typeface="Libre Franklin"/>
            </a:endParaRPr>
          </a:p>
        </p:txBody>
      </p:sp>
      <p:pic>
        <p:nvPicPr>
          <p:cNvPr id="62" name="Google Shape;62;p14"/>
          <p:cNvPicPr preferRelativeResize="0"/>
          <p:nvPr/>
        </p:nvPicPr>
        <p:blipFill>
          <a:blip r:embed="rId3">
            <a:alphaModFix/>
          </a:blip>
          <a:stretch>
            <a:fillRect/>
          </a:stretch>
        </p:blipFill>
        <p:spPr>
          <a:xfrm>
            <a:off x="2439350" y="2310000"/>
            <a:ext cx="4265300" cy="2381151"/>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414141"/>
        </a:solidFill>
      </p:bgPr>
    </p:bg>
    <p:spTree>
      <p:nvGrpSpPr>
        <p:cNvPr id="66" name="Shape 66"/>
        <p:cNvGrpSpPr/>
        <p:nvPr/>
      </p:nvGrpSpPr>
      <p:grpSpPr>
        <a:xfrm>
          <a:off x="0" y="0"/>
          <a:ext cx="0" cy="0"/>
          <a:chOff x="0" y="0"/>
          <a:chExt cx="0" cy="0"/>
        </a:xfrm>
      </p:grpSpPr>
      <p:sp>
        <p:nvSpPr>
          <p:cNvPr id="67" name="Google Shape;67;p1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b="1" lang="en">
                <a:solidFill>
                  <a:schemeClr val="lt1"/>
                </a:solidFill>
                <a:latin typeface="Libre Franklin"/>
                <a:ea typeface="Libre Franklin"/>
                <a:cs typeface="Libre Franklin"/>
                <a:sym typeface="Libre Franklin"/>
              </a:rPr>
              <a:t>Motivation</a:t>
            </a:r>
            <a:endParaRPr b="1">
              <a:solidFill>
                <a:schemeClr val="lt1"/>
              </a:solidFill>
              <a:latin typeface="Libre Franklin"/>
              <a:ea typeface="Libre Franklin"/>
              <a:cs typeface="Libre Franklin"/>
              <a:sym typeface="Libre Franklin"/>
            </a:endParaRPr>
          </a:p>
          <a:p>
            <a:pPr indent="0" lvl="0" marL="0" rtl="0" algn="l">
              <a:spcBef>
                <a:spcPts val="0"/>
              </a:spcBef>
              <a:spcAft>
                <a:spcPts val="0"/>
              </a:spcAft>
              <a:buNone/>
            </a:pPr>
            <a:r>
              <a:t/>
            </a:r>
            <a:endParaRPr>
              <a:latin typeface="Libre Franklin"/>
              <a:ea typeface="Libre Franklin"/>
              <a:cs typeface="Libre Franklin"/>
              <a:sym typeface="Libre Franklin"/>
            </a:endParaRPr>
          </a:p>
        </p:txBody>
      </p:sp>
      <p:sp>
        <p:nvSpPr>
          <p:cNvPr id="68" name="Google Shape;68;p1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lnSpcReduction="10000"/>
          </a:bodyPr>
          <a:lstStyle/>
          <a:p>
            <a:pPr indent="-342900" lvl="0" marL="457200" rtl="0" algn="l">
              <a:spcBef>
                <a:spcPts val="0"/>
              </a:spcBef>
              <a:spcAft>
                <a:spcPts val="0"/>
              </a:spcAft>
              <a:buClr>
                <a:schemeClr val="lt1"/>
              </a:buClr>
              <a:buSzPts val="1800"/>
              <a:buFont typeface="Libre Franklin"/>
              <a:buChar char="●"/>
            </a:pPr>
            <a:r>
              <a:rPr lang="en">
                <a:solidFill>
                  <a:schemeClr val="lt1"/>
                </a:solidFill>
                <a:latin typeface="Libre Franklin"/>
                <a:ea typeface="Libre Franklin"/>
                <a:cs typeface="Libre Franklin"/>
                <a:sym typeface="Libre Franklin"/>
              </a:rPr>
              <a:t>Widespread availability of high quality deepfake generation tools</a:t>
            </a:r>
            <a:endParaRPr>
              <a:solidFill>
                <a:schemeClr val="lt1"/>
              </a:solidFill>
              <a:latin typeface="Libre Franklin"/>
              <a:ea typeface="Libre Franklin"/>
              <a:cs typeface="Libre Franklin"/>
              <a:sym typeface="Libre Franklin"/>
            </a:endParaRPr>
          </a:p>
          <a:p>
            <a:pPr indent="-317500" lvl="1" marL="914400" rtl="0" algn="l">
              <a:spcBef>
                <a:spcPts val="0"/>
              </a:spcBef>
              <a:spcAft>
                <a:spcPts val="0"/>
              </a:spcAft>
              <a:buClr>
                <a:schemeClr val="lt1"/>
              </a:buClr>
              <a:buSzPts val="1400"/>
              <a:buFont typeface="Libre Franklin"/>
              <a:buChar char="○"/>
            </a:pPr>
            <a:r>
              <a:rPr lang="en">
                <a:solidFill>
                  <a:schemeClr val="lt1"/>
                </a:solidFill>
                <a:latin typeface="Libre Franklin"/>
                <a:ea typeface="Libre Franklin"/>
                <a:cs typeface="Libre Franklin"/>
                <a:sym typeface="Libre Franklin"/>
              </a:rPr>
              <a:t>15.ai</a:t>
            </a:r>
            <a:endParaRPr>
              <a:solidFill>
                <a:schemeClr val="lt1"/>
              </a:solidFill>
              <a:latin typeface="Libre Franklin"/>
              <a:ea typeface="Libre Franklin"/>
              <a:cs typeface="Libre Franklin"/>
              <a:sym typeface="Libre Franklin"/>
            </a:endParaRPr>
          </a:p>
          <a:p>
            <a:pPr indent="-317500" lvl="1" marL="914400" rtl="0" algn="l">
              <a:spcBef>
                <a:spcPts val="0"/>
              </a:spcBef>
              <a:spcAft>
                <a:spcPts val="0"/>
              </a:spcAft>
              <a:buClr>
                <a:schemeClr val="lt1"/>
              </a:buClr>
              <a:buSzPts val="1400"/>
              <a:buFont typeface="Libre Franklin"/>
              <a:buChar char="○"/>
            </a:pPr>
            <a:r>
              <a:rPr lang="en">
                <a:solidFill>
                  <a:schemeClr val="lt1"/>
                </a:solidFill>
                <a:latin typeface="Libre Franklin"/>
                <a:ea typeface="Libre Franklin"/>
                <a:cs typeface="Libre Franklin"/>
                <a:sym typeface="Libre Franklin"/>
              </a:rPr>
              <a:t>thispersondoesnotexist</a:t>
            </a:r>
            <a:endParaRPr>
              <a:solidFill>
                <a:schemeClr val="lt1"/>
              </a:solidFill>
              <a:latin typeface="Libre Franklin"/>
              <a:ea typeface="Libre Franklin"/>
              <a:cs typeface="Libre Franklin"/>
              <a:sym typeface="Libre Franklin"/>
            </a:endParaRPr>
          </a:p>
          <a:p>
            <a:pPr indent="0" lvl="0" marL="457200" rtl="0" algn="l">
              <a:spcBef>
                <a:spcPts val="1200"/>
              </a:spcBef>
              <a:spcAft>
                <a:spcPts val="0"/>
              </a:spcAft>
              <a:buNone/>
            </a:pPr>
            <a:r>
              <a:t/>
            </a:r>
            <a:endParaRPr>
              <a:solidFill>
                <a:schemeClr val="lt1"/>
              </a:solidFill>
              <a:latin typeface="Libre Franklin"/>
              <a:ea typeface="Libre Franklin"/>
              <a:cs typeface="Libre Franklin"/>
              <a:sym typeface="Libre Franklin"/>
            </a:endParaRPr>
          </a:p>
          <a:p>
            <a:pPr indent="-342900" lvl="0" marL="457200" rtl="0" algn="l">
              <a:spcBef>
                <a:spcPts val="1200"/>
              </a:spcBef>
              <a:spcAft>
                <a:spcPts val="0"/>
              </a:spcAft>
              <a:buClr>
                <a:schemeClr val="lt1"/>
              </a:buClr>
              <a:buSzPts val="1800"/>
              <a:buFont typeface="Libre Franklin"/>
              <a:buChar char="●"/>
            </a:pPr>
            <a:r>
              <a:rPr lang="en">
                <a:solidFill>
                  <a:schemeClr val="lt1"/>
                </a:solidFill>
                <a:latin typeface="Libre Franklin"/>
                <a:ea typeface="Libre Franklin"/>
                <a:cs typeface="Libre Franklin"/>
                <a:sym typeface="Libre Franklin"/>
              </a:rPr>
              <a:t>Malicious actors can use existing tools to create misleading images, videos, and audio clips </a:t>
            </a:r>
            <a:endParaRPr>
              <a:solidFill>
                <a:schemeClr val="lt1"/>
              </a:solidFill>
              <a:latin typeface="Libre Franklin"/>
              <a:ea typeface="Libre Franklin"/>
              <a:cs typeface="Libre Franklin"/>
              <a:sym typeface="Libre Franklin"/>
            </a:endParaRPr>
          </a:p>
          <a:p>
            <a:pPr indent="0" lvl="0" marL="457200" rtl="0" algn="l">
              <a:spcBef>
                <a:spcPts val="1200"/>
              </a:spcBef>
              <a:spcAft>
                <a:spcPts val="0"/>
              </a:spcAft>
              <a:buNone/>
            </a:pPr>
            <a:r>
              <a:t/>
            </a:r>
            <a:endParaRPr>
              <a:solidFill>
                <a:schemeClr val="lt1"/>
              </a:solidFill>
              <a:latin typeface="Libre Franklin"/>
              <a:ea typeface="Libre Franklin"/>
              <a:cs typeface="Libre Franklin"/>
              <a:sym typeface="Libre Franklin"/>
            </a:endParaRPr>
          </a:p>
          <a:p>
            <a:pPr indent="-342900" lvl="0" marL="457200" rtl="0" algn="l">
              <a:spcBef>
                <a:spcPts val="1200"/>
              </a:spcBef>
              <a:spcAft>
                <a:spcPts val="0"/>
              </a:spcAft>
              <a:buClr>
                <a:schemeClr val="lt1"/>
              </a:buClr>
              <a:buSzPts val="1800"/>
              <a:buFont typeface="Libre Franklin"/>
              <a:buChar char="●"/>
            </a:pPr>
            <a:r>
              <a:rPr lang="en">
                <a:solidFill>
                  <a:schemeClr val="lt1"/>
                </a:solidFill>
                <a:latin typeface="Libre Franklin"/>
                <a:ea typeface="Libre Franklin"/>
                <a:cs typeface="Libre Franklin"/>
                <a:sym typeface="Libre Franklin"/>
              </a:rPr>
              <a:t>G</a:t>
            </a:r>
            <a:r>
              <a:rPr lang="en">
                <a:solidFill>
                  <a:schemeClr val="lt1"/>
                </a:solidFill>
                <a:latin typeface="Libre Franklin"/>
                <a:ea typeface="Libre Franklin"/>
                <a:cs typeface="Libre Franklin"/>
                <a:sym typeface="Libre Franklin"/>
              </a:rPr>
              <a:t>enerative adversarial networks </a:t>
            </a:r>
            <a:r>
              <a:rPr lang="en">
                <a:solidFill>
                  <a:schemeClr val="lt1"/>
                </a:solidFill>
                <a:latin typeface="Libre Franklin"/>
                <a:ea typeface="Libre Franklin"/>
                <a:cs typeface="Libre Franklin"/>
                <a:sym typeface="Libre Franklin"/>
              </a:rPr>
              <a:t>(GANs) can refine and improve deepfaked content to look highly realistic. </a:t>
            </a:r>
            <a:endParaRPr>
              <a:solidFill>
                <a:schemeClr val="lt1"/>
              </a:solidFill>
              <a:latin typeface="Libre Franklin"/>
              <a:ea typeface="Libre Franklin"/>
              <a:cs typeface="Libre Franklin"/>
              <a:sym typeface="Libre Franklin"/>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414141"/>
        </a:solidFill>
      </p:bgPr>
    </p:bg>
    <p:spTree>
      <p:nvGrpSpPr>
        <p:cNvPr id="72" name="Shape 72"/>
        <p:cNvGrpSpPr/>
        <p:nvPr/>
      </p:nvGrpSpPr>
      <p:grpSpPr>
        <a:xfrm>
          <a:off x="0" y="0"/>
          <a:ext cx="0" cy="0"/>
          <a:chOff x="0" y="0"/>
          <a:chExt cx="0" cy="0"/>
        </a:xfrm>
      </p:grpSpPr>
      <p:sp>
        <p:nvSpPr>
          <p:cNvPr id="73" name="Google Shape;73;p1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b="1" lang="en">
                <a:solidFill>
                  <a:schemeClr val="lt1"/>
                </a:solidFill>
                <a:latin typeface="Libre Franklin"/>
                <a:ea typeface="Libre Franklin"/>
                <a:cs typeface="Libre Franklin"/>
                <a:sym typeface="Libre Franklin"/>
              </a:rPr>
              <a:t>Problem Statement</a:t>
            </a:r>
            <a:endParaRPr b="1">
              <a:solidFill>
                <a:schemeClr val="lt1"/>
              </a:solidFill>
              <a:latin typeface="Libre Franklin"/>
              <a:ea typeface="Libre Franklin"/>
              <a:cs typeface="Libre Franklin"/>
              <a:sym typeface="Libre Franklin"/>
            </a:endParaRPr>
          </a:p>
        </p:txBody>
      </p:sp>
      <p:sp>
        <p:nvSpPr>
          <p:cNvPr id="74" name="Google Shape;74;p1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Clr>
                <a:schemeClr val="lt1"/>
              </a:buClr>
              <a:buSzPts val="1800"/>
              <a:buFont typeface="Libre Franklin"/>
              <a:buChar char="●"/>
            </a:pPr>
            <a:r>
              <a:rPr lang="en">
                <a:solidFill>
                  <a:schemeClr val="lt1"/>
                </a:solidFill>
                <a:latin typeface="Libre Franklin"/>
                <a:ea typeface="Libre Franklin"/>
                <a:cs typeface="Libre Franklin"/>
                <a:sym typeface="Libre Franklin"/>
              </a:rPr>
              <a:t>Sponsors: John Hopkins Applied Physics Lab (Timothy Davison). </a:t>
            </a:r>
            <a:endParaRPr>
              <a:solidFill>
                <a:schemeClr val="lt1"/>
              </a:solidFill>
              <a:latin typeface="Libre Franklin"/>
              <a:ea typeface="Libre Franklin"/>
              <a:cs typeface="Libre Franklin"/>
              <a:sym typeface="Libre Franklin"/>
            </a:endParaRPr>
          </a:p>
          <a:p>
            <a:pPr indent="0" lvl="0" marL="457200" rtl="0" algn="l">
              <a:spcBef>
                <a:spcPts val="1200"/>
              </a:spcBef>
              <a:spcAft>
                <a:spcPts val="0"/>
              </a:spcAft>
              <a:buNone/>
            </a:pPr>
            <a:r>
              <a:t/>
            </a:r>
            <a:endParaRPr>
              <a:solidFill>
                <a:schemeClr val="lt1"/>
              </a:solidFill>
              <a:latin typeface="Libre Franklin"/>
              <a:ea typeface="Libre Franklin"/>
              <a:cs typeface="Libre Franklin"/>
              <a:sym typeface="Libre Franklin"/>
            </a:endParaRPr>
          </a:p>
          <a:p>
            <a:pPr indent="-342900" lvl="0" marL="457200" rtl="0" algn="l">
              <a:spcBef>
                <a:spcPts val="1200"/>
              </a:spcBef>
              <a:spcAft>
                <a:spcPts val="0"/>
              </a:spcAft>
              <a:buClr>
                <a:schemeClr val="lt1"/>
              </a:buClr>
              <a:buSzPts val="1800"/>
              <a:buFont typeface="Libre Franklin"/>
              <a:buChar char="●"/>
            </a:pPr>
            <a:r>
              <a:rPr lang="en">
                <a:solidFill>
                  <a:schemeClr val="lt1"/>
                </a:solidFill>
                <a:latin typeface="Libre Franklin"/>
                <a:ea typeface="Libre Franklin"/>
                <a:cs typeface="Libre Franklin"/>
                <a:sym typeface="Libre Franklin"/>
              </a:rPr>
              <a:t>Develop a Deep Learning model that can accurately identify synthetic (deepfaked) audio. </a:t>
            </a:r>
            <a:endParaRPr>
              <a:solidFill>
                <a:schemeClr val="lt1"/>
              </a:solidFill>
              <a:latin typeface="Libre Franklin"/>
              <a:ea typeface="Libre Franklin"/>
              <a:cs typeface="Libre Franklin"/>
              <a:sym typeface="Libre Franklin"/>
            </a:endParaRPr>
          </a:p>
          <a:p>
            <a:pPr indent="0" lvl="0" marL="457200" rtl="0" algn="l">
              <a:spcBef>
                <a:spcPts val="1200"/>
              </a:spcBef>
              <a:spcAft>
                <a:spcPts val="0"/>
              </a:spcAft>
              <a:buNone/>
            </a:pPr>
            <a:r>
              <a:t/>
            </a:r>
            <a:endParaRPr>
              <a:solidFill>
                <a:schemeClr val="lt1"/>
              </a:solidFill>
              <a:latin typeface="Libre Franklin"/>
              <a:ea typeface="Libre Franklin"/>
              <a:cs typeface="Libre Franklin"/>
              <a:sym typeface="Libre Franklin"/>
            </a:endParaRPr>
          </a:p>
          <a:p>
            <a:pPr indent="-342900" lvl="0" marL="457200" rtl="0" algn="l">
              <a:spcBef>
                <a:spcPts val="1200"/>
              </a:spcBef>
              <a:spcAft>
                <a:spcPts val="0"/>
              </a:spcAft>
              <a:buClr>
                <a:schemeClr val="lt1"/>
              </a:buClr>
              <a:buSzPts val="1800"/>
              <a:buFont typeface="Libre Franklin"/>
              <a:buChar char="●"/>
            </a:pPr>
            <a:r>
              <a:rPr lang="en">
                <a:solidFill>
                  <a:schemeClr val="lt1"/>
                </a:solidFill>
                <a:latin typeface="Libre Franklin"/>
                <a:ea typeface="Libre Franklin"/>
                <a:cs typeface="Libre Franklin"/>
                <a:sym typeface="Libre Franklin"/>
              </a:rPr>
              <a:t>Final Challenge: Roadrunner Documentary</a:t>
            </a:r>
            <a:endParaRPr>
              <a:solidFill>
                <a:schemeClr val="lt1"/>
              </a:solidFill>
              <a:latin typeface="Libre Franklin"/>
              <a:ea typeface="Libre Franklin"/>
              <a:cs typeface="Libre Franklin"/>
              <a:sym typeface="Libre Franklin"/>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414141"/>
        </a:solidFill>
      </p:bgPr>
    </p:bg>
    <p:spTree>
      <p:nvGrpSpPr>
        <p:cNvPr id="78" name="Shape 78"/>
        <p:cNvGrpSpPr/>
        <p:nvPr/>
      </p:nvGrpSpPr>
      <p:grpSpPr>
        <a:xfrm>
          <a:off x="0" y="0"/>
          <a:ext cx="0" cy="0"/>
          <a:chOff x="0" y="0"/>
          <a:chExt cx="0" cy="0"/>
        </a:xfrm>
      </p:grpSpPr>
      <p:sp>
        <p:nvSpPr>
          <p:cNvPr id="79" name="Google Shape;79;p1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b="1" lang="en">
                <a:solidFill>
                  <a:schemeClr val="lt1"/>
                </a:solidFill>
                <a:latin typeface="Libre Franklin"/>
                <a:ea typeface="Libre Franklin"/>
                <a:cs typeface="Libre Franklin"/>
                <a:sym typeface="Libre Franklin"/>
              </a:rPr>
              <a:t>Literature Review </a:t>
            </a:r>
            <a:endParaRPr b="1">
              <a:solidFill>
                <a:schemeClr val="lt1"/>
              </a:solidFill>
              <a:latin typeface="Libre Franklin"/>
              <a:ea typeface="Libre Franklin"/>
              <a:cs typeface="Libre Franklin"/>
              <a:sym typeface="Libre Franklin"/>
            </a:endParaRPr>
          </a:p>
        </p:txBody>
      </p:sp>
      <p:sp>
        <p:nvSpPr>
          <p:cNvPr id="80" name="Google Shape;80;p1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lnSpcReduction="10000"/>
          </a:bodyPr>
          <a:lstStyle/>
          <a:p>
            <a:pPr indent="-342900" lvl="0" marL="457200" rtl="0" algn="l">
              <a:spcBef>
                <a:spcPts val="0"/>
              </a:spcBef>
              <a:spcAft>
                <a:spcPts val="0"/>
              </a:spcAft>
              <a:buClr>
                <a:schemeClr val="lt1"/>
              </a:buClr>
              <a:buSzPts val="1800"/>
              <a:buFont typeface="Libre Franklin"/>
              <a:buChar char="●"/>
            </a:pPr>
            <a:r>
              <a:rPr lang="en">
                <a:solidFill>
                  <a:schemeClr val="lt1"/>
                </a:solidFill>
                <a:latin typeface="Libre Franklin"/>
                <a:ea typeface="Libre Franklin"/>
                <a:cs typeface="Libre Franklin"/>
                <a:sym typeface="Libre Franklin"/>
              </a:rPr>
              <a:t>Common approach so far is to convert audio signals to spectrograms for training 2D deep learning classifiers. </a:t>
            </a:r>
            <a:endParaRPr>
              <a:solidFill>
                <a:schemeClr val="lt1"/>
              </a:solidFill>
              <a:latin typeface="Libre Franklin"/>
              <a:ea typeface="Libre Franklin"/>
              <a:cs typeface="Libre Franklin"/>
              <a:sym typeface="Libre Franklin"/>
            </a:endParaRPr>
          </a:p>
          <a:p>
            <a:pPr indent="0" lvl="0" marL="457200" rtl="0" algn="l">
              <a:spcBef>
                <a:spcPts val="1200"/>
              </a:spcBef>
              <a:spcAft>
                <a:spcPts val="0"/>
              </a:spcAft>
              <a:buNone/>
            </a:pPr>
            <a:r>
              <a:t/>
            </a:r>
            <a:endParaRPr>
              <a:solidFill>
                <a:schemeClr val="lt1"/>
              </a:solidFill>
              <a:latin typeface="Libre Franklin"/>
              <a:ea typeface="Libre Franklin"/>
              <a:cs typeface="Libre Franklin"/>
              <a:sym typeface="Libre Franklin"/>
            </a:endParaRPr>
          </a:p>
          <a:p>
            <a:pPr indent="-342900" lvl="0" marL="457200" rtl="0" algn="l">
              <a:spcBef>
                <a:spcPts val="1200"/>
              </a:spcBef>
              <a:spcAft>
                <a:spcPts val="0"/>
              </a:spcAft>
              <a:buClr>
                <a:schemeClr val="lt1"/>
              </a:buClr>
              <a:buSzPts val="1800"/>
              <a:buFont typeface="Libre Franklin"/>
              <a:buChar char="●"/>
            </a:pPr>
            <a:r>
              <a:rPr lang="en">
                <a:solidFill>
                  <a:schemeClr val="lt1"/>
                </a:solidFill>
                <a:latin typeface="Libre Franklin"/>
                <a:ea typeface="Libre Franklin"/>
                <a:cs typeface="Libre Franklin"/>
                <a:sym typeface="Libre Franklin"/>
              </a:rPr>
              <a:t>The 2D convolutional neural networks (CNN) based approaches have achieved over 95% accuracy in spoof detection using transfer learning.</a:t>
            </a:r>
            <a:endParaRPr>
              <a:solidFill>
                <a:schemeClr val="lt1"/>
              </a:solidFill>
              <a:latin typeface="Libre Franklin"/>
              <a:ea typeface="Libre Franklin"/>
              <a:cs typeface="Libre Franklin"/>
              <a:sym typeface="Libre Franklin"/>
            </a:endParaRPr>
          </a:p>
          <a:p>
            <a:pPr indent="0" lvl="0" marL="457200" rtl="0" algn="l">
              <a:spcBef>
                <a:spcPts val="1200"/>
              </a:spcBef>
              <a:spcAft>
                <a:spcPts val="0"/>
              </a:spcAft>
              <a:buNone/>
            </a:pPr>
            <a:r>
              <a:t/>
            </a:r>
            <a:endParaRPr>
              <a:solidFill>
                <a:schemeClr val="lt1"/>
              </a:solidFill>
              <a:latin typeface="Libre Franklin"/>
              <a:ea typeface="Libre Franklin"/>
              <a:cs typeface="Libre Franklin"/>
              <a:sym typeface="Libre Franklin"/>
            </a:endParaRPr>
          </a:p>
          <a:p>
            <a:pPr indent="-342900" lvl="0" marL="457200" rtl="0" algn="l">
              <a:spcBef>
                <a:spcPts val="1200"/>
              </a:spcBef>
              <a:spcAft>
                <a:spcPts val="0"/>
              </a:spcAft>
              <a:buClr>
                <a:schemeClr val="lt1"/>
              </a:buClr>
              <a:buSzPts val="1800"/>
              <a:buFont typeface="Libre Franklin"/>
              <a:buChar char="●"/>
            </a:pPr>
            <a:r>
              <a:rPr lang="en">
                <a:solidFill>
                  <a:schemeClr val="lt1"/>
                </a:solidFill>
                <a:latin typeface="Libre Franklin"/>
                <a:ea typeface="Libre Franklin"/>
                <a:cs typeface="Libre Franklin"/>
                <a:sym typeface="Libre Franklin"/>
              </a:rPr>
              <a:t>Ensemble of methods using both raw waveforms and 2D spectrograms have lead to superior performance rather than relying solely on spectrograms. </a:t>
            </a:r>
            <a:endParaRPr>
              <a:solidFill>
                <a:schemeClr val="lt1"/>
              </a:solidFill>
              <a:latin typeface="Libre Franklin"/>
              <a:ea typeface="Libre Franklin"/>
              <a:cs typeface="Libre Franklin"/>
              <a:sym typeface="Libre Franklin"/>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414141"/>
        </a:solidFill>
      </p:bgPr>
    </p:bg>
    <p:spTree>
      <p:nvGrpSpPr>
        <p:cNvPr id="84" name="Shape 84"/>
        <p:cNvGrpSpPr/>
        <p:nvPr/>
      </p:nvGrpSpPr>
      <p:grpSpPr>
        <a:xfrm>
          <a:off x="0" y="0"/>
          <a:ext cx="0" cy="0"/>
          <a:chOff x="0" y="0"/>
          <a:chExt cx="0" cy="0"/>
        </a:xfrm>
      </p:grpSpPr>
      <p:sp>
        <p:nvSpPr>
          <p:cNvPr id="85" name="Google Shape;85;p18"/>
          <p:cNvSpPr txBox="1"/>
          <p:nvPr>
            <p:ph type="title"/>
          </p:nvPr>
        </p:nvSpPr>
        <p:spPr>
          <a:xfrm>
            <a:off x="311700" y="87700"/>
            <a:ext cx="85206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b="1" lang="en">
                <a:solidFill>
                  <a:schemeClr val="lt1"/>
                </a:solidFill>
                <a:latin typeface="Libre Franklin"/>
                <a:ea typeface="Libre Franklin"/>
                <a:cs typeface="Libre Franklin"/>
                <a:sym typeface="Libre Franklin"/>
              </a:rPr>
              <a:t>Our Approach (Pre-Midterm)</a:t>
            </a:r>
            <a:endParaRPr>
              <a:latin typeface="Libre Franklin"/>
              <a:ea typeface="Libre Franklin"/>
              <a:cs typeface="Libre Franklin"/>
              <a:sym typeface="Libre Franklin"/>
            </a:endParaRPr>
          </a:p>
        </p:txBody>
      </p:sp>
      <p:sp>
        <p:nvSpPr>
          <p:cNvPr id="86" name="Google Shape;86;p18"/>
          <p:cNvSpPr txBox="1"/>
          <p:nvPr>
            <p:ph idx="1" type="body"/>
          </p:nvPr>
        </p:nvSpPr>
        <p:spPr>
          <a:xfrm>
            <a:off x="311700" y="827475"/>
            <a:ext cx="8520600" cy="3741300"/>
          </a:xfrm>
          <a:prstGeom prst="rect">
            <a:avLst/>
          </a:prstGeom>
        </p:spPr>
        <p:txBody>
          <a:bodyPr anchorCtr="0" anchor="t" bIns="91425" lIns="91425" spcFirstLastPara="1" rIns="91425" wrap="square" tIns="91425">
            <a:normAutofit lnSpcReduction="10000"/>
          </a:bodyPr>
          <a:lstStyle/>
          <a:p>
            <a:pPr indent="-342900" lvl="0" marL="457200" rtl="0" algn="l">
              <a:spcBef>
                <a:spcPts val="0"/>
              </a:spcBef>
              <a:spcAft>
                <a:spcPts val="0"/>
              </a:spcAft>
              <a:buClr>
                <a:schemeClr val="lt1"/>
              </a:buClr>
              <a:buSzPts val="1800"/>
              <a:buFont typeface="Libre Franklin"/>
              <a:buChar char="●"/>
            </a:pPr>
            <a:r>
              <a:rPr lang="en">
                <a:solidFill>
                  <a:schemeClr val="lt1"/>
                </a:solidFill>
                <a:latin typeface="Libre Franklin"/>
                <a:ea typeface="Libre Franklin"/>
                <a:cs typeface="Libre Franklin"/>
                <a:sym typeface="Libre Franklin"/>
              </a:rPr>
              <a:t>Deep Learning Classification Models</a:t>
            </a:r>
            <a:endParaRPr>
              <a:solidFill>
                <a:schemeClr val="lt1"/>
              </a:solidFill>
              <a:latin typeface="Libre Franklin"/>
              <a:ea typeface="Libre Franklin"/>
              <a:cs typeface="Libre Franklin"/>
              <a:sym typeface="Libre Franklin"/>
            </a:endParaRPr>
          </a:p>
          <a:p>
            <a:pPr indent="0" lvl="0" marL="1371600" rtl="0" algn="l">
              <a:spcBef>
                <a:spcPts val="1200"/>
              </a:spcBef>
              <a:spcAft>
                <a:spcPts val="0"/>
              </a:spcAft>
              <a:buNone/>
            </a:pPr>
            <a:r>
              <a:t/>
            </a:r>
            <a:endParaRPr>
              <a:solidFill>
                <a:schemeClr val="lt1"/>
              </a:solidFill>
              <a:latin typeface="Libre Franklin"/>
              <a:ea typeface="Libre Franklin"/>
              <a:cs typeface="Libre Franklin"/>
              <a:sym typeface="Libre Franklin"/>
            </a:endParaRPr>
          </a:p>
          <a:p>
            <a:pPr indent="-342900" lvl="0" marL="457200" rtl="0" algn="l">
              <a:spcBef>
                <a:spcPts val="1200"/>
              </a:spcBef>
              <a:spcAft>
                <a:spcPts val="0"/>
              </a:spcAft>
              <a:buClr>
                <a:schemeClr val="lt1"/>
              </a:buClr>
              <a:buSzPts val="1800"/>
              <a:buFont typeface="Libre Franklin"/>
              <a:buChar char="●"/>
            </a:pPr>
            <a:r>
              <a:rPr lang="en">
                <a:solidFill>
                  <a:schemeClr val="lt1"/>
                </a:solidFill>
                <a:latin typeface="Libre Franklin"/>
                <a:ea typeface="Libre Franklin"/>
                <a:cs typeface="Libre Franklin"/>
                <a:sym typeface="Libre Franklin"/>
              </a:rPr>
              <a:t>Different Modalities of data</a:t>
            </a:r>
            <a:endParaRPr>
              <a:solidFill>
                <a:schemeClr val="lt1"/>
              </a:solidFill>
              <a:latin typeface="Libre Franklin"/>
              <a:ea typeface="Libre Franklin"/>
              <a:cs typeface="Libre Franklin"/>
              <a:sym typeface="Libre Franklin"/>
            </a:endParaRPr>
          </a:p>
          <a:p>
            <a:pPr indent="-317500" lvl="1" marL="1828800" rtl="0" algn="l">
              <a:spcBef>
                <a:spcPts val="0"/>
              </a:spcBef>
              <a:spcAft>
                <a:spcPts val="0"/>
              </a:spcAft>
              <a:buClr>
                <a:schemeClr val="lt1"/>
              </a:buClr>
              <a:buSzPts val="1400"/>
              <a:buFont typeface="Libre Franklin"/>
              <a:buChar char="○"/>
            </a:pPr>
            <a:r>
              <a:rPr lang="en">
                <a:solidFill>
                  <a:schemeClr val="lt1"/>
                </a:solidFill>
                <a:latin typeface="Libre Franklin"/>
                <a:ea typeface="Libre Franklin"/>
                <a:cs typeface="Libre Franklin"/>
                <a:sym typeface="Libre Franklin"/>
              </a:rPr>
              <a:t>Signals,  </a:t>
            </a:r>
            <a:r>
              <a:rPr lang="en">
                <a:solidFill>
                  <a:schemeClr val="lt1"/>
                </a:solidFill>
                <a:latin typeface="Libre Franklin"/>
                <a:ea typeface="Libre Franklin"/>
                <a:cs typeface="Libre Franklin"/>
                <a:sym typeface="Libre Franklin"/>
              </a:rPr>
              <a:t>Spectrograms</a:t>
            </a:r>
            <a:r>
              <a:rPr lang="en">
                <a:solidFill>
                  <a:schemeClr val="lt1"/>
                </a:solidFill>
                <a:latin typeface="Libre Franklin"/>
                <a:ea typeface="Libre Franklin"/>
                <a:cs typeface="Libre Franklin"/>
                <a:sym typeface="Libre Franklin"/>
              </a:rPr>
              <a:t>, LFCC</a:t>
            </a:r>
            <a:endParaRPr>
              <a:solidFill>
                <a:schemeClr val="lt1"/>
              </a:solidFill>
              <a:latin typeface="Libre Franklin"/>
              <a:ea typeface="Libre Franklin"/>
              <a:cs typeface="Libre Franklin"/>
              <a:sym typeface="Libre Franklin"/>
            </a:endParaRPr>
          </a:p>
          <a:p>
            <a:pPr indent="0" lvl="0" marL="1828800" rtl="0" algn="l">
              <a:spcBef>
                <a:spcPts val="1200"/>
              </a:spcBef>
              <a:spcAft>
                <a:spcPts val="0"/>
              </a:spcAft>
              <a:buNone/>
            </a:pPr>
            <a:r>
              <a:t/>
            </a:r>
            <a:endParaRPr>
              <a:solidFill>
                <a:schemeClr val="lt1"/>
              </a:solidFill>
              <a:latin typeface="Libre Franklin"/>
              <a:ea typeface="Libre Franklin"/>
              <a:cs typeface="Libre Franklin"/>
              <a:sym typeface="Libre Franklin"/>
            </a:endParaRPr>
          </a:p>
          <a:p>
            <a:pPr indent="-342900" lvl="0" marL="457200" rtl="0" algn="l">
              <a:spcBef>
                <a:spcPts val="1200"/>
              </a:spcBef>
              <a:spcAft>
                <a:spcPts val="0"/>
              </a:spcAft>
              <a:buClr>
                <a:schemeClr val="lt1"/>
              </a:buClr>
              <a:buSzPts val="1800"/>
              <a:buFont typeface="Libre Franklin"/>
              <a:buChar char="●"/>
            </a:pPr>
            <a:r>
              <a:rPr lang="en">
                <a:solidFill>
                  <a:schemeClr val="lt1"/>
                </a:solidFill>
                <a:latin typeface="Libre Franklin"/>
                <a:ea typeface="Libre Franklin"/>
                <a:cs typeface="Libre Franklin"/>
                <a:sym typeface="Libre Franklin"/>
              </a:rPr>
              <a:t>Investigate the effect of different Activation functions.</a:t>
            </a:r>
            <a:endParaRPr>
              <a:solidFill>
                <a:schemeClr val="lt1"/>
              </a:solidFill>
              <a:latin typeface="Libre Franklin"/>
              <a:ea typeface="Libre Franklin"/>
              <a:cs typeface="Libre Franklin"/>
              <a:sym typeface="Libre Franklin"/>
            </a:endParaRPr>
          </a:p>
          <a:p>
            <a:pPr indent="-317500" lvl="1" marL="1828800" rtl="0" algn="l">
              <a:spcBef>
                <a:spcPts val="0"/>
              </a:spcBef>
              <a:spcAft>
                <a:spcPts val="0"/>
              </a:spcAft>
              <a:buClr>
                <a:schemeClr val="lt1"/>
              </a:buClr>
              <a:buSzPts val="1400"/>
              <a:buFont typeface="Libre Franklin"/>
              <a:buChar char="○"/>
            </a:pPr>
            <a:r>
              <a:rPr lang="en">
                <a:solidFill>
                  <a:schemeClr val="lt1"/>
                </a:solidFill>
                <a:latin typeface="Libre Franklin"/>
                <a:ea typeface="Libre Franklin"/>
                <a:cs typeface="Libre Franklin"/>
                <a:sym typeface="Libre Franklin"/>
              </a:rPr>
              <a:t>Relu, Tanh, LRelu</a:t>
            </a:r>
            <a:endParaRPr>
              <a:solidFill>
                <a:schemeClr val="lt1"/>
              </a:solidFill>
              <a:latin typeface="Libre Franklin"/>
              <a:ea typeface="Libre Franklin"/>
              <a:cs typeface="Libre Franklin"/>
              <a:sym typeface="Libre Franklin"/>
            </a:endParaRPr>
          </a:p>
          <a:p>
            <a:pPr indent="0" lvl="0" marL="1828800" rtl="0" algn="l">
              <a:spcBef>
                <a:spcPts val="1200"/>
              </a:spcBef>
              <a:spcAft>
                <a:spcPts val="0"/>
              </a:spcAft>
              <a:buNone/>
            </a:pPr>
            <a:r>
              <a:t/>
            </a:r>
            <a:endParaRPr>
              <a:solidFill>
                <a:schemeClr val="lt1"/>
              </a:solidFill>
              <a:latin typeface="Libre Franklin"/>
              <a:ea typeface="Libre Franklin"/>
              <a:cs typeface="Libre Franklin"/>
              <a:sym typeface="Libre Franklin"/>
            </a:endParaRPr>
          </a:p>
          <a:p>
            <a:pPr indent="-342900" lvl="0" marL="457200" rtl="0" algn="l">
              <a:spcBef>
                <a:spcPts val="1200"/>
              </a:spcBef>
              <a:spcAft>
                <a:spcPts val="0"/>
              </a:spcAft>
              <a:buClr>
                <a:schemeClr val="lt1"/>
              </a:buClr>
              <a:buSzPts val="1800"/>
              <a:buFont typeface="Libre Franklin"/>
              <a:buChar char="●"/>
            </a:pPr>
            <a:r>
              <a:rPr lang="en">
                <a:solidFill>
                  <a:schemeClr val="lt1"/>
                </a:solidFill>
                <a:latin typeface="Libre Franklin"/>
                <a:ea typeface="Libre Franklin"/>
                <a:cs typeface="Libre Franklin"/>
                <a:sym typeface="Libre Franklin"/>
              </a:rPr>
              <a:t>Develop an Ensemble for state-of-the-art generalized performance</a:t>
            </a:r>
            <a:endParaRPr>
              <a:solidFill>
                <a:schemeClr val="lt1"/>
              </a:solidFill>
              <a:latin typeface="Libre Franklin"/>
              <a:ea typeface="Libre Franklin"/>
              <a:cs typeface="Libre Franklin"/>
              <a:sym typeface="Libre Franklin"/>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414141"/>
        </a:solidFill>
      </p:bgPr>
    </p:bg>
    <p:spTree>
      <p:nvGrpSpPr>
        <p:cNvPr id="90" name="Shape 90"/>
        <p:cNvGrpSpPr/>
        <p:nvPr/>
      </p:nvGrpSpPr>
      <p:grpSpPr>
        <a:xfrm>
          <a:off x="0" y="0"/>
          <a:ext cx="0" cy="0"/>
          <a:chOff x="0" y="0"/>
          <a:chExt cx="0" cy="0"/>
        </a:xfrm>
      </p:grpSpPr>
      <p:sp>
        <p:nvSpPr>
          <p:cNvPr id="91" name="Google Shape;91;p1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b="1" lang="en">
                <a:solidFill>
                  <a:schemeClr val="lt1"/>
                </a:solidFill>
                <a:latin typeface="Libre Franklin"/>
                <a:ea typeface="Libre Franklin"/>
                <a:cs typeface="Libre Franklin"/>
                <a:sym typeface="Libre Franklin"/>
              </a:rPr>
              <a:t>The Data</a:t>
            </a:r>
            <a:endParaRPr b="1">
              <a:solidFill>
                <a:schemeClr val="lt1"/>
              </a:solidFill>
              <a:latin typeface="Libre Franklin"/>
              <a:ea typeface="Libre Franklin"/>
              <a:cs typeface="Libre Franklin"/>
              <a:sym typeface="Libre Franklin"/>
            </a:endParaRPr>
          </a:p>
          <a:p>
            <a:pPr indent="0" lvl="0" marL="0" rtl="0" algn="l">
              <a:spcBef>
                <a:spcPts val="0"/>
              </a:spcBef>
              <a:spcAft>
                <a:spcPts val="0"/>
              </a:spcAft>
              <a:buNone/>
            </a:pPr>
            <a:r>
              <a:t/>
            </a:r>
            <a:endParaRPr>
              <a:latin typeface="Libre Franklin"/>
              <a:ea typeface="Libre Franklin"/>
              <a:cs typeface="Libre Franklin"/>
              <a:sym typeface="Libre Franklin"/>
            </a:endParaRPr>
          </a:p>
        </p:txBody>
      </p:sp>
      <p:sp>
        <p:nvSpPr>
          <p:cNvPr id="92" name="Google Shape;92;p19"/>
          <p:cNvSpPr txBox="1"/>
          <p:nvPr>
            <p:ph idx="1" type="body"/>
          </p:nvPr>
        </p:nvSpPr>
        <p:spPr>
          <a:xfrm>
            <a:off x="311700" y="1152475"/>
            <a:ext cx="8520600" cy="3416400"/>
          </a:xfrm>
          <a:prstGeom prst="rect">
            <a:avLst/>
          </a:prstGeom>
        </p:spPr>
        <p:txBody>
          <a:bodyPr anchorCtr="0" anchor="t" bIns="91425" lIns="91425" spcFirstLastPara="1" rIns="91425" wrap="square" tIns="91425">
            <a:normAutofit lnSpcReduction="10000"/>
          </a:bodyPr>
          <a:lstStyle/>
          <a:p>
            <a:pPr indent="0" lvl="0" marL="0" rtl="0" algn="l">
              <a:spcBef>
                <a:spcPts val="0"/>
              </a:spcBef>
              <a:spcAft>
                <a:spcPts val="0"/>
              </a:spcAft>
              <a:buNone/>
            </a:pPr>
            <a:r>
              <a:t/>
            </a:r>
            <a:endParaRPr>
              <a:solidFill>
                <a:schemeClr val="lt1"/>
              </a:solidFill>
              <a:latin typeface="Libre Franklin"/>
              <a:ea typeface="Libre Franklin"/>
              <a:cs typeface="Libre Franklin"/>
              <a:sym typeface="Libre Franklin"/>
            </a:endParaRPr>
          </a:p>
          <a:p>
            <a:pPr indent="-342900" lvl="0" marL="457200" rtl="0" algn="l">
              <a:spcBef>
                <a:spcPts val="1200"/>
              </a:spcBef>
              <a:spcAft>
                <a:spcPts val="0"/>
              </a:spcAft>
              <a:buClr>
                <a:schemeClr val="lt1"/>
              </a:buClr>
              <a:buSzPts val="1800"/>
              <a:buFont typeface="Libre Franklin"/>
              <a:buChar char="●"/>
            </a:pPr>
            <a:r>
              <a:rPr lang="en">
                <a:solidFill>
                  <a:schemeClr val="lt1"/>
                </a:solidFill>
                <a:latin typeface="Libre Franklin"/>
                <a:ea typeface="Libre Franklin"/>
                <a:cs typeface="Libre Franklin"/>
                <a:sym typeface="Libre Franklin"/>
              </a:rPr>
              <a:t>ASVSpoof 2019</a:t>
            </a:r>
            <a:endParaRPr>
              <a:solidFill>
                <a:schemeClr val="lt1"/>
              </a:solidFill>
              <a:latin typeface="Libre Franklin"/>
              <a:ea typeface="Libre Franklin"/>
              <a:cs typeface="Libre Franklin"/>
              <a:sym typeface="Libre Franklin"/>
            </a:endParaRPr>
          </a:p>
          <a:p>
            <a:pPr indent="-317500" lvl="1" marL="914400" rtl="0" algn="l">
              <a:spcBef>
                <a:spcPts val="0"/>
              </a:spcBef>
              <a:spcAft>
                <a:spcPts val="0"/>
              </a:spcAft>
              <a:buClr>
                <a:schemeClr val="lt1"/>
              </a:buClr>
              <a:buSzPts val="1400"/>
              <a:buFont typeface="Libre Franklin"/>
              <a:buChar char="○"/>
            </a:pPr>
            <a:r>
              <a:rPr lang="en">
                <a:solidFill>
                  <a:schemeClr val="lt1"/>
                </a:solidFill>
                <a:latin typeface="Libre Franklin"/>
                <a:ea typeface="Libre Franklin"/>
                <a:cs typeface="Libre Franklin"/>
                <a:sym typeface="Libre Franklin"/>
              </a:rPr>
              <a:t>Split into Train (8 male, 12 female), Dev (4 male, 6 female) and Eval (21 male, 27 female)</a:t>
            </a:r>
            <a:endParaRPr>
              <a:solidFill>
                <a:schemeClr val="lt1"/>
              </a:solidFill>
              <a:latin typeface="Libre Franklin"/>
              <a:ea typeface="Libre Franklin"/>
              <a:cs typeface="Libre Franklin"/>
              <a:sym typeface="Libre Franklin"/>
            </a:endParaRPr>
          </a:p>
          <a:p>
            <a:pPr indent="-317500" lvl="1" marL="914400" rtl="0" algn="l">
              <a:spcBef>
                <a:spcPts val="0"/>
              </a:spcBef>
              <a:spcAft>
                <a:spcPts val="0"/>
              </a:spcAft>
              <a:buClr>
                <a:schemeClr val="lt1"/>
              </a:buClr>
              <a:buSzPts val="1400"/>
              <a:buFont typeface="Libre Franklin"/>
              <a:buChar char="○"/>
            </a:pPr>
            <a:r>
              <a:rPr lang="en">
                <a:solidFill>
                  <a:schemeClr val="lt1"/>
                </a:solidFill>
                <a:latin typeface="Libre Franklin"/>
                <a:ea typeface="Libre Franklin"/>
                <a:cs typeface="Libre Franklin"/>
                <a:sym typeface="Libre Franklin"/>
              </a:rPr>
              <a:t>Each set has audio signals in FLAC format and corresponding labels</a:t>
            </a:r>
            <a:endParaRPr>
              <a:solidFill>
                <a:schemeClr val="lt1"/>
              </a:solidFill>
              <a:latin typeface="Libre Franklin"/>
              <a:ea typeface="Libre Franklin"/>
              <a:cs typeface="Libre Franklin"/>
              <a:sym typeface="Libre Franklin"/>
            </a:endParaRPr>
          </a:p>
          <a:p>
            <a:pPr indent="-317500" lvl="1" marL="914400" rtl="0" algn="l">
              <a:spcBef>
                <a:spcPts val="0"/>
              </a:spcBef>
              <a:spcAft>
                <a:spcPts val="0"/>
              </a:spcAft>
              <a:buClr>
                <a:schemeClr val="lt1"/>
              </a:buClr>
              <a:buSzPts val="1400"/>
              <a:buFont typeface="Libre Franklin"/>
              <a:buChar char="○"/>
            </a:pPr>
            <a:r>
              <a:rPr lang="en">
                <a:solidFill>
                  <a:schemeClr val="lt1"/>
                </a:solidFill>
                <a:latin typeface="Libre Franklin"/>
                <a:ea typeface="Libre Franklin"/>
                <a:cs typeface="Libre Franklin"/>
                <a:sym typeface="Libre Franklin"/>
              </a:rPr>
              <a:t>1 Bonafide (Human) label and 6 AI labels (spoof)</a:t>
            </a:r>
            <a:endParaRPr>
              <a:solidFill>
                <a:schemeClr val="lt1"/>
              </a:solidFill>
              <a:latin typeface="Libre Franklin"/>
              <a:ea typeface="Libre Franklin"/>
              <a:cs typeface="Libre Franklin"/>
              <a:sym typeface="Libre Franklin"/>
            </a:endParaRPr>
          </a:p>
          <a:p>
            <a:pPr indent="0" lvl="0" marL="914400" rtl="0" algn="l">
              <a:spcBef>
                <a:spcPts val="1200"/>
              </a:spcBef>
              <a:spcAft>
                <a:spcPts val="0"/>
              </a:spcAft>
              <a:buNone/>
            </a:pPr>
            <a:r>
              <a:t/>
            </a:r>
            <a:endParaRPr>
              <a:solidFill>
                <a:schemeClr val="lt1"/>
              </a:solidFill>
              <a:latin typeface="Libre Franklin"/>
              <a:ea typeface="Libre Franklin"/>
              <a:cs typeface="Libre Franklin"/>
              <a:sym typeface="Libre Franklin"/>
            </a:endParaRPr>
          </a:p>
          <a:p>
            <a:pPr indent="-342900" lvl="0" marL="457200" rtl="0" algn="l">
              <a:spcBef>
                <a:spcPts val="1200"/>
              </a:spcBef>
              <a:spcAft>
                <a:spcPts val="0"/>
              </a:spcAft>
              <a:buClr>
                <a:schemeClr val="lt1"/>
              </a:buClr>
              <a:buSzPts val="1800"/>
              <a:buFont typeface="Libre Franklin"/>
              <a:buChar char="●"/>
            </a:pPr>
            <a:r>
              <a:rPr lang="en">
                <a:solidFill>
                  <a:schemeClr val="lt1"/>
                </a:solidFill>
                <a:latin typeface="Libre Franklin"/>
                <a:ea typeface="Libre Franklin"/>
                <a:cs typeface="Libre Franklin"/>
                <a:sym typeface="Libre Franklin"/>
              </a:rPr>
              <a:t>ASVSpoof 2021</a:t>
            </a:r>
            <a:endParaRPr>
              <a:solidFill>
                <a:schemeClr val="lt1"/>
              </a:solidFill>
              <a:latin typeface="Libre Franklin"/>
              <a:ea typeface="Libre Franklin"/>
              <a:cs typeface="Libre Franklin"/>
              <a:sym typeface="Libre Franklin"/>
            </a:endParaRPr>
          </a:p>
          <a:p>
            <a:pPr indent="-317500" lvl="1" marL="914400" rtl="0" algn="l">
              <a:spcBef>
                <a:spcPts val="0"/>
              </a:spcBef>
              <a:spcAft>
                <a:spcPts val="0"/>
              </a:spcAft>
              <a:buClr>
                <a:schemeClr val="lt1"/>
              </a:buClr>
              <a:buSzPts val="1400"/>
              <a:buFont typeface="Libre Franklin"/>
              <a:buChar char="○"/>
            </a:pPr>
            <a:r>
              <a:rPr lang="en">
                <a:solidFill>
                  <a:schemeClr val="lt1"/>
                </a:solidFill>
                <a:latin typeface="Libre Franklin"/>
                <a:ea typeface="Libre Franklin"/>
                <a:cs typeface="Libre Franklin"/>
                <a:sym typeface="Libre Franklin"/>
              </a:rPr>
              <a:t>Only for results evaluation</a:t>
            </a:r>
            <a:endParaRPr>
              <a:solidFill>
                <a:schemeClr val="lt1"/>
              </a:solidFill>
              <a:latin typeface="Libre Franklin"/>
              <a:ea typeface="Libre Franklin"/>
              <a:cs typeface="Libre Franklin"/>
              <a:sym typeface="Libre Franklin"/>
            </a:endParaRPr>
          </a:p>
          <a:p>
            <a:pPr indent="-317500" lvl="1" marL="914400" rtl="0" algn="l">
              <a:spcBef>
                <a:spcPts val="0"/>
              </a:spcBef>
              <a:spcAft>
                <a:spcPts val="0"/>
              </a:spcAft>
              <a:buClr>
                <a:schemeClr val="lt1"/>
              </a:buClr>
              <a:buSzPts val="1400"/>
              <a:buFont typeface="Libre Franklin"/>
              <a:buChar char="○"/>
            </a:pPr>
            <a:r>
              <a:rPr lang="en">
                <a:solidFill>
                  <a:schemeClr val="lt1"/>
                </a:solidFill>
                <a:latin typeface="Libre Franklin"/>
                <a:ea typeface="Libre Franklin"/>
                <a:cs typeface="Libre Franklin"/>
                <a:sym typeface="Libre Franklin"/>
              </a:rPr>
              <a:t>No labels</a:t>
            </a:r>
            <a:endParaRPr>
              <a:solidFill>
                <a:schemeClr val="lt1"/>
              </a:solidFill>
              <a:latin typeface="Libre Franklin"/>
              <a:ea typeface="Libre Franklin"/>
              <a:cs typeface="Libre Franklin"/>
              <a:sym typeface="Libre Franklin"/>
            </a:endParaRPr>
          </a:p>
          <a:p>
            <a:pPr indent="0" lvl="0" marL="914400" rtl="0" algn="l">
              <a:spcBef>
                <a:spcPts val="1200"/>
              </a:spcBef>
              <a:spcAft>
                <a:spcPts val="1200"/>
              </a:spcAft>
              <a:buNone/>
            </a:pPr>
            <a:r>
              <a:t/>
            </a:r>
            <a:endParaRPr>
              <a:solidFill>
                <a:schemeClr val="lt1"/>
              </a:solidFill>
              <a:latin typeface="Libre Franklin"/>
              <a:ea typeface="Libre Franklin"/>
              <a:cs typeface="Libre Franklin"/>
              <a:sym typeface="Libre Franklin"/>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414141"/>
        </a:solidFill>
      </p:bgPr>
    </p:bg>
    <p:spTree>
      <p:nvGrpSpPr>
        <p:cNvPr id="96" name="Shape 96"/>
        <p:cNvGrpSpPr/>
        <p:nvPr/>
      </p:nvGrpSpPr>
      <p:grpSpPr>
        <a:xfrm>
          <a:off x="0" y="0"/>
          <a:ext cx="0" cy="0"/>
          <a:chOff x="0" y="0"/>
          <a:chExt cx="0" cy="0"/>
        </a:xfrm>
      </p:grpSpPr>
      <p:sp>
        <p:nvSpPr>
          <p:cNvPr id="97" name="Google Shape;97;p20"/>
          <p:cNvSpPr txBox="1"/>
          <p:nvPr>
            <p:ph type="title"/>
          </p:nvPr>
        </p:nvSpPr>
        <p:spPr>
          <a:xfrm>
            <a:off x="311700" y="181725"/>
            <a:ext cx="85206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b="1" lang="en">
                <a:solidFill>
                  <a:schemeClr val="lt1"/>
                </a:solidFill>
                <a:latin typeface="Libre Franklin"/>
                <a:ea typeface="Libre Franklin"/>
                <a:cs typeface="Libre Franklin"/>
                <a:sym typeface="Libre Franklin"/>
              </a:rPr>
              <a:t>Data Modalities</a:t>
            </a:r>
            <a:endParaRPr/>
          </a:p>
        </p:txBody>
      </p:sp>
      <p:sp>
        <p:nvSpPr>
          <p:cNvPr id="98" name="Google Shape;98;p20"/>
          <p:cNvSpPr txBox="1"/>
          <p:nvPr>
            <p:ph idx="1" type="body"/>
          </p:nvPr>
        </p:nvSpPr>
        <p:spPr>
          <a:xfrm>
            <a:off x="311700" y="754425"/>
            <a:ext cx="8520600" cy="41541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solidFill>
                <a:schemeClr val="lt1"/>
              </a:solidFill>
            </a:endParaRPr>
          </a:p>
        </p:txBody>
      </p:sp>
      <p:pic>
        <p:nvPicPr>
          <p:cNvPr id="99" name="Google Shape;99;p20"/>
          <p:cNvPicPr preferRelativeResize="0"/>
          <p:nvPr/>
        </p:nvPicPr>
        <p:blipFill>
          <a:blip r:embed="rId3">
            <a:alphaModFix/>
          </a:blip>
          <a:stretch>
            <a:fillRect/>
          </a:stretch>
        </p:blipFill>
        <p:spPr>
          <a:xfrm>
            <a:off x="312925" y="754425"/>
            <a:ext cx="2764350" cy="1829675"/>
          </a:xfrm>
          <a:prstGeom prst="rect">
            <a:avLst/>
          </a:prstGeom>
          <a:noFill/>
          <a:ln>
            <a:noFill/>
          </a:ln>
        </p:spPr>
      </p:pic>
      <p:sp>
        <p:nvSpPr>
          <p:cNvPr id="100" name="Google Shape;100;p20"/>
          <p:cNvSpPr txBox="1"/>
          <p:nvPr/>
        </p:nvSpPr>
        <p:spPr>
          <a:xfrm>
            <a:off x="853450" y="2655350"/>
            <a:ext cx="16833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a:solidFill>
                  <a:schemeClr val="lt1"/>
                </a:solidFill>
              </a:rPr>
              <a:t>Signal Waveform</a:t>
            </a:r>
            <a:endParaRPr b="1">
              <a:solidFill>
                <a:schemeClr val="lt1"/>
              </a:solidFill>
            </a:endParaRPr>
          </a:p>
        </p:txBody>
      </p:sp>
      <p:pic>
        <p:nvPicPr>
          <p:cNvPr id="101" name="Google Shape;101;p20"/>
          <p:cNvPicPr preferRelativeResize="0"/>
          <p:nvPr/>
        </p:nvPicPr>
        <p:blipFill>
          <a:blip r:embed="rId4">
            <a:alphaModFix/>
          </a:blip>
          <a:stretch>
            <a:fillRect/>
          </a:stretch>
        </p:blipFill>
        <p:spPr>
          <a:xfrm>
            <a:off x="5714540" y="754425"/>
            <a:ext cx="3117760" cy="1829675"/>
          </a:xfrm>
          <a:prstGeom prst="rect">
            <a:avLst/>
          </a:prstGeom>
          <a:noFill/>
          <a:ln>
            <a:noFill/>
          </a:ln>
        </p:spPr>
      </p:pic>
      <p:pic>
        <p:nvPicPr>
          <p:cNvPr id="102" name="Google Shape;102;p20"/>
          <p:cNvPicPr preferRelativeResize="0"/>
          <p:nvPr/>
        </p:nvPicPr>
        <p:blipFill rotWithShape="1">
          <a:blip r:embed="rId5">
            <a:alphaModFix/>
          </a:blip>
          <a:srcRect b="8598" l="9482" r="1983" t="3835"/>
          <a:stretch/>
        </p:blipFill>
        <p:spPr>
          <a:xfrm>
            <a:off x="3074825" y="2883950"/>
            <a:ext cx="2570976" cy="1668475"/>
          </a:xfrm>
          <a:prstGeom prst="rect">
            <a:avLst/>
          </a:prstGeom>
          <a:noFill/>
          <a:ln>
            <a:noFill/>
          </a:ln>
        </p:spPr>
      </p:pic>
      <p:sp>
        <p:nvSpPr>
          <p:cNvPr id="103" name="Google Shape;103;p20"/>
          <p:cNvSpPr txBox="1"/>
          <p:nvPr/>
        </p:nvSpPr>
        <p:spPr>
          <a:xfrm>
            <a:off x="6648000" y="2655350"/>
            <a:ext cx="14292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a:solidFill>
                  <a:schemeClr val="lt1"/>
                </a:solidFill>
              </a:rPr>
              <a:t>Spectrograms</a:t>
            </a:r>
            <a:endParaRPr b="1">
              <a:solidFill>
                <a:schemeClr val="lt1"/>
              </a:solidFill>
            </a:endParaRPr>
          </a:p>
        </p:txBody>
      </p:sp>
      <p:sp>
        <p:nvSpPr>
          <p:cNvPr id="104" name="Google Shape;104;p20"/>
          <p:cNvSpPr txBox="1"/>
          <p:nvPr/>
        </p:nvSpPr>
        <p:spPr>
          <a:xfrm>
            <a:off x="4035888" y="4508325"/>
            <a:ext cx="8745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a:solidFill>
                  <a:schemeClr val="lt1"/>
                </a:solidFill>
              </a:rPr>
              <a:t>LFCC</a:t>
            </a:r>
            <a:endParaRPr b="1">
              <a:solidFill>
                <a:schemeClr val="lt1"/>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414141"/>
        </a:solidFill>
      </p:bgPr>
    </p:bg>
    <p:spTree>
      <p:nvGrpSpPr>
        <p:cNvPr id="108" name="Shape 108"/>
        <p:cNvGrpSpPr/>
        <p:nvPr/>
      </p:nvGrpSpPr>
      <p:grpSpPr>
        <a:xfrm>
          <a:off x="0" y="0"/>
          <a:ext cx="0" cy="0"/>
          <a:chOff x="0" y="0"/>
          <a:chExt cx="0" cy="0"/>
        </a:xfrm>
      </p:grpSpPr>
      <p:sp>
        <p:nvSpPr>
          <p:cNvPr id="109" name="Google Shape;109;p2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b="1" lang="en">
                <a:solidFill>
                  <a:schemeClr val="lt1"/>
                </a:solidFill>
                <a:latin typeface="Libre Franklin"/>
                <a:ea typeface="Libre Franklin"/>
                <a:cs typeface="Libre Franklin"/>
                <a:sym typeface="Libre Franklin"/>
              </a:rPr>
              <a:t>Limitation of Current Results</a:t>
            </a:r>
            <a:endParaRPr b="1">
              <a:solidFill>
                <a:schemeClr val="lt1"/>
              </a:solidFill>
              <a:latin typeface="Libre Franklin"/>
              <a:ea typeface="Libre Franklin"/>
              <a:cs typeface="Libre Franklin"/>
              <a:sym typeface="Libre Franklin"/>
            </a:endParaRPr>
          </a:p>
        </p:txBody>
      </p:sp>
      <p:sp>
        <p:nvSpPr>
          <p:cNvPr id="110" name="Google Shape;110;p21"/>
          <p:cNvSpPr txBox="1"/>
          <p:nvPr>
            <p:ph idx="1" type="body"/>
          </p:nvPr>
        </p:nvSpPr>
        <p:spPr>
          <a:xfrm>
            <a:off x="311700" y="123022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Clr>
                <a:schemeClr val="lt1"/>
              </a:buClr>
              <a:buSzPts val="1800"/>
              <a:buFont typeface="Libre Franklin"/>
              <a:buChar char="●"/>
            </a:pPr>
            <a:r>
              <a:rPr lang="en">
                <a:solidFill>
                  <a:schemeClr val="lt1"/>
                </a:solidFill>
                <a:latin typeface="Libre Franklin"/>
                <a:ea typeface="Libre Franklin"/>
                <a:cs typeface="Libre Franklin"/>
                <a:sym typeface="Libre Franklin"/>
              </a:rPr>
              <a:t>Imbalance</a:t>
            </a:r>
            <a:r>
              <a:rPr lang="en">
                <a:solidFill>
                  <a:schemeClr val="lt1"/>
                </a:solidFill>
                <a:latin typeface="Libre Franklin"/>
                <a:ea typeface="Libre Franklin"/>
                <a:cs typeface="Libre Franklin"/>
                <a:sym typeface="Libre Franklin"/>
              </a:rPr>
              <a:t> dataset leading to poor classification metrics</a:t>
            </a:r>
            <a:endParaRPr>
              <a:solidFill>
                <a:schemeClr val="lt1"/>
              </a:solidFill>
              <a:latin typeface="Libre Franklin"/>
              <a:ea typeface="Libre Franklin"/>
              <a:cs typeface="Libre Franklin"/>
              <a:sym typeface="Libre Franklin"/>
            </a:endParaRPr>
          </a:p>
          <a:p>
            <a:pPr indent="457200" lvl="0" marL="0" rtl="0" algn="l">
              <a:spcBef>
                <a:spcPts val="1200"/>
              </a:spcBef>
              <a:spcAft>
                <a:spcPts val="0"/>
              </a:spcAft>
              <a:buNone/>
            </a:pPr>
            <a:r>
              <a:rPr lang="en">
                <a:solidFill>
                  <a:schemeClr val="lt1"/>
                </a:solidFill>
              </a:rPr>
              <a:t>Ex: Spoof: 22296(+), Bonafide: 2548(-)</a:t>
            </a:r>
            <a:endParaRPr>
              <a:solidFill>
                <a:schemeClr val="lt1"/>
              </a:solidFill>
            </a:endParaRPr>
          </a:p>
          <a:p>
            <a:pPr indent="-317500" lvl="1" marL="914400" rtl="0" algn="l">
              <a:spcBef>
                <a:spcPts val="1600"/>
              </a:spcBef>
              <a:spcAft>
                <a:spcPts val="0"/>
              </a:spcAft>
              <a:buClr>
                <a:schemeClr val="lt1"/>
              </a:buClr>
              <a:buSzPts val="1400"/>
              <a:buChar char="○"/>
            </a:pPr>
            <a:r>
              <a:rPr lang="en">
                <a:solidFill>
                  <a:schemeClr val="lt1"/>
                </a:solidFill>
              </a:rPr>
              <a:t>Classification System Result: Spoof: 222</a:t>
            </a:r>
            <a:r>
              <a:rPr lang="en">
                <a:solidFill>
                  <a:schemeClr val="lt1"/>
                </a:solidFill>
              </a:rPr>
              <a:t>8</a:t>
            </a:r>
            <a:r>
              <a:rPr lang="en">
                <a:solidFill>
                  <a:schemeClr val="lt1"/>
                </a:solidFill>
              </a:rPr>
              <a:t>6(TP), Bonafide: 10 (TN), FP: 2538, FN: 10 Accuracy: 89.7% Accurate, 10.3% error </a:t>
            </a:r>
            <a:endParaRPr>
              <a:solidFill>
                <a:schemeClr val="lt1"/>
              </a:solidFill>
            </a:endParaRPr>
          </a:p>
          <a:p>
            <a:pPr indent="-317500" lvl="1" marL="914400" rtl="0" algn="l">
              <a:spcBef>
                <a:spcPts val="0"/>
              </a:spcBef>
              <a:spcAft>
                <a:spcPts val="0"/>
              </a:spcAft>
              <a:buClr>
                <a:schemeClr val="lt1"/>
              </a:buClr>
              <a:buSzPts val="1400"/>
              <a:buChar char="○"/>
            </a:pPr>
            <a:r>
              <a:rPr lang="en">
                <a:solidFill>
                  <a:schemeClr val="lt1"/>
                </a:solidFill>
              </a:rPr>
              <a:t>Precision: 89.8%, Recall: 99.9%, F1 Score: 94.5</a:t>
            </a:r>
            <a:endParaRPr>
              <a:solidFill>
                <a:schemeClr val="lt1"/>
              </a:solidFill>
            </a:endParaRPr>
          </a:p>
          <a:p>
            <a:pPr indent="0" lvl="0" marL="0" rtl="0" algn="l">
              <a:spcBef>
                <a:spcPts val="1600"/>
              </a:spcBef>
              <a:spcAft>
                <a:spcPts val="0"/>
              </a:spcAft>
              <a:buNone/>
            </a:pPr>
            <a:r>
              <a:t/>
            </a:r>
            <a:endParaRPr>
              <a:solidFill>
                <a:schemeClr val="lt1"/>
              </a:solidFill>
            </a:endParaRPr>
          </a:p>
          <a:p>
            <a:pPr indent="-342900" lvl="0" marL="457200" rtl="0" algn="l">
              <a:spcBef>
                <a:spcPts val="1600"/>
              </a:spcBef>
              <a:spcAft>
                <a:spcPts val="0"/>
              </a:spcAft>
              <a:buClr>
                <a:schemeClr val="lt1"/>
              </a:buClr>
              <a:buSzPts val="1800"/>
              <a:buFont typeface="Libre Franklin"/>
              <a:buChar char="●"/>
            </a:pPr>
            <a:r>
              <a:rPr lang="en">
                <a:solidFill>
                  <a:schemeClr val="lt1"/>
                </a:solidFill>
                <a:latin typeface="Libre Franklin"/>
                <a:ea typeface="Libre Franklin"/>
                <a:cs typeface="Libre Franklin"/>
                <a:sym typeface="Libre Franklin"/>
              </a:rPr>
              <a:t>Lack of Transfer Learning models for 1D CNN model.</a:t>
            </a:r>
            <a:endParaRPr>
              <a:solidFill>
                <a:schemeClr val="lt1"/>
              </a:solidFill>
              <a:latin typeface="Libre Franklin"/>
              <a:ea typeface="Libre Franklin"/>
              <a:cs typeface="Libre Franklin"/>
              <a:sym typeface="Libre Franklin"/>
            </a:endParaRPr>
          </a:p>
          <a:p>
            <a:pPr indent="-317500" lvl="1" marL="914400" rtl="0" algn="l">
              <a:spcBef>
                <a:spcPts val="0"/>
              </a:spcBef>
              <a:spcAft>
                <a:spcPts val="0"/>
              </a:spcAft>
              <a:buClr>
                <a:schemeClr val="lt1"/>
              </a:buClr>
              <a:buSzPts val="1400"/>
              <a:buFont typeface="Libre Franklin"/>
              <a:buChar char="○"/>
            </a:pPr>
            <a:r>
              <a:rPr lang="en">
                <a:solidFill>
                  <a:schemeClr val="lt1"/>
                </a:solidFill>
                <a:latin typeface="Libre Franklin"/>
                <a:ea typeface="Libre Franklin"/>
                <a:cs typeface="Libre Franklin"/>
                <a:sym typeface="Libre Franklin"/>
              </a:rPr>
              <a:t>Unlike 2D CNN models such as ResNet, InceptionNet, 1D pretrained models are not available</a:t>
            </a:r>
            <a:endParaRPr>
              <a:solidFill>
                <a:schemeClr val="lt1"/>
              </a:solidFill>
              <a:latin typeface="Libre Franklin"/>
              <a:ea typeface="Libre Franklin"/>
              <a:cs typeface="Libre Franklin"/>
              <a:sym typeface="Libre Franklin"/>
            </a:endParaRPr>
          </a:p>
        </p:txBody>
      </p:sp>
      <p:pic>
        <p:nvPicPr>
          <p:cNvPr id="111" name="Google Shape;111;p21"/>
          <p:cNvPicPr preferRelativeResize="0"/>
          <p:nvPr/>
        </p:nvPicPr>
        <p:blipFill>
          <a:blip r:embed="rId3">
            <a:alphaModFix/>
          </a:blip>
          <a:stretch>
            <a:fillRect/>
          </a:stretch>
        </p:blipFill>
        <p:spPr>
          <a:xfrm>
            <a:off x="6870563" y="2571750"/>
            <a:ext cx="1955200" cy="1345524"/>
          </a:xfrm>
          <a:prstGeom prst="rect">
            <a:avLst/>
          </a:prstGeom>
          <a:noFill/>
          <a:ln>
            <a:noFill/>
          </a:ln>
        </p:spPr>
      </p:pic>
      <p:pic>
        <p:nvPicPr>
          <p:cNvPr id="112" name="Google Shape;112;p21"/>
          <p:cNvPicPr preferRelativeResize="0"/>
          <p:nvPr/>
        </p:nvPicPr>
        <p:blipFill>
          <a:blip r:embed="rId4">
            <a:alphaModFix/>
          </a:blip>
          <a:stretch>
            <a:fillRect/>
          </a:stretch>
        </p:blipFill>
        <p:spPr>
          <a:xfrm>
            <a:off x="6882273" y="950375"/>
            <a:ext cx="1931776" cy="1279576"/>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414141"/>
        </a:solidFill>
      </p:bgPr>
    </p:bg>
    <p:spTree>
      <p:nvGrpSpPr>
        <p:cNvPr id="116" name="Shape 116"/>
        <p:cNvGrpSpPr/>
        <p:nvPr/>
      </p:nvGrpSpPr>
      <p:grpSpPr>
        <a:xfrm>
          <a:off x="0" y="0"/>
          <a:ext cx="0" cy="0"/>
          <a:chOff x="0" y="0"/>
          <a:chExt cx="0" cy="0"/>
        </a:xfrm>
      </p:grpSpPr>
      <p:sp>
        <p:nvSpPr>
          <p:cNvPr id="117" name="Google Shape;117;p2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solidFill>
                  <a:schemeClr val="lt1"/>
                </a:solidFill>
                <a:latin typeface="Libre Franklin"/>
                <a:ea typeface="Libre Franklin"/>
                <a:cs typeface="Libre Franklin"/>
                <a:sym typeface="Libre Franklin"/>
              </a:rPr>
              <a:t>Data Distribution</a:t>
            </a:r>
            <a:endParaRPr b="1">
              <a:solidFill>
                <a:schemeClr val="lt1"/>
              </a:solidFill>
              <a:latin typeface="Libre Franklin"/>
              <a:ea typeface="Libre Franklin"/>
              <a:cs typeface="Libre Franklin"/>
              <a:sym typeface="Libre Franklin"/>
            </a:endParaRPr>
          </a:p>
        </p:txBody>
      </p:sp>
      <p:pic>
        <p:nvPicPr>
          <p:cNvPr id="118" name="Google Shape;118;p22"/>
          <p:cNvPicPr preferRelativeResize="0"/>
          <p:nvPr/>
        </p:nvPicPr>
        <p:blipFill>
          <a:blip r:embed="rId3">
            <a:alphaModFix/>
          </a:blip>
          <a:stretch>
            <a:fillRect/>
          </a:stretch>
        </p:blipFill>
        <p:spPr>
          <a:xfrm>
            <a:off x="4613875" y="1017725"/>
            <a:ext cx="3703701" cy="1970901"/>
          </a:xfrm>
          <a:prstGeom prst="rect">
            <a:avLst/>
          </a:prstGeom>
          <a:noFill/>
          <a:ln>
            <a:noFill/>
          </a:ln>
        </p:spPr>
      </p:pic>
      <p:pic>
        <p:nvPicPr>
          <p:cNvPr id="119" name="Google Shape;119;p22"/>
          <p:cNvPicPr preferRelativeResize="0"/>
          <p:nvPr/>
        </p:nvPicPr>
        <p:blipFill>
          <a:blip r:embed="rId4">
            <a:alphaModFix/>
          </a:blip>
          <a:stretch>
            <a:fillRect/>
          </a:stretch>
        </p:blipFill>
        <p:spPr>
          <a:xfrm>
            <a:off x="1972550" y="3082176"/>
            <a:ext cx="4592671" cy="1850075"/>
          </a:xfrm>
          <a:prstGeom prst="rect">
            <a:avLst/>
          </a:prstGeom>
          <a:noFill/>
          <a:ln>
            <a:noFill/>
          </a:ln>
        </p:spPr>
      </p:pic>
      <p:pic>
        <p:nvPicPr>
          <p:cNvPr id="120" name="Google Shape;120;p22"/>
          <p:cNvPicPr preferRelativeResize="0"/>
          <p:nvPr/>
        </p:nvPicPr>
        <p:blipFill>
          <a:blip r:embed="rId5">
            <a:alphaModFix/>
          </a:blip>
          <a:stretch>
            <a:fillRect/>
          </a:stretch>
        </p:blipFill>
        <p:spPr>
          <a:xfrm>
            <a:off x="333500" y="1017725"/>
            <a:ext cx="3861174" cy="1970901"/>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414141"/>
        </a:solidFill>
      </p:bgPr>
    </p:bg>
    <p:spTree>
      <p:nvGrpSpPr>
        <p:cNvPr id="124" name="Shape 124"/>
        <p:cNvGrpSpPr/>
        <p:nvPr/>
      </p:nvGrpSpPr>
      <p:grpSpPr>
        <a:xfrm>
          <a:off x="0" y="0"/>
          <a:ext cx="0" cy="0"/>
          <a:chOff x="0" y="0"/>
          <a:chExt cx="0" cy="0"/>
        </a:xfrm>
      </p:grpSpPr>
      <p:sp>
        <p:nvSpPr>
          <p:cNvPr id="125" name="Google Shape;125;p23"/>
          <p:cNvSpPr txBox="1"/>
          <p:nvPr>
            <p:ph type="title"/>
          </p:nvPr>
        </p:nvSpPr>
        <p:spPr>
          <a:xfrm>
            <a:off x="311700" y="78325"/>
            <a:ext cx="85206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b="1" lang="en">
                <a:solidFill>
                  <a:schemeClr val="lt1"/>
                </a:solidFill>
                <a:latin typeface="Libre Franklin"/>
                <a:ea typeface="Libre Franklin"/>
                <a:cs typeface="Libre Franklin"/>
                <a:sym typeface="Libre Franklin"/>
              </a:rPr>
              <a:t>Challenges</a:t>
            </a:r>
            <a:endParaRPr b="1">
              <a:solidFill>
                <a:schemeClr val="lt1"/>
              </a:solidFill>
              <a:latin typeface="Libre Franklin"/>
              <a:ea typeface="Libre Franklin"/>
              <a:cs typeface="Libre Franklin"/>
              <a:sym typeface="Libre Franklin"/>
            </a:endParaRPr>
          </a:p>
        </p:txBody>
      </p:sp>
      <p:sp>
        <p:nvSpPr>
          <p:cNvPr id="126" name="Google Shape;126;p23"/>
          <p:cNvSpPr txBox="1"/>
          <p:nvPr>
            <p:ph idx="1" type="body"/>
          </p:nvPr>
        </p:nvSpPr>
        <p:spPr>
          <a:xfrm>
            <a:off x="311700" y="651025"/>
            <a:ext cx="8520600" cy="43701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Clr>
                <a:schemeClr val="lt1"/>
              </a:buClr>
              <a:buSzPts val="1800"/>
              <a:buFont typeface="Libre Franklin"/>
              <a:buChar char="●"/>
            </a:pPr>
            <a:r>
              <a:rPr lang="en">
                <a:solidFill>
                  <a:schemeClr val="lt1"/>
                </a:solidFill>
                <a:latin typeface="Libre Franklin"/>
                <a:ea typeface="Libre Franklin"/>
                <a:cs typeface="Libre Franklin"/>
                <a:sym typeface="Libre Franklin"/>
              </a:rPr>
              <a:t>Long time for data conversion type and model training</a:t>
            </a:r>
            <a:endParaRPr>
              <a:solidFill>
                <a:schemeClr val="lt1"/>
              </a:solidFill>
              <a:latin typeface="Libre Franklin"/>
              <a:ea typeface="Libre Franklin"/>
              <a:cs typeface="Libre Franklin"/>
              <a:sym typeface="Libre Franklin"/>
            </a:endParaRPr>
          </a:p>
          <a:p>
            <a:pPr indent="-317500" lvl="1" marL="914400" rtl="0" algn="l">
              <a:spcBef>
                <a:spcPts val="0"/>
              </a:spcBef>
              <a:spcAft>
                <a:spcPts val="0"/>
              </a:spcAft>
              <a:buClr>
                <a:schemeClr val="lt1"/>
              </a:buClr>
              <a:buSzPts val="1400"/>
              <a:buFont typeface="Libre Franklin"/>
              <a:buChar char="○"/>
            </a:pPr>
            <a:r>
              <a:rPr lang="en">
                <a:solidFill>
                  <a:schemeClr val="lt1"/>
                </a:solidFill>
                <a:latin typeface="Libre Franklin"/>
                <a:ea typeface="Libre Franklin"/>
                <a:cs typeface="Libre Franklin"/>
                <a:sym typeface="Libre Franklin"/>
              </a:rPr>
              <a:t>Trying to express the audio in various forms </a:t>
            </a:r>
            <a:endParaRPr>
              <a:solidFill>
                <a:schemeClr val="lt1"/>
              </a:solidFill>
              <a:latin typeface="Libre Franklin"/>
              <a:ea typeface="Libre Franklin"/>
              <a:cs typeface="Libre Franklin"/>
              <a:sym typeface="Libre Franklin"/>
            </a:endParaRPr>
          </a:p>
          <a:p>
            <a:pPr indent="-317500" lvl="1" marL="914400" rtl="0" algn="l">
              <a:spcBef>
                <a:spcPts val="0"/>
              </a:spcBef>
              <a:spcAft>
                <a:spcPts val="0"/>
              </a:spcAft>
              <a:buClr>
                <a:schemeClr val="lt1"/>
              </a:buClr>
              <a:buSzPts val="1400"/>
              <a:buFont typeface="Libre Franklin"/>
              <a:buChar char="○"/>
            </a:pPr>
            <a:r>
              <a:rPr lang="en">
                <a:solidFill>
                  <a:schemeClr val="lt1"/>
                </a:solidFill>
                <a:latin typeface="Libre Franklin"/>
                <a:ea typeface="Libre Franklin"/>
                <a:cs typeface="Libre Franklin"/>
                <a:sym typeface="Libre Franklin"/>
              </a:rPr>
              <a:t>Exploring parallel processing libraries like numba and using jit, cuda.jit</a:t>
            </a:r>
            <a:endParaRPr>
              <a:solidFill>
                <a:schemeClr val="lt1"/>
              </a:solidFill>
              <a:latin typeface="Libre Franklin"/>
              <a:ea typeface="Libre Franklin"/>
              <a:cs typeface="Libre Franklin"/>
              <a:sym typeface="Libre Franklin"/>
            </a:endParaRPr>
          </a:p>
          <a:p>
            <a:pPr indent="0" lvl="0" marL="914400" rtl="0" algn="l">
              <a:spcBef>
                <a:spcPts val="1200"/>
              </a:spcBef>
              <a:spcAft>
                <a:spcPts val="0"/>
              </a:spcAft>
              <a:buNone/>
            </a:pPr>
            <a:r>
              <a:t/>
            </a:r>
            <a:endParaRPr>
              <a:solidFill>
                <a:schemeClr val="lt1"/>
              </a:solidFill>
              <a:latin typeface="Libre Franklin"/>
              <a:ea typeface="Libre Franklin"/>
              <a:cs typeface="Libre Franklin"/>
              <a:sym typeface="Libre Franklin"/>
            </a:endParaRPr>
          </a:p>
          <a:p>
            <a:pPr indent="0" lvl="0" marL="914400" rtl="0" algn="l">
              <a:spcBef>
                <a:spcPts val="1200"/>
              </a:spcBef>
              <a:spcAft>
                <a:spcPts val="0"/>
              </a:spcAft>
              <a:buNone/>
            </a:pPr>
            <a:r>
              <a:t/>
            </a:r>
            <a:endParaRPr>
              <a:solidFill>
                <a:schemeClr val="lt1"/>
              </a:solidFill>
              <a:latin typeface="Libre Franklin"/>
              <a:ea typeface="Libre Franklin"/>
              <a:cs typeface="Libre Franklin"/>
              <a:sym typeface="Libre Franklin"/>
            </a:endParaRPr>
          </a:p>
          <a:p>
            <a:pPr indent="-342900" lvl="0" marL="457200" rtl="0" algn="l">
              <a:spcBef>
                <a:spcPts val="1200"/>
              </a:spcBef>
              <a:spcAft>
                <a:spcPts val="0"/>
              </a:spcAft>
              <a:buClr>
                <a:schemeClr val="lt1"/>
              </a:buClr>
              <a:buSzPts val="1800"/>
              <a:buFont typeface="Libre Franklin"/>
              <a:buChar char="●"/>
            </a:pPr>
            <a:r>
              <a:rPr lang="en">
                <a:solidFill>
                  <a:schemeClr val="lt1"/>
                </a:solidFill>
                <a:latin typeface="Libre Franklin"/>
                <a:ea typeface="Libre Franklin"/>
                <a:cs typeface="Libre Franklin"/>
                <a:sym typeface="Libre Franklin"/>
              </a:rPr>
              <a:t>Misleading accuray due to unbalanced labels</a:t>
            </a:r>
            <a:endParaRPr>
              <a:solidFill>
                <a:schemeClr val="lt1"/>
              </a:solidFill>
              <a:latin typeface="Libre Franklin"/>
              <a:ea typeface="Libre Franklin"/>
              <a:cs typeface="Libre Franklin"/>
              <a:sym typeface="Libre Franklin"/>
            </a:endParaRPr>
          </a:p>
          <a:p>
            <a:pPr indent="-317500" lvl="1" marL="914400" rtl="0" algn="l">
              <a:spcBef>
                <a:spcPts val="0"/>
              </a:spcBef>
              <a:spcAft>
                <a:spcPts val="0"/>
              </a:spcAft>
              <a:buClr>
                <a:schemeClr val="lt1"/>
              </a:buClr>
              <a:buSzPts val="1400"/>
              <a:buFont typeface="Libre Franklin"/>
              <a:buChar char="○"/>
            </a:pPr>
            <a:r>
              <a:rPr lang="en">
                <a:solidFill>
                  <a:schemeClr val="lt1"/>
                </a:solidFill>
                <a:latin typeface="Libre Franklin"/>
                <a:ea typeface="Libre Franklin"/>
                <a:cs typeface="Libre Franklin"/>
                <a:sym typeface="Libre Franklin"/>
              </a:rPr>
              <a:t>Trying to use multi label classification </a:t>
            </a:r>
            <a:endParaRPr>
              <a:solidFill>
                <a:schemeClr val="lt1"/>
              </a:solidFill>
              <a:latin typeface="Libre Franklin"/>
              <a:ea typeface="Libre Franklin"/>
              <a:cs typeface="Libre Franklin"/>
              <a:sym typeface="Libre Franklin"/>
            </a:endParaRPr>
          </a:p>
          <a:p>
            <a:pPr indent="-317500" lvl="1" marL="914400" rtl="0" algn="l">
              <a:spcBef>
                <a:spcPts val="0"/>
              </a:spcBef>
              <a:spcAft>
                <a:spcPts val="0"/>
              </a:spcAft>
              <a:buClr>
                <a:schemeClr val="lt1"/>
              </a:buClr>
              <a:buSzPts val="1400"/>
              <a:buFont typeface="Libre Franklin"/>
              <a:buChar char="○"/>
            </a:pPr>
            <a:r>
              <a:rPr lang="en">
                <a:solidFill>
                  <a:schemeClr val="lt1"/>
                </a:solidFill>
                <a:latin typeface="Libre Franklin"/>
                <a:ea typeface="Libre Franklin"/>
                <a:cs typeface="Libre Franklin"/>
                <a:sym typeface="Libre Franklin"/>
              </a:rPr>
              <a:t>Using other accuracy metrics </a:t>
            </a:r>
            <a:endParaRPr>
              <a:solidFill>
                <a:schemeClr val="lt1"/>
              </a:solidFill>
              <a:latin typeface="Libre Franklin"/>
              <a:ea typeface="Libre Franklin"/>
              <a:cs typeface="Libre Franklin"/>
              <a:sym typeface="Libre Franklin"/>
            </a:endParaRPr>
          </a:p>
          <a:p>
            <a:pPr indent="0" lvl="0" marL="0" rtl="0" algn="l">
              <a:spcBef>
                <a:spcPts val="1200"/>
              </a:spcBef>
              <a:spcAft>
                <a:spcPts val="1200"/>
              </a:spcAft>
              <a:buNone/>
            </a:pPr>
            <a:r>
              <a:t/>
            </a:r>
            <a:endParaRPr>
              <a:solidFill>
                <a:schemeClr val="lt1"/>
              </a:solidFill>
              <a:latin typeface="Libre Franklin"/>
              <a:ea typeface="Libre Franklin"/>
              <a:cs typeface="Libre Franklin"/>
              <a:sym typeface="Libre Franklin"/>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414141"/>
        </a:solidFill>
      </p:bgPr>
    </p:bg>
    <p:spTree>
      <p:nvGrpSpPr>
        <p:cNvPr id="130" name="Shape 130"/>
        <p:cNvGrpSpPr/>
        <p:nvPr/>
      </p:nvGrpSpPr>
      <p:grpSpPr>
        <a:xfrm>
          <a:off x="0" y="0"/>
          <a:ext cx="0" cy="0"/>
          <a:chOff x="0" y="0"/>
          <a:chExt cx="0" cy="0"/>
        </a:xfrm>
      </p:grpSpPr>
      <p:sp>
        <p:nvSpPr>
          <p:cNvPr id="131" name="Google Shape;131;p24"/>
          <p:cNvSpPr txBox="1"/>
          <p:nvPr>
            <p:ph type="title"/>
          </p:nvPr>
        </p:nvSpPr>
        <p:spPr>
          <a:xfrm>
            <a:off x="311700" y="87700"/>
            <a:ext cx="85206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b="1" lang="en">
                <a:solidFill>
                  <a:schemeClr val="lt1"/>
                </a:solidFill>
                <a:latin typeface="Libre Franklin"/>
                <a:ea typeface="Libre Franklin"/>
                <a:cs typeface="Libre Franklin"/>
                <a:sym typeface="Libre Franklin"/>
              </a:rPr>
              <a:t>Our Approach (Post-Midterm)</a:t>
            </a:r>
            <a:endParaRPr>
              <a:latin typeface="Libre Franklin"/>
              <a:ea typeface="Libre Franklin"/>
              <a:cs typeface="Libre Franklin"/>
              <a:sym typeface="Libre Franklin"/>
            </a:endParaRPr>
          </a:p>
        </p:txBody>
      </p:sp>
      <p:sp>
        <p:nvSpPr>
          <p:cNvPr id="132" name="Google Shape;132;p24"/>
          <p:cNvSpPr txBox="1"/>
          <p:nvPr>
            <p:ph idx="1" type="body"/>
          </p:nvPr>
        </p:nvSpPr>
        <p:spPr>
          <a:xfrm>
            <a:off x="311700" y="827475"/>
            <a:ext cx="8520600" cy="37413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Clr>
                <a:schemeClr val="lt1"/>
              </a:buClr>
              <a:buSzPts val="1800"/>
              <a:buFont typeface="Libre Franklin"/>
              <a:buChar char="●"/>
            </a:pPr>
            <a:r>
              <a:rPr lang="en">
                <a:solidFill>
                  <a:schemeClr val="lt1"/>
                </a:solidFill>
                <a:latin typeface="Libre Franklin"/>
                <a:ea typeface="Libre Franklin"/>
                <a:cs typeface="Libre Franklin"/>
                <a:sym typeface="Libre Franklin"/>
              </a:rPr>
              <a:t>Leverage one-class classification algorithms</a:t>
            </a:r>
            <a:endParaRPr>
              <a:solidFill>
                <a:schemeClr val="lt1"/>
              </a:solidFill>
              <a:latin typeface="Libre Franklin"/>
              <a:ea typeface="Libre Franklin"/>
              <a:cs typeface="Libre Franklin"/>
              <a:sym typeface="Libre Franklin"/>
            </a:endParaRPr>
          </a:p>
          <a:p>
            <a:pPr indent="-317500" lvl="1" marL="1371600" rtl="0" algn="l">
              <a:spcBef>
                <a:spcPts val="0"/>
              </a:spcBef>
              <a:spcAft>
                <a:spcPts val="0"/>
              </a:spcAft>
              <a:buClr>
                <a:schemeClr val="lt1"/>
              </a:buClr>
              <a:buSzPts val="1400"/>
              <a:buFont typeface="Libre Franklin"/>
              <a:buChar char="○"/>
            </a:pPr>
            <a:r>
              <a:rPr lang="en">
                <a:solidFill>
                  <a:schemeClr val="lt1"/>
                </a:solidFill>
                <a:latin typeface="Libre Franklin"/>
                <a:ea typeface="Libre Franklin"/>
                <a:cs typeface="Libre Franklin"/>
                <a:sym typeface="Libre Franklin"/>
              </a:rPr>
              <a:t>Class 1 - Normal (Spoofed)</a:t>
            </a:r>
            <a:endParaRPr>
              <a:solidFill>
                <a:schemeClr val="lt1"/>
              </a:solidFill>
              <a:latin typeface="Libre Franklin"/>
              <a:ea typeface="Libre Franklin"/>
              <a:cs typeface="Libre Franklin"/>
              <a:sym typeface="Libre Franklin"/>
            </a:endParaRPr>
          </a:p>
          <a:p>
            <a:pPr indent="-317500" lvl="1" marL="1371600" rtl="0" algn="l">
              <a:spcBef>
                <a:spcPts val="0"/>
              </a:spcBef>
              <a:spcAft>
                <a:spcPts val="0"/>
              </a:spcAft>
              <a:buClr>
                <a:schemeClr val="lt1"/>
              </a:buClr>
              <a:buSzPts val="1400"/>
              <a:buFont typeface="Libre Franklin"/>
              <a:buChar char="○"/>
            </a:pPr>
            <a:r>
              <a:rPr lang="en">
                <a:solidFill>
                  <a:schemeClr val="lt1"/>
                </a:solidFill>
                <a:latin typeface="Libre Franklin"/>
                <a:ea typeface="Libre Franklin"/>
                <a:cs typeface="Libre Franklin"/>
                <a:sym typeface="Libre Franklin"/>
              </a:rPr>
              <a:t>Class 2 - Outlier (Bonafide)</a:t>
            </a:r>
            <a:endParaRPr>
              <a:solidFill>
                <a:schemeClr val="lt1"/>
              </a:solidFill>
              <a:latin typeface="Libre Franklin"/>
              <a:ea typeface="Libre Franklin"/>
              <a:cs typeface="Libre Franklin"/>
              <a:sym typeface="Libre Franklin"/>
            </a:endParaRPr>
          </a:p>
          <a:p>
            <a:pPr indent="0" lvl="0" marL="0" rtl="0" algn="l">
              <a:spcBef>
                <a:spcPts val="1200"/>
              </a:spcBef>
              <a:spcAft>
                <a:spcPts val="0"/>
              </a:spcAft>
              <a:buNone/>
            </a:pPr>
            <a:r>
              <a:t/>
            </a:r>
            <a:endParaRPr>
              <a:solidFill>
                <a:schemeClr val="lt1"/>
              </a:solidFill>
              <a:latin typeface="Libre Franklin"/>
              <a:ea typeface="Libre Franklin"/>
              <a:cs typeface="Libre Franklin"/>
              <a:sym typeface="Libre Franklin"/>
            </a:endParaRPr>
          </a:p>
          <a:p>
            <a:pPr indent="-342900" lvl="0" marL="457200" rtl="0" algn="l">
              <a:spcBef>
                <a:spcPts val="1200"/>
              </a:spcBef>
              <a:spcAft>
                <a:spcPts val="0"/>
              </a:spcAft>
              <a:buClr>
                <a:schemeClr val="lt1"/>
              </a:buClr>
              <a:buSzPts val="1800"/>
              <a:buFont typeface="Libre Franklin"/>
              <a:buChar char="●"/>
            </a:pPr>
            <a:r>
              <a:rPr lang="en">
                <a:solidFill>
                  <a:schemeClr val="lt1"/>
                </a:solidFill>
                <a:latin typeface="Libre Franklin"/>
                <a:ea typeface="Libre Franklin"/>
                <a:cs typeface="Libre Franklin"/>
                <a:sym typeface="Libre Franklin"/>
              </a:rPr>
              <a:t>Autoencoder approach</a:t>
            </a:r>
            <a:endParaRPr>
              <a:solidFill>
                <a:schemeClr val="lt1"/>
              </a:solidFill>
              <a:latin typeface="Libre Franklin"/>
              <a:ea typeface="Libre Franklin"/>
              <a:cs typeface="Libre Franklin"/>
              <a:sym typeface="Libre Franklin"/>
            </a:endParaRPr>
          </a:p>
          <a:p>
            <a:pPr indent="0" lvl="0" marL="1828800" rtl="0" algn="l">
              <a:spcBef>
                <a:spcPts val="1200"/>
              </a:spcBef>
              <a:spcAft>
                <a:spcPts val="0"/>
              </a:spcAft>
              <a:buNone/>
            </a:pPr>
            <a:r>
              <a:t/>
            </a:r>
            <a:endParaRPr>
              <a:solidFill>
                <a:schemeClr val="lt1"/>
              </a:solidFill>
              <a:latin typeface="Libre Franklin"/>
              <a:ea typeface="Libre Franklin"/>
              <a:cs typeface="Libre Franklin"/>
              <a:sym typeface="Libre Franklin"/>
            </a:endParaRPr>
          </a:p>
          <a:p>
            <a:pPr indent="0" lvl="0" marL="1371600" rtl="0" algn="l">
              <a:spcBef>
                <a:spcPts val="1200"/>
              </a:spcBef>
              <a:spcAft>
                <a:spcPts val="1200"/>
              </a:spcAft>
              <a:buNone/>
            </a:pPr>
            <a:r>
              <a:t/>
            </a:r>
            <a:endParaRPr>
              <a:solidFill>
                <a:schemeClr val="lt1"/>
              </a:solidFill>
              <a:latin typeface="Libre Franklin"/>
              <a:ea typeface="Libre Franklin"/>
              <a:cs typeface="Libre Franklin"/>
              <a:sym typeface="Libre Franklin"/>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414141"/>
        </a:solidFill>
      </p:bgPr>
    </p:bg>
    <p:spTree>
      <p:nvGrpSpPr>
        <p:cNvPr id="136" name="Shape 136"/>
        <p:cNvGrpSpPr/>
        <p:nvPr/>
      </p:nvGrpSpPr>
      <p:grpSpPr>
        <a:xfrm>
          <a:off x="0" y="0"/>
          <a:ext cx="0" cy="0"/>
          <a:chOff x="0" y="0"/>
          <a:chExt cx="0" cy="0"/>
        </a:xfrm>
      </p:grpSpPr>
      <p:sp>
        <p:nvSpPr>
          <p:cNvPr id="137" name="Google Shape;137;p25"/>
          <p:cNvSpPr txBox="1"/>
          <p:nvPr>
            <p:ph type="title"/>
          </p:nvPr>
        </p:nvSpPr>
        <p:spPr>
          <a:xfrm>
            <a:off x="311700" y="313400"/>
            <a:ext cx="85206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b="1" lang="en">
                <a:solidFill>
                  <a:schemeClr val="lt1"/>
                </a:solidFill>
                <a:latin typeface="Libre Franklin"/>
                <a:ea typeface="Libre Franklin"/>
                <a:cs typeface="Libre Franklin"/>
                <a:sym typeface="Libre Franklin"/>
              </a:rPr>
              <a:t>What we did</a:t>
            </a:r>
            <a:endParaRPr b="1">
              <a:solidFill>
                <a:schemeClr val="lt1"/>
              </a:solidFill>
              <a:latin typeface="Libre Franklin"/>
              <a:ea typeface="Libre Franklin"/>
              <a:cs typeface="Libre Franklin"/>
              <a:sym typeface="Libre Franklin"/>
            </a:endParaRPr>
          </a:p>
          <a:p>
            <a:pPr indent="0" lvl="0" marL="0" rtl="0" algn="ctr">
              <a:spcBef>
                <a:spcPts val="0"/>
              </a:spcBef>
              <a:spcAft>
                <a:spcPts val="0"/>
              </a:spcAft>
              <a:buNone/>
            </a:pPr>
            <a:r>
              <a:t/>
            </a:r>
            <a:endParaRPr b="1">
              <a:solidFill>
                <a:schemeClr val="lt1"/>
              </a:solidFill>
              <a:latin typeface="Libre Franklin"/>
              <a:ea typeface="Libre Franklin"/>
              <a:cs typeface="Libre Franklin"/>
              <a:sym typeface="Libre Franklin"/>
            </a:endParaRPr>
          </a:p>
        </p:txBody>
      </p:sp>
      <p:sp>
        <p:nvSpPr>
          <p:cNvPr id="138" name="Google Shape;138;p2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Clr>
                <a:schemeClr val="lt1"/>
              </a:buClr>
              <a:buSzPts val="1800"/>
              <a:buFont typeface="Libre Franklin"/>
              <a:buChar char="●"/>
            </a:pPr>
            <a:r>
              <a:rPr lang="en">
                <a:solidFill>
                  <a:schemeClr val="lt1"/>
                </a:solidFill>
                <a:latin typeface="Libre Franklin"/>
                <a:ea typeface="Libre Franklin"/>
                <a:cs typeface="Libre Franklin"/>
                <a:sym typeface="Libre Franklin"/>
              </a:rPr>
              <a:t>Generating the LFCCs for the training samples</a:t>
            </a:r>
            <a:endParaRPr>
              <a:solidFill>
                <a:schemeClr val="lt1"/>
              </a:solidFill>
              <a:latin typeface="Libre Franklin"/>
              <a:ea typeface="Libre Franklin"/>
              <a:cs typeface="Libre Franklin"/>
              <a:sym typeface="Libre Franklin"/>
            </a:endParaRPr>
          </a:p>
          <a:p>
            <a:pPr indent="-342900" lvl="0" marL="457200" rtl="0" algn="l">
              <a:spcBef>
                <a:spcPts val="0"/>
              </a:spcBef>
              <a:spcAft>
                <a:spcPts val="0"/>
              </a:spcAft>
              <a:buClr>
                <a:schemeClr val="lt1"/>
              </a:buClr>
              <a:buSzPts val="1800"/>
              <a:buFont typeface="Libre Franklin"/>
              <a:buChar char="●"/>
            </a:pPr>
            <a:r>
              <a:rPr lang="en">
                <a:solidFill>
                  <a:schemeClr val="lt1"/>
                </a:solidFill>
                <a:latin typeface="Libre Franklin"/>
                <a:ea typeface="Libre Franklin"/>
                <a:cs typeface="Libre Franklin"/>
                <a:sym typeface="Libre Franklin"/>
              </a:rPr>
              <a:t>Incorporate the one class classification approach</a:t>
            </a:r>
            <a:endParaRPr>
              <a:solidFill>
                <a:schemeClr val="lt1"/>
              </a:solidFill>
              <a:latin typeface="Libre Franklin"/>
              <a:ea typeface="Libre Franklin"/>
              <a:cs typeface="Libre Franklin"/>
              <a:sym typeface="Libre Franklin"/>
            </a:endParaRPr>
          </a:p>
          <a:p>
            <a:pPr indent="-342900" lvl="0" marL="457200" rtl="0" algn="l">
              <a:spcBef>
                <a:spcPts val="0"/>
              </a:spcBef>
              <a:spcAft>
                <a:spcPts val="0"/>
              </a:spcAft>
              <a:buClr>
                <a:schemeClr val="lt1"/>
              </a:buClr>
              <a:buSzPts val="1800"/>
              <a:buFont typeface="Libre Franklin"/>
              <a:buChar char="●"/>
            </a:pPr>
            <a:r>
              <a:rPr lang="en">
                <a:solidFill>
                  <a:schemeClr val="lt1"/>
                </a:solidFill>
                <a:latin typeface="Libre Franklin"/>
                <a:ea typeface="Libre Franklin"/>
                <a:cs typeface="Libre Franklin"/>
                <a:sym typeface="Libre Franklin"/>
              </a:rPr>
              <a:t>Training</a:t>
            </a:r>
            <a:r>
              <a:rPr lang="en">
                <a:solidFill>
                  <a:schemeClr val="lt1"/>
                </a:solidFill>
                <a:latin typeface="Libre Franklin"/>
                <a:ea typeface="Libre Franklin"/>
                <a:cs typeface="Libre Franklin"/>
                <a:sym typeface="Libre Franklin"/>
              </a:rPr>
              <a:t> the 2D resnet model with imbalanced dataset</a:t>
            </a:r>
            <a:endParaRPr>
              <a:solidFill>
                <a:schemeClr val="lt1"/>
              </a:solidFill>
              <a:latin typeface="Libre Franklin"/>
              <a:ea typeface="Libre Franklin"/>
              <a:cs typeface="Libre Franklin"/>
              <a:sym typeface="Libre Franklin"/>
            </a:endParaRPr>
          </a:p>
          <a:p>
            <a:pPr indent="0" lvl="0" marL="0" rtl="0" algn="l">
              <a:spcBef>
                <a:spcPts val="1200"/>
              </a:spcBef>
              <a:spcAft>
                <a:spcPts val="0"/>
              </a:spcAft>
              <a:buNone/>
            </a:pPr>
            <a:r>
              <a:t/>
            </a:r>
            <a:endParaRPr>
              <a:solidFill>
                <a:schemeClr val="lt1"/>
              </a:solidFill>
              <a:latin typeface="Libre Franklin"/>
              <a:ea typeface="Libre Franklin"/>
              <a:cs typeface="Libre Franklin"/>
              <a:sym typeface="Libre Franklin"/>
            </a:endParaRPr>
          </a:p>
          <a:p>
            <a:pPr indent="-342900" lvl="0" marL="457200" rtl="0" algn="l">
              <a:spcBef>
                <a:spcPts val="1200"/>
              </a:spcBef>
              <a:spcAft>
                <a:spcPts val="0"/>
              </a:spcAft>
              <a:buClr>
                <a:schemeClr val="lt1"/>
              </a:buClr>
              <a:buSzPts val="1800"/>
              <a:buFont typeface="Libre Franklin"/>
              <a:buChar char="●"/>
            </a:pPr>
            <a:r>
              <a:rPr lang="en">
                <a:solidFill>
                  <a:schemeClr val="lt1"/>
                </a:solidFill>
                <a:latin typeface="Libre Franklin"/>
                <a:ea typeface="Libre Franklin"/>
                <a:cs typeface="Libre Franklin"/>
                <a:sym typeface="Libre Franklin"/>
              </a:rPr>
              <a:t>Result </a:t>
            </a:r>
            <a:r>
              <a:rPr lang="en">
                <a:solidFill>
                  <a:schemeClr val="lt1"/>
                </a:solidFill>
                <a:latin typeface="Libre Franklin"/>
                <a:ea typeface="Libre Franklin"/>
                <a:cs typeface="Libre Franklin"/>
                <a:sym typeface="Libre Franklin"/>
              </a:rPr>
              <a:t>Comparison</a:t>
            </a:r>
            <a:r>
              <a:rPr lang="en">
                <a:solidFill>
                  <a:schemeClr val="lt1"/>
                </a:solidFill>
                <a:latin typeface="Libre Franklin"/>
                <a:ea typeface="Libre Franklin"/>
                <a:cs typeface="Libre Franklin"/>
                <a:sym typeface="Libre Franklin"/>
              </a:rPr>
              <a:t> </a:t>
            </a:r>
            <a:endParaRPr>
              <a:solidFill>
                <a:schemeClr val="lt1"/>
              </a:solidFill>
              <a:latin typeface="Libre Franklin"/>
              <a:ea typeface="Libre Franklin"/>
              <a:cs typeface="Libre Franklin"/>
              <a:sym typeface="Libre Franklin"/>
            </a:endParaRPr>
          </a:p>
          <a:p>
            <a:pPr indent="-317500" lvl="1" marL="914400" rtl="0" algn="l">
              <a:spcBef>
                <a:spcPts val="0"/>
              </a:spcBef>
              <a:spcAft>
                <a:spcPts val="0"/>
              </a:spcAft>
              <a:buClr>
                <a:schemeClr val="lt1"/>
              </a:buClr>
              <a:buSzPts val="1400"/>
              <a:buFont typeface="Libre Franklin"/>
              <a:buChar char="○"/>
            </a:pPr>
            <a:r>
              <a:rPr lang="en">
                <a:solidFill>
                  <a:schemeClr val="lt1"/>
                </a:solidFill>
                <a:latin typeface="Libre Franklin"/>
                <a:ea typeface="Libre Franklin"/>
                <a:cs typeface="Libre Franklin"/>
                <a:sym typeface="Libre Franklin"/>
              </a:rPr>
              <a:t>With and </a:t>
            </a:r>
            <a:r>
              <a:rPr lang="en">
                <a:solidFill>
                  <a:schemeClr val="lt1"/>
                </a:solidFill>
                <a:latin typeface="Libre Franklin"/>
                <a:ea typeface="Libre Franklin"/>
                <a:cs typeface="Libre Franklin"/>
                <a:sym typeface="Libre Franklin"/>
              </a:rPr>
              <a:t>without</a:t>
            </a:r>
            <a:r>
              <a:rPr lang="en">
                <a:solidFill>
                  <a:schemeClr val="lt1"/>
                </a:solidFill>
                <a:latin typeface="Libre Franklin"/>
                <a:ea typeface="Libre Franklin"/>
                <a:cs typeface="Libre Franklin"/>
                <a:sym typeface="Libre Franklin"/>
              </a:rPr>
              <a:t> background noise </a:t>
            </a:r>
            <a:endParaRPr>
              <a:solidFill>
                <a:schemeClr val="lt1"/>
              </a:solidFill>
              <a:latin typeface="Libre Franklin"/>
              <a:ea typeface="Libre Franklin"/>
              <a:cs typeface="Libre Franklin"/>
              <a:sym typeface="Libre Franklin"/>
            </a:endParaRPr>
          </a:p>
          <a:p>
            <a:pPr indent="-317500" lvl="1" marL="914400" rtl="0" algn="l">
              <a:spcBef>
                <a:spcPts val="0"/>
              </a:spcBef>
              <a:spcAft>
                <a:spcPts val="0"/>
              </a:spcAft>
              <a:buClr>
                <a:schemeClr val="lt1"/>
              </a:buClr>
              <a:buSzPts val="1400"/>
              <a:buFont typeface="Libre Franklin"/>
              <a:buChar char="○"/>
            </a:pPr>
            <a:r>
              <a:rPr lang="en">
                <a:solidFill>
                  <a:schemeClr val="lt1"/>
                </a:solidFill>
                <a:latin typeface="Libre Franklin"/>
                <a:ea typeface="Libre Franklin"/>
                <a:cs typeface="Libre Franklin"/>
                <a:sym typeface="Libre Franklin"/>
              </a:rPr>
              <a:t>B</a:t>
            </a:r>
            <a:r>
              <a:rPr lang="en">
                <a:solidFill>
                  <a:schemeClr val="lt1"/>
                </a:solidFill>
                <a:latin typeface="Libre Franklin"/>
                <a:ea typeface="Libre Franklin"/>
                <a:cs typeface="Libre Franklin"/>
                <a:sym typeface="Libre Franklin"/>
              </a:rPr>
              <a:t>etween</a:t>
            </a:r>
            <a:r>
              <a:rPr lang="en">
                <a:solidFill>
                  <a:schemeClr val="lt1"/>
                </a:solidFill>
                <a:latin typeface="Libre Franklin"/>
                <a:ea typeface="Libre Franklin"/>
                <a:cs typeface="Libre Franklin"/>
                <a:sym typeface="Libre Franklin"/>
              </a:rPr>
              <a:t> the various modalities</a:t>
            </a:r>
            <a:endParaRPr>
              <a:solidFill>
                <a:schemeClr val="lt1"/>
              </a:solidFill>
              <a:latin typeface="Libre Franklin"/>
              <a:ea typeface="Libre Franklin"/>
              <a:cs typeface="Libre Franklin"/>
              <a:sym typeface="Libre Franklin"/>
            </a:endParaRPr>
          </a:p>
          <a:p>
            <a:pPr indent="-317500" lvl="1" marL="914400" rtl="0" algn="l">
              <a:spcBef>
                <a:spcPts val="0"/>
              </a:spcBef>
              <a:spcAft>
                <a:spcPts val="0"/>
              </a:spcAft>
              <a:buClr>
                <a:schemeClr val="lt1"/>
              </a:buClr>
              <a:buSzPts val="1400"/>
              <a:buFont typeface="Libre Franklin"/>
              <a:buChar char="○"/>
            </a:pPr>
            <a:r>
              <a:rPr lang="en">
                <a:solidFill>
                  <a:schemeClr val="lt1"/>
                </a:solidFill>
                <a:latin typeface="Libre Franklin"/>
                <a:ea typeface="Libre Franklin"/>
                <a:cs typeface="Libre Franklin"/>
                <a:sym typeface="Libre Franklin"/>
              </a:rPr>
              <a:t>Between</a:t>
            </a:r>
            <a:r>
              <a:rPr lang="en">
                <a:solidFill>
                  <a:schemeClr val="lt1"/>
                </a:solidFill>
                <a:latin typeface="Libre Franklin"/>
                <a:ea typeface="Libre Franklin"/>
                <a:cs typeface="Libre Franklin"/>
                <a:sym typeface="Libre Franklin"/>
              </a:rPr>
              <a:t> </a:t>
            </a:r>
            <a:r>
              <a:rPr lang="en">
                <a:solidFill>
                  <a:schemeClr val="lt1"/>
                </a:solidFill>
                <a:latin typeface="Libre Franklin"/>
                <a:ea typeface="Libre Franklin"/>
                <a:cs typeface="Libre Franklin"/>
                <a:sym typeface="Libre Franklin"/>
              </a:rPr>
              <a:t>the</a:t>
            </a:r>
            <a:r>
              <a:rPr lang="en">
                <a:solidFill>
                  <a:schemeClr val="lt1"/>
                </a:solidFill>
                <a:latin typeface="Libre Franklin"/>
                <a:ea typeface="Libre Franklin"/>
                <a:cs typeface="Libre Franklin"/>
                <a:sym typeface="Libre Franklin"/>
              </a:rPr>
              <a:t> trained DL architectures</a:t>
            </a:r>
            <a:endParaRPr>
              <a:solidFill>
                <a:schemeClr val="lt1"/>
              </a:solidFill>
              <a:latin typeface="Libre Franklin"/>
              <a:ea typeface="Libre Franklin"/>
              <a:cs typeface="Libre Franklin"/>
              <a:sym typeface="Libre Franklin"/>
            </a:endParaRPr>
          </a:p>
          <a:p>
            <a:pPr indent="0" lvl="0" marL="457200" rtl="0" algn="l">
              <a:spcBef>
                <a:spcPts val="1200"/>
              </a:spcBef>
              <a:spcAft>
                <a:spcPts val="1200"/>
              </a:spcAft>
              <a:buNone/>
            </a:pPr>
            <a:r>
              <a:t/>
            </a:r>
            <a:endParaRPr>
              <a:solidFill>
                <a:schemeClr val="lt1"/>
              </a:solidFill>
              <a:latin typeface="Libre Franklin"/>
              <a:ea typeface="Libre Franklin"/>
              <a:cs typeface="Libre Franklin"/>
              <a:sym typeface="Libre Franklin"/>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414141"/>
        </a:solidFill>
      </p:bgPr>
    </p:bg>
    <p:spTree>
      <p:nvGrpSpPr>
        <p:cNvPr id="142" name="Shape 142"/>
        <p:cNvGrpSpPr/>
        <p:nvPr/>
      </p:nvGrpSpPr>
      <p:grpSpPr>
        <a:xfrm>
          <a:off x="0" y="0"/>
          <a:ext cx="0" cy="0"/>
          <a:chOff x="0" y="0"/>
          <a:chExt cx="0" cy="0"/>
        </a:xfrm>
      </p:grpSpPr>
      <p:sp>
        <p:nvSpPr>
          <p:cNvPr id="143" name="Google Shape;143;p26"/>
          <p:cNvSpPr txBox="1"/>
          <p:nvPr>
            <p:ph type="title"/>
          </p:nvPr>
        </p:nvSpPr>
        <p:spPr>
          <a:xfrm>
            <a:off x="122250" y="181725"/>
            <a:ext cx="85206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Clr>
                <a:schemeClr val="dk1"/>
              </a:buClr>
              <a:buSzPct val="39285"/>
              <a:buFont typeface="Arial"/>
              <a:buNone/>
            </a:pPr>
            <a:r>
              <a:rPr b="1" lang="en">
                <a:solidFill>
                  <a:schemeClr val="lt1"/>
                </a:solidFill>
                <a:latin typeface="Libre Franklin"/>
                <a:ea typeface="Libre Franklin"/>
                <a:cs typeface="Libre Franklin"/>
                <a:sym typeface="Libre Franklin"/>
              </a:rPr>
              <a:t>What</a:t>
            </a:r>
            <a:r>
              <a:rPr b="1" lang="en">
                <a:solidFill>
                  <a:schemeClr val="lt1"/>
                </a:solidFill>
                <a:latin typeface="Libre Franklin"/>
                <a:ea typeface="Libre Franklin"/>
                <a:cs typeface="Libre Franklin"/>
                <a:sym typeface="Libre Franklin"/>
              </a:rPr>
              <a:t> It Means</a:t>
            </a:r>
            <a:endParaRPr b="1">
              <a:solidFill>
                <a:schemeClr val="lt1"/>
              </a:solidFill>
              <a:latin typeface="Libre Franklin"/>
              <a:ea typeface="Libre Franklin"/>
              <a:cs typeface="Libre Franklin"/>
              <a:sym typeface="Libre Franklin"/>
            </a:endParaRPr>
          </a:p>
          <a:p>
            <a:pPr indent="0" lvl="0" marL="0" rtl="0" algn="l">
              <a:spcBef>
                <a:spcPts val="0"/>
              </a:spcBef>
              <a:spcAft>
                <a:spcPts val="0"/>
              </a:spcAft>
              <a:buNone/>
            </a:pPr>
            <a:r>
              <a:t/>
            </a:r>
            <a:endParaRPr/>
          </a:p>
        </p:txBody>
      </p:sp>
      <p:sp>
        <p:nvSpPr>
          <p:cNvPr id="144" name="Google Shape;144;p26"/>
          <p:cNvSpPr txBox="1"/>
          <p:nvPr>
            <p:ph idx="1" type="body"/>
          </p:nvPr>
        </p:nvSpPr>
        <p:spPr>
          <a:xfrm>
            <a:off x="122250" y="754425"/>
            <a:ext cx="8710200" cy="41541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Clr>
                <a:schemeClr val="lt1"/>
              </a:buClr>
              <a:buSzPts val="1800"/>
              <a:buChar char="●"/>
            </a:pPr>
            <a:r>
              <a:rPr lang="en">
                <a:solidFill>
                  <a:schemeClr val="lt1"/>
                </a:solidFill>
              </a:rPr>
              <a:t>One-class classifier</a:t>
            </a:r>
            <a:endParaRPr>
              <a:solidFill>
                <a:schemeClr val="lt1"/>
              </a:solidFill>
            </a:endParaRPr>
          </a:p>
          <a:p>
            <a:pPr indent="-317500" lvl="1" marL="914400" rtl="0" algn="l">
              <a:spcBef>
                <a:spcPts val="0"/>
              </a:spcBef>
              <a:spcAft>
                <a:spcPts val="0"/>
              </a:spcAft>
              <a:buClr>
                <a:schemeClr val="lt1"/>
              </a:buClr>
              <a:buSzPts val="1400"/>
              <a:buChar char="○"/>
            </a:pPr>
            <a:r>
              <a:rPr lang="en">
                <a:solidFill>
                  <a:schemeClr val="lt1"/>
                </a:solidFill>
              </a:rPr>
              <a:t>AUC of 0.5 → One-class classifier did not perform any better than a random classifier</a:t>
            </a:r>
            <a:endParaRPr>
              <a:solidFill>
                <a:schemeClr val="lt1"/>
              </a:solidFill>
            </a:endParaRPr>
          </a:p>
          <a:p>
            <a:pPr indent="-317500" lvl="2" marL="1371600" rtl="0" algn="l">
              <a:spcBef>
                <a:spcPts val="0"/>
              </a:spcBef>
              <a:spcAft>
                <a:spcPts val="0"/>
              </a:spcAft>
              <a:buClr>
                <a:schemeClr val="lt1"/>
              </a:buClr>
              <a:buSzPts val="1400"/>
              <a:buChar char="■"/>
            </a:pPr>
            <a:r>
              <a:rPr lang="en">
                <a:solidFill>
                  <a:schemeClr val="lt1"/>
                </a:solidFill>
              </a:rPr>
              <a:t>AUC isn’t ideal metric by itself for imbalanced dataset</a:t>
            </a:r>
            <a:endParaRPr>
              <a:solidFill>
                <a:schemeClr val="lt1"/>
              </a:solidFill>
            </a:endParaRPr>
          </a:p>
        </p:txBody>
      </p:sp>
      <p:graphicFrame>
        <p:nvGraphicFramePr>
          <p:cNvPr id="145" name="Google Shape;145;p26"/>
          <p:cNvGraphicFramePr/>
          <p:nvPr/>
        </p:nvGraphicFramePr>
        <p:xfrm>
          <a:off x="2403538" y="2285430"/>
          <a:ext cx="3000000" cy="3000000"/>
        </p:xfrm>
        <a:graphic>
          <a:graphicData uri="http://schemas.openxmlformats.org/drawingml/2006/table">
            <a:tbl>
              <a:tblPr>
                <a:noFill/>
                <a:tableStyleId>{8EE4F467-92B9-4AF2-BB98-2F05673585E7}</a:tableStyleId>
              </a:tblPr>
              <a:tblGrid>
                <a:gridCol w="791600"/>
                <a:gridCol w="791600"/>
                <a:gridCol w="791600"/>
                <a:gridCol w="791600"/>
                <a:gridCol w="791600"/>
              </a:tblGrid>
              <a:tr h="565375">
                <a:tc>
                  <a:txBody>
                    <a:bodyPr/>
                    <a:lstStyle/>
                    <a:p>
                      <a:pPr indent="0" lvl="0" marL="0" rtl="0" algn="l">
                        <a:spcBef>
                          <a:spcPts val="0"/>
                        </a:spcBef>
                        <a:spcAft>
                          <a:spcPts val="0"/>
                        </a:spcAft>
                        <a:buNone/>
                      </a:pPr>
                      <a:r>
                        <a:rPr lang="en" sz="1100">
                          <a:solidFill>
                            <a:schemeClr val="lt1"/>
                          </a:solidFill>
                        </a:rPr>
                        <a:t>Accuracy</a:t>
                      </a:r>
                      <a:endParaRPr sz="1100">
                        <a:solidFill>
                          <a:schemeClr val="lt1"/>
                        </a:solidFill>
                      </a:endParaRPr>
                    </a:p>
                  </a:txBody>
                  <a:tcPr marT="91425" marB="91425" marR="91425" marL="91425"/>
                </a:tc>
                <a:tc>
                  <a:txBody>
                    <a:bodyPr/>
                    <a:lstStyle/>
                    <a:p>
                      <a:pPr indent="0" lvl="0" marL="0" rtl="0" algn="l">
                        <a:spcBef>
                          <a:spcPts val="0"/>
                        </a:spcBef>
                        <a:spcAft>
                          <a:spcPts val="0"/>
                        </a:spcAft>
                        <a:buNone/>
                      </a:pPr>
                      <a:r>
                        <a:rPr lang="en" sz="1100">
                          <a:solidFill>
                            <a:schemeClr val="lt1"/>
                          </a:solidFill>
                        </a:rPr>
                        <a:t>Error</a:t>
                      </a:r>
                      <a:endParaRPr sz="1100">
                        <a:solidFill>
                          <a:schemeClr val="lt1"/>
                        </a:solidFill>
                      </a:endParaRPr>
                    </a:p>
                  </a:txBody>
                  <a:tcPr marT="91425" marB="91425" marR="91425" marL="91425"/>
                </a:tc>
                <a:tc>
                  <a:txBody>
                    <a:bodyPr/>
                    <a:lstStyle/>
                    <a:p>
                      <a:pPr indent="0" lvl="0" marL="0" rtl="0" algn="l">
                        <a:spcBef>
                          <a:spcPts val="0"/>
                        </a:spcBef>
                        <a:spcAft>
                          <a:spcPts val="0"/>
                        </a:spcAft>
                        <a:buNone/>
                      </a:pPr>
                      <a:r>
                        <a:rPr lang="en" sz="1100">
                          <a:solidFill>
                            <a:schemeClr val="lt1"/>
                          </a:solidFill>
                        </a:rPr>
                        <a:t>Precision</a:t>
                      </a:r>
                      <a:endParaRPr sz="1100">
                        <a:solidFill>
                          <a:schemeClr val="lt1"/>
                        </a:solidFill>
                      </a:endParaRPr>
                    </a:p>
                  </a:txBody>
                  <a:tcPr marT="91425" marB="91425" marR="91425" marL="91425"/>
                </a:tc>
                <a:tc>
                  <a:txBody>
                    <a:bodyPr/>
                    <a:lstStyle/>
                    <a:p>
                      <a:pPr indent="0" lvl="0" marL="0" rtl="0" algn="l">
                        <a:spcBef>
                          <a:spcPts val="0"/>
                        </a:spcBef>
                        <a:spcAft>
                          <a:spcPts val="0"/>
                        </a:spcAft>
                        <a:buNone/>
                      </a:pPr>
                      <a:r>
                        <a:rPr lang="en" sz="1100">
                          <a:solidFill>
                            <a:schemeClr val="lt1"/>
                          </a:solidFill>
                        </a:rPr>
                        <a:t>Recall</a:t>
                      </a:r>
                      <a:endParaRPr sz="1100">
                        <a:solidFill>
                          <a:schemeClr val="lt1"/>
                        </a:solidFill>
                      </a:endParaRPr>
                    </a:p>
                  </a:txBody>
                  <a:tcPr marT="91425" marB="91425" marR="91425" marL="91425"/>
                </a:tc>
                <a:tc>
                  <a:txBody>
                    <a:bodyPr/>
                    <a:lstStyle/>
                    <a:p>
                      <a:pPr indent="0" lvl="0" marL="0" rtl="0" algn="l">
                        <a:spcBef>
                          <a:spcPts val="0"/>
                        </a:spcBef>
                        <a:spcAft>
                          <a:spcPts val="0"/>
                        </a:spcAft>
                        <a:buNone/>
                      </a:pPr>
                      <a:r>
                        <a:rPr lang="en" sz="1100">
                          <a:solidFill>
                            <a:schemeClr val="lt1"/>
                          </a:solidFill>
                        </a:rPr>
                        <a:t>F1-score</a:t>
                      </a:r>
                      <a:endParaRPr sz="1100">
                        <a:solidFill>
                          <a:schemeClr val="lt1"/>
                        </a:solidFill>
                      </a:endParaRPr>
                    </a:p>
                  </a:txBody>
                  <a:tcPr marT="91425" marB="91425" marR="91425" marL="91425"/>
                </a:tc>
              </a:tr>
              <a:tr h="367500">
                <a:tc>
                  <a:txBody>
                    <a:bodyPr/>
                    <a:lstStyle/>
                    <a:p>
                      <a:pPr indent="0" lvl="0" marL="0" rtl="0" algn="l">
                        <a:spcBef>
                          <a:spcPts val="0"/>
                        </a:spcBef>
                        <a:spcAft>
                          <a:spcPts val="0"/>
                        </a:spcAft>
                        <a:buNone/>
                      </a:pPr>
                      <a:r>
                        <a:rPr lang="en">
                          <a:solidFill>
                            <a:schemeClr val="lt1"/>
                          </a:solidFill>
                        </a:rPr>
                        <a:t>89.8</a:t>
                      </a:r>
                      <a:endParaRPr>
                        <a:solidFill>
                          <a:schemeClr val="lt1"/>
                        </a:solidFill>
                      </a:endParaRPr>
                    </a:p>
                  </a:txBody>
                  <a:tcPr marT="91425" marB="91425" marR="91425" marL="91425"/>
                </a:tc>
                <a:tc>
                  <a:txBody>
                    <a:bodyPr/>
                    <a:lstStyle/>
                    <a:p>
                      <a:pPr indent="0" lvl="0" marL="0" rtl="0" algn="l">
                        <a:spcBef>
                          <a:spcPts val="0"/>
                        </a:spcBef>
                        <a:spcAft>
                          <a:spcPts val="0"/>
                        </a:spcAft>
                        <a:buNone/>
                      </a:pPr>
                      <a:r>
                        <a:rPr lang="en">
                          <a:solidFill>
                            <a:schemeClr val="lt1"/>
                          </a:solidFill>
                        </a:rPr>
                        <a:t>10.3</a:t>
                      </a:r>
                      <a:endParaRPr>
                        <a:solidFill>
                          <a:schemeClr val="lt1"/>
                        </a:solidFill>
                      </a:endParaRPr>
                    </a:p>
                  </a:txBody>
                  <a:tcPr marT="91425" marB="91425" marR="91425" marL="91425"/>
                </a:tc>
                <a:tc>
                  <a:txBody>
                    <a:bodyPr/>
                    <a:lstStyle/>
                    <a:p>
                      <a:pPr indent="0" lvl="0" marL="0" rtl="0" algn="l">
                        <a:spcBef>
                          <a:spcPts val="0"/>
                        </a:spcBef>
                        <a:spcAft>
                          <a:spcPts val="0"/>
                        </a:spcAft>
                        <a:buNone/>
                      </a:pPr>
                      <a:r>
                        <a:rPr lang="en">
                          <a:solidFill>
                            <a:schemeClr val="lt1"/>
                          </a:solidFill>
                        </a:rPr>
                        <a:t>89.8</a:t>
                      </a:r>
                      <a:endParaRPr>
                        <a:solidFill>
                          <a:schemeClr val="lt1"/>
                        </a:solidFill>
                      </a:endParaRPr>
                    </a:p>
                  </a:txBody>
                  <a:tcPr marT="91425" marB="91425" marR="91425" marL="91425"/>
                </a:tc>
                <a:tc>
                  <a:txBody>
                    <a:bodyPr/>
                    <a:lstStyle/>
                    <a:p>
                      <a:pPr indent="0" lvl="0" marL="0" rtl="0" algn="l">
                        <a:spcBef>
                          <a:spcPts val="0"/>
                        </a:spcBef>
                        <a:spcAft>
                          <a:spcPts val="0"/>
                        </a:spcAft>
                        <a:buNone/>
                      </a:pPr>
                      <a:r>
                        <a:rPr lang="en">
                          <a:solidFill>
                            <a:schemeClr val="lt1"/>
                          </a:solidFill>
                        </a:rPr>
                        <a:t>99.9</a:t>
                      </a:r>
                      <a:endParaRPr>
                        <a:solidFill>
                          <a:schemeClr val="lt1"/>
                        </a:solidFill>
                      </a:endParaRPr>
                    </a:p>
                  </a:txBody>
                  <a:tcPr marT="91425" marB="91425" marR="91425" marL="91425"/>
                </a:tc>
                <a:tc>
                  <a:txBody>
                    <a:bodyPr/>
                    <a:lstStyle/>
                    <a:p>
                      <a:pPr indent="0" lvl="0" marL="0" rtl="0" algn="l">
                        <a:spcBef>
                          <a:spcPts val="0"/>
                        </a:spcBef>
                        <a:spcAft>
                          <a:spcPts val="0"/>
                        </a:spcAft>
                        <a:buNone/>
                      </a:pPr>
                      <a:r>
                        <a:rPr lang="en">
                          <a:solidFill>
                            <a:schemeClr val="lt1"/>
                          </a:solidFill>
                        </a:rPr>
                        <a:t>94.5</a:t>
                      </a:r>
                      <a:endParaRPr>
                        <a:solidFill>
                          <a:schemeClr val="lt1"/>
                        </a:solidFill>
                      </a:endParaRPr>
                    </a:p>
                  </a:txBody>
                  <a:tcPr marT="91425" marB="91425" marR="91425" marL="91425"/>
                </a:tc>
              </a:tr>
            </a:tbl>
          </a:graphicData>
        </a:graphic>
      </p:graphicFrame>
      <p:graphicFrame>
        <p:nvGraphicFramePr>
          <p:cNvPr id="146" name="Google Shape;146;p26"/>
          <p:cNvGraphicFramePr/>
          <p:nvPr/>
        </p:nvGraphicFramePr>
        <p:xfrm>
          <a:off x="2382600" y="3704938"/>
          <a:ext cx="3000000" cy="3000000"/>
        </p:xfrm>
        <a:graphic>
          <a:graphicData uri="http://schemas.openxmlformats.org/drawingml/2006/table">
            <a:tbl>
              <a:tblPr>
                <a:noFill/>
                <a:tableStyleId>{8EE4F467-92B9-4AF2-BB98-2F05673585E7}</a:tableStyleId>
              </a:tblPr>
              <a:tblGrid>
                <a:gridCol w="999975"/>
                <a:gridCol w="999975"/>
                <a:gridCol w="999975"/>
                <a:gridCol w="999975"/>
              </a:tblGrid>
              <a:tr h="396200">
                <a:tc>
                  <a:txBody>
                    <a:bodyPr/>
                    <a:lstStyle/>
                    <a:p>
                      <a:pPr indent="0" lvl="0" marL="0" rtl="0" algn="l">
                        <a:spcBef>
                          <a:spcPts val="0"/>
                        </a:spcBef>
                        <a:spcAft>
                          <a:spcPts val="0"/>
                        </a:spcAft>
                        <a:buNone/>
                      </a:pPr>
                      <a:r>
                        <a:rPr lang="en" sz="1100">
                          <a:solidFill>
                            <a:schemeClr val="lt1"/>
                          </a:solidFill>
                        </a:rPr>
                        <a:t>Accuracy</a:t>
                      </a:r>
                      <a:endParaRPr sz="1100">
                        <a:solidFill>
                          <a:schemeClr val="lt1"/>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sz="1100">
                          <a:solidFill>
                            <a:schemeClr val="lt1"/>
                          </a:solidFill>
                        </a:rPr>
                        <a:t>Precision</a:t>
                      </a:r>
                      <a:endParaRPr sz="1100">
                        <a:solidFill>
                          <a:schemeClr val="lt1"/>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sz="1100">
                          <a:solidFill>
                            <a:schemeClr val="lt1"/>
                          </a:solidFill>
                        </a:rPr>
                        <a:t>Recall</a:t>
                      </a:r>
                      <a:endParaRPr sz="1100">
                        <a:solidFill>
                          <a:schemeClr val="lt1"/>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sz="1100">
                          <a:solidFill>
                            <a:schemeClr val="lt1"/>
                          </a:solidFill>
                        </a:rPr>
                        <a:t>AUC</a:t>
                      </a:r>
                      <a:endParaRPr sz="1100">
                        <a:solidFill>
                          <a:schemeClr val="lt1"/>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81000">
                <a:tc>
                  <a:txBody>
                    <a:bodyPr/>
                    <a:lstStyle/>
                    <a:p>
                      <a:pPr indent="0" lvl="0" marL="0" rtl="0" algn="l">
                        <a:spcBef>
                          <a:spcPts val="0"/>
                        </a:spcBef>
                        <a:spcAft>
                          <a:spcPts val="0"/>
                        </a:spcAft>
                        <a:buNone/>
                      </a:pPr>
                      <a:r>
                        <a:rPr lang="en">
                          <a:solidFill>
                            <a:schemeClr val="lt1"/>
                          </a:solidFill>
                        </a:rPr>
                        <a:t>89.23%</a:t>
                      </a:r>
                      <a:endParaRPr>
                        <a:solidFill>
                          <a:schemeClr val="lt1"/>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a:solidFill>
                            <a:schemeClr val="lt1"/>
                          </a:solidFill>
                        </a:rPr>
                        <a:t>0.89</a:t>
                      </a:r>
                      <a:endParaRPr>
                        <a:solidFill>
                          <a:schemeClr val="lt1"/>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a:solidFill>
                            <a:schemeClr val="lt1"/>
                          </a:solidFill>
                        </a:rPr>
                        <a:t>100</a:t>
                      </a:r>
                      <a:endParaRPr>
                        <a:solidFill>
                          <a:schemeClr val="lt1"/>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a:solidFill>
                            <a:schemeClr val="lt1"/>
                          </a:solidFill>
                        </a:rPr>
                        <a:t>0.5</a:t>
                      </a:r>
                      <a:endParaRPr>
                        <a:solidFill>
                          <a:schemeClr val="lt1"/>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bl>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414141"/>
        </a:solidFill>
      </p:bgPr>
    </p:bg>
    <p:spTree>
      <p:nvGrpSpPr>
        <p:cNvPr id="150" name="Shape 150"/>
        <p:cNvGrpSpPr/>
        <p:nvPr/>
      </p:nvGrpSpPr>
      <p:grpSpPr>
        <a:xfrm>
          <a:off x="0" y="0"/>
          <a:ext cx="0" cy="0"/>
          <a:chOff x="0" y="0"/>
          <a:chExt cx="0" cy="0"/>
        </a:xfrm>
      </p:grpSpPr>
      <p:sp>
        <p:nvSpPr>
          <p:cNvPr id="151" name="Google Shape;151;p27"/>
          <p:cNvSpPr txBox="1"/>
          <p:nvPr>
            <p:ph type="title"/>
          </p:nvPr>
        </p:nvSpPr>
        <p:spPr>
          <a:xfrm>
            <a:off x="311700" y="181725"/>
            <a:ext cx="85206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Clr>
                <a:schemeClr val="dk1"/>
              </a:buClr>
              <a:buSzPct val="39285"/>
              <a:buFont typeface="Arial"/>
              <a:buNone/>
            </a:pPr>
            <a:r>
              <a:rPr b="1" lang="en">
                <a:solidFill>
                  <a:schemeClr val="lt1"/>
                </a:solidFill>
                <a:latin typeface="Libre Franklin"/>
                <a:ea typeface="Libre Franklin"/>
                <a:cs typeface="Libre Franklin"/>
                <a:sym typeface="Libre Franklin"/>
              </a:rPr>
              <a:t>More Challenges</a:t>
            </a:r>
            <a:endParaRPr b="1">
              <a:solidFill>
                <a:schemeClr val="lt1"/>
              </a:solidFill>
              <a:latin typeface="Libre Franklin"/>
              <a:ea typeface="Libre Franklin"/>
              <a:cs typeface="Libre Franklin"/>
              <a:sym typeface="Libre Franklin"/>
            </a:endParaRPr>
          </a:p>
          <a:p>
            <a:pPr indent="0" lvl="0" marL="0" rtl="0" algn="l">
              <a:spcBef>
                <a:spcPts val="0"/>
              </a:spcBef>
              <a:spcAft>
                <a:spcPts val="0"/>
              </a:spcAft>
              <a:buNone/>
            </a:pPr>
            <a:r>
              <a:t/>
            </a:r>
            <a:endParaRPr/>
          </a:p>
        </p:txBody>
      </p:sp>
      <p:sp>
        <p:nvSpPr>
          <p:cNvPr id="152" name="Google Shape;152;p27"/>
          <p:cNvSpPr txBox="1"/>
          <p:nvPr>
            <p:ph idx="1" type="body"/>
          </p:nvPr>
        </p:nvSpPr>
        <p:spPr>
          <a:xfrm>
            <a:off x="311700" y="712750"/>
            <a:ext cx="8710200" cy="4154100"/>
          </a:xfrm>
          <a:prstGeom prst="rect">
            <a:avLst/>
          </a:prstGeom>
        </p:spPr>
        <p:txBody>
          <a:bodyPr anchorCtr="0" anchor="t" bIns="91425" lIns="91425" spcFirstLastPara="1" rIns="91425" wrap="square" tIns="91425">
            <a:normAutofit lnSpcReduction="20000"/>
          </a:bodyPr>
          <a:lstStyle/>
          <a:p>
            <a:pPr indent="-342900" lvl="0" marL="457200" rtl="0" algn="l">
              <a:spcBef>
                <a:spcPts val="0"/>
              </a:spcBef>
              <a:spcAft>
                <a:spcPts val="0"/>
              </a:spcAft>
              <a:buClr>
                <a:schemeClr val="lt1"/>
              </a:buClr>
              <a:buSzPts val="1800"/>
              <a:buChar char="●"/>
            </a:pPr>
            <a:r>
              <a:rPr lang="en">
                <a:solidFill>
                  <a:schemeClr val="lt1"/>
                </a:solidFill>
              </a:rPr>
              <a:t>Dataset too large → OOM errors</a:t>
            </a:r>
            <a:endParaRPr>
              <a:solidFill>
                <a:schemeClr val="lt1"/>
              </a:solidFill>
            </a:endParaRPr>
          </a:p>
          <a:p>
            <a:pPr indent="-317500" lvl="1" marL="914400" rtl="0" algn="l">
              <a:spcBef>
                <a:spcPts val="0"/>
              </a:spcBef>
              <a:spcAft>
                <a:spcPts val="0"/>
              </a:spcAft>
              <a:buClr>
                <a:schemeClr val="lt1"/>
              </a:buClr>
              <a:buSzPts val="1400"/>
              <a:buChar char="○"/>
            </a:pPr>
            <a:r>
              <a:rPr lang="en">
                <a:solidFill>
                  <a:schemeClr val="lt1"/>
                </a:solidFill>
              </a:rPr>
              <a:t>Downsizing</a:t>
            </a:r>
            <a:endParaRPr>
              <a:solidFill>
                <a:schemeClr val="lt1"/>
              </a:solidFill>
            </a:endParaRPr>
          </a:p>
          <a:p>
            <a:pPr indent="-317500" lvl="2" marL="1371600" rtl="0" algn="l">
              <a:spcBef>
                <a:spcPts val="0"/>
              </a:spcBef>
              <a:spcAft>
                <a:spcPts val="0"/>
              </a:spcAft>
              <a:buClr>
                <a:schemeClr val="lt1"/>
              </a:buClr>
              <a:buSzPts val="1400"/>
              <a:buChar char="■"/>
            </a:pPr>
            <a:r>
              <a:rPr lang="en">
                <a:solidFill>
                  <a:schemeClr val="lt1"/>
                </a:solidFill>
              </a:rPr>
              <a:t>Removed spoofed audio signals generated by outdated technology</a:t>
            </a:r>
            <a:endParaRPr>
              <a:solidFill>
                <a:schemeClr val="lt1"/>
              </a:solidFill>
            </a:endParaRPr>
          </a:p>
          <a:p>
            <a:pPr indent="-317500" lvl="2" marL="1371600" rtl="0" algn="l">
              <a:spcBef>
                <a:spcPts val="0"/>
              </a:spcBef>
              <a:spcAft>
                <a:spcPts val="0"/>
              </a:spcAft>
              <a:buClr>
                <a:schemeClr val="lt1"/>
              </a:buClr>
              <a:buSzPts val="1400"/>
              <a:buChar char="■"/>
            </a:pPr>
            <a:r>
              <a:rPr lang="en">
                <a:solidFill>
                  <a:schemeClr val="lt1"/>
                </a:solidFill>
              </a:rPr>
              <a:t>Batch size set to 1</a:t>
            </a:r>
            <a:endParaRPr>
              <a:solidFill>
                <a:schemeClr val="lt1"/>
              </a:solidFill>
            </a:endParaRPr>
          </a:p>
          <a:p>
            <a:pPr indent="-317500" lvl="1" marL="914400" rtl="0" algn="l">
              <a:spcBef>
                <a:spcPts val="0"/>
              </a:spcBef>
              <a:spcAft>
                <a:spcPts val="0"/>
              </a:spcAft>
              <a:buClr>
                <a:schemeClr val="lt1"/>
              </a:buClr>
              <a:buSzPts val="1400"/>
              <a:buChar char="○"/>
            </a:pPr>
            <a:r>
              <a:rPr lang="en">
                <a:solidFill>
                  <a:schemeClr val="lt1"/>
                </a:solidFill>
              </a:rPr>
              <a:t>Using LFCC spectrograms</a:t>
            </a:r>
            <a:endParaRPr>
              <a:solidFill>
                <a:schemeClr val="lt1"/>
              </a:solidFill>
            </a:endParaRPr>
          </a:p>
          <a:p>
            <a:pPr indent="-317500" lvl="2" marL="1371600" rtl="0" algn="l">
              <a:spcBef>
                <a:spcPts val="0"/>
              </a:spcBef>
              <a:spcAft>
                <a:spcPts val="0"/>
              </a:spcAft>
              <a:buClr>
                <a:schemeClr val="lt1"/>
              </a:buClr>
              <a:buSzPts val="1400"/>
              <a:buChar char="■"/>
            </a:pPr>
            <a:r>
              <a:rPr lang="en">
                <a:solidFill>
                  <a:schemeClr val="lt1"/>
                </a:solidFill>
              </a:rPr>
              <a:t>Smaller than raw spectrograms</a:t>
            </a:r>
            <a:endParaRPr>
              <a:solidFill>
                <a:schemeClr val="lt1"/>
              </a:solidFill>
            </a:endParaRPr>
          </a:p>
          <a:p>
            <a:pPr indent="0" lvl="0" marL="1371600" rtl="0" algn="l">
              <a:spcBef>
                <a:spcPts val="1200"/>
              </a:spcBef>
              <a:spcAft>
                <a:spcPts val="0"/>
              </a:spcAft>
              <a:buNone/>
            </a:pPr>
            <a:r>
              <a:t/>
            </a:r>
            <a:endParaRPr>
              <a:solidFill>
                <a:schemeClr val="lt1"/>
              </a:solidFill>
            </a:endParaRPr>
          </a:p>
          <a:p>
            <a:pPr indent="-342900" lvl="0" marL="457200" rtl="0" algn="l">
              <a:spcBef>
                <a:spcPts val="1200"/>
              </a:spcBef>
              <a:spcAft>
                <a:spcPts val="0"/>
              </a:spcAft>
              <a:buClr>
                <a:schemeClr val="lt1"/>
              </a:buClr>
              <a:buSzPts val="1800"/>
              <a:buFont typeface="Libre Franklin"/>
              <a:buChar char="●"/>
            </a:pPr>
            <a:r>
              <a:rPr lang="en">
                <a:solidFill>
                  <a:schemeClr val="lt1"/>
                </a:solidFill>
                <a:latin typeface="Libre Franklin"/>
                <a:ea typeface="Libre Franklin"/>
                <a:cs typeface="Libre Franklin"/>
                <a:sym typeface="Libre Franklin"/>
              </a:rPr>
              <a:t>Issues with TensorFlow</a:t>
            </a:r>
            <a:endParaRPr>
              <a:solidFill>
                <a:schemeClr val="lt1"/>
              </a:solidFill>
              <a:latin typeface="Libre Franklin"/>
              <a:ea typeface="Libre Franklin"/>
              <a:cs typeface="Libre Franklin"/>
              <a:sym typeface="Libre Franklin"/>
            </a:endParaRPr>
          </a:p>
          <a:p>
            <a:pPr indent="-317500" lvl="1" marL="914400" rtl="0" algn="l">
              <a:spcBef>
                <a:spcPts val="0"/>
              </a:spcBef>
              <a:spcAft>
                <a:spcPts val="0"/>
              </a:spcAft>
              <a:buClr>
                <a:schemeClr val="lt1"/>
              </a:buClr>
              <a:buSzPts val="1400"/>
              <a:buFont typeface="Libre Franklin"/>
              <a:buChar char="○"/>
            </a:pPr>
            <a:r>
              <a:rPr lang="en">
                <a:solidFill>
                  <a:schemeClr val="lt1"/>
                </a:solidFill>
                <a:latin typeface="Libre Franklin"/>
                <a:ea typeface="Libre Franklin"/>
                <a:cs typeface="Libre Franklin"/>
                <a:sym typeface="Libre Franklin"/>
              </a:rPr>
              <a:t>Memory issues with loading dataset</a:t>
            </a:r>
            <a:endParaRPr>
              <a:solidFill>
                <a:schemeClr val="lt1"/>
              </a:solidFill>
              <a:latin typeface="Libre Franklin"/>
              <a:ea typeface="Libre Franklin"/>
              <a:cs typeface="Libre Franklin"/>
              <a:sym typeface="Libre Franklin"/>
            </a:endParaRPr>
          </a:p>
          <a:p>
            <a:pPr indent="-317500" lvl="1" marL="914400" rtl="0" algn="l">
              <a:spcBef>
                <a:spcPts val="0"/>
              </a:spcBef>
              <a:spcAft>
                <a:spcPts val="0"/>
              </a:spcAft>
              <a:buClr>
                <a:schemeClr val="lt1"/>
              </a:buClr>
              <a:buSzPts val="1400"/>
              <a:buFont typeface="Libre Franklin"/>
              <a:buChar char="○"/>
            </a:pPr>
            <a:r>
              <a:rPr lang="en">
                <a:solidFill>
                  <a:schemeClr val="lt1"/>
                </a:solidFill>
                <a:latin typeface="Libre Franklin"/>
                <a:ea typeface="Libre Franklin"/>
                <a:cs typeface="Libre Franklin"/>
                <a:sym typeface="Libre Franklin"/>
              </a:rPr>
              <a:t>Datagenerator utilized to load dataset in batch sizes</a:t>
            </a:r>
            <a:endParaRPr>
              <a:solidFill>
                <a:schemeClr val="lt1"/>
              </a:solidFill>
              <a:latin typeface="Libre Franklin"/>
              <a:ea typeface="Libre Franklin"/>
              <a:cs typeface="Libre Franklin"/>
              <a:sym typeface="Libre Franklin"/>
            </a:endParaRPr>
          </a:p>
          <a:p>
            <a:pPr indent="-317500" lvl="2" marL="1371600" rtl="0" algn="l">
              <a:spcBef>
                <a:spcPts val="0"/>
              </a:spcBef>
              <a:spcAft>
                <a:spcPts val="0"/>
              </a:spcAft>
              <a:buClr>
                <a:schemeClr val="lt1"/>
              </a:buClr>
              <a:buSzPts val="1400"/>
              <a:buFont typeface="Libre Franklin"/>
              <a:buChar char="■"/>
            </a:pPr>
            <a:r>
              <a:rPr lang="en">
                <a:solidFill>
                  <a:schemeClr val="lt1"/>
                </a:solidFill>
                <a:latin typeface="Libre Franklin"/>
                <a:ea typeface="Libre Franklin"/>
                <a:cs typeface="Libre Franklin"/>
                <a:sym typeface="Libre Franklin"/>
              </a:rPr>
              <a:t>Complained that </a:t>
            </a:r>
            <a:r>
              <a:rPr lang="en">
                <a:solidFill>
                  <a:schemeClr val="lt1"/>
                </a:solidFill>
                <a:latin typeface="Libre Franklin"/>
                <a:ea typeface="Libre Franklin"/>
                <a:cs typeface="Libre Franklin"/>
                <a:sym typeface="Libre Franklin"/>
              </a:rPr>
              <a:t>data points</a:t>
            </a:r>
            <a:r>
              <a:rPr lang="en">
                <a:solidFill>
                  <a:schemeClr val="lt1"/>
                </a:solidFill>
                <a:latin typeface="Libre Franklin"/>
                <a:ea typeface="Libre Franklin"/>
                <a:cs typeface="Libre Franklin"/>
                <a:sym typeface="Libre Franklin"/>
              </a:rPr>
              <a:t> from both classes were required</a:t>
            </a:r>
            <a:endParaRPr>
              <a:solidFill>
                <a:schemeClr val="lt1"/>
              </a:solidFill>
              <a:latin typeface="Libre Franklin"/>
              <a:ea typeface="Libre Franklin"/>
              <a:cs typeface="Libre Franklin"/>
              <a:sym typeface="Libre Franklin"/>
            </a:endParaRPr>
          </a:p>
          <a:p>
            <a:pPr indent="-317500" lvl="1" marL="914400" rtl="0" algn="l">
              <a:spcBef>
                <a:spcPts val="0"/>
              </a:spcBef>
              <a:spcAft>
                <a:spcPts val="0"/>
              </a:spcAft>
              <a:buClr>
                <a:schemeClr val="lt1"/>
              </a:buClr>
              <a:buSzPts val="1400"/>
              <a:buFont typeface="Libre Franklin"/>
              <a:buChar char="○"/>
            </a:pPr>
            <a:r>
              <a:rPr lang="en">
                <a:solidFill>
                  <a:schemeClr val="lt1"/>
                </a:solidFill>
                <a:latin typeface="Libre Franklin"/>
                <a:ea typeface="Libre Franklin"/>
                <a:cs typeface="Libre Franklin"/>
                <a:sym typeface="Libre Franklin"/>
              </a:rPr>
              <a:t>Problem solved with batch size set to 1</a:t>
            </a:r>
            <a:endParaRPr>
              <a:solidFill>
                <a:schemeClr val="lt1"/>
              </a:solidFill>
              <a:latin typeface="Libre Franklin"/>
              <a:ea typeface="Libre Franklin"/>
              <a:cs typeface="Libre Franklin"/>
              <a:sym typeface="Libre Franklin"/>
            </a:endParaRPr>
          </a:p>
          <a:p>
            <a:pPr indent="0" lvl="0" marL="457200" rtl="0" algn="l">
              <a:spcBef>
                <a:spcPts val="1200"/>
              </a:spcBef>
              <a:spcAft>
                <a:spcPts val="0"/>
              </a:spcAft>
              <a:buNone/>
            </a:pPr>
            <a:r>
              <a:t/>
            </a:r>
            <a:endParaRPr>
              <a:solidFill>
                <a:schemeClr val="lt1"/>
              </a:solidFill>
              <a:latin typeface="Libre Franklin"/>
              <a:ea typeface="Libre Franklin"/>
              <a:cs typeface="Libre Franklin"/>
              <a:sym typeface="Libre Franklin"/>
            </a:endParaRPr>
          </a:p>
          <a:p>
            <a:pPr indent="-342900" lvl="0" marL="457200" rtl="0" algn="l">
              <a:spcBef>
                <a:spcPts val="1200"/>
              </a:spcBef>
              <a:spcAft>
                <a:spcPts val="0"/>
              </a:spcAft>
              <a:buClr>
                <a:schemeClr val="lt1"/>
              </a:buClr>
              <a:buSzPts val="1800"/>
              <a:buFont typeface="Libre Franklin"/>
              <a:buChar char="●"/>
            </a:pPr>
            <a:r>
              <a:rPr lang="en">
                <a:solidFill>
                  <a:schemeClr val="lt1"/>
                </a:solidFill>
                <a:latin typeface="Libre Franklin"/>
                <a:ea typeface="Libre Franklin"/>
                <a:cs typeface="Libre Franklin"/>
                <a:sym typeface="Libre Franklin"/>
              </a:rPr>
              <a:t>Long time for data conversion type and model training</a:t>
            </a:r>
            <a:endParaRPr>
              <a:solidFill>
                <a:schemeClr val="lt1"/>
              </a:solidFill>
              <a:latin typeface="Libre Franklin"/>
              <a:ea typeface="Libre Franklin"/>
              <a:cs typeface="Libre Franklin"/>
              <a:sym typeface="Libre Franklin"/>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414141"/>
        </a:solidFill>
      </p:bgPr>
    </p:bg>
    <p:spTree>
      <p:nvGrpSpPr>
        <p:cNvPr id="156" name="Shape 156"/>
        <p:cNvGrpSpPr/>
        <p:nvPr/>
      </p:nvGrpSpPr>
      <p:grpSpPr>
        <a:xfrm>
          <a:off x="0" y="0"/>
          <a:ext cx="0" cy="0"/>
          <a:chOff x="0" y="0"/>
          <a:chExt cx="0" cy="0"/>
        </a:xfrm>
      </p:grpSpPr>
      <p:sp>
        <p:nvSpPr>
          <p:cNvPr id="157" name="Google Shape;157;p2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solidFill>
                  <a:srgbClr val="FFFFFF"/>
                </a:solidFill>
              </a:rPr>
              <a:t>Autoencoder Approach</a:t>
            </a:r>
            <a:endParaRPr>
              <a:solidFill>
                <a:srgbClr val="FFFFFF"/>
              </a:solidFill>
            </a:endParaRPr>
          </a:p>
        </p:txBody>
      </p:sp>
      <p:sp>
        <p:nvSpPr>
          <p:cNvPr id="158" name="Google Shape;158;p2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Clr>
                <a:srgbClr val="FFFFFF"/>
              </a:buClr>
              <a:buSzPts val="1800"/>
              <a:buChar char="●"/>
            </a:pPr>
            <a:r>
              <a:rPr lang="en">
                <a:solidFill>
                  <a:srgbClr val="FFFFFF"/>
                </a:solidFill>
              </a:rPr>
              <a:t>When we use deepfake technologies to generate an audio signal, it is a learned representation of the original audio from which it was generated</a:t>
            </a:r>
            <a:endParaRPr>
              <a:solidFill>
                <a:srgbClr val="FFFFFF"/>
              </a:solidFill>
            </a:endParaRPr>
          </a:p>
          <a:p>
            <a:pPr indent="-342900" lvl="0" marL="457200" rtl="0" algn="l">
              <a:spcBef>
                <a:spcPts val="0"/>
              </a:spcBef>
              <a:spcAft>
                <a:spcPts val="0"/>
              </a:spcAft>
              <a:buClr>
                <a:srgbClr val="FFFFFF"/>
              </a:buClr>
              <a:buSzPts val="1800"/>
              <a:buChar char="●"/>
            </a:pPr>
            <a:r>
              <a:rPr lang="en">
                <a:solidFill>
                  <a:srgbClr val="FFFFFF"/>
                </a:solidFill>
              </a:rPr>
              <a:t>When we use autoencoders, we create a learned </a:t>
            </a:r>
            <a:r>
              <a:rPr lang="en">
                <a:solidFill>
                  <a:srgbClr val="FFFFFF"/>
                </a:solidFill>
              </a:rPr>
              <a:t>representation</a:t>
            </a:r>
            <a:r>
              <a:rPr lang="en">
                <a:solidFill>
                  <a:srgbClr val="FFFFFF"/>
                </a:solidFill>
              </a:rPr>
              <a:t> of the image </a:t>
            </a:r>
            <a:endParaRPr>
              <a:solidFill>
                <a:srgbClr val="FFFFFF"/>
              </a:solidFill>
            </a:endParaRPr>
          </a:p>
        </p:txBody>
      </p:sp>
      <p:pic>
        <p:nvPicPr>
          <p:cNvPr id="159" name="Google Shape;159;p28"/>
          <p:cNvPicPr preferRelativeResize="0"/>
          <p:nvPr/>
        </p:nvPicPr>
        <p:blipFill>
          <a:blip r:embed="rId3">
            <a:alphaModFix/>
          </a:blip>
          <a:stretch>
            <a:fillRect/>
          </a:stretch>
        </p:blipFill>
        <p:spPr>
          <a:xfrm>
            <a:off x="397300" y="2266362"/>
            <a:ext cx="3718374" cy="2730675"/>
          </a:xfrm>
          <a:prstGeom prst="rect">
            <a:avLst/>
          </a:prstGeom>
          <a:noFill/>
          <a:ln>
            <a:noFill/>
          </a:ln>
        </p:spPr>
      </p:pic>
      <p:pic>
        <p:nvPicPr>
          <p:cNvPr id="160" name="Google Shape;160;p28"/>
          <p:cNvPicPr preferRelativeResize="0"/>
          <p:nvPr/>
        </p:nvPicPr>
        <p:blipFill>
          <a:blip r:embed="rId4">
            <a:alphaModFix/>
          </a:blip>
          <a:stretch>
            <a:fillRect/>
          </a:stretch>
        </p:blipFill>
        <p:spPr>
          <a:xfrm>
            <a:off x="4852747" y="2228897"/>
            <a:ext cx="3718375" cy="2805615"/>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414141"/>
        </a:solidFill>
      </p:bgPr>
    </p:bg>
    <p:spTree>
      <p:nvGrpSpPr>
        <p:cNvPr id="164" name="Shape 164"/>
        <p:cNvGrpSpPr/>
        <p:nvPr/>
      </p:nvGrpSpPr>
      <p:grpSpPr>
        <a:xfrm>
          <a:off x="0" y="0"/>
          <a:ext cx="0" cy="0"/>
          <a:chOff x="0" y="0"/>
          <a:chExt cx="0" cy="0"/>
        </a:xfrm>
      </p:grpSpPr>
      <p:sp>
        <p:nvSpPr>
          <p:cNvPr id="165" name="Google Shape;165;p2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39285"/>
              <a:buFont typeface="Arial"/>
              <a:buNone/>
            </a:pPr>
            <a:r>
              <a:rPr lang="en">
                <a:solidFill>
                  <a:schemeClr val="lt1"/>
                </a:solidFill>
              </a:rPr>
              <a:t>Autoencoder Approach</a:t>
            </a:r>
            <a:endParaRPr>
              <a:solidFill>
                <a:schemeClr val="lt1"/>
              </a:solidFill>
            </a:endParaRPr>
          </a:p>
        </p:txBody>
      </p:sp>
      <p:sp>
        <p:nvSpPr>
          <p:cNvPr id="166" name="Google Shape;166;p29"/>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Clr>
                <a:schemeClr val="lt1"/>
              </a:buClr>
              <a:buSzPts val="1800"/>
              <a:buChar char="●"/>
            </a:pPr>
            <a:r>
              <a:rPr lang="en">
                <a:solidFill>
                  <a:schemeClr val="lt1"/>
                </a:solidFill>
              </a:rPr>
              <a:t>This learned </a:t>
            </a:r>
            <a:r>
              <a:rPr lang="en">
                <a:solidFill>
                  <a:schemeClr val="lt1"/>
                </a:solidFill>
              </a:rPr>
              <a:t>reconstructed</a:t>
            </a:r>
            <a:r>
              <a:rPr lang="en">
                <a:solidFill>
                  <a:schemeClr val="lt1"/>
                </a:solidFill>
              </a:rPr>
              <a:t> image should ideally be same for similar audio signals. </a:t>
            </a:r>
            <a:endParaRPr>
              <a:solidFill>
                <a:schemeClr val="lt1"/>
              </a:solidFill>
            </a:endParaRPr>
          </a:p>
          <a:p>
            <a:pPr indent="-342900" lvl="0" marL="457200" rtl="0" algn="l">
              <a:spcBef>
                <a:spcPts val="0"/>
              </a:spcBef>
              <a:spcAft>
                <a:spcPts val="0"/>
              </a:spcAft>
              <a:buClr>
                <a:schemeClr val="lt1"/>
              </a:buClr>
              <a:buSzPts val="1800"/>
              <a:buChar char="●"/>
            </a:pPr>
            <a:r>
              <a:rPr lang="en">
                <a:solidFill>
                  <a:schemeClr val="lt1"/>
                </a:solidFill>
              </a:rPr>
              <a:t>However, we need to </a:t>
            </a:r>
            <a:r>
              <a:rPr lang="en">
                <a:solidFill>
                  <a:schemeClr val="lt1"/>
                </a:solidFill>
              </a:rPr>
              <a:t>remember</a:t>
            </a:r>
            <a:r>
              <a:rPr lang="en">
                <a:solidFill>
                  <a:schemeClr val="lt1"/>
                </a:solidFill>
              </a:rPr>
              <a:t> that the fake audios have already passed through an Neural Network when they were generated and hence we should observe slight </a:t>
            </a:r>
            <a:r>
              <a:rPr lang="en">
                <a:solidFill>
                  <a:schemeClr val="lt1"/>
                </a:solidFill>
              </a:rPr>
              <a:t>differences</a:t>
            </a:r>
            <a:r>
              <a:rPr lang="en">
                <a:solidFill>
                  <a:schemeClr val="lt1"/>
                </a:solidFill>
              </a:rPr>
              <a:t> in the mse(or Anomaly scores) between input and output of autoencoders</a:t>
            </a:r>
            <a:endParaRPr>
              <a:solidFill>
                <a:schemeClr val="lt1"/>
              </a:solidFill>
            </a:endParaRPr>
          </a:p>
        </p:txBody>
      </p:sp>
      <p:graphicFrame>
        <p:nvGraphicFramePr>
          <p:cNvPr id="167" name="Google Shape;167;p29"/>
          <p:cNvGraphicFramePr/>
          <p:nvPr/>
        </p:nvGraphicFramePr>
        <p:xfrm>
          <a:off x="1118075" y="3392775"/>
          <a:ext cx="3000000" cy="3000000"/>
        </p:xfrm>
        <a:graphic>
          <a:graphicData uri="http://schemas.openxmlformats.org/drawingml/2006/table">
            <a:tbl>
              <a:tblPr>
                <a:noFill/>
                <a:tableStyleId>{8EE4F467-92B9-4AF2-BB98-2F05673585E7}</a:tableStyleId>
              </a:tblPr>
              <a:tblGrid>
                <a:gridCol w="938175"/>
                <a:gridCol w="2474675"/>
                <a:gridCol w="2714400"/>
              </a:tblGrid>
              <a:tr h="324000">
                <a:tc>
                  <a:txBody>
                    <a:bodyPr/>
                    <a:lstStyle/>
                    <a:p>
                      <a:pPr indent="0" lvl="0" marL="0" rtl="0" algn="l">
                        <a:spcBef>
                          <a:spcPts val="0"/>
                        </a:spcBef>
                        <a:spcAft>
                          <a:spcPts val="0"/>
                        </a:spcAft>
                        <a:buNone/>
                      </a:pPr>
                      <a:r>
                        <a:t/>
                      </a:r>
                      <a:endParaRPr sz="1200"/>
                    </a:p>
                  </a:txBody>
                  <a:tcPr marT="91425" marB="91425" marR="91425" marL="91425"/>
                </a:tc>
                <a:tc>
                  <a:txBody>
                    <a:bodyPr/>
                    <a:lstStyle/>
                    <a:p>
                      <a:pPr indent="0" lvl="0" marL="0" rtl="0" algn="l">
                        <a:spcBef>
                          <a:spcPts val="0"/>
                        </a:spcBef>
                        <a:spcAft>
                          <a:spcPts val="0"/>
                        </a:spcAft>
                        <a:buClr>
                          <a:schemeClr val="dk1"/>
                        </a:buClr>
                        <a:buSzPts val="1100"/>
                        <a:buFont typeface="Arial"/>
                        <a:buNone/>
                      </a:pPr>
                      <a:r>
                        <a:rPr lang="en" sz="1200">
                          <a:solidFill>
                            <a:schemeClr val="lt1"/>
                          </a:solidFill>
                        </a:rPr>
                        <a:t>A01 Average MSE</a:t>
                      </a:r>
                      <a:endParaRPr sz="1200">
                        <a:solidFill>
                          <a:schemeClr val="lt1"/>
                        </a:solidFill>
                      </a:endParaRPr>
                    </a:p>
                  </a:txBody>
                  <a:tcPr marT="91425" marB="91425" marR="91425" marL="91425"/>
                </a:tc>
                <a:tc>
                  <a:txBody>
                    <a:bodyPr/>
                    <a:lstStyle/>
                    <a:p>
                      <a:pPr indent="0" lvl="0" marL="0" rtl="0" algn="l">
                        <a:spcBef>
                          <a:spcPts val="0"/>
                        </a:spcBef>
                        <a:spcAft>
                          <a:spcPts val="0"/>
                        </a:spcAft>
                        <a:buNone/>
                      </a:pPr>
                      <a:r>
                        <a:rPr lang="en" sz="1200">
                          <a:solidFill>
                            <a:schemeClr val="lt1"/>
                          </a:solidFill>
                        </a:rPr>
                        <a:t>A03 </a:t>
                      </a:r>
                      <a:r>
                        <a:rPr lang="en" sz="1200">
                          <a:solidFill>
                            <a:schemeClr val="lt1"/>
                          </a:solidFill>
                        </a:rPr>
                        <a:t>Average MSE</a:t>
                      </a:r>
                      <a:endParaRPr sz="1200">
                        <a:solidFill>
                          <a:schemeClr val="lt1"/>
                        </a:solidFill>
                      </a:endParaRPr>
                    </a:p>
                  </a:txBody>
                  <a:tcPr marT="91425" marB="91425" marR="91425" marL="91425"/>
                </a:tc>
              </a:tr>
              <a:tr h="451450">
                <a:tc>
                  <a:txBody>
                    <a:bodyPr/>
                    <a:lstStyle/>
                    <a:p>
                      <a:pPr indent="0" lvl="0" marL="0" rtl="0" algn="l">
                        <a:spcBef>
                          <a:spcPts val="0"/>
                        </a:spcBef>
                        <a:spcAft>
                          <a:spcPts val="0"/>
                        </a:spcAft>
                        <a:buNone/>
                      </a:pPr>
                      <a:r>
                        <a:rPr lang="en" sz="1200">
                          <a:solidFill>
                            <a:schemeClr val="lt1"/>
                          </a:solidFill>
                        </a:rPr>
                        <a:t>Original</a:t>
                      </a:r>
                      <a:endParaRPr sz="1200">
                        <a:solidFill>
                          <a:schemeClr val="lt1"/>
                        </a:solidFill>
                      </a:endParaRPr>
                    </a:p>
                  </a:txBody>
                  <a:tcPr marT="91425" marB="91425" marR="91425" marL="91425"/>
                </a:tc>
                <a:tc>
                  <a:txBody>
                    <a:bodyPr/>
                    <a:lstStyle/>
                    <a:p>
                      <a:pPr indent="0" lvl="0" marL="0" rtl="0" algn="l">
                        <a:lnSpc>
                          <a:spcPct val="115000"/>
                        </a:lnSpc>
                        <a:spcBef>
                          <a:spcPts val="0"/>
                        </a:spcBef>
                        <a:spcAft>
                          <a:spcPts val="1200"/>
                        </a:spcAft>
                        <a:buNone/>
                      </a:pPr>
                      <a:r>
                        <a:rPr lang="en" sz="1200">
                          <a:solidFill>
                            <a:schemeClr val="lt1"/>
                          </a:solidFill>
                        </a:rPr>
                        <a:t>0.00564916578350676</a:t>
                      </a:r>
                      <a:endParaRPr sz="1200">
                        <a:solidFill>
                          <a:schemeClr val="lt1"/>
                        </a:solidFill>
                      </a:endParaRPr>
                    </a:p>
                  </a:txBody>
                  <a:tcPr marT="91425" marB="91425" marR="91425" marL="91425"/>
                </a:tc>
                <a:tc>
                  <a:txBody>
                    <a:bodyPr/>
                    <a:lstStyle/>
                    <a:p>
                      <a:pPr indent="0" lvl="0" marL="0" rtl="0" algn="l">
                        <a:lnSpc>
                          <a:spcPct val="115000"/>
                        </a:lnSpc>
                        <a:spcBef>
                          <a:spcPts val="0"/>
                        </a:spcBef>
                        <a:spcAft>
                          <a:spcPts val="1200"/>
                        </a:spcAft>
                        <a:buNone/>
                      </a:pPr>
                      <a:r>
                        <a:rPr lang="en" sz="1200">
                          <a:solidFill>
                            <a:schemeClr val="lt1"/>
                          </a:solidFill>
                        </a:rPr>
                        <a:t>0.00580576235679473</a:t>
                      </a:r>
                      <a:endParaRPr sz="1200">
                        <a:solidFill>
                          <a:schemeClr val="lt1"/>
                        </a:solidFill>
                      </a:endParaRPr>
                    </a:p>
                  </a:txBody>
                  <a:tcPr marT="91425" marB="91425" marR="91425" marL="91425"/>
                </a:tc>
              </a:tr>
              <a:tr h="451450">
                <a:tc>
                  <a:txBody>
                    <a:bodyPr/>
                    <a:lstStyle/>
                    <a:p>
                      <a:pPr indent="0" lvl="0" marL="0" rtl="0" algn="l">
                        <a:spcBef>
                          <a:spcPts val="0"/>
                        </a:spcBef>
                        <a:spcAft>
                          <a:spcPts val="0"/>
                        </a:spcAft>
                        <a:buNone/>
                      </a:pPr>
                      <a:r>
                        <a:rPr lang="en" sz="1200">
                          <a:solidFill>
                            <a:schemeClr val="lt1"/>
                          </a:solidFill>
                        </a:rPr>
                        <a:t>Deepfaked</a:t>
                      </a:r>
                      <a:endParaRPr sz="1200">
                        <a:solidFill>
                          <a:schemeClr val="lt1"/>
                        </a:solidFill>
                      </a:endParaRPr>
                    </a:p>
                  </a:txBody>
                  <a:tcPr marT="91425" marB="91425" marR="91425" marL="91425">
                    <a:lnB cap="flat" cmpd="sng" w="9525">
                      <a:solidFill>
                        <a:srgbClr val="9E9E9E"/>
                      </a:solidFill>
                      <a:prstDash val="solid"/>
                      <a:round/>
                      <a:headEnd len="sm" w="sm" type="none"/>
                      <a:tailEnd len="sm" w="sm" type="none"/>
                    </a:lnB>
                  </a:tcPr>
                </a:tc>
                <a:tc>
                  <a:txBody>
                    <a:bodyPr/>
                    <a:lstStyle/>
                    <a:p>
                      <a:pPr indent="0" lvl="0" marL="0" rtl="0" algn="l">
                        <a:lnSpc>
                          <a:spcPct val="115000"/>
                        </a:lnSpc>
                        <a:spcBef>
                          <a:spcPts val="0"/>
                        </a:spcBef>
                        <a:spcAft>
                          <a:spcPts val="1200"/>
                        </a:spcAft>
                        <a:buNone/>
                      </a:pPr>
                      <a:r>
                        <a:rPr lang="en" sz="1200">
                          <a:solidFill>
                            <a:schemeClr val="lt1"/>
                          </a:solidFill>
                        </a:rPr>
                        <a:t>0.006435020276612842</a:t>
                      </a:r>
                      <a:endParaRPr sz="1200">
                        <a:solidFill>
                          <a:schemeClr val="lt1"/>
                        </a:solidFill>
                      </a:endParaRPr>
                    </a:p>
                  </a:txBody>
                  <a:tcPr marT="91425" marB="91425" marR="91425" marL="91425"/>
                </a:tc>
                <a:tc>
                  <a:txBody>
                    <a:bodyPr/>
                    <a:lstStyle/>
                    <a:p>
                      <a:pPr indent="0" lvl="0" marL="0" rtl="0" algn="l">
                        <a:lnSpc>
                          <a:spcPct val="115000"/>
                        </a:lnSpc>
                        <a:spcBef>
                          <a:spcPts val="0"/>
                        </a:spcBef>
                        <a:spcAft>
                          <a:spcPts val="1200"/>
                        </a:spcAft>
                        <a:buNone/>
                      </a:pPr>
                      <a:r>
                        <a:rPr lang="en" sz="1200">
                          <a:solidFill>
                            <a:schemeClr val="lt1"/>
                          </a:solidFill>
                        </a:rPr>
                        <a:t>0.007854399196381156</a:t>
                      </a:r>
                      <a:endParaRPr sz="1200">
                        <a:solidFill>
                          <a:schemeClr val="lt1"/>
                        </a:solidFill>
                      </a:endParaRPr>
                    </a:p>
                  </a:txBody>
                  <a:tcPr marT="91425" marB="91425" marR="91425" marL="91425"/>
                </a:tc>
              </a:tr>
            </a:tbl>
          </a:graphicData>
        </a:graphic>
      </p:graphicFrame>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414141"/>
        </a:solidFill>
      </p:bgPr>
    </p:bg>
    <p:spTree>
      <p:nvGrpSpPr>
        <p:cNvPr id="171" name="Shape 171"/>
        <p:cNvGrpSpPr/>
        <p:nvPr/>
      </p:nvGrpSpPr>
      <p:grpSpPr>
        <a:xfrm>
          <a:off x="0" y="0"/>
          <a:ext cx="0" cy="0"/>
          <a:chOff x="0" y="0"/>
          <a:chExt cx="0" cy="0"/>
        </a:xfrm>
      </p:grpSpPr>
      <p:sp>
        <p:nvSpPr>
          <p:cNvPr id="172" name="Google Shape;172;p3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Clr>
                <a:schemeClr val="dk1"/>
              </a:buClr>
              <a:buSzPct val="39285"/>
              <a:buFont typeface="Arial"/>
              <a:buNone/>
            </a:pPr>
            <a:r>
              <a:rPr b="1" lang="en">
                <a:solidFill>
                  <a:schemeClr val="lt1"/>
                </a:solidFill>
                <a:latin typeface="Libre Franklin"/>
                <a:ea typeface="Libre Franklin"/>
                <a:cs typeface="Libre Franklin"/>
                <a:sym typeface="Libre Franklin"/>
              </a:rPr>
              <a:t>Results </a:t>
            </a:r>
            <a:endParaRPr b="1">
              <a:solidFill>
                <a:schemeClr val="lt1"/>
              </a:solidFill>
              <a:latin typeface="Libre Franklin"/>
              <a:ea typeface="Libre Franklin"/>
              <a:cs typeface="Libre Franklin"/>
              <a:sym typeface="Libre Franklin"/>
            </a:endParaRPr>
          </a:p>
          <a:p>
            <a:pPr indent="0" lvl="0" marL="0" rtl="0" algn="l">
              <a:spcBef>
                <a:spcPts val="0"/>
              </a:spcBef>
              <a:spcAft>
                <a:spcPts val="0"/>
              </a:spcAft>
              <a:buNone/>
            </a:pPr>
            <a:r>
              <a:t/>
            </a:r>
            <a:endParaRPr/>
          </a:p>
        </p:txBody>
      </p:sp>
      <p:graphicFrame>
        <p:nvGraphicFramePr>
          <p:cNvPr id="173" name="Google Shape;173;p30"/>
          <p:cNvGraphicFramePr/>
          <p:nvPr/>
        </p:nvGraphicFramePr>
        <p:xfrm>
          <a:off x="1953050" y="1134975"/>
          <a:ext cx="3000000" cy="3000000"/>
        </p:xfrm>
        <a:graphic>
          <a:graphicData uri="http://schemas.openxmlformats.org/drawingml/2006/table">
            <a:tbl>
              <a:tblPr>
                <a:noFill/>
                <a:tableStyleId>{8EE4F467-92B9-4AF2-BB98-2F05673585E7}</a:tableStyleId>
              </a:tblPr>
              <a:tblGrid>
                <a:gridCol w="979200"/>
                <a:gridCol w="722200"/>
                <a:gridCol w="732050"/>
                <a:gridCol w="995550"/>
                <a:gridCol w="781325"/>
                <a:gridCol w="700850"/>
              </a:tblGrid>
              <a:tr h="1014925">
                <a:tc>
                  <a:txBody>
                    <a:bodyPr/>
                    <a:lstStyle/>
                    <a:p>
                      <a:pPr indent="0" lvl="0" marL="0" rtl="0" algn="l">
                        <a:spcBef>
                          <a:spcPts val="0"/>
                        </a:spcBef>
                        <a:spcAft>
                          <a:spcPts val="0"/>
                        </a:spcAft>
                        <a:buNone/>
                      </a:pPr>
                      <a:r>
                        <a:rPr b="1" lang="en" sz="900">
                          <a:solidFill>
                            <a:schemeClr val="lt1"/>
                          </a:solidFill>
                        </a:rPr>
                        <a:t>DeepFake Technology Type</a:t>
                      </a:r>
                      <a:endParaRPr b="1" sz="900">
                        <a:solidFill>
                          <a:schemeClr val="lt1"/>
                        </a:solidFill>
                      </a:endParaRPr>
                    </a:p>
                  </a:txBody>
                  <a:tcPr marT="91425" marB="91425" marR="91425" marL="91425">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b="1" lang="en" sz="1200">
                          <a:solidFill>
                            <a:schemeClr val="lt1"/>
                          </a:solidFill>
                        </a:rPr>
                        <a:t>AUC</a:t>
                      </a:r>
                      <a:endParaRPr b="1" sz="1200">
                        <a:solidFill>
                          <a:schemeClr val="lt1"/>
                        </a:solidFill>
                      </a:endParaRPr>
                    </a:p>
                  </a:txBody>
                  <a:tcPr marT="91425" marB="91425" marR="91425" marL="91425">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b="1" lang="en" sz="1200">
                          <a:solidFill>
                            <a:schemeClr val="lt1"/>
                          </a:solidFill>
                        </a:rPr>
                        <a:t>Data Class</a:t>
                      </a:r>
                      <a:endParaRPr b="1" sz="1200">
                        <a:solidFill>
                          <a:schemeClr val="lt1"/>
                        </a:solidFill>
                      </a:endParaRPr>
                    </a:p>
                  </a:txBody>
                  <a:tcPr marT="91425" marB="91425" marR="91425" marL="91425">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b="1" lang="en" sz="1200">
                          <a:solidFill>
                            <a:schemeClr val="lt1"/>
                          </a:solidFill>
                        </a:rPr>
                        <a:t>Precision</a:t>
                      </a:r>
                      <a:endParaRPr b="1" sz="1200">
                        <a:solidFill>
                          <a:schemeClr val="lt1"/>
                        </a:solidFill>
                      </a:endParaRPr>
                    </a:p>
                  </a:txBody>
                  <a:tcPr marT="91425" marB="91425" marR="91425" marL="91425">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b="1" lang="en" sz="1200">
                          <a:solidFill>
                            <a:schemeClr val="lt1"/>
                          </a:solidFill>
                        </a:rPr>
                        <a:t>Recall</a:t>
                      </a:r>
                      <a:endParaRPr b="1" sz="1200">
                        <a:solidFill>
                          <a:schemeClr val="lt1"/>
                        </a:solidFill>
                      </a:endParaRPr>
                    </a:p>
                  </a:txBody>
                  <a:tcPr marT="91425" marB="91425" marR="91425" marL="91425">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b="1" lang="en" sz="1200">
                          <a:solidFill>
                            <a:schemeClr val="lt1"/>
                          </a:solidFill>
                        </a:rPr>
                        <a:t>f1-score</a:t>
                      </a:r>
                      <a:endParaRPr b="1" sz="1200">
                        <a:solidFill>
                          <a:schemeClr val="lt1"/>
                        </a:solidFill>
                      </a:endParaRPr>
                    </a:p>
                  </a:txBody>
                  <a:tcPr marT="91425" marB="91425" marR="91425" marL="91425">
                    <a:lnB cap="flat" cmpd="sng" w="9525">
                      <a:solidFill>
                        <a:srgbClr val="9E9E9E"/>
                      </a:solidFill>
                      <a:prstDash val="solid"/>
                      <a:round/>
                      <a:headEnd len="sm" w="sm" type="none"/>
                      <a:tailEnd len="sm" w="sm" type="none"/>
                    </a:lnB>
                  </a:tcPr>
                </a:tc>
              </a:tr>
              <a:tr h="569400">
                <a:tc rowSpan="2">
                  <a:txBody>
                    <a:bodyPr/>
                    <a:lstStyle/>
                    <a:p>
                      <a:pPr indent="0" lvl="0" marL="0" rtl="0" algn="l">
                        <a:spcBef>
                          <a:spcPts val="0"/>
                        </a:spcBef>
                        <a:spcAft>
                          <a:spcPts val="0"/>
                        </a:spcAft>
                        <a:buNone/>
                      </a:pPr>
                      <a:r>
                        <a:rPr lang="en" sz="1200">
                          <a:solidFill>
                            <a:schemeClr val="lt1"/>
                          </a:solidFill>
                        </a:rPr>
                        <a:t>AO1</a:t>
                      </a:r>
                      <a:endParaRPr sz="1200">
                        <a:solidFill>
                          <a:schemeClr val="lt1"/>
                        </a:solidFill>
                      </a:endParaRPr>
                    </a:p>
                    <a:p>
                      <a:pPr indent="0" lvl="0" marL="0" rtl="0" algn="l">
                        <a:spcBef>
                          <a:spcPts val="0"/>
                        </a:spcBef>
                        <a:spcAft>
                          <a:spcPts val="0"/>
                        </a:spcAft>
                        <a:buNone/>
                      </a:pPr>
                      <a:r>
                        <a:rPr lang="en" sz="1200">
                          <a:solidFill>
                            <a:schemeClr val="lt1"/>
                          </a:solidFill>
                        </a:rPr>
                        <a:t>(6k Audios)</a:t>
                      </a:r>
                      <a:endParaRPr sz="1200">
                        <a:solidFill>
                          <a:schemeClr val="lt1"/>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rowSpan="2">
                  <a:txBody>
                    <a:bodyPr/>
                    <a:lstStyle/>
                    <a:p>
                      <a:pPr indent="0" lvl="0" marL="0" rtl="0" algn="l">
                        <a:spcBef>
                          <a:spcPts val="0"/>
                        </a:spcBef>
                        <a:spcAft>
                          <a:spcPts val="0"/>
                        </a:spcAft>
                        <a:buNone/>
                      </a:pPr>
                      <a:r>
                        <a:rPr lang="en" sz="1200">
                          <a:solidFill>
                            <a:schemeClr val="lt1"/>
                          </a:solidFill>
                        </a:rPr>
                        <a:t>0.786</a:t>
                      </a:r>
                      <a:endParaRPr sz="1200">
                        <a:solidFill>
                          <a:schemeClr val="lt1"/>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sz="1200">
                          <a:solidFill>
                            <a:schemeClr val="lt1"/>
                          </a:solidFill>
                        </a:rPr>
                        <a:t>0</a:t>
                      </a:r>
                      <a:endParaRPr sz="1200">
                        <a:solidFill>
                          <a:schemeClr val="lt1"/>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sz="1200">
                          <a:solidFill>
                            <a:schemeClr val="lt1"/>
                          </a:solidFill>
                        </a:rPr>
                        <a:t>0.66</a:t>
                      </a:r>
                      <a:endParaRPr sz="1200">
                        <a:solidFill>
                          <a:schemeClr val="lt1"/>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sz="1200">
                          <a:solidFill>
                            <a:schemeClr val="lt1"/>
                          </a:solidFill>
                        </a:rPr>
                        <a:t>0.65</a:t>
                      </a:r>
                      <a:endParaRPr sz="1200">
                        <a:solidFill>
                          <a:schemeClr val="lt1"/>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sz="1200">
                          <a:solidFill>
                            <a:schemeClr val="lt1"/>
                          </a:solidFill>
                        </a:rPr>
                        <a:t>0.66</a:t>
                      </a:r>
                      <a:endParaRPr sz="1200">
                        <a:solidFill>
                          <a:schemeClr val="lt1"/>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569400">
                <a:tc vMerge="1"/>
                <a:tc vMerge="1"/>
                <a:tc>
                  <a:txBody>
                    <a:bodyPr/>
                    <a:lstStyle/>
                    <a:p>
                      <a:pPr indent="0" lvl="0" marL="0" rtl="0" algn="l">
                        <a:spcBef>
                          <a:spcPts val="0"/>
                        </a:spcBef>
                        <a:spcAft>
                          <a:spcPts val="0"/>
                        </a:spcAft>
                        <a:buNone/>
                      </a:pPr>
                      <a:r>
                        <a:rPr lang="en" sz="1200">
                          <a:solidFill>
                            <a:schemeClr val="lt1"/>
                          </a:solidFill>
                        </a:rPr>
                        <a:t>1</a:t>
                      </a:r>
                      <a:endParaRPr sz="1200">
                        <a:solidFill>
                          <a:schemeClr val="lt1"/>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sz="1200">
                          <a:solidFill>
                            <a:schemeClr val="lt1"/>
                          </a:solidFill>
                        </a:rPr>
                        <a:t>0.76</a:t>
                      </a:r>
                      <a:endParaRPr sz="1200">
                        <a:solidFill>
                          <a:schemeClr val="lt1"/>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sz="1200">
                          <a:solidFill>
                            <a:schemeClr val="lt1"/>
                          </a:solidFill>
                        </a:rPr>
                        <a:t>0.77</a:t>
                      </a:r>
                      <a:endParaRPr sz="1200">
                        <a:solidFill>
                          <a:schemeClr val="lt1"/>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sz="1200">
                          <a:solidFill>
                            <a:schemeClr val="lt1"/>
                          </a:solidFill>
                        </a:rPr>
                        <a:t>0.77</a:t>
                      </a:r>
                      <a:endParaRPr sz="1200">
                        <a:solidFill>
                          <a:schemeClr val="lt1"/>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569400">
                <a:tc rowSpan="2">
                  <a:txBody>
                    <a:bodyPr/>
                    <a:lstStyle/>
                    <a:p>
                      <a:pPr indent="0" lvl="0" marL="0" rtl="0" algn="l">
                        <a:spcBef>
                          <a:spcPts val="0"/>
                        </a:spcBef>
                        <a:spcAft>
                          <a:spcPts val="0"/>
                        </a:spcAft>
                        <a:buNone/>
                      </a:pPr>
                      <a:r>
                        <a:rPr lang="en" sz="1200">
                          <a:solidFill>
                            <a:schemeClr val="lt1"/>
                          </a:solidFill>
                        </a:rPr>
                        <a:t>A03</a:t>
                      </a:r>
                      <a:endParaRPr sz="1200">
                        <a:solidFill>
                          <a:schemeClr val="lt1"/>
                        </a:solidFill>
                      </a:endParaRPr>
                    </a:p>
                    <a:p>
                      <a:pPr indent="0" lvl="0" marL="0" rtl="0" algn="l">
                        <a:spcBef>
                          <a:spcPts val="0"/>
                        </a:spcBef>
                        <a:spcAft>
                          <a:spcPts val="0"/>
                        </a:spcAft>
                        <a:buNone/>
                      </a:pPr>
                      <a:r>
                        <a:rPr lang="en" sz="1200">
                          <a:solidFill>
                            <a:schemeClr val="lt1"/>
                          </a:solidFill>
                        </a:rPr>
                        <a:t>(6K Audios)</a:t>
                      </a:r>
                      <a:endParaRPr sz="1200">
                        <a:solidFill>
                          <a:schemeClr val="lt1"/>
                        </a:solidFill>
                      </a:endParaRPr>
                    </a:p>
                  </a:txBody>
                  <a:tcPr marT="91425" marB="91425" marR="91425" marL="91425">
                    <a:lnT cap="flat" cmpd="sng" w="9525">
                      <a:solidFill>
                        <a:srgbClr val="9E9E9E"/>
                      </a:solidFill>
                      <a:prstDash val="solid"/>
                      <a:round/>
                      <a:headEnd len="sm" w="sm" type="none"/>
                      <a:tailEnd len="sm" w="sm" type="none"/>
                    </a:lnT>
                  </a:tcPr>
                </a:tc>
                <a:tc rowSpan="2">
                  <a:txBody>
                    <a:bodyPr/>
                    <a:lstStyle/>
                    <a:p>
                      <a:pPr indent="0" lvl="0" marL="0" rtl="0" algn="l">
                        <a:spcBef>
                          <a:spcPts val="0"/>
                        </a:spcBef>
                        <a:spcAft>
                          <a:spcPts val="0"/>
                        </a:spcAft>
                        <a:buNone/>
                      </a:pPr>
                      <a:r>
                        <a:rPr lang="en" sz="1200">
                          <a:solidFill>
                            <a:schemeClr val="lt1"/>
                          </a:solidFill>
                        </a:rPr>
                        <a:t>0.642</a:t>
                      </a:r>
                      <a:endParaRPr sz="1200">
                        <a:solidFill>
                          <a:schemeClr val="lt1"/>
                        </a:solidFill>
                      </a:endParaRPr>
                    </a:p>
                  </a:txBody>
                  <a:tcPr marT="91425" marB="91425" marR="91425" marL="91425">
                    <a:lnT cap="flat" cmpd="sng" w="9525">
                      <a:solidFill>
                        <a:srgbClr val="9E9E9E"/>
                      </a:solidFill>
                      <a:prstDash val="solid"/>
                      <a:round/>
                      <a:headEnd len="sm" w="sm" type="none"/>
                      <a:tailEnd len="sm" w="sm" type="none"/>
                    </a:lnT>
                  </a:tcPr>
                </a:tc>
                <a:tc>
                  <a:txBody>
                    <a:bodyPr/>
                    <a:lstStyle/>
                    <a:p>
                      <a:pPr indent="0" lvl="0" marL="0" rtl="0" algn="l">
                        <a:spcBef>
                          <a:spcPts val="0"/>
                        </a:spcBef>
                        <a:spcAft>
                          <a:spcPts val="0"/>
                        </a:spcAft>
                        <a:buNone/>
                      </a:pPr>
                      <a:r>
                        <a:rPr lang="en" sz="1200">
                          <a:solidFill>
                            <a:schemeClr val="lt1"/>
                          </a:solidFill>
                        </a:rPr>
                        <a:t>0</a:t>
                      </a:r>
                      <a:endParaRPr sz="1200">
                        <a:solidFill>
                          <a:schemeClr val="lt1"/>
                        </a:solidFill>
                      </a:endParaRPr>
                    </a:p>
                  </a:txBody>
                  <a:tcPr marT="91425" marB="91425" marR="91425" marL="91425">
                    <a:lnT cap="flat" cmpd="sng" w="9525">
                      <a:solidFill>
                        <a:srgbClr val="9E9E9E"/>
                      </a:solidFill>
                      <a:prstDash val="solid"/>
                      <a:round/>
                      <a:headEnd len="sm" w="sm" type="none"/>
                      <a:tailEnd len="sm" w="sm" type="none"/>
                    </a:lnT>
                  </a:tcPr>
                </a:tc>
                <a:tc>
                  <a:txBody>
                    <a:bodyPr/>
                    <a:lstStyle/>
                    <a:p>
                      <a:pPr indent="0" lvl="0" marL="0" rtl="0" algn="l">
                        <a:spcBef>
                          <a:spcPts val="0"/>
                        </a:spcBef>
                        <a:spcAft>
                          <a:spcPts val="0"/>
                        </a:spcAft>
                        <a:buNone/>
                      </a:pPr>
                      <a:r>
                        <a:rPr lang="en" sz="1200">
                          <a:solidFill>
                            <a:schemeClr val="lt1"/>
                          </a:solidFill>
                        </a:rPr>
                        <a:t>0.52</a:t>
                      </a:r>
                      <a:endParaRPr sz="1200">
                        <a:solidFill>
                          <a:schemeClr val="lt1"/>
                        </a:solidFill>
                      </a:endParaRPr>
                    </a:p>
                  </a:txBody>
                  <a:tcPr marT="91425" marB="91425" marR="91425" marL="91425">
                    <a:lnT cap="flat" cmpd="sng" w="9525">
                      <a:solidFill>
                        <a:srgbClr val="9E9E9E"/>
                      </a:solidFill>
                      <a:prstDash val="solid"/>
                      <a:round/>
                      <a:headEnd len="sm" w="sm" type="none"/>
                      <a:tailEnd len="sm" w="sm" type="none"/>
                    </a:lnT>
                  </a:tcPr>
                </a:tc>
                <a:tc>
                  <a:txBody>
                    <a:bodyPr/>
                    <a:lstStyle/>
                    <a:p>
                      <a:pPr indent="0" lvl="0" marL="0" rtl="0" algn="l">
                        <a:spcBef>
                          <a:spcPts val="0"/>
                        </a:spcBef>
                        <a:spcAft>
                          <a:spcPts val="0"/>
                        </a:spcAft>
                        <a:buNone/>
                      </a:pPr>
                      <a:r>
                        <a:rPr lang="en" sz="1200">
                          <a:solidFill>
                            <a:schemeClr val="lt1"/>
                          </a:solidFill>
                        </a:rPr>
                        <a:t>0.55</a:t>
                      </a:r>
                      <a:endParaRPr sz="1200">
                        <a:solidFill>
                          <a:schemeClr val="lt1"/>
                        </a:solidFill>
                      </a:endParaRPr>
                    </a:p>
                  </a:txBody>
                  <a:tcPr marT="91425" marB="91425" marR="91425" marL="91425">
                    <a:lnT cap="flat" cmpd="sng" w="9525">
                      <a:solidFill>
                        <a:srgbClr val="9E9E9E"/>
                      </a:solidFill>
                      <a:prstDash val="solid"/>
                      <a:round/>
                      <a:headEnd len="sm" w="sm" type="none"/>
                      <a:tailEnd len="sm" w="sm" type="none"/>
                    </a:lnT>
                  </a:tcPr>
                </a:tc>
                <a:tc>
                  <a:txBody>
                    <a:bodyPr/>
                    <a:lstStyle/>
                    <a:p>
                      <a:pPr indent="0" lvl="0" marL="0" rtl="0" algn="l">
                        <a:spcBef>
                          <a:spcPts val="0"/>
                        </a:spcBef>
                        <a:spcAft>
                          <a:spcPts val="0"/>
                        </a:spcAft>
                        <a:buNone/>
                      </a:pPr>
                      <a:r>
                        <a:rPr lang="en" sz="1200">
                          <a:solidFill>
                            <a:schemeClr val="lt1"/>
                          </a:solidFill>
                        </a:rPr>
                        <a:t>0.53</a:t>
                      </a:r>
                      <a:endParaRPr sz="1200">
                        <a:solidFill>
                          <a:schemeClr val="lt1"/>
                        </a:solidFill>
                      </a:endParaRPr>
                    </a:p>
                  </a:txBody>
                  <a:tcPr marT="91425" marB="91425" marR="91425" marL="91425">
                    <a:lnT cap="flat" cmpd="sng" w="9525">
                      <a:solidFill>
                        <a:srgbClr val="9E9E9E"/>
                      </a:solidFill>
                      <a:prstDash val="solid"/>
                      <a:round/>
                      <a:headEnd len="sm" w="sm" type="none"/>
                      <a:tailEnd len="sm" w="sm" type="none"/>
                    </a:lnT>
                  </a:tcPr>
                </a:tc>
              </a:tr>
              <a:tr h="569400">
                <a:tc vMerge="1"/>
                <a:tc vMerge="1"/>
                <a:tc>
                  <a:txBody>
                    <a:bodyPr/>
                    <a:lstStyle/>
                    <a:p>
                      <a:pPr indent="0" lvl="0" marL="0" rtl="0" algn="l">
                        <a:spcBef>
                          <a:spcPts val="0"/>
                        </a:spcBef>
                        <a:spcAft>
                          <a:spcPts val="0"/>
                        </a:spcAft>
                        <a:buNone/>
                      </a:pPr>
                      <a:r>
                        <a:rPr lang="en" sz="1200">
                          <a:solidFill>
                            <a:schemeClr val="lt1"/>
                          </a:solidFill>
                        </a:rPr>
                        <a:t>1</a:t>
                      </a:r>
                      <a:endParaRPr sz="1200">
                        <a:solidFill>
                          <a:schemeClr val="lt1"/>
                        </a:solidFill>
                      </a:endParaRPr>
                    </a:p>
                  </a:txBody>
                  <a:tcPr marT="91425" marB="91425" marR="91425" marL="91425"/>
                </a:tc>
                <a:tc>
                  <a:txBody>
                    <a:bodyPr/>
                    <a:lstStyle/>
                    <a:p>
                      <a:pPr indent="0" lvl="0" marL="0" rtl="0" algn="l">
                        <a:spcBef>
                          <a:spcPts val="0"/>
                        </a:spcBef>
                        <a:spcAft>
                          <a:spcPts val="0"/>
                        </a:spcAft>
                        <a:buNone/>
                      </a:pPr>
                      <a:r>
                        <a:rPr lang="en" sz="1200">
                          <a:solidFill>
                            <a:schemeClr val="lt1"/>
                          </a:solidFill>
                        </a:rPr>
                        <a:t>0.68</a:t>
                      </a:r>
                      <a:endParaRPr sz="1200">
                        <a:solidFill>
                          <a:schemeClr val="lt1"/>
                        </a:solidFill>
                      </a:endParaRPr>
                    </a:p>
                  </a:txBody>
                  <a:tcPr marT="91425" marB="91425" marR="91425" marL="91425"/>
                </a:tc>
                <a:tc>
                  <a:txBody>
                    <a:bodyPr/>
                    <a:lstStyle/>
                    <a:p>
                      <a:pPr indent="0" lvl="0" marL="0" rtl="0" algn="l">
                        <a:spcBef>
                          <a:spcPts val="0"/>
                        </a:spcBef>
                        <a:spcAft>
                          <a:spcPts val="0"/>
                        </a:spcAft>
                        <a:buNone/>
                      </a:pPr>
                      <a:r>
                        <a:rPr lang="en" sz="1200">
                          <a:solidFill>
                            <a:schemeClr val="lt1"/>
                          </a:solidFill>
                        </a:rPr>
                        <a:t>0.65</a:t>
                      </a:r>
                      <a:endParaRPr sz="1200">
                        <a:solidFill>
                          <a:schemeClr val="lt1"/>
                        </a:solidFill>
                      </a:endParaRPr>
                    </a:p>
                  </a:txBody>
                  <a:tcPr marT="91425" marB="91425" marR="91425" marL="91425"/>
                </a:tc>
                <a:tc>
                  <a:txBody>
                    <a:bodyPr/>
                    <a:lstStyle/>
                    <a:p>
                      <a:pPr indent="0" lvl="0" marL="0" rtl="0" algn="l">
                        <a:spcBef>
                          <a:spcPts val="0"/>
                        </a:spcBef>
                        <a:spcAft>
                          <a:spcPts val="0"/>
                        </a:spcAft>
                        <a:buNone/>
                      </a:pPr>
                      <a:r>
                        <a:rPr lang="en" sz="1200">
                          <a:solidFill>
                            <a:schemeClr val="lt1"/>
                          </a:solidFill>
                        </a:rPr>
                        <a:t>0.66</a:t>
                      </a:r>
                      <a:endParaRPr sz="1200">
                        <a:solidFill>
                          <a:schemeClr val="lt1"/>
                        </a:solidFill>
                      </a:endParaRPr>
                    </a:p>
                  </a:txBody>
                  <a:tcPr marT="91425" marB="91425" marR="91425" marL="91425"/>
                </a:tc>
              </a:tr>
            </a:tbl>
          </a:graphicData>
        </a:graphic>
      </p:graphicFrame>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414141"/>
        </a:solidFill>
      </p:bgPr>
    </p:bg>
    <p:spTree>
      <p:nvGrpSpPr>
        <p:cNvPr id="177" name="Shape 177"/>
        <p:cNvGrpSpPr/>
        <p:nvPr/>
      </p:nvGrpSpPr>
      <p:grpSpPr>
        <a:xfrm>
          <a:off x="0" y="0"/>
          <a:ext cx="0" cy="0"/>
          <a:chOff x="0" y="0"/>
          <a:chExt cx="0" cy="0"/>
        </a:xfrm>
      </p:grpSpPr>
      <p:sp>
        <p:nvSpPr>
          <p:cNvPr id="178" name="Google Shape;178;p31"/>
          <p:cNvSpPr txBox="1"/>
          <p:nvPr>
            <p:ph type="title"/>
          </p:nvPr>
        </p:nvSpPr>
        <p:spPr>
          <a:xfrm>
            <a:off x="122250" y="181725"/>
            <a:ext cx="85206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Clr>
                <a:schemeClr val="dk1"/>
              </a:buClr>
              <a:buSzPct val="39285"/>
              <a:buFont typeface="Arial"/>
              <a:buNone/>
            </a:pPr>
            <a:r>
              <a:rPr b="1" lang="en">
                <a:solidFill>
                  <a:schemeClr val="lt1"/>
                </a:solidFill>
                <a:latin typeface="Libre Franklin"/>
                <a:ea typeface="Libre Franklin"/>
                <a:cs typeface="Libre Franklin"/>
                <a:sym typeface="Libre Franklin"/>
              </a:rPr>
              <a:t>Future Work</a:t>
            </a:r>
            <a:endParaRPr b="1">
              <a:solidFill>
                <a:schemeClr val="lt1"/>
              </a:solidFill>
              <a:latin typeface="Libre Franklin"/>
              <a:ea typeface="Libre Franklin"/>
              <a:cs typeface="Libre Franklin"/>
              <a:sym typeface="Libre Franklin"/>
            </a:endParaRPr>
          </a:p>
          <a:p>
            <a:pPr indent="0" lvl="0" marL="0" rtl="0" algn="l">
              <a:spcBef>
                <a:spcPts val="0"/>
              </a:spcBef>
              <a:spcAft>
                <a:spcPts val="0"/>
              </a:spcAft>
              <a:buNone/>
            </a:pPr>
            <a:r>
              <a:t/>
            </a:r>
            <a:endParaRPr/>
          </a:p>
        </p:txBody>
      </p:sp>
      <p:sp>
        <p:nvSpPr>
          <p:cNvPr id="179" name="Google Shape;179;p31"/>
          <p:cNvSpPr txBox="1"/>
          <p:nvPr>
            <p:ph idx="1" type="body"/>
          </p:nvPr>
        </p:nvSpPr>
        <p:spPr>
          <a:xfrm>
            <a:off x="122250" y="754425"/>
            <a:ext cx="8710200" cy="41541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Clr>
                <a:schemeClr val="lt1"/>
              </a:buClr>
              <a:buSzPts val="1800"/>
              <a:buChar char="●"/>
            </a:pPr>
            <a:r>
              <a:rPr lang="en">
                <a:solidFill>
                  <a:schemeClr val="lt1"/>
                </a:solidFill>
              </a:rPr>
              <a:t>Future teams pick up progress from one class approach</a:t>
            </a:r>
            <a:endParaRPr>
              <a:solidFill>
                <a:schemeClr val="lt1"/>
              </a:solidFill>
            </a:endParaRPr>
          </a:p>
          <a:p>
            <a:pPr indent="-342900" lvl="0" marL="457200" rtl="0" algn="l">
              <a:spcBef>
                <a:spcPts val="0"/>
              </a:spcBef>
              <a:spcAft>
                <a:spcPts val="0"/>
              </a:spcAft>
              <a:buClr>
                <a:schemeClr val="lt1"/>
              </a:buClr>
              <a:buSzPts val="1800"/>
              <a:buChar char="●"/>
            </a:pPr>
            <a:r>
              <a:rPr lang="en">
                <a:solidFill>
                  <a:schemeClr val="lt1"/>
                </a:solidFill>
              </a:rPr>
              <a:t>Consider other data modalities</a:t>
            </a:r>
            <a:endParaRPr>
              <a:solidFill>
                <a:schemeClr val="lt1"/>
              </a:solidFill>
            </a:endParaRPr>
          </a:p>
          <a:p>
            <a:pPr indent="-317500" lvl="1" marL="914400" rtl="0" algn="l">
              <a:spcBef>
                <a:spcPts val="0"/>
              </a:spcBef>
              <a:spcAft>
                <a:spcPts val="0"/>
              </a:spcAft>
              <a:buClr>
                <a:schemeClr val="lt1"/>
              </a:buClr>
              <a:buSzPts val="1400"/>
              <a:buChar char="○"/>
            </a:pPr>
            <a:r>
              <a:rPr lang="en">
                <a:solidFill>
                  <a:schemeClr val="lt1"/>
                </a:solidFill>
              </a:rPr>
              <a:t>MFCC</a:t>
            </a:r>
            <a:endParaRPr>
              <a:solidFill>
                <a:schemeClr val="lt1"/>
              </a:solidFill>
            </a:endParaRPr>
          </a:p>
          <a:p>
            <a:pPr indent="-317500" lvl="1" marL="914400" rtl="0" algn="l">
              <a:spcBef>
                <a:spcPts val="0"/>
              </a:spcBef>
              <a:spcAft>
                <a:spcPts val="0"/>
              </a:spcAft>
              <a:buClr>
                <a:schemeClr val="lt1"/>
              </a:buClr>
              <a:buSzPts val="1400"/>
              <a:buChar char="○"/>
            </a:pPr>
            <a:r>
              <a:rPr lang="en">
                <a:solidFill>
                  <a:schemeClr val="lt1"/>
                </a:solidFill>
              </a:rPr>
              <a:t>Mel Spectrograms</a:t>
            </a:r>
            <a:endParaRPr>
              <a:solidFill>
                <a:schemeClr val="lt1"/>
              </a:solidFill>
            </a:endParaRPr>
          </a:p>
          <a:p>
            <a:pPr indent="-317500" lvl="1" marL="914400" rtl="0" algn="l">
              <a:spcBef>
                <a:spcPts val="0"/>
              </a:spcBef>
              <a:spcAft>
                <a:spcPts val="0"/>
              </a:spcAft>
              <a:buClr>
                <a:schemeClr val="lt1"/>
              </a:buClr>
              <a:buSzPts val="1400"/>
              <a:buChar char="○"/>
            </a:pPr>
            <a:r>
              <a:rPr lang="en">
                <a:solidFill>
                  <a:schemeClr val="lt1"/>
                </a:solidFill>
              </a:rPr>
              <a:t>Spectrograms (logscale)</a:t>
            </a:r>
            <a:endParaRPr>
              <a:solidFill>
                <a:schemeClr val="lt1"/>
              </a:solidFill>
            </a:endParaRPr>
          </a:p>
          <a:p>
            <a:pPr indent="-342900" lvl="0" marL="457200" rtl="0" algn="l">
              <a:spcBef>
                <a:spcPts val="0"/>
              </a:spcBef>
              <a:spcAft>
                <a:spcPts val="0"/>
              </a:spcAft>
              <a:buClr>
                <a:schemeClr val="lt1"/>
              </a:buClr>
              <a:buSzPts val="1800"/>
              <a:buChar char="●"/>
            </a:pPr>
            <a:r>
              <a:rPr lang="en">
                <a:solidFill>
                  <a:schemeClr val="lt1"/>
                </a:solidFill>
              </a:rPr>
              <a:t>Consider other datasets</a:t>
            </a:r>
            <a:endParaRPr>
              <a:solidFill>
                <a:schemeClr val="lt1"/>
              </a:solidFill>
            </a:endParaRPr>
          </a:p>
          <a:p>
            <a:pPr indent="-342900" lvl="0" marL="457200" rtl="0" algn="l">
              <a:spcBef>
                <a:spcPts val="0"/>
              </a:spcBef>
              <a:spcAft>
                <a:spcPts val="0"/>
              </a:spcAft>
              <a:buClr>
                <a:schemeClr val="lt1"/>
              </a:buClr>
              <a:buSzPts val="1800"/>
              <a:buChar char="●"/>
            </a:pPr>
            <a:r>
              <a:rPr lang="en">
                <a:solidFill>
                  <a:schemeClr val="lt1"/>
                </a:solidFill>
              </a:rPr>
              <a:t>Generate your own datasets</a:t>
            </a:r>
            <a:endParaRPr>
              <a:solidFill>
                <a:schemeClr val="lt1"/>
              </a:solidFill>
            </a:endParaRPr>
          </a:p>
          <a:p>
            <a:pPr indent="-342900" lvl="0" marL="457200" rtl="0" algn="l">
              <a:spcBef>
                <a:spcPts val="0"/>
              </a:spcBef>
              <a:spcAft>
                <a:spcPts val="0"/>
              </a:spcAft>
              <a:buClr>
                <a:schemeClr val="lt1"/>
              </a:buClr>
              <a:buSzPts val="1800"/>
              <a:buChar char="●"/>
            </a:pPr>
            <a:r>
              <a:rPr lang="en">
                <a:solidFill>
                  <a:schemeClr val="lt1"/>
                </a:solidFill>
              </a:rPr>
              <a:t>Request for additional computational resources</a:t>
            </a:r>
            <a:endParaRPr>
              <a:solidFill>
                <a:schemeClr val="lt1"/>
              </a:solidFill>
            </a:endParaRPr>
          </a:p>
          <a:p>
            <a:pPr indent="-342900" lvl="0" marL="457200" rtl="0" algn="l">
              <a:spcBef>
                <a:spcPts val="0"/>
              </a:spcBef>
              <a:spcAft>
                <a:spcPts val="0"/>
              </a:spcAft>
              <a:buClr>
                <a:schemeClr val="lt1"/>
              </a:buClr>
              <a:buSzPts val="1800"/>
              <a:buFont typeface="Libre Franklin"/>
              <a:buChar char="●"/>
            </a:pPr>
            <a:r>
              <a:rPr lang="en">
                <a:solidFill>
                  <a:schemeClr val="lt1"/>
                </a:solidFill>
                <a:latin typeface="Libre Franklin"/>
                <a:ea typeface="Libre Franklin"/>
                <a:cs typeface="Libre Franklin"/>
                <a:sym typeface="Libre Franklin"/>
              </a:rPr>
              <a:t>Decisions on data pre-processing</a:t>
            </a:r>
            <a:endParaRPr>
              <a:solidFill>
                <a:schemeClr val="lt1"/>
              </a:solidFill>
              <a:latin typeface="Libre Franklin"/>
              <a:ea typeface="Libre Franklin"/>
              <a:cs typeface="Libre Franklin"/>
              <a:sym typeface="Libre Franklin"/>
            </a:endParaRPr>
          </a:p>
          <a:p>
            <a:pPr indent="-317500" lvl="1" marL="914400" rtl="0" algn="l">
              <a:spcBef>
                <a:spcPts val="0"/>
              </a:spcBef>
              <a:spcAft>
                <a:spcPts val="0"/>
              </a:spcAft>
              <a:buClr>
                <a:schemeClr val="lt1"/>
              </a:buClr>
              <a:buSzPts val="1400"/>
              <a:buFont typeface="Libre Franklin"/>
              <a:buChar char="○"/>
            </a:pPr>
            <a:r>
              <a:rPr lang="en">
                <a:solidFill>
                  <a:schemeClr val="lt1"/>
                </a:solidFill>
                <a:latin typeface="Libre Franklin"/>
                <a:ea typeface="Libre Franklin"/>
                <a:cs typeface="Libre Franklin"/>
                <a:sym typeface="Libre Franklin"/>
              </a:rPr>
              <a:t>Removing noise </a:t>
            </a:r>
            <a:endParaRPr>
              <a:solidFill>
                <a:schemeClr val="lt1"/>
              </a:solidFill>
              <a:latin typeface="Libre Franklin"/>
              <a:ea typeface="Libre Franklin"/>
              <a:cs typeface="Libre Franklin"/>
              <a:sym typeface="Libre Franklin"/>
            </a:endParaRPr>
          </a:p>
          <a:p>
            <a:pPr indent="-317500" lvl="2" marL="1371600" rtl="0" algn="l">
              <a:spcBef>
                <a:spcPts val="0"/>
              </a:spcBef>
              <a:spcAft>
                <a:spcPts val="0"/>
              </a:spcAft>
              <a:buClr>
                <a:schemeClr val="lt1"/>
              </a:buClr>
              <a:buSzPts val="1400"/>
              <a:buFont typeface="Libre Franklin"/>
              <a:buChar char="■"/>
            </a:pPr>
            <a:r>
              <a:rPr lang="en">
                <a:solidFill>
                  <a:schemeClr val="lt1"/>
                </a:solidFill>
                <a:latin typeface="Libre Franklin"/>
                <a:ea typeface="Libre Franklin"/>
                <a:cs typeface="Libre Franklin"/>
                <a:sym typeface="Libre Franklin"/>
              </a:rPr>
              <a:t>Compare results to determine effect on accuracy</a:t>
            </a:r>
            <a:endParaRPr>
              <a:solidFill>
                <a:schemeClr val="lt1"/>
              </a:solidFill>
              <a:latin typeface="Libre Franklin"/>
              <a:ea typeface="Libre Franklin"/>
              <a:cs typeface="Libre Franklin"/>
              <a:sym typeface="Libre Franklin"/>
            </a:endParaRPr>
          </a:p>
          <a:p>
            <a:pPr indent="-317500" lvl="1" marL="914400" rtl="0" algn="l">
              <a:spcBef>
                <a:spcPts val="0"/>
              </a:spcBef>
              <a:spcAft>
                <a:spcPts val="0"/>
              </a:spcAft>
              <a:buClr>
                <a:schemeClr val="lt1"/>
              </a:buClr>
              <a:buSzPts val="1400"/>
              <a:buFont typeface="Libre Franklin"/>
              <a:buChar char="○"/>
            </a:pPr>
            <a:r>
              <a:rPr lang="en">
                <a:solidFill>
                  <a:schemeClr val="lt1"/>
                </a:solidFill>
                <a:latin typeface="Libre Franklin"/>
                <a:ea typeface="Libre Franklin"/>
                <a:cs typeface="Libre Franklin"/>
                <a:sym typeface="Libre Franklin"/>
              </a:rPr>
              <a:t>Different audio signals to use among the available</a:t>
            </a:r>
            <a:endParaRPr>
              <a:solidFill>
                <a:schemeClr val="lt1"/>
              </a:solidFill>
              <a:latin typeface="Libre Franklin"/>
              <a:ea typeface="Libre Franklin"/>
              <a:cs typeface="Libre Franklin"/>
              <a:sym typeface="Libre Franklin"/>
            </a:endParaRPr>
          </a:p>
          <a:p>
            <a:pPr indent="-317500" lvl="2" marL="1371600" rtl="0" algn="l">
              <a:spcBef>
                <a:spcPts val="0"/>
              </a:spcBef>
              <a:spcAft>
                <a:spcPts val="0"/>
              </a:spcAft>
              <a:buClr>
                <a:schemeClr val="lt1"/>
              </a:buClr>
              <a:buSzPts val="1400"/>
              <a:buFont typeface="Libre Franklin"/>
              <a:buChar char="■"/>
            </a:pPr>
            <a:r>
              <a:rPr lang="en">
                <a:solidFill>
                  <a:schemeClr val="lt1"/>
                </a:solidFill>
                <a:latin typeface="Libre Franklin"/>
                <a:ea typeface="Libre Franklin"/>
                <a:cs typeface="Libre Franklin"/>
                <a:sym typeface="Libre Franklin"/>
              </a:rPr>
              <a:t>BFCC, LFCC, LPC, LPCC, MFCC, IMFCC, MSRCC, NGCC, PNCC, PSRCC, PLP, RPLP, Frequency-stats, Raw Waveforms, Mel Spectrograms</a:t>
            </a:r>
            <a:endParaRPr>
              <a:solidFill>
                <a:schemeClr val="lt1"/>
              </a:solidFill>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414141"/>
        </a:solidFill>
      </p:bgPr>
    </p:bg>
    <p:spTree>
      <p:nvGrpSpPr>
        <p:cNvPr id="183" name="Shape 183"/>
        <p:cNvGrpSpPr/>
        <p:nvPr/>
      </p:nvGrpSpPr>
      <p:grpSpPr>
        <a:xfrm>
          <a:off x="0" y="0"/>
          <a:ext cx="0" cy="0"/>
          <a:chOff x="0" y="0"/>
          <a:chExt cx="0" cy="0"/>
        </a:xfrm>
      </p:grpSpPr>
      <p:sp>
        <p:nvSpPr>
          <p:cNvPr id="184" name="Google Shape;184;p32"/>
          <p:cNvSpPr txBox="1"/>
          <p:nvPr>
            <p:ph type="title"/>
          </p:nvPr>
        </p:nvSpPr>
        <p:spPr>
          <a:xfrm>
            <a:off x="284550" y="449550"/>
            <a:ext cx="8520600" cy="3904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t/>
            </a:r>
            <a:endParaRPr b="1">
              <a:solidFill>
                <a:schemeClr val="lt1"/>
              </a:solidFill>
              <a:latin typeface="Libre Franklin"/>
              <a:ea typeface="Libre Franklin"/>
              <a:cs typeface="Libre Franklin"/>
              <a:sym typeface="Libre Franklin"/>
            </a:endParaRPr>
          </a:p>
          <a:p>
            <a:pPr indent="0" lvl="0" marL="0" rtl="0" algn="l">
              <a:spcBef>
                <a:spcPts val="0"/>
              </a:spcBef>
              <a:spcAft>
                <a:spcPts val="0"/>
              </a:spcAft>
              <a:buNone/>
            </a:pPr>
            <a:r>
              <a:t/>
            </a:r>
            <a:endParaRPr b="1">
              <a:solidFill>
                <a:schemeClr val="lt1"/>
              </a:solidFill>
              <a:latin typeface="Libre Franklin"/>
              <a:ea typeface="Libre Franklin"/>
              <a:cs typeface="Libre Franklin"/>
              <a:sym typeface="Libre Franklin"/>
            </a:endParaRPr>
          </a:p>
          <a:p>
            <a:pPr indent="0" lvl="0" marL="0" rtl="0" algn="l">
              <a:spcBef>
                <a:spcPts val="0"/>
              </a:spcBef>
              <a:spcAft>
                <a:spcPts val="0"/>
              </a:spcAft>
              <a:buNone/>
            </a:pPr>
            <a:r>
              <a:t/>
            </a:r>
            <a:endParaRPr b="1">
              <a:solidFill>
                <a:schemeClr val="lt1"/>
              </a:solidFill>
              <a:latin typeface="Libre Franklin"/>
              <a:ea typeface="Libre Franklin"/>
              <a:cs typeface="Libre Franklin"/>
              <a:sym typeface="Libre Franklin"/>
            </a:endParaRPr>
          </a:p>
          <a:p>
            <a:pPr indent="0" lvl="0" marL="0" rtl="0" algn="ctr">
              <a:spcBef>
                <a:spcPts val="0"/>
              </a:spcBef>
              <a:spcAft>
                <a:spcPts val="0"/>
              </a:spcAft>
              <a:buNone/>
            </a:pPr>
            <a:r>
              <a:rPr b="1" lang="en">
                <a:solidFill>
                  <a:schemeClr val="lt1"/>
                </a:solidFill>
                <a:latin typeface="Libre Franklin"/>
                <a:ea typeface="Libre Franklin"/>
                <a:cs typeface="Libre Franklin"/>
                <a:sym typeface="Libre Franklin"/>
              </a:rPr>
              <a:t>Thank you</a:t>
            </a:r>
            <a:endParaRPr b="1">
              <a:solidFill>
                <a:schemeClr val="lt1"/>
              </a:solidFill>
              <a:latin typeface="Libre Franklin"/>
              <a:ea typeface="Libre Franklin"/>
              <a:cs typeface="Libre Franklin"/>
              <a:sym typeface="Libre Franklin"/>
            </a:endParaRPr>
          </a:p>
          <a:p>
            <a:pPr indent="0" lvl="0" marL="0" rtl="0" algn="ctr">
              <a:spcBef>
                <a:spcPts val="0"/>
              </a:spcBef>
              <a:spcAft>
                <a:spcPts val="0"/>
              </a:spcAft>
              <a:buNone/>
            </a:pPr>
            <a:r>
              <a:t/>
            </a:r>
            <a:endParaRPr b="1">
              <a:solidFill>
                <a:schemeClr val="lt1"/>
              </a:solidFill>
              <a:latin typeface="Libre Franklin"/>
              <a:ea typeface="Libre Franklin"/>
              <a:cs typeface="Libre Franklin"/>
              <a:sym typeface="Libre Franklin"/>
            </a:endParaRPr>
          </a:p>
          <a:p>
            <a:pPr indent="0" lvl="0" marL="0" rtl="0" algn="ctr">
              <a:spcBef>
                <a:spcPts val="0"/>
              </a:spcBef>
              <a:spcAft>
                <a:spcPts val="0"/>
              </a:spcAft>
              <a:buNone/>
            </a:pPr>
            <a:r>
              <a:rPr b="1" lang="en">
                <a:solidFill>
                  <a:schemeClr val="lt1"/>
                </a:solidFill>
                <a:latin typeface="Libre Franklin"/>
                <a:ea typeface="Libre Franklin"/>
                <a:cs typeface="Libre Franklin"/>
                <a:sym typeface="Libre Franklin"/>
              </a:rPr>
              <a:t>Questions, Suggestions, Feedback</a:t>
            </a:r>
            <a:endParaRPr b="1">
              <a:solidFill>
                <a:schemeClr val="lt1"/>
              </a:solidFill>
              <a:latin typeface="Libre Franklin"/>
              <a:ea typeface="Libre Franklin"/>
              <a:cs typeface="Libre Franklin"/>
              <a:sym typeface="Libre Franklin"/>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