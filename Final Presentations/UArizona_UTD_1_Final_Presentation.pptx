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embeddedFontLst>
    <p:embeddedFont>
      <p:font typeface="Montserrat"/>
      <p:regular r:id="rId40"/>
      <p:bold r:id="rId41"/>
      <p:italic r:id="rId42"/>
      <p:boldItalic r:id="rId43"/>
    </p:embeddedFont>
    <p:embeddedFont>
      <p:font typeface="La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38FC3F-8CE6-4A59-99A6-443D4BFA181B}">
  <a:tblStyle styleId="{6A38FC3F-8CE6-4A59-99A6-443D4BFA181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CAA3EE6-7A82-4559-8AD2-E83B55BCFC5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20" Type="http://schemas.openxmlformats.org/officeDocument/2006/relationships/slide" Target="slides/slide13.xml"/><Relationship Id="rId42" Type="http://schemas.openxmlformats.org/officeDocument/2006/relationships/font" Target="fonts/Montserrat-italic.fntdata"/><Relationship Id="rId41" Type="http://schemas.openxmlformats.org/officeDocument/2006/relationships/font" Target="fonts/Montserrat-bold.fntdata"/><Relationship Id="rId22" Type="http://schemas.openxmlformats.org/officeDocument/2006/relationships/slide" Target="slides/slide15.xml"/><Relationship Id="rId44" Type="http://schemas.openxmlformats.org/officeDocument/2006/relationships/font" Target="fonts/Lato-regular.fntdata"/><Relationship Id="rId21" Type="http://schemas.openxmlformats.org/officeDocument/2006/relationships/slide" Target="slides/slide14.xml"/><Relationship Id="rId43" Type="http://schemas.openxmlformats.org/officeDocument/2006/relationships/font" Target="fonts/Montserrat-boldItalic.fntdata"/><Relationship Id="rId24" Type="http://schemas.openxmlformats.org/officeDocument/2006/relationships/slide" Target="slides/slide17.xml"/><Relationship Id="rId46" Type="http://schemas.openxmlformats.org/officeDocument/2006/relationships/font" Target="fonts/Lato-italic.fntdata"/><Relationship Id="rId23" Type="http://schemas.openxmlformats.org/officeDocument/2006/relationships/slide" Target="slides/slide16.xml"/><Relationship Id="rId45" Type="http://schemas.openxmlformats.org/officeDocument/2006/relationships/font" Target="fonts/Lato-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schemas.openxmlformats.org/officeDocument/2006/relationships/font" Target="fonts/Lato-boldItalic.fnt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183f28452c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183f28452c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 Tim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183f28452c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183f28452c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Jacob start, hand off to Tri, Tri goes and hand to Tim, Tim goes and hand to Abhi</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183f28452c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183f28452c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Abhi does this slide (30-45 seconds)</a:t>
            </a:r>
            <a:endParaRPr sz="1200">
              <a:solidFill>
                <a:schemeClr val="dk1"/>
              </a:solidFill>
              <a:latin typeface="Times New Roman"/>
              <a:ea typeface="Times New Roman"/>
              <a:cs typeface="Times New Roman"/>
              <a:sym typeface="Times New Roman"/>
            </a:endParaRPr>
          </a:p>
          <a:p>
            <a:pPr indent="0" lvl="0" marL="0" rtl="0" algn="l">
              <a:lnSpc>
                <a:spcPct val="218181"/>
              </a:lnSpc>
              <a:spcBef>
                <a:spcPts val="3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purpose of our project was to research malware analysis techniques, concepts, and frameworks and apply said research to produce 4 ground truth malware samples and a </a:t>
            </a:r>
            <a:r>
              <a:rPr lang="en" sz="1200">
                <a:solidFill>
                  <a:schemeClr val="dk1"/>
                </a:solidFill>
                <a:latin typeface="Times New Roman"/>
                <a:ea typeface="Times New Roman"/>
                <a:cs typeface="Times New Roman"/>
                <a:sym typeface="Times New Roman"/>
              </a:rPr>
              <a:t>proposal</a:t>
            </a:r>
            <a:r>
              <a:rPr lang="en" sz="1200">
                <a:solidFill>
                  <a:schemeClr val="dk1"/>
                </a:solidFill>
                <a:latin typeface="Times New Roman"/>
                <a:ea typeface="Times New Roman"/>
                <a:cs typeface="Times New Roman"/>
                <a:sym typeface="Times New Roman"/>
              </a:rPr>
              <a:t> for a new type of malware analysis tool. This project will help provide sample characterizations of basic malware within the MDLC, and to explain how we can analyze malware in a more efficient way.</a:t>
            </a:r>
            <a:endParaRPr sz="1200">
              <a:solidFill>
                <a:schemeClr val="dk1"/>
              </a:solidFill>
              <a:latin typeface="Times New Roman"/>
              <a:ea typeface="Times New Roman"/>
              <a:cs typeface="Times New Roman"/>
              <a:sym typeface="Times New Roman"/>
            </a:endParaRPr>
          </a:p>
          <a:p>
            <a:pPr indent="457200" lvl="0" marL="0" rtl="0" algn="l">
              <a:lnSpc>
                <a:spcPct val="115000"/>
              </a:lnSpc>
              <a:spcBef>
                <a:spcPts val="0"/>
              </a:spcBef>
              <a:spcAft>
                <a:spcPts val="30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183f28452c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183f28452c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Tri (30 - 45)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30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3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Why would such a tool be valuable?</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3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Fosters an attacker-centric view</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3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Facilitates analyst understanding of the mindset behind the malware</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3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By understanding the attacker’s thoughts, the analyst can more efficiently and accurately characterize a malware sample</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3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Such views are not yet common within the malware analysis industry; common tools were not designed with this mindset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30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300"/>
              </a:spcBef>
              <a:spcAft>
                <a:spcPts val="30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2486ebdc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2486ebdc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21f1dffa5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21f1dffa5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183f28452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183f28452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Jacob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183f28452c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183f28452c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Jacob</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183f28452c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183f28452c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 does this slide (30 - 45)</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2486ebdce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2486ebdce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Abhi</a:t>
            </a:r>
            <a:endParaRPr/>
          </a:p>
          <a:p>
            <a:pPr indent="0" lvl="0" marL="0" rtl="0" algn="l">
              <a:spcBef>
                <a:spcPts val="0"/>
              </a:spcBef>
              <a:spcAft>
                <a:spcPts val="0"/>
              </a:spcAft>
              <a:buNone/>
            </a:pPr>
            <a:r>
              <a:t/>
            </a:r>
            <a:endParaRPr/>
          </a:p>
          <a:p>
            <a:pPr indent="0" lvl="0" marL="0" rtl="0" algn="l">
              <a:lnSpc>
                <a:spcPct val="218181"/>
              </a:lnSpc>
              <a:spcBef>
                <a:spcPts val="0"/>
              </a:spcBef>
              <a:spcAft>
                <a:spcPts val="0"/>
              </a:spcAft>
              <a:buClr>
                <a:schemeClr val="dk1"/>
              </a:buClr>
              <a:buSzPts val="1100"/>
              <a:buFont typeface="Arial"/>
              <a:buNone/>
            </a:pPr>
            <a:r>
              <a:rPr lang="en"/>
              <a:t>Over the semester, we faced some unforeseen </a:t>
            </a:r>
            <a:r>
              <a:rPr lang="en"/>
              <a:t>limitations. </a:t>
            </a:r>
            <a:endParaRPr/>
          </a:p>
          <a:p>
            <a:pPr indent="0" lvl="0" marL="0" rtl="0" algn="l">
              <a:lnSpc>
                <a:spcPct val="218181"/>
              </a:lnSpc>
              <a:spcBef>
                <a:spcPts val="0"/>
              </a:spcBef>
              <a:spcAft>
                <a:spcPts val="0"/>
              </a:spcAft>
              <a:buClr>
                <a:schemeClr val="dk1"/>
              </a:buClr>
              <a:buSzPts val="1100"/>
              <a:buFont typeface="Arial"/>
              <a:buNone/>
            </a:pPr>
            <a:r>
              <a:rPr lang="en"/>
              <a:t>Advanced Compiler Provenance tools are not easily or widely available. We were not able to obtain any of the major compiler provenance tools that we initially researched. </a:t>
            </a:r>
            <a:endParaRPr/>
          </a:p>
          <a:p>
            <a:pPr indent="0" lvl="0" marL="0" rtl="0" algn="l">
              <a:lnSpc>
                <a:spcPct val="218181"/>
              </a:lnSpc>
              <a:spcBef>
                <a:spcPts val="0"/>
              </a:spcBef>
              <a:spcAft>
                <a:spcPts val="0"/>
              </a:spcAft>
              <a:buClr>
                <a:schemeClr val="dk1"/>
              </a:buClr>
              <a:buSzPts val="1100"/>
              <a:buFont typeface="Arial"/>
              <a:buNone/>
            </a:pPr>
            <a:r>
              <a:rPr lang="en"/>
              <a:t>We found that Cloud Services and Universities would not allow malware testings on their networks. </a:t>
            </a:r>
            <a:endParaRPr/>
          </a:p>
          <a:p>
            <a:pPr indent="0" lvl="0" marL="0" rtl="0" algn="l">
              <a:lnSpc>
                <a:spcPct val="218181"/>
              </a:lnSpc>
              <a:spcBef>
                <a:spcPts val="0"/>
              </a:spcBef>
              <a:spcAft>
                <a:spcPts val="0"/>
              </a:spcAft>
              <a:buClr>
                <a:schemeClr val="dk1"/>
              </a:buClr>
              <a:buSzPts val="1100"/>
              <a:buFont typeface="Arial"/>
              <a:buNone/>
            </a:pPr>
            <a:r>
              <a:rPr lang="en"/>
              <a:t>This forced us to make our own test beds, slowing progress down significantly and reducing our ability to collaborate online for testing. </a:t>
            </a:r>
            <a:endParaRPr/>
          </a:p>
          <a:p>
            <a:pPr indent="0" lvl="0" marL="0" rtl="0" algn="l">
              <a:lnSpc>
                <a:spcPct val="218181"/>
              </a:lnSpc>
              <a:spcBef>
                <a:spcPts val="0"/>
              </a:spcBef>
              <a:spcAft>
                <a:spcPts val="0"/>
              </a:spcAft>
              <a:buClr>
                <a:schemeClr val="dk1"/>
              </a:buClr>
              <a:buSzPts val="1100"/>
              <a:buFont typeface="Arial"/>
              <a:buNone/>
            </a:pPr>
            <a:r>
              <a:rPr lang="en"/>
              <a:t>We realized that creating ground truth samples was far harder than anticipated and ultimately forced our team to reduce the scope.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2486ebdce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2486ebdce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1dc049e0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1dc049e0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Lato"/>
                <a:ea typeface="Lato"/>
                <a:cs typeface="Lato"/>
                <a:sym typeface="Lato"/>
              </a:rPr>
              <a:t>Abhi reads requirements (30 - 45 seconds) </a:t>
            </a:r>
            <a:endParaRPr sz="1300">
              <a:solidFill>
                <a:schemeClr val="dk1"/>
              </a:solidFill>
              <a:latin typeface="Lato"/>
              <a:ea typeface="Lato"/>
              <a:cs typeface="Lato"/>
              <a:sym typeface="Lato"/>
            </a:endParaRPr>
          </a:p>
          <a:p>
            <a:pPr indent="0" lvl="0" marL="0" rtl="0" algn="l">
              <a:spcBef>
                <a:spcPts val="0"/>
              </a:spcBef>
              <a:spcAft>
                <a:spcPts val="0"/>
              </a:spcAft>
              <a:buNone/>
            </a:pPr>
            <a:r>
              <a:t/>
            </a:r>
            <a:endParaRPr sz="1300">
              <a:solidFill>
                <a:schemeClr val="dk1"/>
              </a:solidFill>
              <a:latin typeface="Lato"/>
              <a:ea typeface="Lato"/>
              <a:cs typeface="Lato"/>
              <a:sym typeface="Lato"/>
            </a:endParaRPr>
          </a:p>
          <a:p>
            <a:pPr indent="0" lvl="0" marL="0" rtl="0" algn="l">
              <a:lnSpc>
                <a:spcPct val="218181"/>
              </a:lnSpc>
              <a:spcBef>
                <a:spcPts val="0"/>
              </a:spcBef>
              <a:spcAft>
                <a:spcPts val="0"/>
              </a:spcAft>
              <a:buNone/>
            </a:pPr>
            <a:r>
              <a:rPr lang="en" sz="1300">
                <a:solidFill>
                  <a:schemeClr val="dk1"/>
                </a:solidFill>
                <a:latin typeface="Lato"/>
                <a:ea typeface="Lato"/>
                <a:cs typeface="Lato"/>
                <a:sym typeface="Lato"/>
              </a:rPr>
              <a:t>Phase 2 requirements were not changed by our reduced scope for this project, and remained the same as presented for the midterm presentation. Tim has an update for the expanded requirement set. (Next Slide) </a:t>
            </a:r>
            <a:endParaRPr sz="1300">
              <a:solidFill>
                <a:schemeClr val="dk1"/>
              </a:solidFill>
              <a:latin typeface="Lato"/>
              <a:ea typeface="Lato"/>
              <a:cs typeface="Lato"/>
              <a:sym typeface="La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21f1dffa59_1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21f1dffa59_1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For our second samples for each programming language, our TD posted an additional requirement for each new sample</a:t>
            </a:r>
            <a:endParaRPr/>
          </a:p>
          <a:p>
            <a:pPr indent="0" lvl="0" marL="0" rtl="0" algn="l">
              <a:spcBef>
                <a:spcPts val="0"/>
              </a:spcBef>
              <a:spcAft>
                <a:spcPts val="0"/>
              </a:spcAft>
              <a:buClr>
                <a:schemeClr val="dk1"/>
              </a:buClr>
              <a:buSzPts val="1100"/>
              <a:buFont typeface="Arial"/>
              <a:buNone/>
            </a:pPr>
            <a:r>
              <a:rPr lang="en"/>
              <a:t>New requirements issued when first samples were near completion </a:t>
            </a:r>
            <a:endParaRPr/>
          </a:p>
          <a:p>
            <a:pPr indent="0" lvl="0" marL="0" rtl="0" algn="l">
              <a:spcBef>
                <a:spcPts val="0"/>
              </a:spcBef>
              <a:spcAft>
                <a:spcPts val="0"/>
              </a:spcAft>
              <a:buClr>
                <a:schemeClr val="dk1"/>
              </a:buClr>
              <a:buSzPts val="1100"/>
              <a:buFont typeface="Arial"/>
              <a:buNone/>
            </a:pPr>
            <a:r>
              <a:rPr lang="en"/>
              <a:t>Send the following information to controller in the initial beacon from the implant: </a:t>
            </a:r>
            <a:endParaRPr/>
          </a:p>
          <a:p>
            <a:pPr indent="0" lvl="0" marL="0" rtl="0" algn="l">
              <a:spcBef>
                <a:spcPts val="0"/>
              </a:spcBef>
              <a:spcAft>
                <a:spcPts val="0"/>
              </a:spcAft>
              <a:buClr>
                <a:schemeClr val="dk1"/>
              </a:buClr>
              <a:buSzPts val="1100"/>
              <a:buFont typeface="Arial"/>
              <a:buNone/>
            </a:pPr>
            <a:r>
              <a:rPr lang="en"/>
              <a:t> System Name </a:t>
            </a:r>
            <a:endParaRPr/>
          </a:p>
          <a:p>
            <a:pPr indent="0" lvl="0" marL="0" rtl="0" algn="l">
              <a:spcBef>
                <a:spcPts val="0"/>
              </a:spcBef>
              <a:spcAft>
                <a:spcPts val="0"/>
              </a:spcAft>
              <a:buClr>
                <a:schemeClr val="dk1"/>
              </a:buClr>
              <a:buSzPts val="1100"/>
              <a:buFont typeface="Arial"/>
              <a:buNone/>
            </a:pPr>
            <a:r>
              <a:rPr lang="en"/>
              <a:t> Domain Name or Workgroup Name </a:t>
            </a:r>
            <a:endParaRPr/>
          </a:p>
          <a:p>
            <a:pPr indent="0" lvl="0" marL="0" rtl="0" algn="l">
              <a:spcBef>
                <a:spcPts val="0"/>
              </a:spcBef>
              <a:spcAft>
                <a:spcPts val="0"/>
              </a:spcAft>
              <a:buClr>
                <a:schemeClr val="dk1"/>
              </a:buClr>
              <a:buSzPts val="1100"/>
              <a:buFont typeface="Arial"/>
              <a:buNone/>
            </a:pPr>
            <a:r>
              <a:rPr lang="en"/>
              <a:t> Current Username </a:t>
            </a:r>
            <a:endParaRPr/>
          </a:p>
          <a:p>
            <a:pPr indent="0" lvl="0" marL="0" rtl="0" algn="l">
              <a:spcBef>
                <a:spcPts val="0"/>
              </a:spcBef>
              <a:spcAft>
                <a:spcPts val="0"/>
              </a:spcAft>
              <a:buClr>
                <a:schemeClr val="dk1"/>
              </a:buClr>
              <a:buSzPts val="1100"/>
              <a:buFont typeface="Arial"/>
              <a:buNone/>
            </a:pPr>
            <a:r>
              <a:rPr lang="en"/>
              <a:t> OS Name and Version</a:t>
            </a:r>
            <a:endParaRPr/>
          </a:p>
          <a:p>
            <a:pPr indent="0" lvl="0" marL="0" rtl="0" algn="l">
              <a:spcBef>
                <a:spcPts val="0"/>
              </a:spcBef>
              <a:spcAft>
                <a:spcPts val="0"/>
              </a:spcAft>
              <a:buClr>
                <a:schemeClr val="dk1"/>
              </a:buClr>
              <a:buSzPts val="1100"/>
              <a:buFont typeface="Arial"/>
              <a:buNone/>
            </a:pPr>
            <a:r>
              <a:rPr lang="en"/>
              <a:t>Effectively, our second samples for each programming language were the same as the first, but with the added requirement implemented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2486ebdce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2486ebdce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2683fa4409_1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12683fa4409_1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2"/>
              <a:t>Jacob</a:t>
            </a:r>
            <a:endParaRPr sz="1302"/>
          </a:p>
          <a:p>
            <a:pPr indent="-311308" lvl="0" marL="457200" rtl="0" algn="l">
              <a:lnSpc>
                <a:spcPct val="95000"/>
              </a:lnSpc>
              <a:spcBef>
                <a:spcPts val="0"/>
              </a:spcBef>
              <a:spcAft>
                <a:spcPts val="0"/>
              </a:spcAft>
              <a:buSzPts val="1303"/>
              <a:buChar char="●"/>
            </a:pPr>
            <a:r>
              <a:rPr lang="en" sz="1302"/>
              <a:t>Requirements </a:t>
            </a:r>
            <a:endParaRPr/>
          </a:p>
          <a:p>
            <a:pPr indent="-299560" lvl="1" marL="914400" rtl="0" algn="l">
              <a:lnSpc>
                <a:spcPct val="95000"/>
              </a:lnSpc>
              <a:spcBef>
                <a:spcPts val="0"/>
              </a:spcBef>
              <a:spcAft>
                <a:spcPts val="0"/>
              </a:spcAft>
              <a:buSzPts val="1118"/>
              <a:buChar char="○"/>
            </a:pPr>
            <a:r>
              <a:rPr lang="en" sz="1117"/>
              <a:t>None to note: Requirements stage is hardest to characterize beyond intercepted requirements and communications</a:t>
            </a:r>
            <a:endParaRPr/>
          </a:p>
          <a:p>
            <a:pPr indent="-311308" lvl="0" marL="457200" rtl="0" algn="l">
              <a:lnSpc>
                <a:spcPct val="95000"/>
              </a:lnSpc>
              <a:spcBef>
                <a:spcPts val="0"/>
              </a:spcBef>
              <a:spcAft>
                <a:spcPts val="0"/>
              </a:spcAft>
              <a:buSzPts val="1303"/>
              <a:buChar char="●"/>
            </a:pPr>
            <a:r>
              <a:rPr lang="en" sz="1302"/>
              <a:t>Design </a:t>
            </a:r>
            <a:endParaRPr/>
          </a:p>
          <a:p>
            <a:pPr indent="-299560" lvl="1" marL="914400" rtl="0" algn="l">
              <a:lnSpc>
                <a:spcPct val="95000"/>
              </a:lnSpc>
              <a:spcBef>
                <a:spcPts val="0"/>
              </a:spcBef>
              <a:spcAft>
                <a:spcPts val="0"/>
              </a:spcAft>
              <a:buSzPts val="1118"/>
              <a:buChar char="○"/>
            </a:pPr>
            <a:r>
              <a:rPr lang="en" sz="1117"/>
              <a:t>XOR encoding used to protect network traffic - OPSEC </a:t>
            </a:r>
            <a:endParaRPr/>
          </a:p>
          <a:p>
            <a:pPr indent="-299560" lvl="1" marL="914400" rtl="0" algn="l">
              <a:lnSpc>
                <a:spcPct val="95000"/>
              </a:lnSpc>
              <a:spcBef>
                <a:spcPts val="0"/>
              </a:spcBef>
              <a:spcAft>
                <a:spcPts val="0"/>
              </a:spcAft>
              <a:buSzPts val="1118"/>
              <a:buChar char="○"/>
            </a:pPr>
            <a:r>
              <a:rPr lang="en" sz="1117"/>
              <a:t>Malicious code implemented in modules </a:t>
            </a:r>
            <a:endParaRPr/>
          </a:p>
          <a:p>
            <a:pPr indent="-299560" lvl="1" marL="914400" rtl="0" algn="l">
              <a:lnSpc>
                <a:spcPct val="95000"/>
              </a:lnSpc>
              <a:spcBef>
                <a:spcPts val="0"/>
              </a:spcBef>
              <a:spcAft>
                <a:spcPts val="0"/>
              </a:spcAft>
              <a:buSzPts val="1118"/>
              <a:buChar char="○"/>
            </a:pPr>
            <a:r>
              <a:rPr lang="en" sz="1117"/>
              <a:t>Functional paradigm</a:t>
            </a:r>
            <a:endParaRPr/>
          </a:p>
          <a:p>
            <a:pPr indent="-311308" lvl="0" marL="457200" rtl="0" algn="l">
              <a:lnSpc>
                <a:spcPct val="95000"/>
              </a:lnSpc>
              <a:spcBef>
                <a:spcPts val="0"/>
              </a:spcBef>
              <a:spcAft>
                <a:spcPts val="0"/>
              </a:spcAft>
              <a:buSzPts val="1303"/>
              <a:buChar char="●"/>
            </a:pPr>
            <a:r>
              <a:rPr lang="en" sz="1302"/>
              <a:t>Code </a:t>
            </a:r>
            <a:endParaRPr/>
          </a:p>
          <a:p>
            <a:pPr indent="-299560" lvl="1" marL="914400" rtl="0" algn="l">
              <a:lnSpc>
                <a:spcPct val="95000"/>
              </a:lnSpc>
              <a:spcBef>
                <a:spcPts val="0"/>
              </a:spcBef>
              <a:spcAft>
                <a:spcPts val="0"/>
              </a:spcAft>
              <a:buSzPts val="1118"/>
              <a:buChar char="○"/>
            </a:pPr>
            <a:r>
              <a:rPr lang="en" sz="1117"/>
              <a:t>Windows API functions used for most functionality</a:t>
            </a:r>
            <a:endParaRPr/>
          </a:p>
          <a:p>
            <a:pPr indent="-299560" lvl="1" marL="914400" rtl="0" algn="l">
              <a:lnSpc>
                <a:spcPct val="95000"/>
              </a:lnSpc>
              <a:spcBef>
                <a:spcPts val="0"/>
              </a:spcBef>
              <a:spcAft>
                <a:spcPts val="0"/>
              </a:spcAft>
              <a:buSzPts val="1118"/>
              <a:buChar char="○"/>
            </a:pPr>
            <a:r>
              <a:rPr lang="en" sz="1117"/>
              <a:t>XOR encoding achieved by hashing a hardcoded string and using the bitwise XOR operator - OPSEC</a:t>
            </a:r>
            <a:endParaRPr/>
          </a:p>
          <a:p>
            <a:pPr indent="-299560" lvl="2" marL="1371600" rtl="0" algn="l">
              <a:lnSpc>
                <a:spcPct val="95000"/>
              </a:lnSpc>
              <a:spcBef>
                <a:spcPts val="0"/>
              </a:spcBef>
              <a:spcAft>
                <a:spcPts val="0"/>
              </a:spcAft>
              <a:buSzPts val="1118"/>
              <a:buChar char="■"/>
            </a:pPr>
            <a:r>
              <a:rPr lang="en" sz="1117"/>
              <a:t>WinCrypt functions and Custom Code</a:t>
            </a:r>
            <a:endParaRPr/>
          </a:p>
          <a:p>
            <a:pPr indent="-299560" lvl="1" marL="914400" rtl="0" algn="l">
              <a:lnSpc>
                <a:spcPct val="95000"/>
              </a:lnSpc>
              <a:spcBef>
                <a:spcPts val="0"/>
              </a:spcBef>
              <a:spcAft>
                <a:spcPts val="0"/>
              </a:spcAft>
              <a:buSzPts val="1118"/>
              <a:buChar char="○"/>
            </a:pPr>
            <a:r>
              <a:rPr lang="en" sz="1117"/>
              <a:t>Modularization achieved by implementing modules in .h and .cpp files</a:t>
            </a:r>
            <a:endParaRPr/>
          </a:p>
          <a:p>
            <a:pPr indent="-299560" lvl="2" marL="1371600" rtl="0" algn="l">
              <a:lnSpc>
                <a:spcPct val="95000"/>
              </a:lnSpc>
              <a:spcBef>
                <a:spcPts val="0"/>
              </a:spcBef>
              <a:spcAft>
                <a:spcPts val="0"/>
              </a:spcAft>
              <a:buSzPts val="1118"/>
              <a:buChar char="■"/>
            </a:pPr>
            <a:r>
              <a:rPr lang="en" sz="1117"/>
              <a:t>Hard to see from analyst’s point of view </a:t>
            </a:r>
            <a:endParaRPr/>
          </a:p>
          <a:p>
            <a:pPr indent="-311308" lvl="0" marL="457200" rtl="0" algn="l">
              <a:lnSpc>
                <a:spcPct val="95000"/>
              </a:lnSpc>
              <a:spcBef>
                <a:spcPts val="0"/>
              </a:spcBef>
              <a:spcAft>
                <a:spcPts val="0"/>
              </a:spcAft>
              <a:buSzPts val="1303"/>
              <a:buChar char="●"/>
            </a:pPr>
            <a:r>
              <a:rPr lang="en" sz="1302"/>
              <a:t>Build</a:t>
            </a:r>
            <a:endParaRPr/>
          </a:p>
          <a:p>
            <a:pPr indent="-299560" lvl="1" marL="914400" rtl="0" algn="l">
              <a:lnSpc>
                <a:spcPct val="95000"/>
              </a:lnSpc>
              <a:spcBef>
                <a:spcPts val="0"/>
              </a:spcBef>
              <a:spcAft>
                <a:spcPts val="0"/>
              </a:spcAft>
              <a:buSzPts val="1118"/>
              <a:buChar char="○"/>
            </a:pPr>
            <a:r>
              <a:rPr lang="en" sz="1117"/>
              <a:t>Code compiled in Visual C++; no optimization options and bare minimum switches used to compile</a:t>
            </a:r>
            <a:endParaRPr/>
          </a:p>
          <a:p>
            <a:pPr indent="-311308" lvl="0" marL="457200" rtl="0" algn="l">
              <a:lnSpc>
                <a:spcPct val="95000"/>
              </a:lnSpc>
              <a:spcBef>
                <a:spcPts val="0"/>
              </a:spcBef>
              <a:spcAft>
                <a:spcPts val="0"/>
              </a:spcAft>
              <a:buSzPts val="1303"/>
              <a:buChar char="●"/>
            </a:pPr>
            <a:r>
              <a:rPr lang="en" sz="1302"/>
              <a:t>Configure </a:t>
            </a:r>
            <a:endParaRPr/>
          </a:p>
          <a:p>
            <a:pPr indent="-299560" lvl="1" marL="914400" rtl="0" algn="l">
              <a:lnSpc>
                <a:spcPct val="95000"/>
              </a:lnSpc>
              <a:spcBef>
                <a:spcPts val="0"/>
              </a:spcBef>
              <a:spcAft>
                <a:spcPts val="0"/>
              </a:spcAft>
              <a:buSzPts val="1118"/>
              <a:buChar char="○"/>
            </a:pPr>
            <a:r>
              <a:rPr lang="en" sz="1117"/>
              <a:t>Hardcoded string can be changed before compilation </a:t>
            </a:r>
            <a:endParaRPr/>
          </a:p>
          <a:p>
            <a:pPr indent="-299560" lvl="1" marL="914400" rtl="0" algn="l">
              <a:lnSpc>
                <a:spcPct val="95000"/>
              </a:lnSpc>
              <a:spcBef>
                <a:spcPts val="0"/>
              </a:spcBef>
              <a:spcAft>
                <a:spcPts val="0"/>
              </a:spcAft>
              <a:buSzPts val="1118"/>
              <a:buChar char="○"/>
            </a:pPr>
            <a:r>
              <a:rPr lang="en" sz="1117"/>
              <a:t>Hardcoded network addresses can be changed before compilation</a:t>
            </a:r>
            <a:endParaRPr/>
          </a:p>
          <a:p>
            <a:pPr indent="-311308" lvl="0" marL="457200" rtl="0" algn="l">
              <a:lnSpc>
                <a:spcPct val="95000"/>
              </a:lnSpc>
              <a:spcBef>
                <a:spcPts val="0"/>
              </a:spcBef>
              <a:spcAft>
                <a:spcPts val="0"/>
              </a:spcAft>
              <a:buSzPts val="1303"/>
              <a:buChar char="●"/>
            </a:pPr>
            <a:r>
              <a:rPr lang="en" sz="1302"/>
              <a:t>Package</a:t>
            </a:r>
            <a:endParaRPr/>
          </a:p>
          <a:p>
            <a:pPr indent="-299560" lvl="1" marL="914400" rtl="0" algn="l">
              <a:lnSpc>
                <a:spcPct val="95000"/>
              </a:lnSpc>
              <a:spcBef>
                <a:spcPts val="0"/>
              </a:spcBef>
              <a:spcAft>
                <a:spcPts val="0"/>
              </a:spcAft>
              <a:buSzPts val="1118"/>
              <a:buChar char="○"/>
            </a:pPr>
            <a:r>
              <a:rPr lang="en" sz="1117"/>
              <a:t>Final sample can be packed in any typical Windows loader or installer</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2683fa4409_1_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g12683fa4409_1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Tri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Requirements: refers to last team</a:t>
            </a:r>
            <a:endParaRPr/>
          </a:p>
          <a:p>
            <a:pPr indent="0" lvl="0" marL="0" rtl="0" algn="l">
              <a:lnSpc>
                <a:spcPct val="100000"/>
              </a:lnSpc>
              <a:spcBef>
                <a:spcPts val="0"/>
              </a:spcBef>
              <a:spcAft>
                <a:spcPts val="0"/>
              </a:spcAft>
              <a:buNone/>
            </a:pPr>
            <a:r>
              <a:rPr lang="en"/>
              <a:t>Package: mentions similarity to last team (can be wrapped in any windows executable)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12486ebdce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12486ebdce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Abhi</a:t>
            </a:r>
            <a:endParaRPr/>
          </a:p>
          <a:p>
            <a:pPr indent="0" lvl="0" marL="0" rtl="0" algn="l">
              <a:spcBef>
                <a:spcPts val="0"/>
              </a:spcBef>
              <a:spcAft>
                <a:spcPts val="0"/>
              </a:spcAft>
              <a:buNone/>
            </a:pPr>
            <a:r>
              <a:t/>
            </a:r>
            <a:endParaRPr/>
          </a:p>
          <a:p>
            <a:pPr indent="0" lvl="0" marL="0" rtl="0" algn="l">
              <a:lnSpc>
                <a:spcPct val="218181"/>
              </a:lnSpc>
              <a:spcBef>
                <a:spcPts val="0"/>
              </a:spcBef>
              <a:spcAft>
                <a:spcPts val="0"/>
              </a:spcAft>
              <a:buClr>
                <a:schemeClr val="dk1"/>
              </a:buClr>
              <a:buSzPts val="1100"/>
              <a:buFont typeface="Arial"/>
              <a:buNone/>
            </a:pPr>
            <a:r>
              <a:rPr lang="en"/>
              <a:t>Both teams had major problems creating ground truth samples.</a:t>
            </a:r>
            <a:endParaRPr/>
          </a:p>
          <a:p>
            <a:pPr indent="0" lvl="0" marL="0" rtl="0" algn="l">
              <a:lnSpc>
                <a:spcPct val="218181"/>
              </a:lnSpc>
              <a:spcBef>
                <a:spcPts val="0"/>
              </a:spcBef>
              <a:spcAft>
                <a:spcPts val="0"/>
              </a:spcAft>
              <a:buClr>
                <a:schemeClr val="dk1"/>
              </a:buClr>
              <a:buSzPts val="1100"/>
              <a:buFont typeface="Arial"/>
              <a:buNone/>
            </a:pPr>
            <a:r>
              <a:rPr lang="en"/>
              <a:t>Even though the required functionality was basic, we found that incredible effort was required to actually design and implement the ground truth samples in a rational fashion </a:t>
            </a:r>
            <a:endParaRPr/>
          </a:p>
          <a:p>
            <a:pPr indent="0" lvl="0" marL="0" rtl="0" algn="l">
              <a:lnSpc>
                <a:spcPct val="218181"/>
              </a:lnSpc>
              <a:spcBef>
                <a:spcPts val="0"/>
              </a:spcBef>
              <a:spcAft>
                <a:spcPts val="0"/>
              </a:spcAft>
              <a:buClr>
                <a:schemeClr val="dk1"/>
              </a:buClr>
              <a:buSzPts val="1100"/>
              <a:buFont typeface="Arial"/>
              <a:buNone/>
            </a:pPr>
            <a:r>
              <a:rPr lang="en"/>
              <a:t>The team found that the creation of ground truth samples is pretty strenuous and time-consuming</a:t>
            </a:r>
            <a:endParaRPr/>
          </a:p>
          <a:p>
            <a:pPr indent="0" lvl="0" marL="0" rtl="0" algn="l">
              <a:lnSpc>
                <a:spcPct val="218181"/>
              </a:lnSpc>
              <a:spcBef>
                <a:spcPts val="0"/>
              </a:spcBef>
              <a:spcAft>
                <a:spcPts val="0"/>
              </a:spcAft>
              <a:buClr>
                <a:schemeClr val="dk1"/>
              </a:buClr>
              <a:buSzPts val="1100"/>
              <a:buFont typeface="Arial"/>
              <a:buNone/>
            </a:pPr>
            <a:r>
              <a:rPr lang="en"/>
              <a:t>	Extensive API and library code research required to make even elementary functionality work well </a:t>
            </a:r>
            <a:endParaRPr/>
          </a:p>
          <a:p>
            <a:pPr indent="0" lvl="0" marL="0" rtl="0" algn="l">
              <a:lnSpc>
                <a:spcPct val="218181"/>
              </a:lnSpc>
              <a:spcBef>
                <a:spcPts val="0"/>
              </a:spcBef>
              <a:spcAft>
                <a:spcPts val="0"/>
              </a:spcAft>
              <a:buClr>
                <a:schemeClr val="dk1"/>
              </a:buClr>
              <a:buSzPts val="1100"/>
              <a:buFont typeface="Arial"/>
              <a:buNone/>
            </a:pPr>
            <a:r>
              <a:rPr lang="en"/>
              <a:t>	API l</a:t>
            </a:r>
            <a:r>
              <a:rPr lang="en"/>
              <a:t>earning curves were present when first testing code; sometimes resulted in unexpected malware behavior and lots of time loss to debugging and debugging research </a:t>
            </a:r>
            <a:endParaRPr/>
          </a:p>
          <a:p>
            <a:pPr indent="0" lvl="0" marL="0" rtl="0" algn="l">
              <a:lnSpc>
                <a:spcPct val="218181"/>
              </a:lnSpc>
              <a:spcBef>
                <a:spcPts val="0"/>
              </a:spcBef>
              <a:spcAft>
                <a:spcPts val="0"/>
              </a:spcAft>
              <a:buClr>
                <a:schemeClr val="dk1"/>
              </a:buClr>
              <a:buSzPts val="1100"/>
              <a:buFont typeface="Arial"/>
              <a:buNone/>
            </a:pPr>
            <a:r>
              <a:rPr lang="en"/>
              <a:t>Lacking a proper test bed for a third of the developmental time period severely impacted development timeframes in some ways </a:t>
            </a:r>
            <a:endParaRPr/>
          </a:p>
          <a:p>
            <a:pPr indent="0" lvl="0" marL="0" rtl="0" algn="l">
              <a:lnSpc>
                <a:spcPct val="218181"/>
              </a:lnSpc>
              <a:spcBef>
                <a:spcPts val="0"/>
              </a:spcBef>
              <a:spcAft>
                <a:spcPts val="0"/>
              </a:spcAft>
              <a:buClr>
                <a:schemeClr val="dk1"/>
              </a:buClr>
              <a:buSzPts val="1100"/>
              <a:buFont typeface="Arial"/>
              <a:buNone/>
            </a:pPr>
            <a:r>
              <a:rPr lang="en"/>
              <a:t>	Testing environments were necessary to figure out why code was breaking and how to fix it </a:t>
            </a:r>
            <a:endParaRPr/>
          </a:p>
          <a:p>
            <a:pPr indent="0" lvl="0" marL="0" rtl="0" algn="l">
              <a:lnSpc>
                <a:spcPct val="218181"/>
              </a:lnSpc>
              <a:spcBef>
                <a:spcPts val="0"/>
              </a:spcBef>
              <a:spcAft>
                <a:spcPts val="0"/>
              </a:spcAft>
              <a:buClr>
                <a:schemeClr val="dk1"/>
              </a:buClr>
              <a:buSzPts val="1100"/>
              <a:buFont typeface="Arial"/>
              <a:buNone/>
            </a:pPr>
            <a:r>
              <a:rPr lang="en"/>
              <a:t>Characterizing the ground truth samples was </a:t>
            </a:r>
            <a:r>
              <a:rPr lang="en"/>
              <a:t>occasionally</a:t>
            </a:r>
            <a:r>
              <a:rPr lang="en"/>
              <a:t> challenging; evaluating long and modularized samples was heavily time consuming and some decisions did not fit nicely into a single MDLC phase </a:t>
            </a:r>
            <a:endParaRPr/>
          </a:p>
          <a:p>
            <a:pPr indent="0" lvl="0" marL="0" rtl="0" algn="l">
              <a:lnSpc>
                <a:spcPct val="218181"/>
              </a:lnSpc>
              <a:spcBef>
                <a:spcPts val="0"/>
              </a:spcBef>
              <a:spcAft>
                <a:spcPts val="0"/>
              </a:spcAft>
              <a:buClr>
                <a:schemeClr val="dk1"/>
              </a:buClr>
              <a:buSzPts val="1100"/>
              <a:buFont typeface="Arial"/>
              <a:buNone/>
            </a:pPr>
            <a:r>
              <a:rPr lang="en"/>
              <a:t>Both sub-teams began researching and implementing their samples in early March and finished in late April</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2486ebdce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2486ebdce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Jacob and Tri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Tri: 1st 2nd bullet</a:t>
            </a:r>
            <a:endParaRPr/>
          </a:p>
          <a:p>
            <a:pPr indent="0" lvl="0" marL="0" rtl="0" algn="l">
              <a:spcBef>
                <a:spcPts val="0"/>
              </a:spcBef>
              <a:spcAft>
                <a:spcPts val="0"/>
              </a:spcAft>
              <a:buNone/>
            </a:pPr>
            <a:r>
              <a:rPr lang="en"/>
              <a:t>Python - easier to learn &amp; has many tools available (look in Final Report for details p27)</a:t>
            </a:r>
            <a:endParaRPr/>
          </a:p>
          <a:p>
            <a:pPr indent="0" lvl="0" marL="0" rtl="0" algn="l">
              <a:spcBef>
                <a:spcPts val="0"/>
              </a:spcBef>
              <a:spcAft>
                <a:spcPts val="0"/>
              </a:spcAft>
              <a:buNone/>
            </a:pPr>
            <a:r>
              <a:rPr lang="en"/>
              <a:t>Jacob: 3rd bullet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Java wrappers such as Launch4j are zippable!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21f1dffa5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21f1dffa5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Tri</a:t>
            </a:r>
            <a:endParaRPr/>
          </a:p>
          <a:p>
            <a:pPr indent="0" lvl="0" marL="0" rtl="0" algn="l">
              <a:spcBef>
                <a:spcPts val="0"/>
              </a:spcBef>
              <a:spcAft>
                <a:spcPts val="0"/>
              </a:spcAft>
              <a:buClr>
                <a:schemeClr val="dk1"/>
              </a:buClr>
              <a:buSzPts val="1100"/>
              <a:buFont typeface="Arial"/>
              <a:buNone/>
            </a:pPr>
            <a:r>
              <a:rPr lang="en"/>
              <a:t>We propose employing seven major data structures </a:t>
            </a:r>
            <a:endParaRPr/>
          </a:p>
          <a:p>
            <a:pPr indent="0" lvl="0" marL="0" rtl="0" algn="l">
              <a:spcBef>
                <a:spcPts val="0"/>
              </a:spcBef>
              <a:spcAft>
                <a:spcPts val="0"/>
              </a:spcAft>
              <a:buClr>
                <a:schemeClr val="dk1"/>
              </a:buClr>
              <a:buSzPts val="1100"/>
              <a:buFont typeface="Arial"/>
              <a:buNone/>
            </a:pPr>
            <a:r>
              <a:rPr lang="en"/>
              <a:t>One main MDLC class to store lists of objects from every MDLC phase </a:t>
            </a:r>
            <a:endParaRPr/>
          </a:p>
          <a:p>
            <a:pPr indent="0" lvl="0" marL="0" rtl="0" algn="l">
              <a:spcBef>
                <a:spcPts val="0"/>
              </a:spcBef>
              <a:spcAft>
                <a:spcPts val="0"/>
              </a:spcAft>
              <a:buClr>
                <a:schemeClr val="dk1"/>
              </a:buClr>
              <a:buSzPts val="1100"/>
              <a:buFont typeface="Arial"/>
              <a:buNone/>
            </a:pPr>
            <a:r>
              <a:rPr lang="en"/>
              <a:t>Six MDLC phase classes  that store characterization information related to a single MDLC phase decision or choice</a:t>
            </a:r>
            <a:endParaRPr/>
          </a:p>
          <a:p>
            <a:pPr indent="0" lvl="0" marL="0" rtl="0" algn="l">
              <a:spcBef>
                <a:spcPts val="0"/>
              </a:spcBef>
              <a:spcAft>
                <a:spcPts val="0"/>
              </a:spcAft>
              <a:buClr>
                <a:schemeClr val="dk1"/>
              </a:buClr>
              <a:buSzPts val="1100"/>
              <a:buFont typeface="Arial"/>
              <a:buNone/>
            </a:pPr>
            <a:r>
              <a:rPr lang="en"/>
              <a:t>Each MDLC Phase class would include:</a:t>
            </a:r>
            <a:endParaRPr/>
          </a:p>
          <a:p>
            <a:pPr indent="0" lvl="0" marL="0" rtl="0" algn="l">
              <a:spcBef>
                <a:spcPts val="0"/>
              </a:spcBef>
              <a:spcAft>
                <a:spcPts val="0"/>
              </a:spcAft>
              <a:buClr>
                <a:schemeClr val="dk1"/>
              </a:buClr>
              <a:buSzPts val="1100"/>
              <a:buFont typeface="Arial"/>
              <a:buNone/>
            </a:pPr>
            <a:r>
              <a:rPr lang="en"/>
              <a:t>A Title String for a specific choice </a:t>
            </a:r>
            <a:endParaRPr/>
          </a:p>
          <a:p>
            <a:pPr indent="0" lvl="0" marL="0" rtl="0" algn="l">
              <a:spcBef>
                <a:spcPts val="0"/>
              </a:spcBef>
              <a:spcAft>
                <a:spcPts val="0"/>
              </a:spcAft>
              <a:buClr>
                <a:schemeClr val="dk1"/>
              </a:buClr>
              <a:buSzPts val="1100"/>
              <a:buFont typeface="Arial"/>
              <a:buNone/>
            </a:pPr>
            <a:r>
              <a:rPr lang="en"/>
              <a:t>A Description of the choice’s impact or significance </a:t>
            </a:r>
            <a:endParaRPr/>
          </a:p>
          <a:p>
            <a:pPr indent="0" lvl="0" marL="0" rtl="0" algn="l">
              <a:spcBef>
                <a:spcPts val="0"/>
              </a:spcBef>
              <a:spcAft>
                <a:spcPts val="0"/>
              </a:spcAft>
              <a:buClr>
                <a:schemeClr val="dk1"/>
              </a:buClr>
              <a:buSzPts val="1100"/>
              <a:buFont typeface="Arial"/>
              <a:buNone/>
            </a:pPr>
            <a:r>
              <a:rPr lang="en"/>
              <a:t>Relevant tool name and parsed output to support characterization</a:t>
            </a:r>
            <a:endParaRPr/>
          </a:p>
          <a:p>
            <a:pPr indent="0" lvl="0" marL="0" rtl="0" algn="l">
              <a:spcBef>
                <a:spcPts val="0"/>
              </a:spcBef>
              <a:spcAft>
                <a:spcPts val="0"/>
              </a:spcAft>
              <a:buClr>
                <a:schemeClr val="dk1"/>
              </a:buClr>
              <a:buSzPts val="1100"/>
              <a:buFont typeface="Arial"/>
              <a:buNone/>
            </a:pPr>
            <a:r>
              <a:rPr lang="en"/>
              <a:t>Operational Security (OPSEC)  flag to denote whether a choice is an OPSEC transformation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Each tool in the toolchain would require a specialized file or dataset to match information artifacts to the MDLC </a:t>
            </a:r>
            <a:endParaRPr/>
          </a:p>
          <a:p>
            <a:pPr indent="0" lvl="0" marL="0" rtl="0" algn="l">
              <a:spcBef>
                <a:spcPts val="0"/>
              </a:spcBef>
              <a:spcAft>
                <a:spcPts val="0"/>
              </a:spcAft>
              <a:buClr>
                <a:schemeClr val="dk1"/>
              </a:buClr>
              <a:buSzPts val="1100"/>
              <a:buFont typeface="Arial"/>
              <a:buNone/>
            </a:pPr>
            <a:r>
              <a:rPr lang="en"/>
              <a:t>This is a colossal effort; encompassing the entirety of potential design choices is impossible with four people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21f1dffa5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121f1dffa5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1"/>
                </a:solidFill>
                <a:latin typeface="Lato"/>
                <a:ea typeface="Lato"/>
                <a:cs typeface="Lato"/>
                <a:sym typeface="Lato"/>
              </a:rPr>
              <a:t>Jacob</a:t>
            </a:r>
            <a:endParaRPr sz="1300">
              <a:solidFill>
                <a:schemeClr val="dk1"/>
              </a:solidFill>
              <a:latin typeface="Lato"/>
              <a:ea typeface="Lato"/>
              <a:cs typeface="Lato"/>
              <a:sym typeface="Lato"/>
            </a:endParaRPr>
          </a:p>
          <a:p>
            <a:pPr indent="-311150" lvl="0" marL="457200" rtl="0" algn="l">
              <a:lnSpc>
                <a:spcPct val="115000"/>
              </a:lnSpc>
              <a:spcBef>
                <a:spcPts val="1200"/>
              </a:spcBef>
              <a:spcAft>
                <a:spcPts val="0"/>
              </a:spcAft>
              <a:buClr>
                <a:schemeClr val="dk1"/>
              </a:buClr>
              <a:buSzPts val="1300"/>
              <a:buFont typeface="Lato"/>
              <a:buChar char="●"/>
            </a:pPr>
            <a:r>
              <a:rPr lang="en" sz="1300">
                <a:solidFill>
                  <a:schemeClr val="dk1"/>
                </a:solidFill>
                <a:latin typeface="Lato"/>
                <a:ea typeface="Lato"/>
                <a:cs typeface="Lato"/>
                <a:sym typeface="Lato"/>
              </a:rPr>
              <a:t>Malware Analysis Tool Execution Flow</a:t>
            </a:r>
            <a:endParaRPr sz="1300">
              <a:solidFill>
                <a:schemeClr val="dk1"/>
              </a:solidFill>
              <a:latin typeface="Lato"/>
              <a:ea typeface="Lato"/>
              <a:cs typeface="Lato"/>
              <a:sym typeface="Lato"/>
            </a:endParaRPr>
          </a:p>
          <a:p>
            <a:pPr indent="-298450" lvl="1" marL="914400" rtl="0" algn="l">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pefile or DetectItEasy (DIE) is the root of execution; all malware samples are initially fed to pefile to determine compiler type and packing</a:t>
            </a:r>
            <a:endParaRPr>
              <a:solidFill>
                <a:schemeClr val="dk1"/>
              </a:solidFill>
              <a:latin typeface="Lato"/>
              <a:ea typeface="Lato"/>
              <a:cs typeface="Lato"/>
              <a:sym typeface="Lato"/>
            </a:endParaRPr>
          </a:p>
          <a:p>
            <a:pPr indent="-298450" lvl="2" marL="1371600" rtl="0" algn="l">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Essential for determining malware origin language and required toolchains to analyze </a:t>
            </a:r>
            <a:endParaRPr>
              <a:solidFill>
                <a:schemeClr val="dk1"/>
              </a:solidFill>
              <a:latin typeface="Lato"/>
              <a:ea typeface="Lato"/>
              <a:cs typeface="Lato"/>
              <a:sym typeface="Lato"/>
            </a:endParaRPr>
          </a:p>
          <a:p>
            <a:pPr indent="-298450" lvl="1" marL="914400" rtl="0" algn="l">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Afterward pefile is executed, if the file is of a known origin, begin feeding it to the appropriate toolchains</a:t>
            </a:r>
            <a:endParaRPr>
              <a:solidFill>
                <a:schemeClr val="dk1"/>
              </a:solidFill>
              <a:latin typeface="Lato"/>
              <a:ea typeface="Lato"/>
              <a:cs typeface="Lato"/>
              <a:sym typeface="Lato"/>
            </a:endParaRPr>
          </a:p>
          <a:p>
            <a:pPr indent="-298450" lvl="2" marL="1371600" rtl="0" algn="l">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One at a time</a:t>
            </a:r>
            <a:endParaRPr>
              <a:solidFill>
                <a:schemeClr val="dk1"/>
              </a:solidFill>
              <a:latin typeface="Lato"/>
              <a:ea typeface="Lato"/>
              <a:cs typeface="Lato"/>
              <a:sym typeface="Lato"/>
            </a:endParaRPr>
          </a:p>
          <a:p>
            <a:pPr indent="-298450" lvl="1" marL="914400" rtl="0" algn="l">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For each tool that  finishes execution, analyze the output</a:t>
            </a:r>
            <a:endParaRPr>
              <a:solidFill>
                <a:schemeClr val="dk1"/>
              </a:solidFill>
              <a:latin typeface="Lato"/>
              <a:ea typeface="Lato"/>
              <a:cs typeface="Lato"/>
              <a:sym typeface="Lato"/>
            </a:endParaRPr>
          </a:p>
          <a:p>
            <a:pPr indent="-298450" lvl="2" marL="1371600" rtl="0" algn="l">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Custom parsing necessary; tools do not have standardized output</a:t>
            </a:r>
            <a:endParaRPr>
              <a:solidFill>
                <a:schemeClr val="dk1"/>
              </a:solidFill>
              <a:latin typeface="Lato"/>
              <a:ea typeface="Lato"/>
              <a:cs typeface="Lato"/>
              <a:sym typeface="Lato"/>
            </a:endParaRPr>
          </a:p>
          <a:p>
            <a:pPr indent="-298450" lvl="2" marL="1371600" rtl="0" algn="l">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After parsing, categorize tool findings within MDLC</a:t>
            </a:r>
            <a:endParaRPr>
              <a:solidFill>
                <a:schemeClr val="dk1"/>
              </a:solidFill>
              <a:latin typeface="Lato"/>
              <a:ea typeface="Lato"/>
              <a:cs typeface="Lato"/>
              <a:sym typeface="Lato"/>
            </a:endParaRPr>
          </a:p>
          <a:p>
            <a:pPr indent="-298450" lvl="1" marL="914400" rtl="0" algn="l">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After categorizing results within the MDLC, create a human readable report from the MDLC objects </a:t>
            </a:r>
            <a:endParaRPr>
              <a:solidFill>
                <a:schemeClr val="dk1"/>
              </a:solidFill>
              <a:latin typeface="Lato"/>
              <a:ea typeface="Lato"/>
              <a:cs typeface="Lato"/>
              <a:sym typeface="Lato"/>
            </a:endParaRPr>
          </a:p>
          <a:p>
            <a:pPr indent="-298450" lvl="1" marL="914400" rtl="0" algn="l">
              <a:lnSpc>
                <a:spcPct val="115000"/>
              </a:lnSpc>
              <a:spcBef>
                <a:spcPts val="0"/>
              </a:spcBef>
              <a:spcAft>
                <a:spcPts val="0"/>
              </a:spcAft>
              <a:buClr>
                <a:schemeClr val="dk1"/>
              </a:buClr>
              <a:buSzPts val="1100"/>
              <a:buFont typeface="Lato"/>
              <a:buChar char="○"/>
            </a:pPr>
            <a:r>
              <a:rPr lang="en">
                <a:solidFill>
                  <a:schemeClr val="dk1"/>
                </a:solidFill>
                <a:latin typeface="Lato"/>
                <a:ea typeface="Lato"/>
                <a:cs typeface="Lato"/>
                <a:sym typeface="Lato"/>
              </a:rPr>
              <a:t>Finally, save the report and terminate execution of the malware analysis tool</a:t>
            </a:r>
            <a:endParaRPr>
              <a:solidFill>
                <a:schemeClr val="dk1"/>
              </a:solidFill>
              <a:latin typeface="Lato"/>
              <a:ea typeface="Lato"/>
              <a:cs typeface="Lato"/>
              <a:sym typeface="La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1183f28452c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1183f28452c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Abhi</a:t>
            </a:r>
            <a:endParaRPr sz="1200">
              <a:solidFill>
                <a:schemeClr val="dk1"/>
              </a:solidFill>
              <a:latin typeface="Times New Roman"/>
              <a:ea typeface="Times New Roman"/>
              <a:cs typeface="Times New Roman"/>
              <a:sym typeface="Times New Roman"/>
            </a:endParaRPr>
          </a:p>
          <a:p>
            <a:pPr indent="0" lvl="0" marL="0" rtl="0" algn="l">
              <a:lnSpc>
                <a:spcPct val="218181"/>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 testing bed is required for our ground truth samples and tool development.  Our progress was  slowed down significantly, and  we reached out to out university’s IT department. However, UA engineering IT department was unable to provide the team a test bed. We tried to employ a cloud virtualization provider but that did not work either since our project was went against most of the providers’ terms of service. At last our team was forced to set up our own virtual machines.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11dc049e0ea_1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11dc049e0ea_1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Tim</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11dc049e0ea_1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11dc049e0ea_1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Abhi</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12486ebdce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12486ebdce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Jacob: 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Tri: Java &amp; the rest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2486ebdce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12486ebdce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Jacob</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183f28452c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1183f28452c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11a0dc3afb5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11a0dc3afb5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any new references needed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11dc049e0ea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11dc049e0ea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1183f28452c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1183f28452c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12684e24ac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12684e24ac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1183f28452c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1183f28452c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4" name="Shape 134"/>
        <p:cNvGrpSpPr/>
        <p:nvPr/>
      </p:nvGrpSpPr>
      <p:grpSpPr>
        <a:xfrm>
          <a:off x="0" y="0"/>
          <a:ext cx="0" cy="0"/>
          <a:chOff x="0" y="0"/>
          <a:chExt cx="0" cy="0"/>
        </a:xfrm>
      </p:grpSpPr>
      <p:sp>
        <p:nvSpPr>
          <p:cNvPr id="135" name="Google Shape;135;p14"/>
          <p:cNvSpPr/>
          <p:nvPr/>
        </p:nvSpPr>
        <p:spPr>
          <a:xfrm rot="5400000">
            <a:off x="7500300" y="505"/>
            <a:ext cx="1643700" cy="1643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6" name="Google Shape;136;p14"/>
          <p:cNvGrpSpPr/>
          <p:nvPr/>
        </p:nvGrpSpPr>
        <p:grpSpPr>
          <a:xfrm>
            <a:off x="0" y="490"/>
            <a:ext cx="5153705" cy="5134399"/>
            <a:chOff x="0" y="75"/>
            <a:chExt cx="5153705" cy="5152950"/>
          </a:xfrm>
        </p:grpSpPr>
        <p:sp>
          <p:nvSpPr>
            <p:cNvPr id="137" name="Google Shape;137;p14"/>
            <p:cNvSpPr/>
            <p:nvPr/>
          </p:nvSpPr>
          <p:spPr>
            <a:xfrm rot="-5400000">
              <a:off x="455" y="-225"/>
              <a:ext cx="5152800" cy="5153700"/>
            </a:xfrm>
            <a:prstGeom prst="diagStripe">
              <a:avLst>
                <a:gd fmla="val 5000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4"/>
            <p:cNvSpPr/>
            <p:nvPr/>
          </p:nvSpPr>
          <p:spPr>
            <a:xfrm rot="-5400000">
              <a:off x="150" y="1145825"/>
              <a:ext cx="3996600" cy="3996900"/>
            </a:xfrm>
            <a:prstGeom prst="diagStripe">
              <a:avLst>
                <a:gd fmla="val 58774"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4"/>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4"/>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 name="Google Shape;141;p14"/>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142" name="Google Shape;142;p14"/>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43" name="Google Shape;14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4" name="Shape 144"/>
        <p:cNvGrpSpPr/>
        <p:nvPr/>
      </p:nvGrpSpPr>
      <p:grpSpPr>
        <a:xfrm>
          <a:off x="0" y="0"/>
          <a:ext cx="0" cy="0"/>
          <a:chOff x="0" y="0"/>
          <a:chExt cx="0" cy="0"/>
        </a:xfrm>
      </p:grpSpPr>
      <p:grpSp>
        <p:nvGrpSpPr>
          <p:cNvPr id="145" name="Google Shape;145;p15"/>
          <p:cNvGrpSpPr/>
          <p:nvPr/>
        </p:nvGrpSpPr>
        <p:grpSpPr>
          <a:xfrm>
            <a:off x="0" y="381001"/>
            <a:ext cx="1037850" cy="1016288"/>
            <a:chOff x="0" y="381001"/>
            <a:chExt cx="1037850" cy="1016288"/>
          </a:xfrm>
        </p:grpSpPr>
        <p:sp>
          <p:nvSpPr>
            <p:cNvPr id="146" name="Google Shape;146;p1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8" name="Google Shape;148;p1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9" name="Google Shape;149;p1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50" name="Google Shape;15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grpSp>
        <p:nvGrpSpPr>
          <p:cNvPr id="152" name="Google Shape;152;p16"/>
          <p:cNvGrpSpPr/>
          <p:nvPr/>
        </p:nvGrpSpPr>
        <p:grpSpPr>
          <a:xfrm>
            <a:off x="4406400" y="0"/>
            <a:ext cx="4737600" cy="5143065"/>
            <a:chOff x="4406400" y="0"/>
            <a:chExt cx="4737600" cy="5143065"/>
          </a:xfrm>
        </p:grpSpPr>
        <p:sp>
          <p:nvSpPr>
            <p:cNvPr id="153" name="Google Shape;153;p16"/>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6"/>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6"/>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6"/>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6"/>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6"/>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6"/>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6"/>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6"/>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6"/>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6"/>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6"/>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6"/>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6"/>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6"/>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6"/>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6"/>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1" name="Google Shape;171;p16"/>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2" name="Google Shape;17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3" name="Shape 173"/>
        <p:cNvGrpSpPr/>
        <p:nvPr/>
      </p:nvGrpSpPr>
      <p:grpSpPr>
        <a:xfrm>
          <a:off x="0" y="0"/>
          <a:ext cx="0" cy="0"/>
          <a:chOff x="0" y="0"/>
          <a:chExt cx="0" cy="0"/>
        </a:xfrm>
      </p:grpSpPr>
      <p:grpSp>
        <p:nvGrpSpPr>
          <p:cNvPr id="174" name="Google Shape;174;p17"/>
          <p:cNvGrpSpPr/>
          <p:nvPr/>
        </p:nvGrpSpPr>
        <p:grpSpPr>
          <a:xfrm>
            <a:off x="0" y="381001"/>
            <a:ext cx="1037850" cy="1016288"/>
            <a:chOff x="0" y="381001"/>
            <a:chExt cx="1037850" cy="1016288"/>
          </a:xfrm>
        </p:grpSpPr>
        <p:sp>
          <p:nvSpPr>
            <p:cNvPr id="175" name="Google Shape;175;p1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7" name="Google Shape;177;p1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78" name="Google Shape;178;p17"/>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79" name="Google Shape;179;p17"/>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80" name="Google Shape;18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1" name="Shape 181"/>
        <p:cNvGrpSpPr/>
        <p:nvPr/>
      </p:nvGrpSpPr>
      <p:grpSpPr>
        <a:xfrm>
          <a:off x="0" y="0"/>
          <a:ext cx="0" cy="0"/>
          <a:chOff x="0" y="0"/>
          <a:chExt cx="0" cy="0"/>
        </a:xfrm>
      </p:grpSpPr>
      <p:grpSp>
        <p:nvGrpSpPr>
          <p:cNvPr id="182" name="Google Shape;182;p18"/>
          <p:cNvGrpSpPr/>
          <p:nvPr/>
        </p:nvGrpSpPr>
        <p:grpSpPr>
          <a:xfrm>
            <a:off x="0" y="381001"/>
            <a:ext cx="1037850" cy="1016288"/>
            <a:chOff x="0" y="381001"/>
            <a:chExt cx="1037850" cy="1016288"/>
          </a:xfrm>
        </p:grpSpPr>
        <p:sp>
          <p:nvSpPr>
            <p:cNvPr id="183" name="Google Shape;183;p1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5" name="Google Shape;185;p1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86" name="Google Shape;18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7" name="Shape 187"/>
        <p:cNvGrpSpPr/>
        <p:nvPr/>
      </p:nvGrpSpPr>
      <p:grpSpPr>
        <a:xfrm>
          <a:off x="0" y="0"/>
          <a:ext cx="0" cy="0"/>
          <a:chOff x="0" y="0"/>
          <a:chExt cx="0" cy="0"/>
        </a:xfrm>
      </p:grpSpPr>
      <p:grpSp>
        <p:nvGrpSpPr>
          <p:cNvPr id="188" name="Google Shape;188;p19"/>
          <p:cNvGrpSpPr/>
          <p:nvPr/>
        </p:nvGrpSpPr>
        <p:grpSpPr>
          <a:xfrm>
            <a:off x="0" y="381001"/>
            <a:ext cx="1037850" cy="1016288"/>
            <a:chOff x="0" y="381001"/>
            <a:chExt cx="1037850" cy="1016288"/>
          </a:xfrm>
        </p:grpSpPr>
        <p:sp>
          <p:nvSpPr>
            <p:cNvPr id="189" name="Google Shape;189;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1" name="Google Shape;191;p19"/>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92" name="Google Shape;192;p19"/>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93" name="Google Shape;19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4" name="Shape 194"/>
        <p:cNvGrpSpPr/>
        <p:nvPr/>
      </p:nvGrpSpPr>
      <p:grpSpPr>
        <a:xfrm>
          <a:off x="0" y="0"/>
          <a:ext cx="0" cy="0"/>
          <a:chOff x="0" y="0"/>
          <a:chExt cx="0" cy="0"/>
        </a:xfrm>
      </p:grpSpPr>
      <p:grpSp>
        <p:nvGrpSpPr>
          <p:cNvPr id="195" name="Google Shape;195;p20"/>
          <p:cNvGrpSpPr/>
          <p:nvPr/>
        </p:nvGrpSpPr>
        <p:grpSpPr>
          <a:xfrm>
            <a:off x="4406400" y="0"/>
            <a:ext cx="4737600" cy="5143500"/>
            <a:chOff x="4406400" y="0"/>
            <a:chExt cx="4737600" cy="5143500"/>
          </a:xfrm>
        </p:grpSpPr>
        <p:sp>
          <p:nvSpPr>
            <p:cNvPr id="196" name="Google Shape;196;p20"/>
            <p:cNvSpPr/>
            <p:nvPr/>
          </p:nvSpPr>
          <p:spPr>
            <a:xfrm rot="5400000">
              <a:off x="4407900" y="-1500"/>
              <a:ext cx="47346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0"/>
            <p:cNvSpPr/>
            <p:nvPr/>
          </p:nvSpPr>
          <p:spPr>
            <a:xfrm rot="5400000">
              <a:off x="4840825" y="6000"/>
              <a:ext cx="42987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0"/>
            <p:cNvSpPr/>
            <p:nvPr/>
          </p:nvSpPr>
          <p:spPr>
            <a:xfrm rot="-5400000">
              <a:off x="5618399" y="123664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0"/>
            <p:cNvSpPr/>
            <p:nvPr/>
          </p:nvSpPr>
          <p:spPr>
            <a:xfrm flipH="1">
              <a:off x="5849857" y="144407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0"/>
            <p:cNvSpPr/>
            <p:nvPr/>
          </p:nvSpPr>
          <p:spPr>
            <a:xfrm rot="-5400000">
              <a:off x="5987081" y="246974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0"/>
            <p:cNvSpPr/>
            <p:nvPr/>
          </p:nvSpPr>
          <p:spPr>
            <a:xfrm flipH="1">
              <a:off x="6222115" y="2677179"/>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0"/>
            <p:cNvSpPr/>
            <p:nvPr/>
          </p:nvSpPr>
          <p:spPr>
            <a:xfrm rot="-5400000">
              <a:off x="6675341" y="186224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0"/>
            <p:cNvSpPr/>
            <p:nvPr/>
          </p:nvSpPr>
          <p:spPr>
            <a:xfrm rot="-5400000">
              <a:off x="6861141" y="247808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0"/>
            <p:cNvSpPr/>
            <p:nvPr/>
          </p:nvSpPr>
          <p:spPr>
            <a:xfrm flipH="1">
              <a:off x="7965266" y="269319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0"/>
            <p:cNvSpPr/>
            <p:nvPr/>
          </p:nvSpPr>
          <p:spPr>
            <a:xfrm flipH="1">
              <a:off x="8145082" y="330903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0"/>
            <p:cNvSpPr/>
            <p:nvPr/>
          </p:nvSpPr>
          <p:spPr>
            <a:xfrm rot="-5400000">
              <a:off x="7047599" y="309534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0"/>
            <p:cNvSpPr/>
            <p:nvPr/>
          </p:nvSpPr>
          <p:spPr>
            <a:xfrm flipH="1">
              <a:off x="7276649" y="3302781"/>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0"/>
            <p:cNvSpPr/>
            <p:nvPr/>
          </p:nvSpPr>
          <p:spPr>
            <a:xfrm flipH="1">
              <a:off x="7462448" y="391862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0"/>
            <p:cNvSpPr/>
            <p:nvPr/>
          </p:nvSpPr>
          <p:spPr>
            <a:xfrm rot="-5400000">
              <a:off x="8102491" y="37188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20"/>
            <p:cNvSpPr/>
            <p:nvPr/>
          </p:nvSpPr>
          <p:spPr>
            <a:xfrm flipH="1">
              <a:off x="8334533" y="392629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0"/>
            <p:cNvSpPr/>
            <p:nvPr/>
          </p:nvSpPr>
          <p:spPr>
            <a:xfrm rot="-5400000">
              <a:off x="8288290" y="433470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4" name="Google Shape;214;p20"/>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5" name="Google Shape;215;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16" name="Shape 216"/>
        <p:cNvGrpSpPr/>
        <p:nvPr/>
      </p:nvGrpSpPr>
      <p:grpSpPr>
        <a:xfrm>
          <a:off x="0" y="0"/>
          <a:ext cx="0" cy="0"/>
          <a:chOff x="0" y="0"/>
          <a:chExt cx="0" cy="0"/>
        </a:xfrm>
      </p:grpSpPr>
      <p:grpSp>
        <p:nvGrpSpPr>
          <p:cNvPr id="217" name="Google Shape;217;p21"/>
          <p:cNvGrpSpPr/>
          <p:nvPr/>
        </p:nvGrpSpPr>
        <p:grpSpPr>
          <a:xfrm>
            <a:off x="0" y="381001"/>
            <a:ext cx="1037850" cy="1016288"/>
            <a:chOff x="0" y="381001"/>
            <a:chExt cx="1037850" cy="1016288"/>
          </a:xfrm>
        </p:grpSpPr>
        <p:sp>
          <p:nvSpPr>
            <p:cNvPr id="218" name="Google Shape;218;p2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0" name="Google Shape;220;p21"/>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21" name="Google Shape;221;p21"/>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222" name="Google Shape;222;p21"/>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23" name="Google Shape;22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4" name="Shape 224"/>
        <p:cNvGrpSpPr/>
        <p:nvPr/>
      </p:nvGrpSpPr>
      <p:grpSpPr>
        <a:xfrm>
          <a:off x="0" y="0"/>
          <a:ext cx="0" cy="0"/>
          <a:chOff x="0" y="0"/>
          <a:chExt cx="0" cy="0"/>
        </a:xfrm>
      </p:grpSpPr>
      <p:grpSp>
        <p:nvGrpSpPr>
          <p:cNvPr id="225" name="Google Shape;225;p22"/>
          <p:cNvGrpSpPr/>
          <p:nvPr/>
        </p:nvGrpSpPr>
        <p:grpSpPr>
          <a:xfrm>
            <a:off x="0" y="4128572"/>
            <a:ext cx="698925" cy="684657"/>
            <a:chOff x="0" y="3785672"/>
            <a:chExt cx="698925" cy="684657"/>
          </a:xfrm>
        </p:grpSpPr>
        <p:sp>
          <p:nvSpPr>
            <p:cNvPr id="226" name="Google Shape;226;p22"/>
            <p:cNvSpPr/>
            <p:nvPr/>
          </p:nvSpPr>
          <p:spPr>
            <a:xfrm rot="-5400000">
              <a:off x="0" y="3785672"/>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2"/>
            <p:cNvSpPr/>
            <p:nvPr/>
          </p:nvSpPr>
          <p:spPr>
            <a:xfrm flipH="1">
              <a:off x="154125" y="3925529"/>
              <a:ext cx="544800" cy="544800"/>
            </a:xfrm>
            <a:prstGeom prst="diagStripe">
              <a:avLst>
                <a:gd fmla="val 50000" name="adj"/>
              </a:avLst>
            </a:prstGeom>
            <a:solidFill>
              <a:schemeClr val="lt1">
                <a:alpha val="9411"/>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8" name="Google Shape;228;p22"/>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229" name="Google Shape;22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30" name="Shape 230"/>
        <p:cNvGrpSpPr/>
        <p:nvPr/>
      </p:nvGrpSpPr>
      <p:grpSpPr>
        <a:xfrm>
          <a:off x="0" y="0"/>
          <a:ext cx="0" cy="0"/>
          <a:chOff x="0" y="0"/>
          <a:chExt cx="0" cy="0"/>
        </a:xfrm>
      </p:grpSpPr>
      <p:grpSp>
        <p:nvGrpSpPr>
          <p:cNvPr id="231" name="Google Shape;231;p23"/>
          <p:cNvGrpSpPr/>
          <p:nvPr/>
        </p:nvGrpSpPr>
        <p:grpSpPr>
          <a:xfrm>
            <a:off x="4406400" y="0"/>
            <a:ext cx="4737600" cy="5143065"/>
            <a:chOff x="4406400" y="0"/>
            <a:chExt cx="4737600" cy="5143065"/>
          </a:xfrm>
        </p:grpSpPr>
        <p:sp>
          <p:nvSpPr>
            <p:cNvPr id="232" name="Google Shape;232;p23"/>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3"/>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3"/>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3"/>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3"/>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3"/>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3"/>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3"/>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3"/>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3"/>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3"/>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3"/>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3"/>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3"/>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3"/>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3"/>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0" name="Google Shape;250;p23"/>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251" name="Google Shape;251;p23"/>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52" name="Google Shape;25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3" name="Shape 253"/>
        <p:cNvGrpSpPr/>
        <p:nvPr/>
      </p:nvGrpSpPr>
      <p:grpSpPr>
        <a:xfrm>
          <a:off x="0" y="0"/>
          <a:ext cx="0" cy="0"/>
          <a:chOff x="0" y="0"/>
          <a:chExt cx="0" cy="0"/>
        </a:xfrm>
      </p:grpSpPr>
      <p:sp>
        <p:nvSpPr>
          <p:cNvPr id="254" name="Google Shape;25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130" name="Shape 130"/>
        <p:cNvGrpSpPr/>
        <p:nvPr/>
      </p:nvGrpSpPr>
      <p:grpSpPr>
        <a:xfrm>
          <a:off x="0" y="0"/>
          <a:ext cx="0" cy="0"/>
          <a:chOff x="0" y="0"/>
          <a:chExt cx="0" cy="0"/>
        </a:xfrm>
      </p:grpSpPr>
      <p:sp>
        <p:nvSpPr>
          <p:cNvPr id="131" name="Google Shape;13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132" name="Google Shape;13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133" name="Google Shape;13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5"/>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200"/>
              <a:t>Team Binary Sunrise Final Presentation</a:t>
            </a:r>
            <a:endParaRPr sz="3200"/>
          </a:p>
        </p:txBody>
      </p:sp>
      <p:sp>
        <p:nvSpPr>
          <p:cNvPr id="260" name="Google Shape;260;p25"/>
          <p:cNvSpPr txBox="1"/>
          <p:nvPr>
            <p:ph idx="1" type="subTitle"/>
          </p:nvPr>
        </p:nvSpPr>
        <p:spPr>
          <a:xfrm>
            <a:off x="3428500" y="2847025"/>
            <a:ext cx="5400600" cy="17901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Jacob Staggs - Graduate Second Semester - jastaggs@email.arizona.edu</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Timothy Colvert - Graduate Second Semester- tcolvert@email.arizona.edu</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Tri Nguyen - Undergraduate Sixth Semester - txn180008@utdallas.edu</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Abhijeet Dabas - Graduate Third Semester - abhid@email.arizona.edu</a:t>
            </a:r>
            <a:endParaRPr/>
          </a:p>
          <a:p>
            <a:pPr indent="0" lvl="0" marL="0" rtl="0" algn="l">
              <a:spcBef>
                <a:spcPts val="0"/>
              </a:spcBef>
              <a:spcAft>
                <a:spcPts val="0"/>
              </a:spcAft>
              <a:buNone/>
            </a:pPr>
            <a:r>
              <a:t/>
            </a:r>
            <a:endParaRPr/>
          </a:p>
          <a:p>
            <a:pPr indent="0" lvl="0" marL="0" rtl="0" algn="ctr">
              <a:spcBef>
                <a:spcPts val="0"/>
              </a:spcBef>
              <a:spcAft>
                <a:spcPts val="0"/>
              </a:spcAft>
              <a:buNone/>
            </a:pPr>
            <a:r>
              <a:rPr lang="en"/>
              <a:t>University of Arizona and University of Texas at Dallas</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Presentation Date: April 29, 2022</a:t>
            </a:r>
            <a:endParaRPr/>
          </a:p>
        </p:txBody>
      </p:sp>
      <p:pic>
        <p:nvPicPr>
          <p:cNvPr id="261" name="Google Shape;261;p25"/>
          <p:cNvPicPr preferRelativeResize="0"/>
          <p:nvPr/>
        </p:nvPicPr>
        <p:blipFill>
          <a:blip r:embed="rId3">
            <a:alphaModFix/>
          </a:blip>
          <a:stretch>
            <a:fillRect/>
          </a:stretch>
        </p:blipFill>
        <p:spPr>
          <a:xfrm>
            <a:off x="65600" y="2923100"/>
            <a:ext cx="3232350" cy="21595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Agenda</a:t>
            </a:r>
            <a:endParaRPr/>
          </a:p>
        </p:txBody>
      </p:sp>
      <p:sp>
        <p:nvSpPr>
          <p:cNvPr id="267" name="Google Shape;267;p26"/>
          <p:cNvSpPr txBox="1"/>
          <p:nvPr>
            <p:ph idx="1" type="body"/>
          </p:nvPr>
        </p:nvSpPr>
        <p:spPr>
          <a:xfrm>
            <a:off x="1297500" y="946825"/>
            <a:ext cx="7038900" cy="3523200"/>
          </a:xfrm>
          <a:prstGeom prst="rect">
            <a:avLst/>
          </a:prstGeom>
        </p:spPr>
        <p:txBody>
          <a:bodyPr anchorCtr="0" anchor="t" bIns="91425" lIns="91425" spcFirstLastPara="1" rIns="91425" wrap="square" tIns="91425">
            <a:normAutofit fontScale="77500" lnSpcReduction="20000"/>
          </a:bodyPr>
          <a:lstStyle/>
          <a:p>
            <a:pPr indent="-292576" lvl="0" marL="457200" rtl="0" algn="l">
              <a:spcBef>
                <a:spcPts val="0"/>
              </a:spcBef>
              <a:spcAft>
                <a:spcPts val="0"/>
              </a:spcAft>
              <a:buSzPct val="100000"/>
              <a:buChar char="●"/>
            </a:pPr>
            <a:r>
              <a:rPr lang="en"/>
              <a:t>Project Introduction</a:t>
            </a:r>
            <a:endParaRPr/>
          </a:p>
          <a:p>
            <a:pPr indent="-282733" lvl="1" marL="914400" rtl="0" algn="l">
              <a:spcBef>
                <a:spcPts val="0"/>
              </a:spcBef>
              <a:spcAft>
                <a:spcPts val="0"/>
              </a:spcAft>
              <a:buSzPct val="100000"/>
              <a:buChar char="○"/>
            </a:pPr>
            <a:r>
              <a:rPr lang="en"/>
              <a:t>Biographies</a:t>
            </a:r>
            <a:endParaRPr/>
          </a:p>
          <a:p>
            <a:pPr indent="-282733" lvl="1" marL="914400" rtl="0" algn="l">
              <a:spcBef>
                <a:spcPts val="0"/>
              </a:spcBef>
              <a:spcAft>
                <a:spcPts val="0"/>
              </a:spcAft>
              <a:buSzPct val="100000"/>
              <a:buChar char="○"/>
            </a:pPr>
            <a:r>
              <a:rPr lang="en"/>
              <a:t>Purpose Statement</a:t>
            </a:r>
            <a:endParaRPr/>
          </a:p>
          <a:p>
            <a:pPr indent="-282733" lvl="1" marL="914400" rtl="0" algn="l">
              <a:spcBef>
                <a:spcPts val="0"/>
              </a:spcBef>
              <a:spcAft>
                <a:spcPts val="0"/>
              </a:spcAft>
              <a:buSzPct val="100000"/>
              <a:buChar char="○"/>
            </a:pPr>
            <a:r>
              <a:rPr lang="en"/>
              <a:t>Project Motivation</a:t>
            </a:r>
            <a:endParaRPr/>
          </a:p>
          <a:p>
            <a:pPr indent="-292576" lvl="0" marL="457200" rtl="0" algn="l">
              <a:spcBef>
                <a:spcPts val="0"/>
              </a:spcBef>
              <a:spcAft>
                <a:spcPts val="0"/>
              </a:spcAft>
              <a:buSzPct val="100000"/>
              <a:buChar char="●"/>
            </a:pPr>
            <a:r>
              <a:rPr lang="en"/>
              <a:t>Methods and Procedures </a:t>
            </a:r>
            <a:endParaRPr/>
          </a:p>
          <a:p>
            <a:pPr indent="-282733" lvl="1" marL="914400" rtl="0" algn="l">
              <a:spcBef>
                <a:spcPts val="0"/>
              </a:spcBef>
              <a:spcAft>
                <a:spcPts val="0"/>
              </a:spcAft>
              <a:buSzPct val="100000"/>
              <a:buChar char="○"/>
            </a:pPr>
            <a:r>
              <a:rPr lang="en"/>
              <a:t>Characterization of Methods Used</a:t>
            </a:r>
            <a:endParaRPr/>
          </a:p>
          <a:p>
            <a:pPr indent="-282733" lvl="1" marL="914400" rtl="0" algn="l">
              <a:spcBef>
                <a:spcPts val="0"/>
              </a:spcBef>
              <a:spcAft>
                <a:spcPts val="0"/>
              </a:spcAft>
              <a:buSzPct val="100000"/>
              <a:buChar char="○"/>
            </a:pPr>
            <a:r>
              <a:rPr lang="en"/>
              <a:t>Project Plans, Schedule, and Deliverables</a:t>
            </a:r>
            <a:endParaRPr/>
          </a:p>
          <a:p>
            <a:pPr indent="-282733" lvl="1" marL="914400" rtl="0" algn="l">
              <a:spcBef>
                <a:spcPts val="0"/>
              </a:spcBef>
              <a:spcAft>
                <a:spcPts val="0"/>
              </a:spcAft>
              <a:buSzPct val="100000"/>
              <a:buChar char="○"/>
            </a:pPr>
            <a:r>
              <a:rPr lang="en"/>
              <a:t>Limitations and Delimitations</a:t>
            </a:r>
            <a:endParaRPr/>
          </a:p>
          <a:p>
            <a:pPr indent="-292576" lvl="0" marL="457200" rtl="0" algn="l">
              <a:spcBef>
                <a:spcPts val="0"/>
              </a:spcBef>
              <a:spcAft>
                <a:spcPts val="0"/>
              </a:spcAft>
              <a:buSzPct val="100000"/>
              <a:buChar char="●"/>
            </a:pPr>
            <a:r>
              <a:rPr lang="en"/>
              <a:t>Findings</a:t>
            </a:r>
            <a:endParaRPr/>
          </a:p>
          <a:p>
            <a:pPr indent="-282733" lvl="1" marL="914400" rtl="0" algn="l">
              <a:spcBef>
                <a:spcPts val="0"/>
              </a:spcBef>
              <a:spcAft>
                <a:spcPts val="0"/>
              </a:spcAft>
              <a:buSzPct val="100000"/>
              <a:buChar char="○"/>
            </a:pPr>
            <a:r>
              <a:rPr lang="en"/>
              <a:t>Requirements</a:t>
            </a:r>
            <a:endParaRPr/>
          </a:p>
          <a:p>
            <a:pPr indent="-282733" lvl="1" marL="914400" rtl="0" algn="l">
              <a:spcBef>
                <a:spcPts val="0"/>
              </a:spcBef>
              <a:spcAft>
                <a:spcPts val="0"/>
              </a:spcAft>
              <a:buSzPct val="100000"/>
              <a:buChar char="○"/>
            </a:pPr>
            <a:r>
              <a:rPr lang="en"/>
              <a:t>Overview</a:t>
            </a:r>
            <a:endParaRPr/>
          </a:p>
          <a:p>
            <a:pPr indent="-282733" lvl="1" marL="914400" rtl="0" algn="l">
              <a:spcBef>
                <a:spcPts val="0"/>
              </a:spcBef>
              <a:spcAft>
                <a:spcPts val="0"/>
              </a:spcAft>
              <a:buSzPct val="100000"/>
              <a:buChar char="○"/>
            </a:pPr>
            <a:r>
              <a:rPr lang="en"/>
              <a:t>Final Sample MDLC Characterization</a:t>
            </a:r>
            <a:endParaRPr/>
          </a:p>
          <a:p>
            <a:pPr indent="-282733" lvl="1" marL="914400" rtl="0" algn="l">
              <a:spcBef>
                <a:spcPts val="0"/>
              </a:spcBef>
              <a:spcAft>
                <a:spcPts val="0"/>
              </a:spcAft>
              <a:buSzPct val="100000"/>
              <a:buChar char="○"/>
            </a:pPr>
            <a:r>
              <a:rPr lang="en"/>
              <a:t>Difficulty of Implementing Ground Truth</a:t>
            </a:r>
            <a:endParaRPr/>
          </a:p>
          <a:p>
            <a:pPr indent="-282733" lvl="1" marL="914400" rtl="0" algn="l">
              <a:spcBef>
                <a:spcPts val="0"/>
              </a:spcBef>
              <a:spcAft>
                <a:spcPts val="0"/>
              </a:spcAft>
              <a:buSzPct val="100000"/>
              <a:buChar char="○"/>
            </a:pPr>
            <a:r>
              <a:rPr lang="en"/>
              <a:t>Malware Analysis Tool Status and Proposed Tool Characteristics</a:t>
            </a:r>
            <a:endParaRPr/>
          </a:p>
          <a:p>
            <a:pPr indent="-282733" lvl="1" marL="914400" rtl="0" algn="l">
              <a:spcBef>
                <a:spcPts val="0"/>
              </a:spcBef>
              <a:spcAft>
                <a:spcPts val="0"/>
              </a:spcAft>
              <a:buSzPct val="100000"/>
              <a:buChar char="○"/>
            </a:pPr>
            <a:r>
              <a:rPr lang="en"/>
              <a:t>MDLC Data Structures for Proposed Tool </a:t>
            </a:r>
            <a:endParaRPr/>
          </a:p>
          <a:p>
            <a:pPr indent="-282733" lvl="1" marL="914400" rtl="0" algn="l">
              <a:spcBef>
                <a:spcPts val="0"/>
              </a:spcBef>
              <a:spcAft>
                <a:spcPts val="0"/>
              </a:spcAft>
              <a:buSzPct val="100000"/>
              <a:buChar char="○"/>
            </a:pPr>
            <a:r>
              <a:rPr lang="en"/>
              <a:t>Proposed Tool Execution Flow</a:t>
            </a:r>
            <a:endParaRPr/>
          </a:p>
          <a:p>
            <a:pPr indent="-292576" lvl="0" marL="457200" rtl="0" algn="l">
              <a:spcBef>
                <a:spcPts val="0"/>
              </a:spcBef>
              <a:spcAft>
                <a:spcPts val="0"/>
              </a:spcAft>
              <a:buSzPct val="100000"/>
              <a:buChar char="●"/>
            </a:pPr>
            <a:r>
              <a:rPr lang="en"/>
              <a:t>Issues and Challenges</a:t>
            </a:r>
            <a:endParaRPr/>
          </a:p>
          <a:p>
            <a:pPr indent="-282733" lvl="1" marL="914400" rtl="0" algn="l">
              <a:spcBef>
                <a:spcPts val="0"/>
              </a:spcBef>
              <a:spcAft>
                <a:spcPts val="0"/>
              </a:spcAft>
              <a:buSzPct val="100000"/>
              <a:buChar char="○"/>
            </a:pPr>
            <a:r>
              <a:rPr lang="en"/>
              <a:t>Risks and Mitigation</a:t>
            </a:r>
            <a:r>
              <a:rPr lang="en"/>
              <a:t> </a:t>
            </a:r>
            <a:endParaRPr/>
          </a:p>
          <a:p>
            <a:pPr indent="-292576" lvl="0" marL="457200" rtl="0" algn="l">
              <a:spcBef>
                <a:spcPts val="0"/>
              </a:spcBef>
              <a:spcAft>
                <a:spcPts val="0"/>
              </a:spcAft>
              <a:buSzPct val="100000"/>
              <a:buChar char="●"/>
            </a:pPr>
            <a:r>
              <a:rPr lang="en"/>
              <a:t>Conclusions and Recommendations</a:t>
            </a:r>
            <a:endParaRPr/>
          </a:p>
          <a:p>
            <a:pPr indent="-282733" lvl="1" marL="914400" rtl="0" algn="l">
              <a:spcBef>
                <a:spcPts val="0"/>
              </a:spcBef>
              <a:spcAft>
                <a:spcPts val="0"/>
              </a:spcAft>
              <a:buSzPct val="100000"/>
              <a:buChar char="○"/>
            </a:pPr>
            <a:r>
              <a:rPr lang="en"/>
              <a:t>Ground Truth Sample Quality</a:t>
            </a:r>
            <a:endParaRPr/>
          </a:p>
          <a:p>
            <a:pPr indent="-282733" lvl="1" marL="914400" rtl="0" algn="l">
              <a:spcBef>
                <a:spcPts val="0"/>
              </a:spcBef>
              <a:spcAft>
                <a:spcPts val="0"/>
              </a:spcAft>
              <a:buSzPct val="100000"/>
              <a:buChar char="○"/>
            </a:pPr>
            <a:r>
              <a:rPr lang="en"/>
              <a:t>Proposed Tool Rationale and Future Work</a:t>
            </a:r>
            <a:endParaRPr/>
          </a:p>
          <a:p>
            <a:pPr indent="-292576" lvl="0" marL="457200" rtl="0" algn="l">
              <a:spcBef>
                <a:spcPts val="0"/>
              </a:spcBef>
              <a:spcAft>
                <a:spcPts val="0"/>
              </a:spcAft>
              <a:buSzPct val="100000"/>
              <a:buChar char="●"/>
            </a:pPr>
            <a:r>
              <a:rPr lang="en"/>
              <a:t>References</a:t>
            </a:r>
            <a:endParaRPr/>
          </a:p>
          <a:p>
            <a:pPr indent="-292576" lvl="0" marL="457200" rtl="0" algn="l">
              <a:spcBef>
                <a:spcPts val="0"/>
              </a:spcBef>
              <a:spcAft>
                <a:spcPts val="0"/>
              </a:spcAft>
              <a:buSzPct val="100000"/>
              <a:buChar char="●"/>
            </a:pPr>
            <a:r>
              <a:rPr lang="en"/>
              <a:t>Appendices</a:t>
            </a:r>
            <a:endParaRPr/>
          </a:p>
          <a:p>
            <a:pPr indent="-282733" lvl="1" marL="914400" rtl="0" algn="l">
              <a:spcBef>
                <a:spcPts val="0"/>
              </a:spcBef>
              <a:spcAft>
                <a:spcPts val="0"/>
              </a:spcAft>
              <a:buSzPct val="100000"/>
              <a:buChar char="○"/>
            </a:pPr>
            <a:r>
              <a:rPr lang="en"/>
              <a:t>A - Acronyms </a:t>
            </a:r>
            <a:endParaRPr/>
          </a:p>
          <a:p>
            <a:pPr indent="-282733" lvl="1" marL="914400" rtl="0" algn="l">
              <a:spcBef>
                <a:spcPts val="0"/>
              </a:spcBef>
              <a:spcAft>
                <a:spcPts val="0"/>
              </a:spcAft>
              <a:buSzPct val="100000"/>
              <a:buChar char="○"/>
            </a:pPr>
            <a:r>
              <a:rPr lang="en"/>
              <a:t>B - Terms and Definitions</a:t>
            </a:r>
            <a:endParaRPr/>
          </a:p>
        </p:txBody>
      </p:sp>
      <p:sp>
        <p:nvSpPr>
          <p:cNvPr id="268" name="Google Shape;268;p26"/>
          <p:cNvSpPr/>
          <p:nvPr/>
        </p:nvSpPr>
        <p:spPr>
          <a:xfrm>
            <a:off x="1003750" y="4615925"/>
            <a:ext cx="10422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269" name="Google Shape;269;p26"/>
          <p:cNvSpPr/>
          <p:nvPr/>
        </p:nvSpPr>
        <p:spPr>
          <a:xfrm>
            <a:off x="1907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270" name="Google Shape;270;p26"/>
          <p:cNvSpPr/>
          <p:nvPr/>
        </p:nvSpPr>
        <p:spPr>
          <a:xfrm>
            <a:off x="29326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271" name="Google Shape;271;p26"/>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272" name="Google Shape;272;p26"/>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273" name="Google Shape;273;p26"/>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274" name="Google Shape;274;p26"/>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Investigator Biographies</a:t>
            </a:r>
            <a:endParaRPr/>
          </a:p>
        </p:txBody>
      </p:sp>
      <p:graphicFrame>
        <p:nvGraphicFramePr>
          <p:cNvPr id="280" name="Google Shape;280;p27"/>
          <p:cNvGraphicFramePr/>
          <p:nvPr/>
        </p:nvGraphicFramePr>
        <p:xfrm>
          <a:off x="1197450" y="1336700"/>
          <a:ext cx="3000000" cy="3000000"/>
        </p:xfrm>
        <a:graphic>
          <a:graphicData uri="http://schemas.openxmlformats.org/drawingml/2006/table">
            <a:tbl>
              <a:tblPr>
                <a:noFill/>
                <a:tableStyleId>{6A38FC3F-8CE6-4A59-99A6-443D4BFA181B}</a:tableStyleId>
              </a:tblPr>
              <a:tblGrid>
                <a:gridCol w="3619500"/>
                <a:gridCol w="3619500"/>
              </a:tblGrid>
              <a:tr h="1414325">
                <a:tc>
                  <a:txBody>
                    <a:bodyPr/>
                    <a:lstStyle/>
                    <a:p>
                      <a:pPr indent="0" lvl="0" marL="0" rtl="0" algn="l">
                        <a:spcBef>
                          <a:spcPts val="0"/>
                        </a:spcBef>
                        <a:spcAft>
                          <a:spcPts val="0"/>
                        </a:spcAft>
                        <a:buNone/>
                      </a:pPr>
                      <a:r>
                        <a:rPr lang="en" sz="1200" u="sng">
                          <a:solidFill>
                            <a:schemeClr val="lt1"/>
                          </a:solidFill>
                          <a:latin typeface="Lato"/>
                          <a:ea typeface="Lato"/>
                          <a:cs typeface="Lato"/>
                          <a:sym typeface="Lato"/>
                        </a:rPr>
                        <a:t>Abhijeet Dabas</a:t>
                      </a:r>
                      <a:r>
                        <a:rPr lang="en" sz="1200">
                          <a:solidFill>
                            <a:schemeClr val="lt1"/>
                          </a:solidFill>
                          <a:latin typeface="Lato"/>
                          <a:ea typeface="Lato"/>
                          <a:cs typeface="Lato"/>
                          <a:sym typeface="Lato"/>
                        </a:rPr>
                        <a:t> - abhid@email.arizona.edu</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Bachelor’s Degree in Business Administration. </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Worked in Information Security for banking and insurance industries</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Skilled in n</a:t>
                      </a:r>
                      <a:r>
                        <a:rPr lang="en" sz="1000">
                          <a:solidFill>
                            <a:schemeClr val="lt1"/>
                          </a:solidFill>
                          <a:latin typeface="Lato"/>
                          <a:ea typeface="Lato"/>
                          <a:cs typeface="Lato"/>
                          <a:sym typeface="Lato"/>
                        </a:rPr>
                        <a:t>etworking, risk analysis, data mining,</a:t>
                      </a:r>
                      <a:r>
                        <a:rPr lang="en" sz="1000">
                          <a:solidFill>
                            <a:schemeClr val="lt1"/>
                          </a:solidFill>
                          <a:latin typeface="Lato"/>
                          <a:ea typeface="Lato"/>
                          <a:cs typeface="Lato"/>
                          <a:sym typeface="Lato"/>
                        </a:rPr>
                        <a:t> and</a:t>
                      </a:r>
                      <a:r>
                        <a:rPr lang="en" sz="1000">
                          <a:solidFill>
                            <a:schemeClr val="lt1"/>
                          </a:solidFill>
                          <a:latin typeface="Lato"/>
                          <a:ea typeface="Lato"/>
                          <a:cs typeface="Lato"/>
                          <a:sym typeface="Lato"/>
                        </a:rPr>
                        <a:t> machine learning</a:t>
                      </a:r>
                      <a:endParaRPr sz="10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200" u="sng">
                          <a:solidFill>
                            <a:schemeClr val="lt1"/>
                          </a:solidFill>
                          <a:latin typeface="Lato"/>
                          <a:ea typeface="Lato"/>
                          <a:cs typeface="Lato"/>
                          <a:sym typeface="Lato"/>
                        </a:rPr>
                        <a:t>Jacob Staggs</a:t>
                      </a:r>
                      <a:r>
                        <a:rPr lang="en" sz="1200">
                          <a:solidFill>
                            <a:schemeClr val="lt1"/>
                          </a:solidFill>
                          <a:latin typeface="Lato"/>
                          <a:ea typeface="Lato"/>
                          <a:cs typeface="Lato"/>
                          <a:sym typeface="Lato"/>
                        </a:rPr>
                        <a:t> </a:t>
                      </a:r>
                      <a:r>
                        <a:rPr lang="en" sz="1200">
                          <a:solidFill>
                            <a:schemeClr val="lt1"/>
                          </a:solidFill>
                          <a:latin typeface="Lato"/>
                          <a:ea typeface="Lato"/>
                          <a:cs typeface="Lato"/>
                          <a:sym typeface="Lato"/>
                        </a:rPr>
                        <a:t>- jastaggs@email.arizona.edu</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B.A.S in Cyber Operations, Engineering Emphasis</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3-time DoD CySP recipient</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Skilled in reverse </a:t>
                      </a:r>
                      <a:r>
                        <a:rPr lang="en" sz="1000">
                          <a:solidFill>
                            <a:schemeClr val="lt1"/>
                          </a:solidFill>
                          <a:latin typeface="Lato"/>
                          <a:ea typeface="Lato"/>
                          <a:cs typeface="Lato"/>
                          <a:sym typeface="Lato"/>
                        </a:rPr>
                        <a:t>engineering</a:t>
                      </a:r>
                      <a:r>
                        <a:rPr lang="en" sz="1000">
                          <a:solidFill>
                            <a:schemeClr val="lt1"/>
                          </a:solidFill>
                          <a:latin typeface="Lato"/>
                          <a:ea typeface="Lato"/>
                          <a:cs typeface="Lato"/>
                          <a:sym typeface="Lato"/>
                        </a:rPr>
                        <a:t>, malware analysis, C and assembly programming</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Current MS Cybersecurity student</a:t>
                      </a:r>
                      <a:endParaRPr sz="1000">
                        <a:solidFill>
                          <a:schemeClr val="lt1"/>
                        </a:solidFill>
                        <a:latin typeface="Lato"/>
                        <a:ea typeface="Lato"/>
                        <a:cs typeface="Lato"/>
                        <a:sym typeface="Lato"/>
                      </a:endParaRPr>
                    </a:p>
                  </a:txBody>
                  <a:tcPr marT="91425" marB="91425" marR="91425" marL="91425"/>
                </a:tc>
              </a:tr>
              <a:tr h="1378125">
                <a:tc>
                  <a:txBody>
                    <a:bodyPr/>
                    <a:lstStyle/>
                    <a:p>
                      <a:pPr indent="0" lvl="0" marL="0" rtl="0" algn="l">
                        <a:spcBef>
                          <a:spcPts val="0"/>
                        </a:spcBef>
                        <a:spcAft>
                          <a:spcPts val="0"/>
                        </a:spcAft>
                        <a:buNone/>
                      </a:pPr>
                      <a:r>
                        <a:rPr lang="en" sz="1200" u="sng">
                          <a:solidFill>
                            <a:schemeClr val="lt1"/>
                          </a:solidFill>
                          <a:latin typeface="Lato"/>
                          <a:ea typeface="Lato"/>
                          <a:cs typeface="Lato"/>
                          <a:sym typeface="Lato"/>
                        </a:rPr>
                        <a:t>Timothy Covert</a:t>
                      </a:r>
                      <a:r>
                        <a:rPr lang="en" sz="1200">
                          <a:solidFill>
                            <a:schemeClr val="lt1"/>
                          </a:solidFill>
                          <a:latin typeface="Lato"/>
                          <a:ea typeface="Lato"/>
                          <a:cs typeface="Lato"/>
                          <a:sym typeface="Lato"/>
                        </a:rPr>
                        <a:t> - tcolvert@email.arizona.edu</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B.S. in System Engineering</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Lead System Engineer, IT Specialist at Bard Water District</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Skilled in mechanical engineering, computer/software engineering, and industrial engineering</a:t>
                      </a:r>
                      <a:endParaRPr sz="10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200" u="sng">
                          <a:solidFill>
                            <a:schemeClr val="lt1"/>
                          </a:solidFill>
                          <a:latin typeface="Lato"/>
                          <a:ea typeface="Lato"/>
                          <a:cs typeface="Lato"/>
                          <a:sym typeface="Lato"/>
                        </a:rPr>
                        <a:t>Tri Nguyen</a:t>
                      </a:r>
                      <a:r>
                        <a:rPr lang="en" sz="1200">
                          <a:solidFill>
                            <a:schemeClr val="lt1"/>
                          </a:solidFill>
                          <a:latin typeface="Lato"/>
                          <a:ea typeface="Lato"/>
                          <a:cs typeface="Lato"/>
                          <a:sym typeface="Lato"/>
                        </a:rPr>
                        <a:t> - txn180008@utdallas.edu</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Pursuing B.S. in Computer Science (Dec 2023)</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NSF SFS recipient</a:t>
                      </a:r>
                      <a:endParaRPr sz="1000">
                        <a:solidFill>
                          <a:schemeClr val="lt1"/>
                        </a:solidFill>
                        <a:latin typeface="Lato"/>
                        <a:ea typeface="Lato"/>
                        <a:cs typeface="Lato"/>
                        <a:sym typeface="Lato"/>
                      </a:endParaRPr>
                    </a:p>
                    <a:p>
                      <a:pPr indent="-292100" lvl="0" marL="4572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Skilled in programming, computer networking, reverse engineering</a:t>
                      </a:r>
                      <a:endParaRPr sz="10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txBody>
                  <a:tcPr marT="91425" marB="91425" marR="91425" marL="91425"/>
                </a:tc>
              </a:tr>
            </a:tbl>
          </a:graphicData>
        </a:graphic>
      </p:graphicFrame>
      <p:sp>
        <p:nvSpPr>
          <p:cNvPr id="281" name="Google Shape;281;p27"/>
          <p:cNvSpPr/>
          <p:nvPr/>
        </p:nvSpPr>
        <p:spPr>
          <a:xfrm>
            <a:off x="1003750" y="4615925"/>
            <a:ext cx="10422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282" name="Google Shape;282;p27"/>
          <p:cNvSpPr/>
          <p:nvPr/>
        </p:nvSpPr>
        <p:spPr>
          <a:xfrm>
            <a:off x="1907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283" name="Google Shape;283;p27"/>
          <p:cNvSpPr/>
          <p:nvPr/>
        </p:nvSpPr>
        <p:spPr>
          <a:xfrm>
            <a:off x="29326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284" name="Google Shape;284;p27"/>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285" name="Google Shape;285;p27"/>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286" name="Google Shape;286;p27"/>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287" name="Google Shape;287;p27"/>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Purpose Statement</a:t>
            </a:r>
            <a:endParaRPr/>
          </a:p>
        </p:txBody>
      </p:sp>
      <p:sp>
        <p:nvSpPr>
          <p:cNvPr id="293" name="Google Shape;293;p28"/>
          <p:cNvSpPr txBox="1"/>
          <p:nvPr/>
        </p:nvSpPr>
        <p:spPr>
          <a:xfrm>
            <a:off x="1317900" y="833950"/>
            <a:ext cx="6998100" cy="37248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lt1"/>
              </a:buClr>
              <a:buSzPts val="1200"/>
              <a:buFont typeface="Lato"/>
              <a:buChar char="●"/>
            </a:pPr>
            <a:r>
              <a:rPr lang="en" sz="1200">
                <a:solidFill>
                  <a:schemeClr val="lt1"/>
                </a:solidFill>
                <a:latin typeface="Lato"/>
                <a:ea typeface="Lato"/>
                <a:cs typeface="Lato"/>
                <a:sym typeface="Lato"/>
              </a:rPr>
              <a:t>What is the purpose of this project? </a:t>
            </a:r>
            <a:endParaRPr sz="1200">
              <a:solidFill>
                <a:schemeClr val="lt1"/>
              </a:solidFill>
              <a:latin typeface="Lato"/>
              <a:ea typeface="Lato"/>
              <a:cs typeface="Lato"/>
              <a:sym typeface="Lato"/>
            </a:endParaRPr>
          </a:p>
          <a:p>
            <a:pPr indent="-304800" lvl="1" marL="914400" rtl="0" algn="l">
              <a:spcBef>
                <a:spcPts val="0"/>
              </a:spcBef>
              <a:spcAft>
                <a:spcPts val="0"/>
              </a:spcAft>
              <a:buClr>
                <a:schemeClr val="lt1"/>
              </a:buClr>
              <a:buSzPts val="1200"/>
              <a:buFont typeface="Lato"/>
              <a:buChar char="○"/>
            </a:pPr>
            <a:r>
              <a:rPr lang="en" sz="1200">
                <a:solidFill>
                  <a:schemeClr val="lt1"/>
                </a:solidFill>
                <a:latin typeface="Lato"/>
                <a:ea typeface="Lato"/>
                <a:cs typeface="Lato"/>
                <a:sym typeface="Lato"/>
              </a:rPr>
              <a:t> To research malware analysis techniques and frameworks such as: </a:t>
            </a:r>
            <a:endParaRPr sz="1200">
              <a:solidFill>
                <a:schemeClr val="lt1"/>
              </a:solidFill>
              <a:latin typeface="Lato"/>
              <a:ea typeface="Lato"/>
              <a:cs typeface="Lato"/>
              <a:sym typeface="Lato"/>
            </a:endParaRPr>
          </a:p>
          <a:p>
            <a:pPr indent="-298450" lvl="2" marL="1371600" rtl="0" algn="l">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Toolmark Analysis using:</a:t>
            </a:r>
            <a:endParaRPr sz="1100">
              <a:solidFill>
                <a:schemeClr val="lt1"/>
              </a:solidFill>
              <a:latin typeface="Lato"/>
              <a:ea typeface="Lato"/>
              <a:cs typeface="Lato"/>
              <a:sym typeface="Lato"/>
            </a:endParaRPr>
          </a:p>
          <a:p>
            <a:pPr indent="-292100" lvl="3" marL="18288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Compiler Provenance Information</a:t>
            </a:r>
            <a:endParaRPr sz="1000">
              <a:solidFill>
                <a:schemeClr val="lt1"/>
              </a:solidFill>
              <a:latin typeface="Lato"/>
              <a:ea typeface="Lato"/>
              <a:cs typeface="Lato"/>
              <a:sym typeface="Lato"/>
            </a:endParaRPr>
          </a:p>
          <a:p>
            <a:pPr indent="-292100" lvl="3" marL="18288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Statically-Linked Library Code</a:t>
            </a:r>
            <a:endParaRPr sz="1000">
              <a:solidFill>
                <a:schemeClr val="lt1"/>
              </a:solidFill>
              <a:latin typeface="Lato"/>
              <a:ea typeface="Lato"/>
              <a:cs typeface="Lato"/>
              <a:sym typeface="Lato"/>
            </a:endParaRPr>
          </a:p>
          <a:p>
            <a:pPr indent="-292100" lvl="3" marL="18288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String Information </a:t>
            </a:r>
            <a:endParaRPr sz="1000">
              <a:solidFill>
                <a:schemeClr val="lt1"/>
              </a:solidFill>
              <a:latin typeface="Lato"/>
              <a:ea typeface="Lato"/>
              <a:cs typeface="Lato"/>
              <a:sym typeface="Lato"/>
            </a:endParaRPr>
          </a:p>
          <a:p>
            <a:pPr indent="-292100" lvl="3" marL="18288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Malware Capability Analysis</a:t>
            </a:r>
            <a:endParaRPr sz="1000">
              <a:solidFill>
                <a:schemeClr val="lt1"/>
              </a:solidFill>
              <a:latin typeface="Lato"/>
              <a:ea typeface="Lato"/>
              <a:cs typeface="Lato"/>
              <a:sym typeface="Lato"/>
            </a:endParaRPr>
          </a:p>
          <a:p>
            <a:pPr indent="-298450" lvl="2" marL="1371600" rtl="0" algn="l">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The MITRE Malware Development Life Cycle (MDLC)</a:t>
            </a:r>
            <a:endParaRPr sz="1100">
              <a:solidFill>
                <a:schemeClr val="lt1"/>
              </a:solidFill>
              <a:latin typeface="Lato"/>
              <a:ea typeface="Lato"/>
              <a:cs typeface="Lato"/>
              <a:sym typeface="Lato"/>
            </a:endParaRPr>
          </a:p>
          <a:p>
            <a:pPr indent="-292100" lvl="3" marL="1828800" rtl="0" algn="l">
              <a:spcBef>
                <a:spcPts val="0"/>
              </a:spcBef>
              <a:spcAft>
                <a:spcPts val="0"/>
              </a:spcAft>
              <a:buClr>
                <a:schemeClr val="lt1"/>
              </a:buClr>
              <a:buSzPts val="1000"/>
              <a:buFont typeface="Lato"/>
              <a:buChar char="●"/>
            </a:pPr>
            <a:r>
              <a:rPr lang="en" sz="1000">
                <a:solidFill>
                  <a:schemeClr val="lt1"/>
                </a:solidFill>
                <a:latin typeface="Lato"/>
                <a:ea typeface="Lato"/>
                <a:cs typeface="Lato"/>
                <a:sym typeface="Lato"/>
              </a:rPr>
              <a:t>Characterizes malware authors and their decisions</a:t>
            </a:r>
            <a:endParaRPr sz="1000">
              <a:solidFill>
                <a:schemeClr val="lt1"/>
              </a:solidFill>
              <a:latin typeface="Lato"/>
              <a:ea typeface="Lato"/>
              <a:cs typeface="Lato"/>
              <a:sym typeface="Lato"/>
            </a:endParaRPr>
          </a:p>
          <a:p>
            <a:pPr indent="-304800" lvl="1" marL="914400" rtl="0" algn="l">
              <a:spcBef>
                <a:spcPts val="0"/>
              </a:spcBef>
              <a:spcAft>
                <a:spcPts val="0"/>
              </a:spcAft>
              <a:buClr>
                <a:schemeClr val="lt1"/>
              </a:buClr>
              <a:buSzPts val="1200"/>
              <a:buFont typeface="Lato"/>
              <a:buChar char="○"/>
            </a:pPr>
            <a:r>
              <a:rPr lang="en" sz="1200">
                <a:solidFill>
                  <a:schemeClr val="lt1"/>
                </a:solidFill>
                <a:latin typeface="Lato"/>
                <a:ea typeface="Lato"/>
                <a:cs typeface="Lato"/>
                <a:sym typeface="Lato"/>
              </a:rPr>
              <a:t>Apply our research to produce:</a:t>
            </a:r>
            <a:endParaRPr sz="1200">
              <a:solidFill>
                <a:schemeClr val="lt1"/>
              </a:solidFill>
              <a:latin typeface="Lato"/>
              <a:ea typeface="Lato"/>
              <a:cs typeface="Lato"/>
              <a:sym typeface="Lato"/>
            </a:endParaRPr>
          </a:p>
          <a:p>
            <a:pPr indent="-304800" lvl="2" marL="1371600" rtl="0" algn="l">
              <a:spcBef>
                <a:spcPts val="0"/>
              </a:spcBef>
              <a:spcAft>
                <a:spcPts val="0"/>
              </a:spcAft>
              <a:buClr>
                <a:schemeClr val="lt1"/>
              </a:buClr>
              <a:buSzPts val="1200"/>
              <a:buFont typeface="Lato"/>
              <a:buChar char="■"/>
            </a:pPr>
            <a:r>
              <a:rPr lang="en" sz="1200">
                <a:solidFill>
                  <a:schemeClr val="lt1"/>
                </a:solidFill>
                <a:latin typeface="Lato"/>
                <a:ea typeface="Lato"/>
                <a:cs typeface="Lato"/>
                <a:sym typeface="Lato"/>
              </a:rPr>
              <a:t>Four ground truth malware samples characterized within the MDLC</a:t>
            </a:r>
            <a:endParaRPr sz="1200">
              <a:solidFill>
                <a:schemeClr val="lt1"/>
              </a:solidFill>
              <a:latin typeface="Lato"/>
              <a:ea typeface="Lato"/>
              <a:cs typeface="Lato"/>
              <a:sym typeface="Lato"/>
            </a:endParaRPr>
          </a:p>
          <a:p>
            <a:pPr indent="-304800" lvl="2" marL="1371600" rtl="0" algn="l">
              <a:spcBef>
                <a:spcPts val="0"/>
              </a:spcBef>
              <a:spcAft>
                <a:spcPts val="0"/>
              </a:spcAft>
              <a:buClr>
                <a:schemeClr val="lt1"/>
              </a:buClr>
              <a:buSzPts val="1200"/>
              <a:buFont typeface="Lato"/>
              <a:buChar char="■"/>
            </a:pPr>
            <a:r>
              <a:rPr lang="en" sz="1200">
                <a:solidFill>
                  <a:schemeClr val="lt1"/>
                </a:solidFill>
                <a:latin typeface="Lato"/>
                <a:ea typeface="Lato"/>
                <a:cs typeface="Lato"/>
                <a:sym typeface="Lato"/>
              </a:rPr>
              <a:t>One proposed malware analysis tool that incorporates the aforementioned concepts</a:t>
            </a:r>
            <a:endParaRPr sz="1200">
              <a:solidFill>
                <a:schemeClr val="lt1"/>
              </a:solidFill>
              <a:latin typeface="Lato"/>
              <a:ea typeface="Lato"/>
              <a:cs typeface="Lato"/>
              <a:sym typeface="Lato"/>
            </a:endParaRPr>
          </a:p>
          <a:p>
            <a:pPr indent="-304800" lvl="0" marL="457200" rtl="0" algn="l">
              <a:spcBef>
                <a:spcPts val="0"/>
              </a:spcBef>
              <a:spcAft>
                <a:spcPts val="0"/>
              </a:spcAft>
              <a:buClr>
                <a:schemeClr val="lt1"/>
              </a:buClr>
              <a:buSzPts val="1200"/>
              <a:buFont typeface="Lato"/>
              <a:buChar char="●"/>
            </a:pPr>
            <a:r>
              <a:rPr lang="en" sz="1200">
                <a:solidFill>
                  <a:schemeClr val="lt1"/>
                </a:solidFill>
                <a:latin typeface="Lato"/>
                <a:ea typeface="Lato"/>
                <a:cs typeface="Lato"/>
                <a:sym typeface="Lato"/>
              </a:rPr>
              <a:t>How does this project change the current state of affairs?</a:t>
            </a:r>
            <a:endParaRPr sz="1200">
              <a:solidFill>
                <a:schemeClr val="lt1"/>
              </a:solidFill>
              <a:latin typeface="Lato"/>
              <a:ea typeface="Lato"/>
              <a:cs typeface="Lato"/>
              <a:sym typeface="Lato"/>
            </a:endParaRPr>
          </a:p>
          <a:p>
            <a:pPr indent="-304800" lvl="1" marL="914400" rtl="0" algn="l">
              <a:spcBef>
                <a:spcPts val="0"/>
              </a:spcBef>
              <a:spcAft>
                <a:spcPts val="0"/>
              </a:spcAft>
              <a:buClr>
                <a:schemeClr val="lt1"/>
              </a:buClr>
              <a:buSzPts val="1200"/>
              <a:buFont typeface="Lato"/>
              <a:buChar char="○"/>
            </a:pPr>
            <a:r>
              <a:rPr lang="en" sz="1100">
                <a:solidFill>
                  <a:schemeClr val="lt1"/>
                </a:solidFill>
                <a:latin typeface="Lato"/>
                <a:ea typeface="Lato"/>
                <a:cs typeface="Lato"/>
                <a:sym typeface="Lato"/>
              </a:rPr>
              <a:t>Helps to provide sample characterizations of basic malware within the MDLC </a:t>
            </a:r>
            <a:endParaRPr sz="1100">
              <a:solidFill>
                <a:schemeClr val="lt1"/>
              </a:solidFill>
              <a:latin typeface="Lato"/>
              <a:ea typeface="Lato"/>
              <a:cs typeface="Lato"/>
              <a:sym typeface="Lato"/>
            </a:endParaRPr>
          </a:p>
          <a:p>
            <a:pPr indent="-298450" lvl="2" marL="1371600" rtl="0" algn="l">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Each sample will be broken down and analyzed in the context of the MDLC</a:t>
            </a:r>
            <a:endParaRPr sz="1100">
              <a:solidFill>
                <a:schemeClr val="lt1"/>
              </a:solidFill>
              <a:latin typeface="Lato"/>
              <a:ea typeface="Lato"/>
              <a:cs typeface="Lato"/>
              <a:sym typeface="Lato"/>
            </a:endParaRPr>
          </a:p>
          <a:p>
            <a:pPr indent="-298450" lvl="1" marL="914400" rtl="0" algn="l">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Helps to explain how we can analyze malware in a more efficient way</a:t>
            </a:r>
            <a:endParaRPr sz="1100">
              <a:solidFill>
                <a:schemeClr val="lt1"/>
              </a:solidFill>
              <a:latin typeface="Lato"/>
              <a:ea typeface="Lato"/>
              <a:cs typeface="Lato"/>
              <a:sym typeface="Lato"/>
            </a:endParaRPr>
          </a:p>
          <a:p>
            <a:pPr indent="-298450" lvl="2" marL="1371600" rtl="0" algn="l">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Malware analysis is a difficult task; all stages of the process are slow</a:t>
            </a:r>
            <a:endParaRPr sz="1100">
              <a:solidFill>
                <a:schemeClr val="lt1"/>
              </a:solidFill>
              <a:latin typeface="Lato"/>
              <a:ea typeface="Lato"/>
              <a:cs typeface="Lato"/>
              <a:sym typeface="Lato"/>
            </a:endParaRPr>
          </a:p>
          <a:p>
            <a:pPr indent="-298450" lvl="2" marL="1371600" rtl="0" algn="l">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Current practices do not always emphasize the importance of understanding the attack and his or her goals in creating a malware package</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700">
              <a:solidFill>
                <a:schemeClr val="lt1"/>
              </a:solidFill>
              <a:latin typeface="Lato"/>
              <a:ea typeface="Lato"/>
              <a:cs typeface="Lato"/>
              <a:sym typeface="Lato"/>
            </a:endParaRPr>
          </a:p>
        </p:txBody>
      </p:sp>
      <p:sp>
        <p:nvSpPr>
          <p:cNvPr id="294" name="Google Shape;294;p28"/>
          <p:cNvSpPr/>
          <p:nvPr/>
        </p:nvSpPr>
        <p:spPr>
          <a:xfrm>
            <a:off x="1003750" y="4615925"/>
            <a:ext cx="10422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295" name="Google Shape;295;p28"/>
          <p:cNvSpPr/>
          <p:nvPr/>
        </p:nvSpPr>
        <p:spPr>
          <a:xfrm>
            <a:off x="1907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296" name="Google Shape;296;p28"/>
          <p:cNvSpPr/>
          <p:nvPr/>
        </p:nvSpPr>
        <p:spPr>
          <a:xfrm>
            <a:off x="29326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297" name="Google Shape;297;p28"/>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298" name="Google Shape;298;p28"/>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299" name="Google Shape;299;p28"/>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300" name="Google Shape;300;p28"/>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a:t>
            </a:r>
            <a:r>
              <a:rPr lang="en"/>
              <a:t>Project Motivation</a:t>
            </a:r>
            <a:endParaRPr/>
          </a:p>
        </p:txBody>
      </p:sp>
      <p:sp>
        <p:nvSpPr>
          <p:cNvPr id="306" name="Google Shape;306;p29"/>
          <p:cNvSpPr txBox="1"/>
          <p:nvPr>
            <p:ph idx="1" type="body"/>
          </p:nvPr>
        </p:nvSpPr>
        <p:spPr>
          <a:xfrm>
            <a:off x="1259200" y="1070125"/>
            <a:ext cx="3715800" cy="32244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Char char="●"/>
            </a:pPr>
            <a:r>
              <a:rPr lang="en"/>
              <a:t>450,000 new samples of malware daily</a:t>
            </a:r>
            <a:endParaRPr/>
          </a:p>
          <a:p>
            <a:pPr indent="-298450" lvl="1" marL="914400" rtl="0" algn="l">
              <a:lnSpc>
                <a:spcPct val="100000"/>
              </a:lnSpc>
              <a:spcBef>
                <a:spcPts val="0"/>
              </a:spcBef>
              <a:spcAft>
                <a:spcPts val="0"/>
              </a:spcAft>
              <a:buSzPts val="1100"/>
              <a:buChar char="○"/>
            </a:pPr>
            <a:r>
              <a:rPr lang="en" sz="1200"/>
              <a:t>How do we better analyze the deluge of malware?</a:t>
            </a:r>
            <a:endParaRPr sz="1200"/>
          </a:p>
          <a:p>
            <a:pPr indent="-304800" lvl="1" marL="914400" rtl="0" algn="l">
              <a:lnSpc>
                <a:spcPct val="100000"/>
              </a:lnSpc>
              <a:spcBef>
                <a:spcPts val="0"/>
              </a:spcBef>
              <a:spcAft>
                <a:spcPts val="0"/>
              </a:spcAft>
              <a:buSzPts val="1200"/>
              <a:buChar char="○"/>
            </a:pPr>
            <a:r>
              <a:rPr lang="en" sz="1200"/>
              <a:t>How do we better understand the attacker’s intentions in creating these samples?</a:t>
            </a:r>
            <a:endParaRPr sz="1200"/>
          </a:p>
          <a:p>
            <a:pPr indent="0" lvl="0" marL="0" rtl="0" algn="l">
              <a:lnSpc>
                <a:spcPct val="100000"/>
              </a:lnSpc>
              <a:spcBef>
                <a:spcPts val="0"/>
              </a:spcBef>
              <a:spcAft>
                <a:spcPts val="0"/>
              </a:spcAft>
              <a:buNone/>
            </a:pPr>
            <a:r>
              <a:t/>
            </a:r>
            <a:endParaRPr sz="1200"/>
          </a:p>
          <a:p>
            <a:pPr indent="-311150" lvl="0" marL="457200" rtl="0" algn="l">
              <a:lnSpc>
                <a:spcPct val="100000"/>
              </a:lnSpc>
              <a:spcBef>
                <a:spcPts val="0"/>
              </a:spcBef>
              <a:spcAft>
                <a:spcPts val="0"/>
              </a:spcAft>
              <a:buSzPts val="1300"/>
              <a:buChar char="●"/>
            </a:pPr>
            <a:r>
              <a:rPr lang="en"/>
              <a:t>To address these questions, we decided to </a:t>
            </a:r>
            <a:endParaRPr/>
          </a:p>
          <a:p>
            <a:pPr indent="-304800" lvl="1" marL="914400" rtl="0" algn="l">
              <a:lnSpc>
                <a:spcPct val="100000"/>
              </a:lnSpc>
              <a:spcBef>
                <a:spcPts val="0"/>
              </a:spcBef>
              <a:spcAft>
                <a:spcPts val="0"/>
              </a:spcAft>
              <a:buSzPts val="1200"/>
              <a:buChar char="○"/>
            </a:pPr>
            <a:r>
              <a:rPr lang="en" sz="1200"/>
              <a:t>create ground truth samples</a:t>
            </a:r>
            <a:endParaRPr sz="1200"/>
          </a:p>
          <a:p>
            <a:pPr indent="-304800" lvl="1" marL="914400" rtl="0" algn="l">
              <a:lnSpc>
                <a:spcPct val="100000"/>
              </a:lnSpc>
              <a:spcBef>
                <a:spcPts val="0"/>
              </a:spcBef>
              <a:spcAft>
                <a:spcPts val="0"/>
              </a:spcAft>
              <a:buSzPts val="1200"/>
              <a:buChar char="○"/>
            </a:pPr>
            <a:r>
              <a:rPr lang="en" sz="1200"/>
              <a:t>research characterizing malware engineering decisions</a:t>
            </a:r>
            <a:endParaRPr sz="1200"/>
          </a:p>
          <a:p>
            <a:pPr indent="-304800" lvl="1" marL="914400" rtl="0" algn="l">
              <a:lnSpc>
                <a:spcPct val="100000"/>
              </a:lnSpc>
              <a:spcBef>
                <a:spcPts val="0"/>
              </a:spcBef>
              <a:spcAft>
                <a:spcPts val="0"/>
              </a:spcAft>
              <a:buSzPts val="1200"/>
              <a:buChar char="○"/>
            </a:pPr>
            <a:r>
              <a:rPr lang="en" sz="1200"/>
              <a:t>propose a possible malware analysis solution</a:t>
            </a:r>
            <a:endParaRPr sz="1200">
              <a:highlight>
                <a:srgbClr val="00FF00"/>
              </a:highlight>
            </a:endParaRPr>
          </a:p>
        </p:txBody>
      </p:sp>
      <p:sp>
        <p:nvSpPr>
          <p:cNvPr id="307" name="Google Shape;307;p29"/>
          <p:cNvSpPr/>
          <p:nvPr/>
        </p:nvSpPr>
        <p:spPr>
          <a:xfrm>
            <a:off x="1003750" y="4615925"/>
            <a:ext cx="10422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308" name="Google Shape;308;p29"/>
          <p:cNvSpPr/>
          <p:nvPr/>
        </p:nvSpPr>
        <p:spPr>
          <a:xfrm>
            <a:off x="1907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309" name="Google Shape;309;p29"/>
          <p:cNvSpPr/>
          <p:nvPr/>
        </p:nvSpPr>
        <p:spPr>
          <a:xfrm>
            <a:off x="29326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310" name="Google Shape;310;p29"/>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311" name="Google Shape;311;p29"/>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312" name="Google Shape;312;p29"/>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313" name="Google Shape;313;p29"/>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pic>
        <p:nvPicPr>
          <p:cNvPr id="314" name="Google Shape;314;p29"/>
          <p:cNvPicPr preferRelativeResize="0"/>
          <p:nvPr/>
        </p:nvPicPr>
        <p:blipFill>
          <a:blip r:embed="rId3">
            <a:alphaModFix/>
          </a:blip>
          <a:stretch>
            <a:fillRect/>
          </a:stretch>
        </p:blipFill>
        <p:spPr>
          <a:xfrm>
            <a:off x="5113775" y="1070125"/>
            <a:ext cx="3071300" cy="288591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0"/>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Methods</a:t>
            </a:r>
            <a:r>
              <a:rPr lang="en"/>
              <a:t> and Procedures: Characterization of Methods Used </a:t>
            </a:r>
            <a:endParaRPr/>
          </a:p>
        </p:txBody>
      </p:sp>
      <p:sp>
        <p:nvSpPr>
          <p:cNvPr id="320" name="Google Shape;320;p30"/>
          <p:cNvSpPr txBox="1"/>
          <p:nvPr>
            <p:ph idx="1" type="body"/>
          </p:nvPr>
        </p:nvSpPr>
        <p:spPr>
          <a:xfrm>
            <a:off x="1297500" y="1220600"/>
            <a:ext cx="7038900" cy="3395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Exploratory Research</a:t>
            </a:r>
            <a:endParaRPr/>
          </a:p>
          <a:p>
            <a:pPr indent="-298450" lvl="1" marL="914400" rtl="0" algn="l">
              <a:spcBef>
                <a:spcPts val="0"/>
              </a:spcBef>
              <a:spcAft>
                <a:spcPts val="0"/>
              </a:spcAft>
              <a:buSzPts val="1100"/>
              <a:buChar char="○"/>
            </a:pPr>
            <a:r>
              <a:rPr lang="en"/>
              <a:t>Initial Literature Review conducted at start of the semester </a:t>
            </a:r>
            <a:endParaRPr/>
          </a:p>
          <a:p>
            <a:pPr indent="-298450" lvl="1" marL="914400" rtl="0" algn="l">
              <a:spcBef>
                <a:spcPts val="0"/>
              </a:spcBef>
              <a:spcAft>
                <a:spcPts val="0"/>
              </a:spcAft>
              <a:buSzPts val="1100"/>
              <a:buChar char="○"/>
            </a:pPr>
            <a:r>
              <a:rPr lang="en"/>
              <a:t>MDLC and malware research helped frame the project research issue </a:t>
            </a:r>
            <a:endParaRPr/>
          </a:p>
          <a:p>
            <a:pPr indent="-298450" lvl="1" marL="914400" rtl="0" algn="l">
              <a:spcBef>
                <a:spcPts val="0"/>
              </a:spcBef>
              <a:spcAft>
                <a:spcPts val="0"/>
              </a:spcAft>
              <a:buSzPts val="1100"/>
              <a:buChar char="○"/>
            </a:pPr>
            <a:r>
              <a:rPr lang="en"/>
              <a:t>Re-examining topics and exploring new issues within topics we had previously thought finished</a:t>
            </a:r>
            <a:endParaRPr/>
          </a:p>
          <a:p>
            <a:pPr indent="-311150" lvl="0" marL="457200" rtl="0" algn="l">
              <a:spcBef>
                <a:spcPts val="0"/>
              </a:spcBef>
              <a:spcAft>
                <a:spcPts val="0"/>
              </a:spcAft>
              <a:buSzPts val="1300"/>
              <a:buChar char="●"/>
            </a:pPr>
            <a:r>
              <a:rPr lang="en"/>
              <a:t>Constructive Research </a:t>
            </a:r>
            <a:endParaRPr/>
          </a:p>
          <a:p>
            <a:pPr indent="-298450" lvl="1" marL="914400" rtl="0" algn="l">
              <a:spcBef>
                <a:spcPts val="0"/>
              </a:spcBef>
              <a:spcAft>
                <a:spcPts val="0"/>
              </a:spcAft>
              <a:buSzPts val="1100"/>
              <a:buChar char="○"/>
            </a:pPr>
            <a:r>
              <a:rPr lang="en"/>
              <a:t>Initial Literature Review also helpful here </a:t>
            </a:r>
            <a:endParaRPr/>
          </a:p>
          <a:p>
            <a:pPr indent="-298450" lvl="2" marL="1371600" rtl="0" algn="l">
              <a:spcBef>
                <a:spcPts val="0"/>
              </a:spcBef>
              <a:spcAft>
                <a:spcPts val="0"/>
              </a:spcAft>
              <a:buSzPts val="1100"/>
              <a:buChar char="■"/>
            </a:pPr>
            <a:r>
              <a:rPr lang="en"/>
              <a:t>Compiler Provenance and Statically-Linked Library Code research helped begin to </a:t>
            </a:r>
            <a:r>
              <a:rPr lang="en"/>
              <a:t>illuminate</a:t>
            </a:r>
            <a:r>
              <a:rPr lang="en"/>
              <a:t> solutions for malware sample processing </a:t>
            </a:r>
            <a:endParaRPr/>
          </a:p>
          <a:p>
            <a:pPr indent="-298450" lvl="2" marL="1371600" rtl="0" algn="l">
              <a:spcBef>
                <a:spcPts val="0"/>
              </a:spcBef>
              <a:spcAft>
                <a:spcPts val="0"/>
              </a:spcAft>
              <a:buSzPts val="1100"/>
              <a:buChar char="■"/>
            </a:pPr>
            <a:r>
              <a:rPr lang="en"/>
              <a:t>Reviewing reverse engineering solutions and other malware analysis tools helped the team find concrete implementation ideas </a:t>
            </a:r>
            <a:endParaRPr/>
          </a:p>
          <a:p>
            <a:pPr indent="-298450" lvl="2" marL="1371600" rtl="0" algn="l">
              <a:spcBef>
                <a:spcPts val="0"/>
              </a:spcBef>
              <a:spcAft>
                <a:spcPts val="0"/>
              </a:spcAft>
              <a:buSzPts val="1100"/>
              <a:buChar char="■"/>
            </a:pPr>
            <a:r>
              <a:rPr lang="en"/>
              <a:t>Researching ground truth definitions and previous project requirements helped us start to imagine how to implement our ground truth samples and aided in further research</a:t>
            </a:r>
            <a:endParaRPr/>
          </a:p>
          <a:p>
            <a:pPr indent="-298450" lvl="2" marL="1371600" rtl="0" algn="l">
              <a:spcBef>
                <a:spcPts val="0"/>
              </a:spcBef>
              <a:spcAft>
                <a:spcPts val="0"/>
              </a:spcAft>
              <a:buSzPts val="1100"/>
              <a:buChar char="■"/>
            </a:pPr>
            <a:r>
              <a:rPr lang="en"/>
              <a:t>Researching new solutions for further research topics</a:t>
            </a:r>
            <a:endParaRPr/>
          </a:p>
          <a:p>
            <a:pPr indent="-298450" lvl="3" marL="1828800" rtl="0" algn="l">
              <a:spcBef>
                <a:spcPts val="0"/>
              </a:spcBef>
              <a:spcAft>
                <a:spcPts val="0"/>
              </a:spcAft>
              <a:buSzPts val="1100"/>
              <a:buChar char="●"/>
            </a:pPr>
            <a:r>
              <a:rPr lang="en"/>
              <a:t>Programming topics, debugging information, new toolchains, etc. </a:t>
            </a:r>
            <a:endParaRPr/>
          </a:p>
        </p:txBody>
      </p:sp>
      <p:sp>
        <p:nvSpPr>
          <p:cNvPr id="321" name="Google Shape;321;p30"/>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322" name="Google Shape;322;p30"/>
          <p:cNvSpPr/>
          <p:nvPr/>
        </p:nvSpPr>
        <p:spPr>
          <a:xfrm>
            <a:off x="19071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323" name="Google Shape;323;p30"/>
          <p:cNvSpPr/>
          <p:nvPr/>
        </p:nvSpPr>
        <p:spPr>
          <a:xfrm>
            <a:off x="29326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324" name="Google Shape;324;p30"/>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325" name="Google Shape;325;p30"/>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326" name="Google Shape;326;p30"/>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327" name="Google Shape;327;p30"/>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1"/>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Methods and Procedures: Characterization of Methods Used, Continued</a:t>
            </a:r>
            <a:endParaRPr/>
          </a:p>
        </p:txBody>
      </p:sp>
      <p:sp>
        <p:nvSpPr>
          <p:cNvPr id="333" name="Google Shape;333;p31"/>
          <p:cNvSpPr txBox="1"/>
          <p:nvPr>
            <p:ph idx="1" type="body"/>
          </p:nvPr>
        </p:nvSpPr>
        <p:spPr>
          <a:xfrm>
            <a:off x="1297500" y="1203275"/>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Empirical</a:t>
            </a:r>
            <a:r>
              <a:rPr lang="en"/>
              <a:t> Research</a:t>
            </a:r>
            <a:endParaRPr/>
          </a:p>
          <a:p>
            <a:pPr indent="-298450" lvl="1" marL="914400" rtl="0" algn="l">
              <a:spcBef>
                <a:spcPts val="0"/>
              </a:spcBef>
              <a:spcAft>
                <a:spcPts val="0"/>
              </a:spcAft>
              <a:buSzPts val="1100"/>
              <a:buChar char="○"/>
            </a:pPr>
            <a:r>
              <a:rPr lang="en"/>
              <a:t>Further research into current state-of-the-art compiler provenance solutions revealed to the team that we do not have the resources to employ advance compiler provenance techniques </a:t>
            </a:r>
            <a:endParaRPr/>
          </a:p>
          <a:p>
            <a:pPr indent="-298450" lvl="2" marL="1371600" rtl="0" algn="l">
              <a:spcBef>
                <a:spcPts val="0"/>
              </a:spcBef>
              <a:spcAft>
                <a:spcPts val="0"/>
              </a:spcAft>
              <a:buSzPts val="1100"/>
              <a:buChar char="■"/>
            </a:pPr>
            <a:r>
              <a:rPr lang="en"/>
              <a:t>Research was too advanced to replicate and we did not have the time </a:t>
            </a:r>
            <a:r>
              <a:rPr lang="en"/>
              <a:t>to obtain previous research teams’ programs </a:t>
            </a:r>
            <a:endParaRPr/>
          </a:p>
          <a:p>
            <a:pPr indent="-298450" lvl="2" marL="1371600" rtl="0" algn="l">
              <a:spcBef>
                <a:spcPts val="0"/>
              </a:spcBef>
              <a:spcAft>
                <a:spcPts val="0"/>
              </a:spcAft>
              <a:buSzPts val="1100"/>
              <a:buChar char="■"/>
            </a:pPr>
            <a:r>
              <a:rPr lang="en"/>
              <a:t>Decided to employ only basic compiler provenance techniques </a:t>
            </a:r>
            <a:endParaRPr/>
          </a:p>
          <a:p>
            <a:pPr indent="-298450" lvl="1" marL="914400" rtl="0" algn="l">
              <a:spcBef>
                <a:spcPts val="0"/>
              </a:spcBef>
              <a:spcAft>
                <a:spcPts val="0"/>
              </a:spcAft>
              <a:buSzPts val="1100"/>
              <a:buChar char="○"/>
            </a:pPr>
            <a:r>
              <a:rPr lang="en"/>
              <a:t>Research on reverse engineering tools and the MDLC showed the team that pursuing information about statically-linked library code and other code toolmarks would be more fruitful</a:t>
            </a:r>
            <a:endParaRPr/>
          </a:p>
          <a:p>
            <a:pPr indent="-298450" lvl="2" marL="1371600" rtl="0" algn="l">
              <a:spcBef>
                <a:spcPts val="0"/>
              </a:spcBef>
              <a:spcAft>
                <a:spcPts val="0"/>
              </a:spcAft>
              <a:buSzPts val="1100"/>
              <a:buChar char="■"/>
            </a:pPr>
            <a:r>
              <a:rPr lang="en"/>
              <a:t>Team was able to identify workable tools for a final tool proposal</a:t>
            </a:r>
            <a:endParaRPr/>
          </a:p>
          <a:p>
            <a:pPr indent="-298450" lvl="2" marL="1371600" rtl="0" algn="l">
              <a:spcBef>
                <a:spcPts val="0"/>
              </a:spcBef>
              <a:spcAft>
                <a:spcPts val="0"/>
              </a:spcAft>
              <a:buSzPts val="1100"/>
              <a:buChar char="■"/>
            </a:pPr>
            <a:r>
              <a:rPr lang="en"/>
              <a:t>Team was able to identify useful statically-linked library code signature databases</a:t>
            </a:r>
            <a:endParaRPr/>
          </a:p>
        </p:txBody>
      </p:sp>
      <p:sp>
        <p:nvSpPr>
          <p:cNvPr id="334" name="Google Shape;334;p31"/>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335" name="Google Shape;335;p31"/>
          <p:cNvSpPr/>
          <p:nvPr/>
        </p:nvSpPr>
        <p:spPr>
          <a:xfrm>
            <a:off x="19071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336" name="Google Shape;336;p31"/>
          <p:cNvSpPr/>
          <p:nvPr/>
        </p:nvSpPr>
        <p:spPr>
          <a:xfrm>
            <a:off x="29326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337" name="Google Shape;337;p31"/>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338" name="Google Shape;338;p31"/>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339" name="Google Shape;339;p31"/>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340" name="Google Shape;340;p31"/>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2"/>
          <p:cNvSpPr txBox="1"/>
          <p:nvPr>
            <p:ph type="title"/>
          </p:nvPr>
        </p:nvSpPr>
        <p:spPr>
          <a:xfrm>
            <a:off x="1274825" y="242675"/>
            <a:ext cx="75006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Methods and Procedures: Procedures and Plans</a:t>
            </a:r>
            <a:endParaRPr/>
          </a:p>
        </p:txBody>
      </p:sp>
      <p:sp>
        <p:nvSpPr>
          <p:cNvPr id="346" name="Google Shape;346;p32"/>
          <p:cNvSpPr txBox="1"/>
          <p:nvPr/>
        </p:nvSpPr>
        <p:spPr>
          <a:xfrm>
            <a:off x="5635425" y="932150"/>
            <a:ext cx="3335100" cy="34941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Three</a:t>
            </a:r>
            <a:r>
              <a:rPr lang="en" sz="1300">
                <a:solidFill>
                  <a:schemeClr val="lt1"/>
                </a:solidFill>
                <a:latin typeface="Lato"/>
                <a:ea typeface="Lato"/>
                <a:cs typeface="Lato"/>
                <a:sym typeface="Lato"/>
              </a:rPr>
              <a:t>-Phased Approach</a:t>
            </a:r>
            <a:endParaRPr sz="1300">
              <a:solidFill>
                <a:schemeClr val="lt1"/>
              </a:solidFill>
              <a:latin typeface="Lato"/>
              <a:ea typeface="Lato"/>
              <a:cs typeface="Lato"/>
              <a:sym typeface="Lato"/>
            </a:endParaRPr>
          </a:p>
          <a:p>
            <a:pPr indent="-304800" lvl="1" marL="914400" rtl="0" algn="l">
              <a:spcBef>
                <a:spcPts val="0"/>
              </a:spcBef>
              <a:spcAft>
                <a:spcPts val="0"/>
              </a:spcAft>
              <a:buClr>
                <a:schemeClr val="lt1"/>
              </a:buClr>
              <a:buSzPts val="1200"/>
              <a:buFont typeface="Lato"/>
              <a:buChar char="○"/>
            </a:pPr>
            <a:r>
              <a:rPr lang="en" sz="1200">
                <a:solidFill>
                  <a:schemeClr val="lt1"/>
                </a:solidFill>
                <a:latin typeface="Lato"/>
                <a:ea typeface="Lato"/>
                <a:cs typeface="Lato"/>
                <a:sym typeface="Lato"/>
              </a:rPr>
              <a:t>1st Phase - Research</a:t>
            </a:r>
            <a:endParaRPr sz="1200">
              <a:solidFill>
                <a:schemeClr val="lt1"/>
              </a:solidFill>
              <a:latin typeface="Lato"/>
              <a:ea typeface="Lato"/>
              <a:cs typeface="Lato"/>
              <a:sym typeface="Lato"/>
            </a:endParaRPr>
          </a:p>
          <a:p>
            <a:pPr indent="-304800" lvl="1" marL="914400" rtl="0" algn="l">
              <a:spcBef>
                <a:spcPts val="0"/>
              </a:spcBef>
              <a:spcAft>
                <a:spcPts val="0"/>
              </a:spcAft>
              <a:buClr>
                <a:schemeClr val="lt1"/>
              </a:buClr>
              <a:buSzPts val="1200"/>
              <a:buFont typeface="Lato"/>
              <a:buChar char="○"/>
            </a:pPr>
            <a:r>
              <a:rPr lang="en" sz="1200">
                <a:solidFill>
                  <a:schemeClr val="lt1"/>
                </a:solidFill>
                <a:latin typeface="Lato"/>
                <a:ea typeface="Lato"/>
                <a:cs typeface="Lato"/>
                <a:sym typeface="Lato"/>
              </a:rPr>
              <a:t>2nd Phase - Implement Ground Truth Samples</a:t>
            </a:r>
            <a:endParaRPr sz="1200">
              <a:solidFill>
                <a:schemeClr val="lt1"/>
              </a:solidFill>
              <a:latin typeface="Lato"/>
              <a:ea typeface="Lato"/>
              <a:cs typeface="Lato"/>
              <a:sym typeface="Lato"/>
            </a:endParaRPr>
          </a:p>
          <a:p>
            <a:pPr indent="-304800" lvl="1" marL="914400" rtl="0" algn="l">
              <a:spcBef>
                <a:spcPts val="0"/>
              </a:spcBef>
              <a:spcAft>
                <a:spcPts val="0"/>
              </a:spcAft>
              <a:buClr>
                <a:schemeClr val="lt1"/>
              </a:buClr>
              <a:buSzPts val="1200"/>
              <a:buFont typeface="Lato"/>
              <a:buChar char="○"/>
            </a:pPr>
            <a:r>
              <a:rPr lang="en" sz="1200">
                <a:solidFill>
                  <a:schemeClr val="lt1"/>
                </a:solidFill>
                <a:latin typeface="Lato"/>
                <a:ea typeface="Lato"/>
                <a:cs typeface="Lato"/>
                <a:sym typeface="Lato"/>
              </a:rPr>
              <a:t>3rd Phase - Propose Malware Analysis Tool</a:t>
            </a:r>
            <a:endParaRPr sz="1200">
              <a:solidFill>
                <a:schemeClr val="lt1"/>
              </a:solidFill>
              <a:latin typeface="Lato"/>
              <a:ea typeface="Lato"/>
              <a:cs typeface="Lato"/>
              <a:sym typeface="Lato"/>
            </a:endParaRPr>
          </a:p>
          <a:p>
            <a:pPr indent="-311150" lvl="0" marL="457200" rtl="0" algn="l">
              <a:spcBef>
                <a:spcPts val="1000"/>
              </a:spcBef>
              <a:spcAft>
                <a:spcPts val="0"/>
              </a:spcAft>
              <a:buClr>
                <a:schemeClr val="lt1"/>
              </a:buClr>
              <a:buSzPts val="1300"/>
              <a:buFont typeface="Lato"/>
              <a:buChar char="●"/>
            </a:pPr>
            <a:r>
              <a:rPr lang="en" sz="1300">
                <a:solidFill>
                  <a:schemeClr val="lt1"/>
                </a:solidFill>
                <a:latin typeface="Lato"/>
                <a:ea typeface="Lato"/>
                <a:cs typeface="Lato"/>
                <a:sym typeface="Lato"/>
              </a:rPr>
              <a:t>Originally a four-phased plan</a:t>
            </a:r>
            <a:endParaRPr sz="1300">
              <a:solidFill>
                <a:schemeClr val="lt1"/>
              </a:solidFill>
              <a:latin typeface="Lato"/>
              <a:ea typeface="Lato"/>
              <a:cs typeface="Lato"/>
              <a:sym typeface="Lato"/>
            </a:endParaRPr>
          </a:p>
          <a:p>
            <a:pPr indent="-311150" lvl="1" marL="914400" rtl="0" algn="l">
              <a:spcBef>
                <a:spcPts val="1000"/>
              </a:spcBef>
              <a:spcAft>
                <a:spcPts val="0"/>
              </a:spcAft>
              <a:buClr>
                <a:schemeClr val="lt1"/>
              </a:buClr>
              <a:buSzPts val="1300"/>
              <a:buFont typeface="Lato"/>
              <a:buChar char="○"/>
            </a:pPr>
            <a:r>
              <a:rPr lang="en" sz="1300">
                <a:solidFill>
                  <a:schemeClr val="lt1"/>
                </a:solidFill>
                <a:latin typeface="Lato"/>
                <a:ea typeface="Lato"/>
                <a:cs typeface="Lato"/>
                <a:sym typeface="Lato"/>
              </a:rPr>
              <a:t>Ran out of time to implement full-scope malware analysis tool </a:t>
            </a:r>
            <a:endParaRPr sz="1300">
              <a:solidFill>
                <a:schemeClr val="lt1"/>
              </a:solidFill>
              <a:latin typeface="Lato"/>
              <a:ea typeface="Lato"/>
              <a:cs typeface="Lato"/>
              <a:sym typeface="Lato"/>
            </a:endParaRPr>
          </a:p>
          <a:p>
            <a:pPr indent="-311150" lvl="1" marL="914400" rtl="0" algn="l">
              <a:spcBef>
                <a:spcPts val="1000"/>
              </a:spcBef>
              <a:spcAft>
                <a:spcPts val="0"/>
              </a:spcAft>
              <a:buClr>
                <a:schemeClr val="lt1"/>
              </a:buClr>
              <a:buSzPts val="1300"/>
              <a:buFont typeface="Lato"/>
              <a:buChar char="○"/>
            </a:pPr>
            <a:r>
              <a:rPr lang="en" sz="1300">
                <a:solidFill>
                  <a:schemeClr val="lt1"/>
                </a:solidFill>
                <a:latin typeface="Lato"/>
                <a:ea typeface="Lato"/>
                <a:cs typeface="Lato"/>
                <a:sym typeface="Lato"/>
              </a:rPr>
              <a:t>Team and TD agreed that a proposed tool based on ground truth samples analysis and toolchain research would be appropriate</a:t>
            </a:r>
            <a:endParaRPr sz="1300">
              <a:solidFill>
                <a:schemeClr val="lt1"/>
              </a:solidFill>
              <a:latin typeface="Lato"/>
              <a:ea typeface="Lato"/>
              <a:cs typeface="Lato"/>
              <a:sym typeface="Lato"/>
            </a:endParaRPr>
          </a:p>
        </p:txBody>
      </p:sp>
      <p:sp>
        <p:nvSpPr>
          <p:cNvPr id="347" name="Google Shape;347;p32"/>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348" name="Google Shape;348;p32"/>
          <p:cNvSpPr/>
          <p:nvPr/>
        </p:nvSpPr>
        <p:spPr>
          <a:xfrm>
            <a:off x="19071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349" name="Google Shape;349;p32"/>
          <p:cNvSpPr/>
          <p:nvPr/>
        </p:nvSpPr>
        <p:spPr>
          <a:xfrm>
            <a:off x="29326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350" name="Google Shape;350;p32"/>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351" name="Google Shape;351;p32"/>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352" name="Google Shape;352;p32"/>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353" name="Google Shape;353;p32"/>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pic>
        <p:nvPicPr>
          <p:cNvPr id="354" name="Google Shape;354;p32"/>
          <p:cNvPicPr preferRelativeResize="0"/>
          <p:nvPr/>
        </p:nvPicPr>
        <p:blipFill>
          <a:blip r:embed="rId3">
            <a:alphaModFix/>
          </a:blip>
          <a:stretch>
            <a:fillRect/>
          </a:stretch>
        </p:blipFill>
        <p:spPr>
          <a:xfrm>
            <a:off x="339050" y="932150"/>
            <a:ext cx="5455903" cy="3494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3"/>
          <p:cNvSpPr txBox="1"/>
          <p:nvPr>
            <p:ph type="title"/>
          </p:nvPr>
        </p:nvSpPr>
        <p:spPr>
          <a:xfrm>
            <a:off x="891175" y="182225"/>
            <a:ext cx="7038900" cy="65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Methods and Procedures: Schedule</a:t>
            </a:r>
            <a:endParaRPr/>
          </a:p>
        </p:txBody>
      </p:sp>
      <p:sp>
        <p:nvSpPr>
          <p:cNvPr id="360" name="Google Shape;360;p33"/>
          <p:cNvSpPr/>
          <p:nvPr/>
        </p:nvSpPr>
        <p:spPr>
          <a:xfrm>
            <a:off x="987413" y="4607250"/>
            <a:ext cx="10422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Intro</a:t>
            </a:r>
            <a:endParaRPr sz="1000"/>
          </a:p>
        </p:txBody>
      </p:sp>
      <p:sp>
        <p:nvSpPr>
          <p:cNvPr id="361" name="Google Shape;361;p33"/>
          <p:cNvSpPr/>
          <p:nvPr/>
        </p:nvSpPr>
        <p:spPr>
          <a:xfrm>
            <a:off x="1890838" y="460725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Methods</a:t>
            </a:r>
            <a:endParaRPr sz="1000"/>
          </a:p>
        </p:txBody>
      </p:sp>
      <p:sp>
        <p:nvSpPr>
          <p:cNvPr id="362" name="Google Shape;362;p33"/>
          <p:cNvSpPr/>
          <p:nvPr/>
        </p:nvSpPr>
        <p:spPr>
          <a:xfrm>
            <a:off x="2916338" y="460725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Findings</a:t>
            </a:r>
            <a:endParaRPr sz="1000"/>
          </a:p>
        </p:txBody>
      </p:sp>
      <p:sp>
        <p:nvSpPr>
          <p:cNvPr id="363" name="Google Shape;363;p33"/>
          <p:cNvSpPr/>
          <p:nvPr/>
        </p:nvSpPr>
        <p:spPr>
          <a:xfrm>
            <a:off x="3941838" y="460725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Issues</a:t>
            </a:r>
            <a:endParaRPr sz="1000"/>
          </a:p>
        </p:txBody>
      </p:sp>
      <p:sp>
        <p:nvSpPr>
          <p:cNvPr id="364" name="Google Shape;364;p33"/>
          <p:cNvSpPr/>
          <p:nvPr/>
        </p:nvSpPr>
        <p:spPr>
          <a:xfrm>
            <a:off x="4958663" y="460725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Conclusions</a:t>
            </a:r>
            <a:endParaRPr sz="1000"/>
          </a:p>
        </p:txBody>
      </p:sp>
      <p:sp>
        <p:nvSpPr>
          <p:cNvPr id="365" name="Google Shape;365;p33"/>
          <p:cNvSpPr/>
          <p:nvPr/>
        </p:nvSpPr>
        <p:spPr>
          <a:xfrm>
            <a:off x="5992838" y="460725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Bibliography</a:t>
            </a:r>
            <a:endParaRPr sz="1000"/>
          </a:p>
        </p:txBody>
      </p:sp>
      <p:sp>
        <p:nvSpPr>
          <p:cNvPr id="366" name="Google Shape;366;p33"/>
          <p:cNvSpPr/>
          <p:nvPr/>
        </p:nvSpPr>
        <p:spPr>
          <a:xfrm>
            <a:off x="7000988" y="460725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Appendices</a:t>
            </a:r>
            <a:endParaRPr sz="1000"/>
          </a:p>
        </p:txBody>
      </p:sp>
      <p:pic>
        <p:nvPicPr>
          <p:cNvPr id="367" name="Google Shape;367;p33"/>
          <p:cNvPicPr preferRelativeResize="0"/>
          <p:nvPr/>
        </p:nvPicPr>
        <p:blipFill rotWithShape="1">
          <a:blip r:embed="rId3">
            <a:alphaModFix/>
          </a:blip>
          <a:srcRect b="258" l="0" r="0" t="268"/>
          <a:stretch/>
        </p:blipFill>
        <p:spPr>
          <a:xfrm>
            <a:off x="262750" y="919375"/>
            <a:ext cx="8513789" cy="34209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4"/>
          <p:cNvSpPr txBox="1"/>
          <p:nvPr>
            <p:ph type="title"/>
          </p:nvPr>
        </p:nvSpPr>
        <p:spPr>
          <a:xfrm>
            <a:off x="1297500" y="393750"/>
            <a:ext cx="7038900" cy="652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Methods and Procedures: Project Deliverables</a:t>
            </a:r>
            <a:endParaRPr/>
          </a:p>
        </p:txBody>
      </p:sp>
      <p:pic>
        <p:nvPicPr>
          <p:cNvPr id="373" name="Google Shape;373;p34"/>
          <p:cNvPicPr preferRelativeResize="0"/>
          <p:nvPr/>
        </p:nvPicPr>
        <p:blipFill rotWithShape="1">
          <a:blip r:embed="rId3">
            <a:alphaModFix/>
          </a:blip>
          <a:srcRect b="209" l="0" r="0" t="209"/>
          <a:stretch/>
        </p:blipFill>
        <p:spPr>
          <a:xfrm>
            <a:off x="152400" y="2440600"/>
            <a:ext cx="8839199" cy="1954975"/>
          </a:xfrm>
          <a:prstGeom prst="rect">
            <a:avLst/>
          </a:prstGeom>
          <a:noFill/>
          <a:ln>
            <a:noFill/>
          </a:ln>
        </p:spPr>
      </p:pic>
      <p:sp>
        <p:nvSpPr>
          <p:cNvPr id="374" name="Google Shape;374;p34"/>
          <p:cNvSpPr txBox="1"/>
          <p:nvPr/>
        </p:nvSpPr>
        <p:spPr>
          <a:xfrm>
            <a:off x="1229800" y="940450"/>
            <a:ext cx="6901500" cy="11853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The deliverable summary is divided into INSuRE tasks and project-specific tasks</a:t>
            </a:r>
            <a:endParaRPr sz="1300">
              <a:solidFill>
                <a:schemeClr val="lt1"/>
              </a:solidFill>
              <a:latin typeface="Lato"/>
              <a:ea typeface="Lato"/>
              <a:cs typeface="Lato"/>
              <a:sym typeface="Lato"/>
            </a:endParaRPr>
          </a:p>
          <a:p>
            <a:pPr indent="-311150" lvl="1" marL="9144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Six INSuRE Tasks</a:t>
            </a:r>
            <a:endParaRPr sz="1300">
              <a:solidFill>
                <a:schemeClr val="lt1"/>
              </a:solidFill>
              <a:latin typeface="Lato"/>
              <a:ea typeface="Lato"/>
              <a:cs typeface="Lato"/>
              <a:sym typeface="Lato"/>
            </a:endParaRPr>
          </a:p>
          <a:p>
            <a:pPr indent="-311150" lvl="2" marL="13716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4 Complete, 1 In-Progress, and 1 Not Started</a:t>
            </a:r>
            <a:endParaRPr sz="1300">
              <a:solidFill>
                <a:schemeClr val="lt1"/>
              </a:solidFill>
              <a:latin typeface="Lato"/>
              <a:ea typeface="Lato"/>
              <a:cs typeface="Lato"/>
              <a:sym typeface="Lato"/>
            </a:endParaRPr>
          </a:p>
          <a:p>
            <a:pPr indent="-311150" lvl="1" marL="9144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Two Project-Specific Tasks</a:t>
            </a:r>
            <a:endParaRPr sz="1300">
              <a:solidFill>
                <a:schemeClr val="lt1"/>
              </a:solidFill>
              <a:latin typeface="Lato"/>
              <a:ea typeface="Lato"/>
              <a:cs typeface="Lato"/>
              <a:sym typeface="Lato"/>
            </a:endParaRPr>
          </a:p>
          <a:p>
            <a:pPr indent="-311150" lvl="2" marL="13716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Both </a:t>
            </a:r>
            <a:r>
              <a:rPr lang="en" sz="1300">
                <a:solidFill>
                  <a:schemeClr val="lt1"/>
                </a:solidFill>
                <a:latin typeface="Lato"/>
                <a:ea typeface="Lato"/>
                <a:cs typeface="Lato"/>
                <a:sym typeface="Lato"/>
              </a:rPr>
              <a:t>Completed</a:t>
            </a:r>
            <a:r>
              <a:rPr lang="en" sz="1300">
                <a:solidFill>
                  <a:schemeClr val="lt1"/>
                </a:solidFill>
                <a:latin typeface="Lato"/>
                <a:ea typeface="Lato"/>
                <a:cs typeface="Lato"/>
                <a:sym typeface="Lato"/>
              </a:rPr>
              <a:t> </a:t>
            </a:r>
            <a:endParaRPr sz="1300">
              <a:solidFill>
                <a:schemeClr val="lt1"/>
              </a:solidFill>
              <a:latin typeface="Lato"/>
              <a:ea typeface="Lato"/>
              <a:cs typeface="Lato"/>
              <a:sym typeface="Lato"/>
            </a:endParaRPr>
          </a:p>
        </p:txBody>
      </p:sp>
      <p:sp>
        <p:nvSpPr>
          <p:cNvPr id="375" name="Google Shape;375;p34"/>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376" name="Google Shape;376;p34"/>
          <p:cNvSpPr/>
          <p:nvPr/>
        </p:nvSpPr>
        <p:spPr>
          <a:xfrm>
            <a:off x="19071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377" name="Google Shape;377;p34"/>
          <p:cNvSpPr/>
          <p:nvPr/>
        </p:nvSpPr>
        <p:spPr>
          <a:xfrm>
            <a:off x="29326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378" name="Google Shape;378;p34"/>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379" name="Google Shape;379;p34"/>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380" name="Google Shape;380;p34"/>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381" name="Google Shape;381;p34"/>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Methods and Procedures: Limitations </a:t>
            </a:r>
            <a:endParaRPr/>
          </a:p>
        </p:txBody>
      </p:sp>
      <p:sp>
        <p:nvSpPr>
          <p:cNvPr id="387" name="Google Shape;387;p35"/>
          <p:cNvSpPr txBox="1"/>
          <p:nvPr>
            <p:ph idx="1" type="body"/>
          </p:nvPr>
        </p:nvSpPr>
        <p:spPr>
          <a:xfrm>
            <a:off x="1016525" y="1011925"/>
            <a:ext cx="7038900" cy="29112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sz="1200"/>
              <a:t>Advanced Compiler Provenance tools not easily available </a:t>
            </a:r>
            <a:endParaRPr sz="1200"/>
          </a:p>
          <a:p>
            <a:pPr indent="-304800" lvl="1" marL="914400" rtl="0" algn="l">
              <a:spcBef>
                <a:spcPts val="0"/>
              </a:spcBef>
              <a:spcAft>
                <a:spcPts val="0"/>
              </a:spcAft>
              <a:buSzPts val="1200"/>
              <a:buChar char="○"/>
            </a:pPr>
            <a:r>
              <a:rPr lang="en" sz="1200"/>
              <a:t>No commercially available compiler provenance tools existed past basic tools without the ability to read compiler functions </a:t>
            </a:r>
            <a:endParaRPr sz="1200"/>
          </a:p>
          <a:p>
            <a:pPr indent="-304800" lvl="2" marL="1371600" rtl="0" algn="l">
              <a:spcBef>
                <a:spcPts val="0"/>
              </a:spcBef>
              <a:spcAft>
                <a:spcPts val="0"/>
              </a:spcAft>
              <a:buSzPts val="1200"/>
              <a:buChar char="■"/>
            </a:pPr>
            <a:r>
              <a:rPr lang="en" sz="1200"/>
              <a:t>Could not </a:t>
            </a:r>
            <a:r>
              <a:rPr lang="en" sz="1200"/>
              <a:t>obtain</a:t>
            </a:r>
            <a:r>
              <a:rPr lang="en" sz="1200"/>
              <a:t> advanced compiler provenance tools</a:t>
            </a:r>
            <a:endParaRPr sz="1200"/>
          </a:p>
          <a:p>
            <a:pPr indent="-304800" lvl="2" marL="1371600" rtl="0" algn="l">
              <a:spcBef>
                <a:spcPts val="0"/>
              </a:spcBef>
              <a:spcAft>
                <a:spcPts val="0"/>
              </a:spcAft>
              <a:buSzPts val="1200"/>
              <a:buChar char="■"/>
            </a:pPr>
            <a:r>
              <a:rPr lang="en" sz="1200"/>
              <a:t>Influenced a later delimitation </a:t>
            </a:r>
            <a:endParaRPr sz="1200"/>
          </a:p>
          <a:p>
            <a:pPr indent="-304800" lvl="0" marL="457200" rtl="0" algn="l">
              <a:spcBef>
                <a:spcPts val="0"/>
              </a:spcBef>
              <a:spcAft>
                <a:spcPts val="0"/>
              </a:spcAft>
              <a:buSzPts val="1200"/>
              <a:buChar char="●"/>
            </a:pPr>
            <a:r>
              <a:rPr lang="en" sz="1200"/>
              <a:t>Cloud virtualization services and UofA would not allow malware testing on their networks</a:t>
            </a:r>
            <a:endParaRPr sz="1200"/>
          </a:p>
          <a:p>
            <a:pPr indent="-304800" lvl="1" marL="914400" rtl="0" algn="l">
              <a:spcBef>
                <a:spcPts val="0"/>
              </a:spcBef>
              <a:spcAft>
                <a:spcPts val="0"/>
              </a:spcAft>
              <a:buSzPts val="1200"/>
              <a:buChar char="○"/>
            </a:pPr>
            <a:r>
              <a:rPr lang="en" sz="1200"/>
              <a:t>Forced to test up our own test beds </a:t>
            </a:r>
            <a:endParaRPr sz="1200"/>
          </a:p>
          <a:p>
            <a:pPr indent="-304800" lvl="1" marL="914400" rtl="0" algn="l">
              <a:spcBef>
                <a:spcPts val="0"/>
              </a:spcBef>
              <a:spcAft>
                <a:spcPts val="0"/>
              </a:spcAft>
              <a:buSzPts val="1200"/>
              <a:buChar char="○"/>
            </a:pPr>
            <a:r>
              <a:rPr lang="en" sz="1200"/>
              <a:t>Resulted in time lost for the project and reduced ability to </a:t>
            </a:r>
            <a:r>
              <a:rPr lang="en" sz="1200"/>
              <a:t>collaborate</a:t>
            </a:r>
            <a:r>
              <a:rPr lang="en" sz="1200"/>
              <a:t> online</a:t>
            </a:r>
            <a:endParaRPr sz="1200"/>
          </a:p>
          <a:p>
            <a:pPr indent="-304800" lvl="0" marL="457200" rtl="0" algn="l">
              <a:spcBef>
                <a:spcPts val="0"/>
              </a:spcBef>
              <a:spcAft>
                <a:spcPts val="0"/>
              </a:spcAft>
              <a:buSzPts val="1200"/>
              <a:buChar char="●"/>
            </a:pPr>
            <a:r>
              <a:rPr lang="en" sz="1200"/>
              <a:t>Time constraints</a:t>
            </a:r>
            <a:endParaRPr sz="1200"/>
          </a:p>
          <a:p>
            <a:pPr indent="-304800" lvl="1" marL="914400" rtl="0" algn="l">
              <a:spcBef>
                <a:spcPts val="0"/>
              </a:spcBef>
              <a:spcAft>
                <a:spcPts val="0"/>
              </a:spcAft>
              <a:buSzPts val="1200"/>
              <a:buChar char="○"/>
            </a:pPr>
            <a:r>
              <a:rPr lang="en" sz="1200"/>
              <a:t>Creating ground truth samples was a harder task than expected</a:t>
            </a:r>
            <a:endParaRPr sz="1200"/>
          </a:p>
          <a:p>
            <a:pPr indent="-304800" lvl="1" marL="914400" rtl="0" algn="l">
              <a:spcBef>
                <a:spcPts val="0"/>
              </a:spcBef>
              <a:spcAft>
                <a:spcPts val="0"/>
              </a:spcAft>
              <a:buSzPts val="1200"/>
              <a:buChar char="○"/>
            </a:pPr>
            <a:r>
              <a:rPr lang="en" sz="1200"/>
              <a:t>Ultimately forced a reduction in scope on April 15, 2022</a:t>
            </a:r>
            <a:endParaRPr sz="1200"/>
          </a:p>
        </p:txBody>
      </p:sp>
      <p:sp>
        <p:nvSpPr>
          <p:cNvPr id="388" name="Google Shape;388;p35"/>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389" name="Google Shape;389;p35"/>
          <p:cNvSpPr/>
          <p:nvPr/>
        </p:nvSpPr>
        <p:spPr>
          <a:xfrm>
            <a:off x="19071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390" name="Google Shape;390;p35"/>
          <p:cNvSpPr/>
          <p:nvPr/>
        </p:nvSpPr>
        <p:spPr>
          <a:xfrm>
            <a:off x="29326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391" name="Google Shape;391;p35"/>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392" name="Google Shape;392;p35"/>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393" name="Google Shape;393;p35"/>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394" name="Google Shape;394;p35"/>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Methods and Procedures: Delimitations</a:t>
            </a:r>
            <a:endParaRPr/>
          </a:p>
        </p:txBody>
      </p:sp>
      <p:sp>
        <p:nvSpPr>
          <p:cNvPr id="400" name="Google Shape;400;p36"/>
          <p:cNvSpPr txBox="1"/>
          <p:nvPr>
            <p:ph idx="1" type="body"/>
          </p:nvPr>
        </p:nvSpPr>
        <p:spPr>
          <a:xfrm>
            <a:off x="1052550" y="961250"/>
            <a:ext cx="7038900" cy="29112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sz="1200"/>
              <a:t>Decided not to pursue compiler provenance in depth </a:t>
            </a:r>
            <a:endParaRPr sz="1200"/>
          </a:p>
          <a:p>
            <a:pPr indent="-304800" lvl="1" marL="914400" rtl="0" algn="l">
              <a:spcBef>
                <a:spcPts val="0"/>
              </a:spcBef>
              <a:spcAft>
                <a:spcPts val="0"/>
              </a:spcAft>
              <a:buSzPts val="1200"/>
              <a:buChar char="○"/>
            </a:pPr>
            <a:r>
              <a:rPr lang="en" sz="1200"/>
              <a:t>Goal was to characterize malware design choices, compiler provenance ultimately was a smaller section of this compared to statically-linked library code </a:t>
            </a:r>
            <a:endParaRPr sz="1200"/>
          </a:p>
          <a:p>
            <a:pPr indent="-304800" lvl="0" marL="457200" rtl="0" algn="l">
              <a:spcBef>
                <a:spcPts val="0"/>
              </a:spcBef>
              <a:spcAft>
                <a:spcPts val="0"/>
              </a:spcAft>
              <a:buSzPts val="1200"/>
              <a:buChar char="●"/>
            </a:pPr>
            <a:r>
              <a:rPr lang="en" sz="1200"/>
              <a:t>Decided to limit the tool’s targets to Windows PE files </a:t>
            </a:r>
            <a:endParaRPr sz="1200"/>
          </a:p>
          <a:p>
            <a:pPr indent="-304800" lvl="1" marL="914400" rtl="0" algn="l">
              <a:spcBef>
                <a:spcPts val="0"/>
              </a:spcBef>
              <a:spcAft>
                <a:spcPts val="0"/>
              </a:spcAft>
              <a:buSzPts val="1200"/>
              <a:buChar char="○"/>
            </a:pPr>
            <a:r>
              <a:rPr lang="en" sz="1200"/>
              <a:t>Too hard to create multiple dedicated tools for different languages and architectures </a:t>
            </a:r>
            <a:endParaRPr sz="1200"/>
          </a:p>
          <a:p>
            <a:pPr indent="-304800" lvl="2" marL="1371600" rtl="0" algn="l">
              <a:spcBef>
                <a:spcPts val="0"/>
              </a:spcBef>
              <a:spcAft>
                <a:spcPts val="0"/>
              </a:spcAft>
              <a:buSzPts val="1200"/>
              <a:buChar char="■"/>
            </a:pPr>
            <a:r>
              <a:rPr lang="en" sz="1200"/>
              <a:t>Different toolchains required to analyze different executable file formats </a:t>
            </a:r>
            <a:endParaRPr sz="1200"/>
          </a:p>
          <a:p>
            <a:pPr indent="-304800" lvl="2" marL="1371600" rtl="0" algn="l">
              <a:spcBef>
                <a:spcPts val="0"/>
              </a:spcBef>
              <a:spcAft>
                <a:spcPts val="0"/>
              </a:spcAft>
              <a:buSzPts val="1200"/>
              <a:buChar char="■"/>
            </a:pPr>
            <a:r>
              <a:rPr lang="en" sz="1200"/>
              <a:t>Only statically-linked library identification tools, such as Rizin, were cross-platform</a:t>
            </a:r>
            <a:endParaRPr sz="1200"/>
          </a:p>
          <a:p>
            <a:pPr indent="-304800" lvl="1" marL="914400" rtl="0" algn="l">
              <a:spcBef>
                <a:spcPts val="0"/>
              </a:spcBef>
              <a:spcAft>
                <a:spcPts val="0"/>
              </a:spcAft>
              <a:buSzPts val="1200"/>
              <a:buChar char="○"/>
            </a:pPr>
            <a:r>
              <a:rPr lang="en" sz="1200"/>
              <a:t>Decided to employ tools to compile/wrap high-level interpreted languages into Windows PE executables </a:t>
            </a:r>
            <a:endParaRPr sz="1200"/>
          </a:p>
          <a:p>
            <a:pPr indent="-304800" lvl="2" marL="1371600" rtl="0" algn="l">
              <a:spcBef>
                <a:spcPts val="0"/>
              </a:spcBef>
              <a:spcAft>
                <a:spcPts val="0"/>
              </a:spcAft>
              <a:buSzPts val="1200"/>
              <a:buChar char="■"/>
            </a:pPr>
            <a:r>
              <a:rPr lang="en" sz="1200"/>
              <a:t>In an ideal scenario, high level languages would be wrapped using available utilities</a:t>
            </a:r>
            <a:endParaRPr sz="1200"/>
          </a:p>
          <a:p>
            <a:pPr indent="-304800" lvl="3" marL="1828800" rtl="0" algn="l">
              <a:spcBef>
                <a:spcPts val="0"/>
              </a:spcBef>
              <a:spcAft>
                <a:spcPts val="0"/>
              </a:spcAft>
              <a:buSzPts val="1200"/>
              <a:buChar char="●"/>
            </a:pPr>
            <a:r>
              <a:rPr lang="en" sz="1200"/>
              <a:t>Python: PyInstaller and py2exe</a:t>
            </a:r>
            <a:endParaRPr sz="1200"/>
          </a:p>
          <a:p>
            <a:pPr indent="-304800" lvl="3" marL="1828800" rtl="0" algn="l">
              <a:spcBef>
                <a:spcPts val="0"/>
              </a:spcBef>
              <a:spcAft>
                <a:spcPts val="0"/>
              </a:spcAft>
              <a:buSzPts val="1200"/>
              <a:buChar char="●"/>
            </a:pPr>
            <a:r>
              <a:rPr lang="en" sz="1200"/>
              <a:t>Java: packr and Launch4j</a:t>
            </a:r>
            <a:endParaRPr sz="1200"/>
          </a:p>
        </p:txBody>
      </p:sp>
      <p:sp>
        <p:nvSpPr>
          <p:cNvPr id="401" name="Google Shape;401;p36"/>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402" name="Google Shape;402;p36"/>
          <p:cNvSpPr/>
          <p:nvPr/>
        </p:nvSpPr>
        <p:spPr>
          <a:xfrm>
            <a:off x="19071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403" name="Google Shape;403;p36"/>
          <p:cNvSpPr/>
          <p:nvPr/>
        </p:nvSpPr>
        <p:spPr>
          <a:xfrm>
            <a:off x="29326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404" name="Google Shape;404;p36"/>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405" name="Google Shape;405;p36"/>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406" name="Google Shape;406;p36"/>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407" name="Google Shape;407;p36"/>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Findings</a:t>
            </a:r>
            <a:r>
              <a:rPr lang="en"/>
              <a:t>: Phase 2 Initial Requirements</a:t>
            </a:r>
            <a:endParaRPr/>
          </a:p>
        </p:txBody>
      </p:sp>
      <p:sp>
        <p:nvSpPr>
          <p:cNvPr id="413" name="Google Shape;413;p37"/>
          <p:cNvSpPr txBox="1"/>
          <p:nvPr/>
        </p:nvSpPr>
        <p:spPr>
          <a:xfrm>
            <a:off x="1074100" y="1046400"/>
            <a:ext cx="7798200" cy="322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lt1"/>
                </a:solidFill>
                <a:latin typeface="Lato"/>
                <a:ea typeface="Lato"/>
                <a:cs typeface="Lato"/>
                <a:sym typeface="Lato"/>
              </a:rPr>
              <a:t>Build a persistent remote access capability for the following: </a:t>
            </a:r>
            <a:endParaRPr sz="1300">
              <a:solidFill>
                <a:schemeClr val="lt1"/>
              </a:solidFill>
              <a:latin typeface="Lato"/>
              <a:ea typeface="Lato"/>
              <a:cs typeface="Lato"/>
              <a:sym typeface="Lato"/>
            </a:endParaRPr>
          </a:p>
          <a:p>
            <a:pPr indent="-311150" lvl="0" marL="457200" rtl="0" algn="l">
              <a:lnSpc>
                <a:spcPct val="115000"/>
              </a:lnSpc>
              <a:spcBef>
                <a:spcPts val="1200"/>
              </a:spcBef>
              <a:spcAft>
                <a:spcPts val="0"/>
              </a:spcAft>
              <a:buClr>
                <a:schemeClr val="lt1"/>
              </a:buClr>
              <a:buSzPts val="1300"/>
              <a:buFont typeface="Lato"/>
              <a:buChar char="●"/>
            </a:pPr>
            <a:r>
              <a:rPr lang="en" sz="1300">
                <a:solidFill>
                  <a:schemeClr val="lt1"/>
                </a:solidFill>
                <a:latin typeface="Lato"/>
                <a:ea typeface="Lato"/>
                <a:cs typeface="Lato"/>
                <a:sym typeface="Lato"/>
              </a:rPr>
              <a:t>list files and directories on the system </a:t>
            </a:r>
            <a:endParaRPr sz="13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transfer a file from the controller to the implant</a:t>
            </a:r>
            <a:endParaRPr sz="13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execute a file, with optional command-line arguments  </a:t>
            </a:r>
            <a:endParaRPr sz="13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transfer a file to the controller </a:t>
            </a:r>
            <a:endParaRPr sz="13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send commands to a command shell (cmd.exe) and see the result; e.g. "dir" would show a directory listing in the current directory </a:t>
            </a:r>
            <a:endParaRPr sz="1300">
              <a:solidFill>
                <a:schemeClr val="lt1"/>
              </a:solidFill>
              <a:latin typeface="Lato"/>
              <a:ea typeface="Lato"/>
              <a:cs typeface="Lato"/>
              <a:sym typeface="Lato"/>
            </a:endParaRPr>
          </a:p>
          <a:p>
            <a:pPr indent="0" lvl="0" marL="0" rtl="0" algn="l">
              <a:lnSpc>
                <a:spcPct val="115000"/>
              </a:lnSpc>
              <a:spcBef>
                <a:spcPts val="1200"/>
              </a:spcBef>
              <a:spcAft>
                <a:spcPts val="1200"/>
              </a:spcAft>
              <a:buNone/>
            </a:pPr>
            <a:r>
              <a:rPr lang="en" sz="1300">
                <a:solidFill>
                  <a:schemeClr val="lt1"/>
                </a:solidFill>
                <a:latin typeface="Lato"/>
                <a:ea typeface="Lato"/>
                <a:cs typeface="Lato"/>
                <a:sym typeface="Lato"/>
              </a:rPr>
              <a:t>The capability should obfuscate the network traffic based on a provided key (ASCII string). So that each build of an implant could in theory have a different key. The capability should include obfuscations and other techniques necessary to prevent simple anti-virus and sandbox detection. The capability should include obfuscations of the code and data to prevent simple manual analysis (static disassembly and debugging).</a:t>
            </a:r>
            <a:endParaRPr>
              <a:solidFill>
                <a:schemeClr val="lt1"/>
              </a:solidFill>
              <a:latin typeface="Lato"/>
              <a:ea typeface="Lato"/>
              <a:cs typeface="Lato"/>
              <a:sym typeface="Lato"/>
            </a:endParaRPr>
          </a:p>
        </p:txBody>
      </p:sp>
      <p:sp>
        <p:nvSpPr>
          <p:cNvPr id="414" name="Google Shape;414;p37"/>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415" name="Google Shape;415;p37"/>
          <p:cNvSpPr/>
          <p:nvPr/>
        </p:nvSpPr>
        <p:spPr>
          <a:xfrm>
            <a:off x="1907175" y="4615925"/>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416" name="Google Shape;416;p37"/>
          <p:cNvSpPr/>
          <p:nvPr/>
        </p:nvSpPr>
        <p:spPr>
          <a:xfrm>
            <a:off x="29326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417" name="Google Shape;417;p37"/>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418" name="Google Shape;418;p37"/>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419" name="Google Shape;419;p37"/>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420" name="Google Shape;420;p37"/>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Findings: Phase 2 Additional Requirements</a:t>
            </a:r>
            <a:endParaRPr/>
          </a:p>
          <a:p>
            <a:pPr indent="0" lvl="0" marL="0" rtl="0" algn="l">
              <a:spcBef>
                <a:spcPts val="0"/>
              </a:spcBef>
              <a:spcAft>
                <a:spcPts val="0"/>
              </a:spcAft>
              <a:buNone/>
            </a:pPr>
            <a:r>
              <a:t/>
            </a:r>
            <a:endParaRPr/>
          </a:p>
        </p:txBody>
      </p:sp>
      <p:sp>
        <p:nvSpPr>
          <p:cNvPr id="426" name="Google Shape;426;p38"/>
          <p:cNvSpPr txBox="1"/>
          <p:nvPr>
            <p:ph idx="1" type="body"/>
          </p:nvPr>
        </p:nvSpPr>
        <p:spPr>
          <a:xfrm>
            <a:off x="1170250" y="942825"/>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For our second samples for each programming language, our TD posted an additional requirement for each new sample</a:t>
            </a:r>
            <a:endParaRPr/>
          </a:p>
          <a:p>
            <a:pPr indent="-298450" lvl="1" marL="914400" rtl="0" algn="l">
              <a:spcBef>
                <a:spcPts val="0"/>
              </a:spcBef>
              <a:spcAft>
                <a:spcPts val="0"/>
              </a:spcAft>
              <a:buSzPts val="1100"/>
              <a:buChar char="○"/>
            </a:pPr>
            <a:r>
              <a:rPr lang="en"/>
              <a:t>New requirements issued when first samples were near </a:t>
            </a:r>
            <a:r>
              <a:rPr lang="en"/>
              <a:t>completion</a:t>
            </a:r>
            <a:r>
              <a:rPr lang="en"/>
              <a:t> </a:t>
            </a:r>
            <a:endParaRPr/>
          </a:p>
          <a:p>
            <a:pPr indent="-311150" lvl="0" marL="457200" rtl="0" algn="l">
              <a:spcBef>
                <a:spcPts val="0"/>
              </a:spcBef>
              <a:spcAft>
                <a:spcPts val="0"/>
              </a:spcAft>
              <a:buSzPts val="1300"/>
              <a:buChar char="●"/>
            </a:pPr>
            <a:r>
              <a:rPr lang="en"/>
              <a:t>Send the following information to controller in the initial beacon from the implant: </a:t>
            </a:r>
            <a:endParaRPr/>
          </a:p>
          <a:p>
            <a:pPr indent="-311150" lvl="1" marL="914400" rtl="0" algn="l">
              <a:spcBef>
                <a:spcPts val="0"/>
              </a:spcBef>
              <a:spcAft>
                <a:spcPts val="0"/>
              </a:spcAft>
              <a:buSzPts val="1300"/>
              <a:buChar char="○"/>
            </a:pPr>
            <a:r>
              <a:rPr lang="en" sz="1300"/>
              <a:t> System Name </a:t>
            </a:r>
            <a:endParaRPr sz="1300"/>
          </a:p>
          <a:p>
            <a:pPr indent="-311150" lvl="1" marL="914400" rtl="0" algn="l">
              <a:spcBef>
                <a:spcPts val="0"/>
              </a:spcBef>
              <a:spcAft>
                <a:spcPts val="0"/>
              </a:spcAft>
              <a:buSzPts val="1300"/>
              <a:buChar char="○"/>
            </a:pPr>
            <a:r>
              <a:rPr lang="en" sz="1300"/>
              <a:t> Domain Name or Workgroup Name </a:t>
            </a:r>
            <a:endParaRPr sz="1300"/>
          </a:p>
          <a:p>
            <a:pPr indent="-311150" lvl="1" marL="914400" rtl="0" algn="l">
              <a:spcBef>
                <a:spcPts val="0"/>
              </a:spcBef>
              <a:spcAft>
                <a:spcPts val="0"/>
              </a:spcAft>
              <a:buSzPts val="1300"/>
              <a:buChar char="○"/>
            </a:pPr>
            <a:r>
              <a:rPr lang="en" sz="1300"/>
              <a:t> Current Username </a:t>
            </a:r>
            <a:endParaRPr sz="1300"/>
          </a:p>
          <a:p>
            <a:pPr indent="-311150" lvl="1" marL="914400" rtl="0" algn="l">
              <a:spcBef>
                <a:spcPts val="0"/>
              </a:spcBef>
              <a:spcAft>
                <a:spcPts val="0"/>
              </a:spcAft>
              <a:buSzPts val="1300"/>
              <a:buChar char="○"/>
            </a:pPr>
            <a:r>
              <a:rPr lang="en" sz="1300"/>
              <a:t> OS Name and Version</a:t>
            </a:r>
            <a:endParaRPr sz="1300"/>
          </a:p>
          <a:p>
            <a:pPr indent="-311150" lvl="0" marL="457200" rtl="0" algn="l">
              <a:spcBef>
                <a:spcPts val="0"/>
              </a:spcBef>
              <a:spcAft>
                <a:spcPts val="0"/>
              </a:spcAft>
              <a:buSzPts val="1300"/>
              <a:buChar char="●"/>
            </a:pPr>
            <a:r>
              <a:rPr lang="en"/>
              <a:t>Second samples are the same as the first, but with the added requirements implemented</a:t>
            </a:r>
            <a:endParaRPr/>
          </a:p>
        </p:txBody>
      </p:sp>
      <p:sp>
        <p:nvSpPr>
          <p:cNvPr id="427" name="Google Shape;427;p38"/>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428" name="Google Shape;428;p38"/>
          <p:cNvSpPr/>
          <p:nvPr/>
        </p:nvSpPr>
        <p:spPr>
          <a:xfrm>
            <a:off x="1907175" y="4615925"/>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429" name="Google Shape;429;p38"/>
          <p:cNvSpPr/>
          <p:nvPr/>
        </p:nvSpPr>
        <p:spPr>
          <a:xfrm>
            <a:off x="29326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430" name="Google Shape;430;p38"/>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431" name="Google Shape;431;p38"/>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432" name="Google Shape;432;p38"/>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433" name="Google Shape;433;p38"/>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pic>
        <p:nvPicPr>
          <p:cNvPr id="434" name="Google Shape;434;p38"/>
          <p:cNvPicPr preferRelativeResize="0"/>
          <p:nvPr/>
        </p:nvPicPr>
        <p:blipFill>
          <a:blip r:embed="rId3">
            <a:alphaModFix/>
          </a:blip>
          <a:stretch>
            <a:fillRect/>
          </a:stretch>
        </p:blipFill>
        <p:spPr>
          <a:xfrm>
            <a:off x="2301650" y="3025771"/>
            <a:ext cx="4540687" cy="154640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Findings: Overview</a:t>
            </a:r>
            <a:endParaRPr/>
          </a:p>
        </p:txBody>
      </p:sp>
      <p:sp>
        <p:nvSpPr>
          <p:cNvPr id="440" name="Google Shape;440;p39"/>
          <p:cNvSpPr txBox="1"/>
          <p:nvPr>
            <p:ph idx="1" type="body"/>
          </p:nvPr>
        </p:nvSpPr>
        <p:spPr>
          <a:xfrm>
            <a:off x="1197775" y="840600"/>
            <a:ext cx="7639200" cy="3462300"/>
          </a:xfrm>
          <a:prstGeom prst="rect">
            <a:avLst/>
          </a:prstGeom>
        </p:spPr>
        <p:txBody>
          <a:bodyPr anchorCtr="0" anchor="t" bIns="91425" lIns="91425" spcFirstLastPara="1" rIns="91425" wrap="square" tIns="91425">
            <a:noAutofit/>
          </a:bodyPr>
          <a:lstStyle/>
          <a:p>
            <a:pPr indent="-305435" lvl="0" marL="457200" rtl="0" algn="l">
              <a:lnSpc>
                <a:spcPct val="95000"/>
              </a:lnSpc>
              <a:spcBef>
                <a:spcPts val="0"/>
              </a:spcBef>
              <a:spcAft>
                <a:spcPts val="0"/>
              </a:spcAft>
              <a:buSzPts val="1210"/>
              <a:buChar char="●"/>
            </a:pPr>
            <a:r>
              <a:rPr lang="en" sz="1210"/>
              <a:t>Ground Truth Status </a:t>
            </a:r>
            <a:endParaRPr sz="1210"/>
          </a:p>
          <a:p>
            <a:pPr indent="-305435" lvl="1" marL="914400" rtl="0" algn="l">
              <a:lnSpc>
                <a:spcPct val="95000"/>
              </a:lnSpc>
              <a:spcBef>
                <a:spcPts val="0"/>
              </a:spcBef>
              <a:spcAft>
                <a:spcPts val="0"/>
              </a:spcAft>
              <a:buSzPts val="1210"/>
              <a:buChar char="○"/>
            </a:pPr>
            <a:r>
              <a:rPr lang="en" sz="1210"/>
              <a:t>The team was able to implement four ground truth samples </a:t>
            </a:r>
            <a:endParaRPr sz="1210"/>
          </a:p>
          <a:p>
            <a:pPr indent="-305435" lvl="2" marL="1371600" rtl="0" algn="l">
              <a:lnSpc>
                <a:spcPct val="95000"/>
              </a:lnSpc>
              <a:spcBef>
                <a:spcPts val="0"/>
              </a:spcBef>
              <a:spcAft>
                <a:spcPts val="0"/>
              </a:spcAft>
              <a:buSzPts val="1210"/>
              <a:buChar char="■"/>
            </a:pPr>
            <a:r>
              <a:rPr lang="en" sz="1210"/>
              <a:t>Two C++ samples </a:t>
            </a:r>
            <a:endParaRPr sz="1210"/>
          </a:p>
          <a:p>
            <a:pPr indent="-305435" lvl="3" marL="1828800" rtl="0" algn="l">
              <a:lnSpc>
                <a:spcPct val="95000"/>
              </a:lnSpc>
              <a:spcBef>
                <a:spcPts val="0"/>
              </a:spcBef>
              <a:spcAft>
                <a:spcPts val="0"/>
              </a:spcAft>
              <a:buSzPts val="1210"/>
              <a:buChar char="●"/>
            </a:pPr>
            <a:r>
              <a:rPr lang="en" sz="1210"/>
              <a:t>Overall length: 2000+ lines for final sample</a:t>
            </a:r>
            <a:endParaRPr sz="1210"/>
          </a:p>
          <a:p>
            <a:pPr indent="-305435" lvl="2" marL="1371600" rtl="0" algn="l">
              <a:lnSpc>
                <a:spcPct val="95000"/>
              </a:lnSpc>
              <a:spcBef>
                <a:spcPts val="0"/>
              </a:spcBef>
              <a:spcAft>
                <a:spcPts val="0"/>
              </a:spcAft>
              <a:buSzPts val="1210"/>
              <a:buChar char="■"/>
            </a:pPr>
            <a:r>
              <a:rPr lang="en" sz="1210"/>
              <a:t>Two Java samples </a:t>
            </a:r>
            <a:endParaRPr sz="1210"/>
          </a:p>
          <a:p>
            <a:pPr indent="-305435" lvl="3" marL="1828800" rtl="0" algn="l">
              <a:lnSpc>
                <a:spcPct val="95000"/>
              </a:lnSpc>
              <a:spcBef>
                <a:spcPts val="0"/>
              </a:spcBef>
              <a:spcAft>
                <a:spcPts val="0"/>
              </a:spcAft>
              <a:buSzPts val="1210"/>
              <a:buChar char="●"/>
            </a:pPr>
            <a:r>
              <a:rPr lang="en" sz="1210"/>
              <a:t>Overall length: 600+ lines for final sample</a:t>
            </a:r>
            <a:endParaRPr sz="1210"/>
          </a:p>
          <a:p>
            <a:pPr indent="-305435" lvl="1" marL="914400" rtl="0" algn="l">
              <a:lnSpc>
                <a:spcPct val="95000"/>
              </a:lnSpc>
              <a:spcBef>
                <a:spcPts val="0"/>
              </a:spcBef>
              <a:spcAft>
                <a:spcPts val="0"/>
              </a:spcAft>
              <a:buSzPts val="1210"/>
              <a:buChar char="○"/>
            </a:pPr>
            <a:r>
              <a:rPr lang="en" sz="1210"/>
              <a:t>Samples conformed to the posted requirements </a:t>
            </a:r>
            <a:endParaRPr sz="1210"/>
          </a:p>
          <a:p>
            <a:pPr indent="-305435" lvl="1" marL="914400" rtl="0" algn="l">
              <a:lnSpc>
                <a:spcPct val="95000"/>
              </a:lnSpc>
              <a:spcBef>
                <a:spcPts val="0"/>
              </a:spcBef>
              <a:spcAft>
                <a:spcPts val="0"/>
              </a:spcAft>
              <a:buSzPts val="1210"/>
              <a:buChar char="○"/>
            </a:pPr>
            <a:r>
              <a:rPr lang="en" sz="1210"/>
              <a:t>Samples were characterized within the MDLC; all potential choices considered as noticed</a:t>
            </a:r>
            <a:endParaRPr sz="1210"/>
          </a:p>
          <a:p>
            <a:pPr indent="-305435" lvl="2" marL="1371600" rtl="0" algn="l">
              <a:lnSpc>
                <a:spcPct val="95000"/>
              </a:lnSpc>
              <a:spcBef>
                <a:spcPts val="0"/>
              </a:spcBef>
              <a:spcAft>
                <a:spcPts val="0"/>
              </a:spcAft>
              <a:buSzPts val="1210"/>
              <a:buChar char="■"/>
            </a:pPr>
            <a:r>
              <a:rPr lang="en" sz="1210"/>
              <a:t>Only small portions of the final sample are presented for brevity</a:t>
            </a:r>
            <a:br>
              <a:rPr lang="en" sz="1210"/>
            </a:br>
            <a:endParaRPr sz="510"/>
          </a:p>
          <a:p>
            <a:pPr indent="-305435" lvl="0" marL="457200" rtl="0" algn="l">
              <a:lnSpc>
                <a:spcPct val="95000"/>
              </a:lnSpc>
              <a:spcBef>
                <a:spcPts val="0"/>
              </a:spcBef>
              <a:spcAft>
                <a:spcPts val="0"/>
              </a:spcAft>
              <a:buSzPts val="1210"/>
              <a:buChar char="●"/>
            </a:pPr>
            <a:r>
              <a:rPr lang="en" sz="1210"/>
              <a:t>Ground Truth Difficulty </a:t>
            </a:r>
            <a:endParaRPr sz="1210"/>
          </a:p>
          <a:p>
            <a:pPr indent="-305435" lvl="1" marL="914400" rtl="0" algn="l">
              <a:lnSpc>
                <a:spcPct val="95000"/>
              </a:lnSpc>
              <a:spcBef>
                <a:spcPts val="0"/>
              </a:spcBef>
              <a:spcAft>
                <a:spcPts val="0"/>
              </a:spcAft>
              <a:buSzPts val="1210"/>
              <a:buChar char="○"/>
            </a:pPr>
            <a:r>
              <a:rPr lang="en" sz="1210"/>
              <a:t>Sample implementation was difficult; more time-consuming than anticipated </a:t>
            </a:r>
            <a:endParaRPr sz="1210"/>
          </a:p>
          <a:p>
            <a:pPr indent="-305435" lvl="2" marL="1371600" rtl="0" algn="l">
              <a:lnSpc>
                <a:spcPct val="95000"/>
              </a:lnSpc>
              <a:spcBef>
                <a:spcPts val="0"/>
              </a:spcBef>
              <a:spcAft>
                <a:spcPts val="0"/>
              </a:spcAft>
              <a:buSzPts val="1210"/>
              <a:buChar char="■"/>
            </a:pPr>
            <a:r>
              <a:rPr lang="en" sz="1210"/>
              <a:t>Implementing realistic adversary malware </a:t>
            </a:r>
            <a:r>
              <a:rPr lang="en" sz="1210"/>
              <a:t>with</a:t>
            </a:r>
            <a:r>
              <a:rPr lang="en" sz="1210"/>
              <a:t> basic capabilities required:</a:t>
            </a:r>
            <a:endParaRPr sz="1210"/>
          </a:p>
          <a:p>
            <a:pPr indent="-305435" lvl="3" marL="1828800" rtl="0" algn="l">
              <a:lnSpc>
                <a:spcPct val="95000"/>
              </a:lnSpc>
              <a:spcBef>
                <a:spcPts val="0"/>
              </a:spcBef>
              <a:spcAft>
                <a:spcPts val="0"/>
              </a:spcAft>
              <a:buSzPts val="1210"/>
              <a:buChar char="●"/>
            </a:pPr>
            <a:r>
              <a:rPr lang="en" sz="1210"/>
              <a:t>Extensive research in various APIs required for implement functionality</a:t>
            </a:r>
            <a:endParaRPr sz="1210"/>
          </a:p>
          <a:p>
            <a:pPr indent="-305435" lvl="4" marL="2286000" rtl="0" algn="l">
              <a:lnSpc>
                <a:spcPct val="95000"/>
              </a:lnSpc>
              <a:spcBef>
                <a:spcPts val="0"/>
              </a:spcBef>
              <a:spcAft>
                <a:spcPts val="0"/>
              </a:spcAft>
              <a:buSzPts val="1210"/>
              <a:buChar char="○"/>
            </a:pPr>
            <a:r>
              <a:rPr lang="en" sz="1210"/>
              <a:t>Dozens of potential decisions to be made to implement one capability</a:t>
            </a:r>
            <a:endParaRPr sz="1210"/>
          </a:p>
          <a:p>
            <a:pPr indent="-305435" lvl="3" marL="1828800" rtl="0" algn="l">
              <a:lnSpc>
                <a:spcPct val="95000"/>
              </a:lnSpc>
              <a:spcBef>
                <a:spcPts val="0"/>
              </a:spcBef>
              <a:spcAft>
                <a:spcPts val="0"/>
              </a:spcAft>
              <a:buSzPts val="1210"/>
              <a:buChar char="●"/>
            </a:pPr>
            <a:r>
              <a:rPr lang="en" sz="1210"/>
              <a:t>Extensive software engineering research and expertise</a:t>
            </a:r>
            <a:endParaRPr sz="1210"/>
          </a:p>
          <a:p>
            <a:pPr indent="-305435" lvl="3" marL="1828800" rtl="0" algn="l">
              <a:lnSpc>
                <a:spcPct val="95000"/>
              </a:lnSpc>
              <a:spcBef>
                <a:spcPts val="0"/>
              </a:spcBef>
              <a:spcAft>
                <a:spcPts val="0"/>
              </a:spcAft>
              <a:buSzPts val="1210"/>
              <a:buChar char="●"/>
            </a:pPr>
            <a:r>
              <a:rPr lang="en" sz="1210"/>
              <a:t>Extensive debugging efforts were required</a:t>
            </a:r>
            <a:endParaRPr sz="1210"/>
          </a:p>
          <a:p>
            <a:pPr indent="-305435" lvl="0" marL="457200" rtl="0" algn="l">
              <a:lnSpc>
                <a:spcPct val="95000"/>
              </a:lnSpc>
              <a:spcBef>
                <a:spcPts val="0"/>
              </a:spcBef>
              <a:spcAft>
                <a:spcPts val="0"/>
              </a:spcAft>
              <a:buSzPts val="1210"/>
              <a:buChar char="●"/>
            </a:pPr>
            <a:r>
              <a:rPr lang="en" sz="1210"/>
              <a:t>Proposed Malware Analysis Tool</a:t>
            </a:r>
            <a:endParaRPr sz="1210"/>
          </a:p>
          <a:p>
            <a:pPr indent="-305435" lvl="1" marL="914400" rtl="0" algn="l">
              <a:lnSpc>
                <a:spcPct val="95000"/>
              </a:lnSpc>
              <a:spcBef>
                <a:spcPts val="0"/>
              </a:spcBef>
              <a:spcAft>
                <a:spcPts val="0"/>
              </a:spcAft>
              <a:buSzPts val="1210"/>
              <a:buChar char="○"/>
            </a:pPr>
            <a:r>
              <a:rPr lang="en" sz="1210"/>
              <a:t>Proposal incorporates our selected toolchains to analyze a malware sample and feed the toolchain output into the MDLC</a:t>
            </a:r>
            <a:endParaRPr sz="1210"/>
          </a:p>
        </p:txBody>
      </p:sp>
      <p:sp>
        <p:nvSpPr>
          <p:cNvPr id="441" name="Google Shape;441;p39"/>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442" name="Google Shape;442;p39"/>
          <p:cNvSpPr/>
          <p:nvPr/>
        </p:nvSpPr>
        <p:spPr>
          <a:xfrm>
            <a:off x="1907175" y="4615925"/>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443" name="Google Shape;443;p39"/>
          <p:cNvSpPr/>
          <p:nvPr/>
        </p:nvSpPr>
        <p:spPr>
          <a:xfrm>
            <a:off x="29326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444" name="Google Shape;444;p39"/>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445" name="Google Shape;445;p39"/>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446" name="Google Shape;446;p39"/>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447" name="Google Shape;447;p39"/>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Findings: Team 1 Final Sample MDLC Characterization for Selected Choices</a:t>
            </a:r>
            <a:endParaRPr/>
          </a:p>
        </p:txBody>
      </p:sp>
      <p:grpSp>
        <p:nvGrpSpPr>
          <p:cNvPr id="453" name="Google Shape;453;p40"/>
          <p:cNvGrpSpPr/>
          <p:nvPr/>
        </p:nvGrpSpPr>
        <p:grpSpPr>
          <a:xfrm>
            <a:off x="720492" y="1429125"/>
            <a:ext cx="7626815" cy="552075"/>
            <a:chOff x="3354" y="0"/>
            <a:chExt cx="7626815" cy="552075"/>
          </a:xfrm>
        </p:grpSpPr>
        <p:sp>
          <p:nvSpPr>
            <p:cNvPr id="454" name="Google Shape;454;p40"/>
            <p:cNvSpPr/>
            <p:nvPr/>
          </p:nvSpPr>
          <p:spPr>
            <a:xfrm>
              <a:off x="3354" y="0"/>
              <a:ext cx="2933390" cy="552075"/>
            </a:xfrm>
            <a:prstGeom prst="homePlate">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0"/>
            <p:cNvSpPr txBox="1"/>
            <p:nvPr/>
          </p:nvSpPr>
          <p:spPr>
            <a:xfrm>
              <a:off x="3354" y="0"/>
              <a:ext cx="2795371" cy="552075"/>
            </a:xfrm>
            <a:prstGeom prst="rect">
              <a:avLst/>
            </a:prstGeom>
            <a:noFill/>
            <a:ln>
              <a:noFill/>
            </a:ln>
          </p:spPr>
          <p:txBody>
            <a:bodyPr anchorCtr="0" anchor="ctr" bIns="42650" lIns="85325" spcFirstLastPara="1" rIns="21325" wrap="square" tIns="42650">
              <a:noAutofit/>
            </a:bodyPr>
            <a:lstStyle/>
            <a:p>
              <a:pPr indent="0" lvl="0" marL="0" marR="0" rtl="0" algn="l">
                <a:lnSpc>
                  <a:spcPct val="90000"/>
                </a:lnSpc>
                <a:spcBef>
                  <a:spcPts val="0"/>
                </a:spcBef>
                <a:spcAft>
                  <a:spcPts val="0"/>
                </a:spcAft>
                <a:buClr>
                  <a:srgbClr val="000000"/>
                </a:buClr>
                <a:buSzPts val="1600"/>
                <a:buFont typeface="Arial"/>
                <a:buNone/>
              </a:pPr>
              <a:r>
                <a:rPr b="0" i="0" lang="en" sz="1600" u="none" cap="none" strike="noStrike">
                  <a:solidFill>
                    <a:schemeClr val="lt1"/>
                  </a:solidFill>
                  <a:latin typeface="Lato"/>
                  <a:ea typeface="Lato"/>
                  <a:cs typeface="Lato"/>
                  <a:sym typeface="Lato"/>
                </a:rPr>
                <a:t>          Requirements</a:t>
              </a:r>
              <a:endParaRPr/>
            </a:p>
          </p:txBody>
        </p:sp>
        <p:sp>
          <p:nvSpPr>
            <p:cNvPr id="456" name="Google Shape;456;p40"/>
            <p:cNvSpPr/>
            <p:nvPr/>
          </p:nvSpPr>
          <p:spPr>
            <a:xfrm>
              <a:off x="2350066" y="0"/>
              <a:ext cx="2933390" cy="552075"/>
            </a:xfrm>
            <a:prstGeom prst="chevron">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0"/>
            <p:cNvSpPr txBox="1"/>
            <p:nvPr/>
          </p:nvSpPr>
          <p:spPr>
            <a:xfrm>
              <a:off x="2626104" y="0"/>
              <a:ext cx="2381315" cy="552075"/>
            </a:xfrm>
            <a:prstGeom prst="rect">
              <a:avLst/>
            </a:prstGeom>
            <a:noFill/>
            <a:ln>
              <a:noFill/>
            </a:ln>
          </p:spPr>
          <p:txBody>
            <a:bodyPr anchorCtr="0" anchor="ctr" bIns="42650" lIns="64000" spcFirstLastPara="1" rIns="21325" wrap="square" tIns="42650">
              <a:noAutofit/>
            </a:bodyPr>
            <a:lstStyle/>
            <a:p>
              <a:pPr indent="0" lvl="0" marL="0" marR="0" rtl="0" algn="l">
                <a:lnSpc>
                  <a:spcPct val="90000"/>
                </a:lnSpc>
                <a:spcBef>
                  <a:spcPts val="0"/>
                </a:spcBef>
                <a:spcAft>
                  <a:spcPts val="0"/>
                </a:spcAft>
                <a:buClr>
                  <a:srgbClr val="000000"/>
                </a:buClr>
                <a:buSzPts val="1600"/>
                <a:buFont typeface="Arial"/>
                <a:buNone/>
              </a:pPr>
              <a:r>
                <a:rPr b="0" i="0" lang="en" sz="1600" u="none" cap="none" strike="noStrike">
                  <a:solidFill>
                    <a:schemeClr val="lt1"/>
                  </a:solidFill>
                  <a:latin typeface="Lato"/>
                  <a:ea typeface="Lato"/>
                  <a:cs typeface="Lato"/>
                  <a:sym typeface="Lato"/>
                </a:rPr>
                <a:t>             Design</a:t>
              </a:r>
              <a:endParaRPr/>
            </a:p>
          </p:txBody>
        </p:sp>
        <p:sp>
          <p:nvSpPr>
            <p:cNvPr id="458" name="Google Shape;458;p40"/>
            <p:cNvSpPr/>
            <p:nvPr/>
          </p:nvSpPr>
          <p:spPr>
            <a:xfrm>
              <a:off x="4696779" y="0"/>
              <a:ext cx="2933390" cy="552075"/>
            </a:xfrm>
            <a:prstGeom prst="chevron">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0"/>
            <p:cNvSpPr txBox="1"/>
            <p:nvPr/>
          </p:nvSpPr>
          <p:spPr>
            <a:xfrm>
              <a:off x="4972817" y="0"/>
              <a:ext cx="2381315" cy="552075"/>
            </a:xfrm>
            <a:prstGeom prst="rect">
              <a:avLst/>
            </a:prstGeom>
            <a:noFill/>
            <a:ln>
              <a:noFill/>
            </a:ln>
          </p:spPr>
          <p:txBody>
            <a:bodyPr anchorCtr="0" anchor="ctr" bIns="42650" lIns="64000" spcFirstLastPara="1" rIns="21325" wrap="square" tIns="42650">
              <a:noAutofit/>
            </a:bodyPr>
            <a:lstStyle/>
            <a:p>
              <a:pPr indent="0" lvl="0" marL="0" marR="0" rtl="0" algn="ctr">
                <a:lnSpc>
                  <a:spcPct val="90000"/>
                </a:lnSpc>
                <a:spcBef>
                  <a:spcPts val="0"/>
                </a:spcBef>
                <a:spcAft>
                  <a:spcPts val="0"/>
                </a:spcAft>
                <a:buClr>
                  <a:srgbClr val="000000"/>
                </a:buClr>
                <a:buSzPts val="1600"/>
                <a:buFont typeface="Arial"/>
                <a:buNone/>
              </a:pPr>
              <a:r>
                <a:rPr lang="en" sz="1600">
                  <a:solidFill>
                    <a:schemeClr val="lt1"/>
                  </a:solidFill>
                  <a:latin typeface="Lato"/>
                  <a:ea typeface="Lato"/>
                  <a:cs typeface="Lato"/>
                  <a:sym typeface="Lato"/>
                </a:rPr>
                <a:t>Code</a:t>
              </a:r>
              <a:endParaRPr/>
            </a:p>
          </p:txBody>
        </p:sp>
      </p:grpSp>
      <p:sp>
        <p:nvSpPr>
          <p:cNvPr id="460" name="Google Shape;460;p40"/>
          <p:cNvSpPr txBox="1"/>
          <p:nvPr/>
        </p:nvSpPr>
        <p:spPr>
          <a:xfrm>
            <a:off x="717138" y="2108031"/>
            <a:ext cx="2199300" cy="738600"/>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Hard to characterize</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Requires insider information</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The given requirements best characterize this phase</a:t>
            </a:r>
            <a:endParaRPr/>
          </a:p>
        </p:txBody>
      </p:sp>
      <p:grpSp>
        <p:nvGrpSpPr>
          <p:cNvPr id="461" name="Google Shape;461;p40"/>
          <p:cNvGrpSpPr/>
          <p:nvPr/>
        </p:nvGrpSpPr>
        <p:grpSpPr>
          <a:xfrm>
            <a:off x="706230" y="3206028"/>
            <a:ext cx="7626815" cy="552075"/>
            <a:chOff x="3354" y="0"/>
            <a:chExt cx="7626815" cy="552075"/>
          </a:xfrm>
        </p:grpSpPr>
        <p:sp>
          <p:nvSpPr>
            <p:cNvPr id="462" name="Google Shape;462;p40"/>
            <p:cNvSpPr/>
            <p:nvPr/>
          </p:nvSpPr>
          <p:spPr>
            <a:xfrm>
              <a:off x="3354" y="0"/>
              <a:ext cx="2933390" cy="552075"/>
            </a:xfrm>
            <a:prstGeom prst="homePlate">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0"/>
            <p:cNvSpPr txBox="1"/>
            <p:nvPr/>
          </p:nvSpPr>
          <p:spPr>
            <a:xfrm>
              <a:off x="3354" y="0"/>
              <a:ext cx="2795371" cy="552075"/>
            </a:xfrm>
            <a:prstGeom prst="rect">
              <a:avLst/>
            </a:prstGeom>
            <a:noFill/>
            <a:ln>
              <a:noFill/>
            </a:ln>
          </p:spPr>
          <p:txBody>
            <a:bodyPr anchorCtr="0" anchor="ctr" bIns="42650" lIns="85325" spcFirstLastPara="1" rIns="21325" wrap="square" tIns="42650">
              <a:noAutofit/>
            </a:bodyPr>
            <a:lstStyle/>
            <a:p>
              <a:pPr indent="0" lvl="0" marL="0" marR="0" rtl="0" algn="l">
                <a:lnSpc>
                  <a:spcPct val="90000"/>
                </a:lnSpc>
                <a:spcBef>
                  <a:spcPts val="0"/>
                </a:spcBef>
                <a:spcAft>
                  <a:spcPts val="0"/>
                </a:spcAft>
                <a:buClr>
                  <a:srgbClr val="000000"/>
                </a:buClr>
                <a:buSzPts val="1600"/>
                <a:buFont typeface="Arial"/>
                <a:buNone/>
              </a:pPr>
              <a:r>
                <a:rPr b="0" i="0" lang="en" sz="1600" u="none" cap="none" strike="noStrike">
                  <a:solidFill>
                    <a:schemeClr val="lt1"/>
                  </a:solidFill>
                  <a:latin typeface="Lato"/>
                  <a:ea typeface="Lato"/>
                  <a:cs typeface="Lato"/>
                  <a:sym typeface="Lato"/>
                </a:rPr>
                <a:t>                  Build</a:t>
              </a:r>
              <a:endParaRPr/>
            </a:p>
          </p:txBody>
        </p:sp>
        <p:sp>
          <p:nvSpPr>
            <p:cNvPr id="464" name="Google Shape;464;p40"/>
            <p:cNvSpPr/>
            <p:nvPr/>
          </p:nvSpPr>
          <p:spPr>
            <a:xfrm>
              <a:off x="2350066" y="0"/>
              <a:ext cx="2933390" cy="552075"/>
            </a:xfrm>
            <a:prstGeom prst="chevron">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0"/>
            <p:cNvSpPr txBox="1"/>
            <p:nvPr/>
          </p:nvSpPr>
          <p:spPr>
            <a:xfrm>
              <a:off x="2626104" y="0"/>
              <a:ext cx="2381315" cy="552075"/>
            </a:xfrm>
            <a:prstGeom prst="rect">
              <a:avLst/>
            </a:prstGeom>
            <a:noFill/>
            <a:ln>
              <a:noFill/>
            </a:ln>
          </p:spPr>
          <p:txBody>
            <a:bodyPr anchorCtr="0" anchor="ctr" bIns="42650" lIns="64000" spcFirstLastPara="1" rIns="21325" wrap="square" tIns="42650">
              <a:noAutofit/>
            </a:bodyPr>
            <a:lstStyle/>
            <a:p>
              <a:pPr indent="0" lvl="0" marL="0" marR="0" rtl="0" algn="l">
                <a:lnSpc>
                  <a:spcPct val="90000"/>
                </a:lnSpc>
                <a:spcBef>
                  <a:spcPts val="0"/>
                </a:spcBef>
                <a:spcAft>
                  <a:spcPts val="0"/>
                </a:spcAft>
                <a:buClr>
                  <a:srgbClr val="000000"/>
                </a:buClr>
                <a:buSzPts val="1600"/>
                <a:buFont typeface="Arial"/>
                <a:buNone/>
              </a:pPr>
              <a:r>
                <a:rPr b="0" i="0" lang="en" sz="1600" u="none" cap="none" strike="noStrike">
                  <a:solidFill>
                    <a:schemeClr val="lt1"/>
                  </a:solidFill>
                  <a:latin typeface="Lato"/>
                  <a:ea typeface="Lato"/>
                  <a:cs typeface="Lato"/>
                  <a:sym typeface="Lato"/>
                </a:rPr>
                <a:t>          Configure</a:t>
              </a:r>
              <a:endParaRPr/>
            </a:p>
          </p:txBody>
        </p:sp>
        <p:sp>
          <p:nvSpPr>
            <p:cNvPr id="466" name="Google Shape;466;p40"/>
            <p:cNvSpPr/>
            <p:nvPr/>
          </p:nvSpPr>
          <p:spPr>
            <a:xfrm>
              <a:off x="4696779" y="0"/>
              <a:ext cx="2933390" cy="552075"/>
            </a:xfrm>
            <a:prstGeom prst="chevron">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0"/>
            <p:cNvSpPr txBox="1"/>
            <p:nvPr/>
          </p:nvSpPr>
          <p:spPr>
            <a:xfrm>
              <a:off x="4972817" y="0"/>
              <a:ext cx="2381315" cy="552075"/>
            </a:xfrm>
            <a:prstGeom prst="rect">
              <a:avLst/>
            </a:prstGeom>
            <a:noFill/>
            <a:ln>
              <a:noFill/>
            </a:ln>
          </p:spPr>
          <p:txBody>
            <a:bodyPr anchorCtr="0" anchor="ctr" bIns="42650" lIns="64000" spcFirstLastPara="1" rIns="21325" wrap="square" tIns="42650">
              <a:noAutofit/>
            </a:bodyPr>
            <a:lstStyle/>
            <a:p>
              <a:pPr indent="0" lvl="0" marL="0" marR="0" rtl="0" algn="ctr">
                <a:lnSpc>
                  <a:spcPct val="90000"/>
                </a:lnSpc>
                <a:spcBef>
                  <a:spcPts val="0"/>
                </a:spcBef>
                <a:spcAft>
                  <a:spcPts val="0"/>
                </a:spcAft>
                <a:buClr>
                  <a:srgbClr val="000000"/>
                </a:buClr>
                <a:buSzPts val="1600"/>
                <a:buFont typeface="Arial"/>
                <a:buNone/>
              </a:pPr>
              <a:r>
                <a:rPr b="0" i="0" lang="en" sz="1600" u="none" cap="none" strike="noStrike">
                  <a:solidFill>
                    <a:schemeClr val="lt1"/>
                  </a:solidFill>
                  <a:latin typeface="Lato"/>
                  <a:ea typeface="Lato"/>
                  <a:cs typeface="Lato"/>
                  <a:sym typeface="Lato"/>
                </a:rPr>
                <a:t>Package</a:t>
              </a:r>
              <a:endParaRPr/>
            </a:p>
          </p:txBody>
        </p:sp>
      </p:grpSp>
      <p:sp>
        <p:nvSpPr>
          <p:cNvPr id="468" name="Google Shape;468;p40"/>
          <p:cNvSpPr txBox="1"/>
          <p:nvPr/>
        </p:nvSpPr>
        <p:spPr>
          <a:xfrm>
            <a:off x="3147918" y="2101720"/>
            <a:ext cx="2199200" cy="738664"/>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Modular design</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Functional paradigm</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OPSEC – XOR Encoding of network data</a:t>
            </a:r>
            <a:endParaRPr/>
          </a:p>
        </p:txBody>
      </p:sp>
      <p:sp>
        <p:nvSpPr>
          <p:cNvPr id="469" name="Google Shape;469;p40"/>
          <p:cNvSpPr txBox="1"/>
          <p:nvPr/>
        </p:nvSpPr>
        <p:spPr>
          <a:xfrm>
            <a:off x="5578601" y="2062620"/>
            <a:ext cx="2572200" cy="1062000"/>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Windows API for functionalities</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Implementing modules in .h and .cpp file </a:t>
            </a:r>
            <a:br>
              <a:rPr b="0" i="0" lang="en" sz="1050" u="none" cap="none" strike="noStrike">
                <a:solidFill>
                  <a:srgbClr val="002256"/>
                </a:solidFill>
                <a:latin typeface="Arial"/>
                <a:ea typeface="Arial"/>
                <a:cs typeface="Arial"/>
                <a:sym typeface="Arial"/>
              </a:rPr>
            </a:br>
            <a:r>
              <a:rPr b="0" i="0" lang="en" sz="1050" u="none" cap="none" strike="noStrike">
                <a:solidFill>
                  <a:srgbClr val="002256"/>
                </a:solidFill>
                <a:latin typeface="Arial"/>
                <a:ea typeface="Arial"/>
                <a:cs typeface="Arial"/>
                <a:sym typeface="Arial"/>
              </a:rPr>
              <a:t>→ hard to see by analyst</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OPSEC – XOR encoding using hard coded string and </a:t>
            </a:r>
            <a:r>
              <a:rPr lang="en" sz="1050">
                <a:solidFill>
                  <a:srgbClr val="002256"/>
                </a:solidFill>
              </a:rPr>
              <a:t>WinCrypt API</a:t>
            </a:r>
            <a:endParaRPr/>
          </a:p>
        </p:txBody>
      </p:sp>
      <p:sp>
        <p:nvSpPr>
          <p:cNvPr id="470" name="Google Shape;470;p40"/>
          <p:cNvSpPr txBox="1"/>
          <p:nvPr/>
        </p:nvSpPr>
        <p:spPr>
          <a:xfrm>
            <a:off x="717138" y="3856143"/>
            <a:ext cx="2199200" cy="577081"/>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Compiled in Visual C++</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No optimization options</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Minimum switches</a:t>
            </a:r>
            <a:endParaRPr/>
          </a:p>
        </p:txBody>
      </p:sp>
      <p:sp>
        <p:nvSpPr>
          <p:cNvPr id="471" name="Google Shape;471;p40"/>
          <p:cNvSpPr txBox="1"/>
          <p:nvPr/>
        </p:nvSpPr>
        <p:spPr>
          <a:xfrm>
            <a:off x="3147918" y="3867461"/>
            <a:ext cx="2199200" cy="577081"/>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None after build/compilation</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Hard coded strings can be changed before compilation</a:t>
            </a:r>
            <a:endParaRPr/>
          </a:p>
        </p:txBody>
      </p:sp>
      <p:sp>
        <p:nvSpPr>
          <p:cNvPr id="472" name="Google Shape;472;p40"/>
          <p:cNvSpPr txBox="1"/>
          <p:nvPr/>
        </p:nvSpPr>
        <p:spPr>
          <a:xfrm>
            <a:off x="5578700" y="3817562"/>
            <a:ext cx="2572200" cy="738900"/>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Can be packed in any Windows loader/installer </a:t>
            </a:r>
            <a:endParaRPr b="0" i="0" sz="1050" u="none" cap="none" strike="noStrike">
              <a:solidFill>
                <a:srgbClr val="002256"/>
              </a:solidFill>
              <a:latin typeface="Arial"/>
              <a:ea typeface="Arial"/>
              <a:cs typeface="Arial"/>
              <a:sym typeface="Arial"/>
            </a:endParaRPr>
          </a:p>
          <a:p>
            <a:pPr indent="-171450" lvl="0" marL="171450" marR="0" rtl="0" algn="l">
              <a:lnSpc>
                <a:spcPct val="100000"/>
              </a:lnSpc>
              <a:spcBef>
                <a:spcPts val="0"/>
              </a:spcBef>
              <a:spcAft>
                <a:spcPts val="0"/>
              </a:spcAft>
              <a:buClr>
                <a:srgbClr val="002256"/>
              </a:buClr>
              <a:buSzPts val="1050"/>
              <a:buChar char="•"/>
            </a:pPr>
            <a:r>
              <a:rPr lang="en" sz="1050">
                <a:solidFill>
                  <a:srgbClr val="002256"/>
                </a:solidFill>
              </a:rPr>
              <a:t>Can be packed in any standard Windows executable packer </a:t>
            </a:r>
            <a:endParaRPr sz="1050">
              <a:solidFill>
                <a:srgbClr val="002256"/>
              </a:solidFill>
            </a:endParaRPr>
          </a:p>
        </p:txBody>
      </p:sp>
      <p:sp>
        <p:nvSpPr>
          <p:cNvPr id="473" name="Google Shape;473;p40"/>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Intro</a:t>
            </a:r>
            <a:endParaRPr b="1" i="0" sz="900" u="none" cap="none" strike="noStrike">
              <a:solidFill>
                <a:srgbClr val="000000"/>
              </a:solidFill>
              <a:latin typeface="Arial"/>
              <a:ea typeface="Arial"/>
              <a:cs typeface="Arial"/>
              <a:sym typeface="Arial"/>
            </a:endParaRPr>
          </a:p>
        </p:txBody>
      </p:sp>
      <p:sp>
        <p:nvSpPr>
          <p:cNvPr id="474" name="Google Shape;474;p40"/>
          <p:cNvSpPr/>
          <p:nvPr/>
        </p:nvSpPr>
        <p:spPr>
          <a:xfrm>
            <a:off x="1907175" y="4615925"/>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Methods</a:t>
            </a:r>
            <a:endParaRPr b="1" i="0" sz="900" u="none" cap="none" strike="noStrike">
              <a:solidFill>
                <a:srgbClr val="000000"/>
              </a:solidFill>
              <a:latin typeface="Arial"/>
              <a:ea typeface="Arial"/>
              <a:cs typeface="Arial"/>
              <a:sym typeface="Arial"/>
            </a:endParaRPr>
          </a:p>
        </p:txBody>
      </p:sp>
      <p:sp>
        <p:nvSpPr>
          <p:cNvPr id="475" name="Google Shape;475;p40"/>
          <p:cNvSpPr/>
          <p:nvPr/>
        </p:nvSpPr>
        <p:spPr>
          <a:xfrm>
            <a:off x="29326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Findings</a:t>
            </a:r>
            <a:endParaRPr b="1" i="0" sz="900" u="none" cap="none" strike="noStrike">
              <a:solidFill>
                <a:srgbClr val="000000"/>
              </a:solidFill>
              <a:latin typeface="Arial"/>
              <a:ea typeface="Arial"/>
              <a:cs typeface="Arial"/>
              <a:sym typeface="Arial"/>
            </a:endParaRPr>
          </a:p>
        </p:txBody>
      </p:sp>
      <p:sp>
        <p:nvSpPr>
          <p:cNvPr id="476" name="Google Shape;476;p40"/>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Issues</a:t>
            </a:r>
            <a:endParaRPr b="1" i="0" sz="900" u="none" cap="none" strike="noStrike">
              <a:solidFill>
                <a:srgbClr val="000000"/>
              </a:solidFill>
              <a:latin typeface="Arial"/>
              <a:ea typeface="Arial"/>
              <a:cs typeface="Arial"/>
              <a:sym typeface="Arial"/>
            </a:endParaRPr>
          </a:p>
        </p:txBody>
      </p:sp>
      <p:sp>
        <p:nvSpPr>
          <p:cNvPr id="477" name="Google Shape;477;p40"/>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Conclusions</a:t>
            </a:r>
            <a:endParaRPr b="1" i="0" sz="900" u="none" cap="none" strike="noStrike">
              <a:solidFill>
                <a:srgbClr val="000000"/>
              </a:solidFill>
              <a:latin typeface="Arial"/>
              <a:ea typeface="Arial"/>
              <a:cs typeface="Arial"/>
              <a:sym typeface="Arial"/>
            </a:endParaRPr>
          </a:p>
        </p:txBody>
      </p:sp>
      <p:sp>
        <p:nvSpPr>
          <p:cNvPr id="478" name="Google Shape;478;p40"/>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Bibliography</a:t>
            </a:r>
            <a:endParaRPr b="1" i="0" sz="900" u="none" cap="none" strike="noStrike">
              <a:solidFill>
                <a:srgbClr val="000000"/>
              </a:solidFill>
              <a:latin typeface="Arial"/>
              <a:ea typeface="Arial"/>
              <a:cs typeface="Arial"/>
              <a:sym typeface="Arial"/>
            </a:endParaRPr>
          </a:p>
        </p:txBody>
      </p:sp>
      <p:sp>
        <p:nvSpPr>
          <p:cNvPr id="479" name="Google Shape;479;p40"/>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Appendices</a:t>
            </a:r>
            <a:endParaRPr b="1" i="0" sz="9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Findings: Team 2 Final Sample MDLC Characterization </a:t>
            </a:r>
            <a:r>
              <a:rPr lang="en"/>
              <a:t>for Selected Choices</a:t>
            </a:r>
            <a:endParaRPr/>
          </a:p>
        </p:txBody>
      </p:sp>
      <p:sp>
        <p:nvSpPr>
          <p:cNvPr id="485" name="Google Shape;485;p41"/>
          <p:cNvSpPr/>
          <p:nvPr/>
        </p:nvSpPr>
        <p:spPr>
          <a:xfrm>
            <a:off x="1003750" y="4615925"/>
            <a:ext cx="1042200" cy="234000"/>
          </a:xfrm>
          <a:prstGeom prst="chevron">
            <a:avLst>
              <a:gd fmla="val 50000" name="adj"/>
            </a:avLst>
          </a:prstGeom>
          <a:solidFill>
            <a:srgbClr val="666666">
              <a:alpha val="90588"/>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Intro</a:t>
            </a:r>
            <a:endParaRPr b="1" i="0" sz="900" u="none" cap="none" strike="noStrike">
              <a:solidFill>
                <a:srgbClr val="000000"/>
              </a:solidFill>
              <a:latin typeface="Arial"/>
              <a:ea typeface="Arial"/>
              <a:cs typeface="Arial"/>
              <a:sym typeface="Arial"/>
            </a:endParaRPr>
          </a:p>
        </p:txBody>
      </p:sp>
      <p:sp>
        <p:nvSpPr>
          <p:cNvPr id="486" name="Google Shape;486;p41"/>
          <p:cNvSpPr/>
          <p:nvPr/>
        </p:nvSpPr>
        <p:spPr>
          <a:xfrm>
            <a:off x="1907175" y="4615925"/>
            <a:ext cx="1155600" cy="234000"/>
          </a:xfrm>
          <a:prstGeom prst="chevron">
            <a:avLst>
              <a:gd fmla="val 50000" name="adj"/>
            </a:avLst>
          </a:prstGeom>
          <a:solidFill>
            <a:srgbClr val="666666">
              <a:alpha val="90588"/>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Methods</a:t>
            </a:r>
            <a:endParaRPr b="1" i="0" sz="900" u="none" cap="none" strike="noStrike">
              <a:solidFill>
                <a:srgbClr val="000000"/>
              </a:solidFill>
              <a:latin typeface="Arial"/>
              <a:ea typeface="Arial"/>
              <a:cs typeface="Arial"/>
              <a:sym typeface="Arial"/>
            </a:endParaRPr>
          </a:p>
        </p:txBody>
      </p:sp>
      <p:sp>
        <p:nvSpPr>
          <p:cNvPr id="487" name="Google Shape;487;p41"/>
          <p:cNvSpPr/>
          <p:nvPr/>
        </p:nvSpPr>
        <p:spPr>
          <a:xfrm>
            <a:off x="2932675" y="4615925"/>
            <a:ext cx="1155600" cy="234000"/>
          </a:xfrm>
          <a:prstGeom prst="chevron">
            <a:avLst>
              <a:gd fmla="val 50000" name="adj"/>
            </a:avLst>
          </a:prstGeom>
          <a:solidFill>
            <a:srgbClr val="27DD1E">
              <a:alpha val="90588"/>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Findings</a:t>
            </a:r>
            <a:endParaRPr b="1" i="0" sz="900" u="none" cap="none" strike="noStrike">
              <a:solidFill>
                <a:srgbClr val="000000"/>
              </a:solidFill>
              <a:latin typeface="Arial"/>
              <a:ea typeface="Arial"/>
              <a:cs typeface="Arial"/>
              <a:sym typeface="Arial"/>
            </a:endParaRPr>
          </a:p>
        </p:txBody>
      </p:sp>
      <p:sp>
        <p:nvSpPr>
          <p:cNvPr id="488" name="Google Shape;488;p41"/>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Issues</a:t>
            </a:r>
            <a:endParaRPr b="1" i="0" sz="900" u="none" cap="none" strike="noStrike">
              <a:solidFill>
                <a:srgbClr val="000000"/>
              </a:solidFill>
              <a:latin typeface="Arial"/>
              <a:ea typeface="Arial"/>
              <a:cs typeface="Arial"/>
              <a:sym typeface="Arial"/>
            </a:endParaRPr>
          </a:p>
        </p:txBody>
      </p:sp>
      <p:sp>
        <p:nvSpPr>
          <p:cNvPr id="489" name="Google Shape;489;p41"/>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Conclusions</a:t>
            </a:r>
            <a:endParaRPr b="1" i="0" sz="900" u="none" cap="none" strike="noStrike">
              <a:solidFill>
                <a:srgbClr val="000000"/>
              </a:solidFill>
              <a:latin typeface="Arial"/>
              <a:ea typeface="Arial"/>
              <a:cs typeface="Arial"/>
              <a:sym typeface="Arial"/>
            </a:endParaRPr>
          </a:p>
        </p:txBody>
      </p:sp>
      <p:sp>
        <p:nvSpPr>
          <p:cNvPr id="490" name="Google Shape;490;p41"/>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Bibliography</a:t>
            </a:r>
            <a:endParaRPr b="1" i="0" sz="900" u="none" cap="none" strike="noStrike">
              <a:solidFill>
                <a:srgbClr val="000000"/>
              </a:solidFill>
              <a:latin typeface="Arial"/>
              <a:ea typeface="Arial"/>
              <a:cs typeface="Arial"/>
              <a:sym typeface="Arial"/>
            </a:endParaRPr>
          </a:p>
        </p:txBody>
      </p:sp>
      <p:sp>
        <p:nvSpPr>
          <p:cNvPr id="491" name="Google Shape;491;p41"/>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Appendices</a:t>
            </a:r>
            <a:endParaRPr b="1" i="0" sz="900" u="none" cap="none" strike="noStrike">
              <a:solidFill>
                <a:srgbClr val="000000"/>
              </a:solidFill>
              <a:latin typeface="Arial"/>
              <a:ea typeface="Arial"/>
              <a:cs typeface="Arial"/>
              <a:sym typeface="Arial"/>
            </a:endParaRPr>
          </a:p>
        </p:txBody>
      </p:sp>
      <p:grpSp>
        <p:nvGrpSpPr>
          <p:cNvPr id="492" name="Google Shape;492;p41"/>
          <p:cNvGrpSpPr/>
          <p:nvPr/>
        </p:nvGrpSpPr>
        <p:grpSpPr>
          <a:xfrm>
            <a:off x="720492" y="1429125"/>
            <a:ext cx="7626815" cy="552075"/>
            <a:chOff x="3354" y="0"/>
            <a:chExt cx="7626815" cy="552075"/>
          </a:xfrm>
        </p:grpSpPr>
        <p:sp>
          <p:nvSpPr>
            <p:cNvPr id="493" name="Google Shape;493;p41"/>
            <p:cNvSpPr/>
            <p:nvPr/>
          </p:nvSpPr>
          <p:spPr>
            <a:xfrm>
              <a:off x="3354" y="0"/>
              <a:ext cx="2933390" cy="552075"/>
            </a:xfrm>
            <a:prstGeom prst="homePlate">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1"/>
            <p:cNvSpPr txBox="1"/>
            <p:nvPr/>
          </p:nvSpPr>
          <p:spPr>
            <a:xfrm>
              <a:off x="3354" y="0"/>
              <a:ext cx="2795371" cy="552075"/>
            </a:xfrm>
            <a:prstGeom prst="rect">
              <a:avLst/>
            </a:prstGeom>
            <a:noFill/>
            <a:ln>
              <a:noFill/>
            </a:ln>
          </p:spPr>
          <p:txBody>
            <a:bodyPr anchorCtr="0" anchor="ctr" bIns="42650" lIns="85325" spcFirstLastPara="1" rIns="21325" wrap="square" tIns="42650">
              <a:noAutofit/>
            </a:bodyPr>
            <a:lstStyle/>
            <a:p>
              <a:pPr indent="0" lvl="0" marL="0" marR="0" rtl="0" algn="l">
                <a:lnSpc>
                  <a:spcPct val="90000"/>
                </a:lnSpc>
                <a:spcBef>
                  <a:spcPts val="0"/>
                </a:spcBef>
                <a:spcAft>
                  <a:spcPts val="0"/>
                </a:spcAft>
                <a:buClr>
                  <a:srgbClr val="000000"/>
                </a:buClr>
                <a:buSzPts val="1600"/>
                <a:buFont typeface="Arial"/>
                <a:buNone/>
              </a:pPr>
              <a:r>
                <a:rPr b="0" i="0" lang="en" sz="1600" u="none" cap="none" strike="noStrike">
                  <a:solidFill>
                    <a:schemeClr val="lt1"/>
                  </a:solidFill>
                  <a:latin typeface="Lato"/>
                  <a:ea typeface="Lato"/>
                  <a:cs typeface="Lato"/>
                  <a:sym typeface="Lato"/>
                </a:rPr>
                <a:t>          Requirements</a:t>
              </a:r>
              <a:endParaRPr/>
            </a:p>
          </p:txBody>
        </p:sp>
        <p:sp>
          <p:nvSpPr>
            <p:cNvPr id="495" name="Google Shape;495;p41"/>
            <p:cNvSpPr/>
            <p:nvPr/>
          </p:nvSpPr>
          <p:spPr>
            <a:xfrm>
              <a:off x="2350066" y="0"/>
              <a:ext cx="2933390" cy="552075"/>
            </a:xfrm>
            <a:prstGeom prst="chevron">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1"/>
            <p:cNvSpPr txBox="1"/>
            <p:nvPr/>
          </p:nvSpPr>
          <p:spPr>
            <a:xfrm>
              <a:off x="2626104" y="0"/>
              <a:ext cx="2381315" cy="552075"/>
            </a:xfrm>
            <a:prstGeom prst="rect">
              <a:avLst/>
            </a:prstGeom>
            <a:noFill/>
            <a:ln>
              <a:noFill/>
            </a:ln>
          </p:spPr>
          <p:txBody>
            <a:bodyPr anchorCtr="0" anchor="ctr" bIns="42650" lIns="64000" spcFirstLastPara="1" rIns="21325" wrap="square" tIns="42650">
              <a:noAutofit/>
            </a:bodyPr>
            <a:lstStyle/>
            <a:p>
              <a:pPr indent="0" lvl="0" marL="0" marR="0" rtl="0" algn="l">
                <a:lnSpc>
                  <a:spcPct val="90000"/>
                </a:lnSpc>
                <a:spcBef>
                  <a:spcPts val="0"/>
                </a:spcBef>
                <a:spcAft>
                  <a:spcPts val="0"/>
                </a:spcAft>
                <a:buClr>
                  <a:srgbClr val="000000"/>
                </a:buClr>
                <a:buSzPts val="1600"/>
                <a:buFont typeface="Arial"/>
                <a:buNone/>
              </a:pPr>
              <a:r>
                <a:rPr b="0" i="0" lang="en" sz="1600" u="none" cap="none" strike="noStrike">
                  <a:solidFill>
                    <a:schemeClr val="lt1"/>
                  </a:solidFill>
                  <a:latin typeface="Lato"/>
                  <a:ea typeface="Lato"/>
                  <a:cs typeface="Lato"/>
                  <a:sym typeface="Lato"/>
                </a:rPr>
                <a:t>             Design</a:t>
              </a:r>
              <a:endParaRPr/>
            </a:p>
          </p:txBody>
        </p:sp>
        <p:sp>
          <p:nvSpPr>
            <p:cNvPr id="497" name="Google Shape;497;p41"/>
            <p:cNvSpPr/>
            <p:nvPr/>
          </p:nvSpPr>
          <p:spPr>
            <a:xfrm>
              <a:off x="4696779" y="0"/>
              <a:ext cx="2933390" cy="552075"/>
            </a:xfrm>
            <a:prstGeom prst="chevron">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1"/>
            <p:cNvSpPr txBox="1"/>
            <p:nvPr/>
          </p:nvSpPr>
          <p:spPr>
            <a:xfrm>
              <a:off x="4972817" y="0"/>
              <a:ext cx="2381315" cy="552075"/>
            </a:xfrm>
            <a:prstGeom prst="rect">
              <a:avLst/>
            </a:prstGeom>
            <a:noFill/>
            <a:ln>
              <a:noFill/>
            </a:ln>
          </p:spPr>
          <p:txBody>
            <a:bodyPr anchorCtr="0" anchor="ctr" bIns="42650" lIns="64000" spcFirstLastPara="1" rIns="21325" wrap="square" tIns="42650">
              <a:noAutofit/>
            </a:bodyPr>
            <a:lstStyle/>
            <a:p>
              <a:pPr indent="0" lvl="0" marL="0" marR="0" rtl="0" algn="ctr">
                <a:lnSpc>
                  <a:spcPct val="90000"/>
                </a:lnSpc>
                <a:spcBef>
                  <a:spcPts val="0"/>
                </a:spcBef>
                <a:spcAft>
                  <a:spcPts val="0"/>
                </a:spcAft>
                <a:buClr>
                  <a:srgbClr val="000000"/>
                </a:buClr>
                <a:buSzPts val="1600"/>
                <a:buFont typeface="Arial"/>
                <a:buNone/>
              </a:pPr>
              <a:r>
                <a:rPr lang="en" sz="1600">
                  <a:solidFill>
                    <a:schemeClr val="lt1"/>
                  </a:solidFill>
                  <a:latin typeface="Lato"/>
                  <a:ea typeface="Lato"/>
                  <a:cs typeface="Lato"/>
                  <a:sym typeface="Lato"/>
                </a:rPr>
                <a:t>Code</a:t>
              </a:r>
              <a:endParaRPr/>
            </a:p>
          </p:txBody>
        </p:sp>
      </p:grpSp>
      <p:sp>
        <p:nvSpPr>
          <p:cNvPr id="499" name="Google Shape;499;p41"/>
          <p:cNvSpPr txBox="1"/>
          <p:nvPr/>
        </p:nvSpPr>
        <p:spPr>
          <a:xfrm>
            <a:off x="717138" y="2108031"/>
            <a:ext cx="2199200" cy="738664"/>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Hard to characterize</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Requires insider information</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The given requirements best characterize this phase</a:t>
            </a:r>
            <a:endParaRPr/>
          </a:p>
        </p:txBody>
      </p:sp>
      <p:grpSp>
        <p:nvGrpSpPr>
          <p:cNvPr id="500" name="Google Shape;500;p41"/>
          <p:cNvGrpSpPr/>
          <p:nvPr/>
        </p:nvGrpSpPr>
        <p:grpSpPr>
          <a:xfrm>
            <a:off x="706230" y="3206028"/>
            <a:ext cx="7626815" cy="552075"/>
            <a:chOff x="3354" y="0"/>
            <a:chExt cx="7626815" cy="552075"/>
          </a:xfrm>
        </p:grpSpPr>
        <p:sp>
          <p:nvSpPr>
            <p:cNvPr id="501" name="Google Shape;501;p41"/>
            <p:cNvSpPr/>
            <p:nvPr/>
          </p:nvSpPr>
          <p:spPr>
            <a:xfrm>
              <a:off x="3354" y="0"/>
              <a:ext cx="2933390" cy="552075"/>
            </a:xfrm>
            <a:prstGeom prst="homePlate">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1"/>
            <p:cNvSpPr txBox="1"/>
            <p:nvPr/>
          </p:nvSpPr>
          <p:spPr>
            <a:xfrm>
              <a:off x="3354" y="0"/>
              <a:ext cx="2795371" cy="552075"/>
            </a:xfrm>
            <a:prstGeom prst="rect">
              <a:avLst/>
            </a:prstGeom>
            <a:noFill/>
            <a:ln>
              <a:noFill/>
            </a:ln>
          </p:spPr>
          <p:txBody>
            <a:bodyPr anchorCtr="0" anchor="ctr" bIns="42650" lIns="85325" spcFirstLastPara="1" rIns="21325" wrap="square" tIns="42650">
              <a:noAutofit/>
            </a:bodyPr>
            <a:lstStyle/>
            <a:p>
              <a:pPr indent="0" lvl="0" marL="0" marR="0" rtl="0" algn="l">
                <a:lnSpc>
                  <a:spcPct val="90000"/>
                </a:lnSpc>
                <a:spcBef>
                  <a:spcPts val="0"/>
                </a:spcBef>
                <a:spcAft>
                  <a:spcPts val="0"/>
                </a:spcAft>
                <a:buClr>
                  <a:srgbClr val="000000"/>
                </a:buClr>
                <a:buSzPts val="1600"/>
                <a:buFont typeface="Arial"/>
                <a:buNone/>
              </a:pPr>
              <a:r>
                <a:rPr b="0" i="0" lang="en" sz="1600" u="none" cap="none" strike="noStrike">
                  <a:solidFill>
                    <a:schemeClr val="lt1"/>
                  </a:solidFill>
                  <a:latin typeface="Lato"/>
                  <a:ea typeface="Lato"/>
                  <a:cs typeface="Lato"/>
                  <a:sym typeface="Lato"/>
                </a:rPr>
                <a:t>                  Build</a:t>
              </a:r>
              <a:endParaRPr/>
            </a:p>
          </p:txBody>
        </p:sp>
        <p:sp>
          <p:nvSpPr>
            <p:cNvPr id="503" name="Google Shape;503;p41"/>
            <p:cNvSpPr/>
            <p:nvPr/>
          </p:nvSpPr>
          <p:spPr>
            <a:xfrm>
              <a:off x="2350066" y="0"/>
              <a:ext cx="2933390" cy="552075"/>
            </a:xfrm>
            <a:prstGeom prst="chevron">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1"/>
            <p:cNvSpPr txBox="1"/>
            <p:nvPr/>
          </p:nvSpPr>
          <p:spPr>
            <a:xfrm>
              <a:off x="2626104" y="0"/>
              <a:ext cx="2381315" cy="552075"/>
            </a:xfrm>
            <a:prstGeom prst="rect">
              <a:avLst/>
            </a:prstGeom>
            <a:noFill/>
            <a:ln>
              <a:noFill/>
            </a:ln>
          </p:spPr>
          <p:txBody>
            <a:bodyPr anchorCtr="0" anchor="ctr" bIns="42650" lIns="64000" spcFirstLastPara="1" rIns="21325" wrap="square" tIns="42650">
              <a:noAutofit/>
            </a:bodyPr>
            <a:lstStyle/>
            <a:p>
              <a:pPr indent="0" lvl="0" marL="0" marR="0" rtl="0" algn="l">
                <a:lnSpc>
                  <a:spcPct val="90000"/>
                </a:lnSpc>
                <a:spcBef>
                  <a:spcPts val="0"/>
                </a:spcBef>
                <a:spcAft>
                  <a:spcPts val="0"/>
                </a:spcAft>
                <a:buClr>
                  <a:srgbClr val="000000"/>
                </a:buClr>
                <a:buSzPts val="1600"/>
                <a:buFont typeface="Arial"/>
                <a:buNone/>
              </a:pPr>
              <a:r>
                <a:rPr b="0" i="0" lang="en" sz="1600" u="none" cap="none" strike="noStrike">
                  <a:solidFill>
                    <a:schemeClr val="lt1"/>
                  </a:solidFill>
                  <a:latin typeface="Lato"/>
                  <a:ea typeface="Lato"/>
                  <a:cs typeface="Lato"/>
                  <a:sym typeface="Lato"/>
                </a:rPr>
                <a:t>          Configure</a:t>
              </a:r>
              <a:endParaRPr/>
            </a:p>
          </p:txBody>
        </p:sp>
        <p:sp>
          <p:nvSpPr>
            <p:cNvPr id="505" name="Google Shape;505;p41"/>
            <p:cNvSpPr/>
            <p:nvPr/>
          </p:nvSpPr>
          <p:spPr>
            <a:xfrm>
              <a:off x="4696779" y="0"/>
              <a:ext cx="2933390" cy="552075"/>
            </a:xfrm>
            <a:prstGeom prst="chevron">
              <a:avLst>
                <a:gd fmla="val 50000" name="adj"/>
              </a:avLst>
            </a:prstGeom>
            <a:solidFill>
              <a:srgbClr val="0044A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1"/>
            <p:cNvSpPr txBox="1"/>
            <p:nvPr/>
          </p:nvSpPr>
          <p:spPr>
            <a:xfrm>
              <a:off x="4972817" y="0"/>
              <a:ext cx="2381315" cy="552075"/>
            </a:xfrm>
            <a:prstGeom prst="rect">
              <a:avLst/>
            </a:prstGeom>
            <a:noFill/>
            <a:ln>
              <a:noFill/>
            </a:ln>
          </p:spPr>
          <p:txBody>
            <a:bodyPr anchorCtr="0" anchor="ctr" bIns="42650" lIns="64000" spcFirstLastPara="1" rIns="21325" wrap="square" tIns="42650">
              <a:noAutofit/>
            </a:bodyPr>
            <a:lstStyle/>
            <a:p>
              <a:pPr indent="0" lvl="0" marL="0" marR="0" rtl="0" algn="ctr">
                <a:lnSpc>
                  <a:spcPct val="90000"/>
                </a:lnSpc>
                <a:spcBef>
                  <a:spcPts val="0"/>
                </a:spcBef>
                <a:spcAft>
                  <a:spcPts val="0"/>
                </a:spcAft>
                <a:buClr>
                  <a:srgbClr val="000000"/>
                </a:buClr>
                <a:buSzPts val="1600"/>
                <a:buFont typeface="Arial"/>
                <a:buNone/>
              </a:pPr>
              <a:r>
                <a:rPr b="0" i="0" lang="en" sz="1600" u="none" cap="none" strike="noStrike">
                  <a:solidFill>
                    <a:schemeClr val="lt1"/>
                  </a:solidFill>
                  <a:latin typeface="Lato"/>
                  <a:ea typeface="Lato"/>
                  <a:cs typeface="Lato"/>
                  <a:sym typeface="Lato"/>
                </a:rPr>
                <a:t>Package</a:t>
              </a:r>
              <a:endParaRPr/>
            </a:p>
          </p:txBody>
        </p:sp>
      </p:grpSp>
      <p:sp>
        <p:nvSpPr>
          <p:cNvPr id="507" name="Google Shape;507;p41"/>
          <p:cNvSpPr txBox="1"/>
          <p:nvPr/>
        </p:nvSpPr>
        <p:spPr>
          <a:xfrm>
            <a:off x="3147918" y="2101720"/>
            <a:ext cx="2199200" cy="738664"/>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Monolithic design</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Object-oriented paradigm</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OPSEC – XOR Encoding of network data</a:t>
            </a:r>
            <a:endParaRPr/>
          </a:p>
        </p:txBody>
      </p:sp>
      <p:sp>
        <p:nvSpPr>
          <p:cNvPr id="508" name="Google Shape;508;p41"/>
          <p:cNvSpPr txBox="1"/>
          <p:nvPr/>
        </p:nvSpPr>
        <p:spPr>
          <a:xfrm>
            <a:off x="5584526" y="2100320"/>
            <a:ext cx="2572062" cy="738664"/>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Java Libraries for functionalities</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Ex: ProcessBuilder, Socket…</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OPSEC – XOR encoding using hard coded string</a:t>
            </a:r>
            <a:endParaRPr/>
          </a:p>
        </p:txBody>
      </p:sp>
      <p:sp>
        <p:nvSpPr>
          <p:cNvPr id="509" name="Google Shape;509;p41"/>
          <p:cNvSpPr txBox="1"/>
          <p:nvPr/>
        </p:nvSpPr>
        <p:spPr>
          <a:xfrm>
            <a:off x="717138" y="3856143"/>
            <a:ext cx="2199200" cy="577081"/>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Compiled with Java Compiler (javac)</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Default options</a:t>
            </a:r>
            <a:endParaRPr/>
          </a:p>
        </p:txBody>
      </p:sp>
      <p:sp>
        <p:nvSpPr>
          <p:cNvPr id="510" name="Google Shape;510;p41"/>
          <p:cNvSpPr txBox="1"/>
          <p:nvPr/>
        </p:nvSpPr>
        <p:spPr>
          <a:xfrm>
            <a:off x="3147918" y="3867461"/>
            <a:ext cx="2199200" cy="577081"/>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None after build/compilation</a:t>
            </a:r>
            <a:endParaRPr/>
          </a:p>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Hard coded strings can be changed before compilation</a:t>
            </a:r>
            <a:endParaRPr/>
          </a:p>
        </p:txBody>
      </p:sp>
      <p:sp>
        <p:nvSpPr>
          <p:cNvPr id="511" name="Google Shape;511;p41"/>
          <p:cNvSpPr txBox="1"/>
          <p:nvPr/>
        </p:nvSpPr>
        <p:spPr>
          <a:xfrm>
            <a:off x="5584526" y="3863521"/>
            <a:ext cx="2572200" cy="577200"/>
          </a:xfrm>
          <a:prstGeom prst="rect">
            <a:avLst/>
          </a:prstGeom>
          <a:solidFill>
            <a:srgbClr val="B3DDC8"/>
          </a:solid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050"/>
              <a:buFont typeface="Arial"/>
              <a:buChar char="•"/>
            </a:pPr>
            <a:r>
              <a:rPr b="0" i="0" lang="en" sz="1050" u="none" cap="none" strike="noStrike">
                <a:solidFill>
                  <a:srgbClr val="002256"/>
                </a:solidFill>
                <a:latin typeface="Arial"/>
                <a:ea typeface="Arial"/>
                <a:cs typeface="Arial"/>
                <a:sym typeface="Arial"/>
              </a:rPr>
              <a:t>Can be packaged into .jar</a:t>
            </a:r>
            <a:endParaRPr b="0" i="0" sz="1050" u="none" cap="none" strike="noStrike">
              <a:solidFill>
                <a:srgbClr val="002256"/>
              </a:solidFill>
              <a:latin typeface="Arial"/>
              <a:ea typeface="Arial"/>
              <a:cs typeface="Arial"/>
              <a:sym typeface="Arial"/>
            </a:endParaRPr>
          </a:p>
          <a:p>
            <a:pPr indent="-171450" lvl="0" marL="171450" marR="0" rtl="0" algn="l">
              <a:lnSpc>
                <a:spcPct val="100000"/>
              </a:lnSpc>
              <a:spcBef>
                <a:spcPts val="0"/>
              </a:spcBef>
              <a:spcAft>
                <a:spcPts val="0"/>
              </a:spcAft>
              <a:buClr>
                <a:srgbClr val="002256"/>
              </a:buClr>
              <a:buSzPts val="1050"/>
              <a:buChar char="•"/>
            </a:pPr>
            <a:r>
              <a:rPr lang="en" sz="1050">
                <a:solidFill>
                  <a:srgbClr val="002256"/>
                </a:solidFill>
              </a:rPr>
              <a:t>Packaged .jar can be wrapped in any windows executable</a:t>
            </a:r>
            <a:endParaRPr sz="1050">
              <a:solidFill>
                <a:srgbClr val="002256"/>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2"/>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Findings: Difficulty of Implementing Ground Truth</a:t>
            </a:r>
            <a:endParaRPr/>
          </a:p>
        </p:txBody>
      </p:sp>
      <p:sp>
        <p:nvSpPr>
          <p:cNvPr id="517" name="Google Shape;517;p42"/>
          <p:cNvSpPr txBox="1"/>
          <p:nvPr>
            <p:ph idx="1" type="body"/>
          </p:nvPr>
        </p:nvSpPr>
        <p:spPr>
          <a:xfrm>
            <a:off x="1297500" y="1151200"/>
            <a:ext cx="7038900" cy="2911200"/>
          </a:xfrm>
          <a:prstGeom prst="rect">
            <a:avLst/>
          </a:prstGeom>
        </p:spPr>
        <p:txBody>
          <a:bodyPr anchorCtr="0" anchor="t" bIns="91425" lIns="91425" spcFirstLastPara="1" rIns="91425" wrap="square" tIns="91425">
            <a:normAutofit fontScale="77500" lnSpcReduction="20000"/>
          </a:bodyPr>
          <a:lstStyle/>
          <a:p>
            <a:pPr indent="-303686" lvl="0" marL="457200" rtl="0" algn="l">
              <a:spcBef>
                <a:spcPts val="0"/>
              </a:spcBef>
              <a:spcAft>
                <a:spcPts val="0"/>
              </a:spcAft>
              <a:buSzPct val="100000"/>
              <a:buChar char="●"/>
            </a:pPr>
            <a:r>
              <a:rPr lang="en" sz="1525"/>
              <a:t>Both teams had major roadblocks in creating </a:t>
            </a:r>
            <a:r>
              <a:rPr lang="en" sz="1525"/>
              <a:t>ground truth samples</a:t>
            </a:r>
            <a:endParaRPr sz="1525"/>
          </a:p>
          <a:p>
            <a:pPr indent="-293843" lvl="1" marL="914400" rtl="0" algn="l">
              <a:spcBef>
                <a:spcPts val="0"/>
              </a:spcBef>
              <a:spcAft>
                <a:spcPts val="0"/>
              </a:spcAft>
              <a:buSzPct val="100000"/>
              <a:buChar char="○"/>
            </a:pPr>
            <a:r>
              <a:rPr lang="en" sz="1325"/>
              <a:t>The sample requirements were basic, but still required extreme effort to make rational development choices and implement them correctly in two-person teams </a:t>
            </a:r>
            <a:endParaRPr sz="1325"/>
          </a:p>
          <a:p>
            <a:pPr indent="-293843" lvl="1" marL="914400" rtl="0" algn="l">
              <a:spcBef>
                <a:spcPts val="0"/>
              </a:spcBef>
              <a:spcAft>
                <a:spcPts val="0"/>
              </a:spcAft>
              <a:buSzPct val="100000"/>
              <a:buChar char="○"/>
            </a:pPr>
            <a:r>
              <a:rPr lang="en" sz="1325"/>
              <a:t>The team found that the creation of ground truth samples, for amateur malware authors is arduous and time-consuming</a:t>
            </a:r>
            <a:endParaRPr sz="1325"/>
          </a:p>
          <a:p>
            <a:pPr indent="-293843" lvl="2" marL="1371600" rtl="0" algn="l">
              <a:spcBef>
                <a:spcPts val="0"/>
              </a:spcBef>
              <a:spcAft>
                <a:spcPts val="0"/>
              </a:spcAft>
              <a:buSzPct val="100000"/>
              <a:buChar char="■"/>
            </a:pPr>
            <a:r>
              <a:rPr lang="en" sz="1325"/>
              <a:t>API learning curves </a:t>
            </a:r>
            <a:endParaRPr sz="1325"/>
          </a:p>
          <a:p>
            <a:pPr indent="-293843" lvl="2" marL="1371600" rtl="0" algn="l">
              <a:spcBef>
                <a:spcPts val="0"/>
              </a:spcBef>
              <a:spcAft>
                <a:spcPts val="0"/>
              </a:spcAft>
              <a:buSzPct val="100000"/>
              <a:buChar char="■"/>
            </a:pPr>
            <a:r>
              <a:rPr lang="en" sz="1325"/>
              <a:t>Unexpected code behavior </a:t>
            </a:r>
            <a:endParaRPr sz="1325"/>
          </a:p>
          <a:p>
            <a:pPr indent="-293843" lvl="1" marL="914400" rtl="0" algn="l">
              <a:spcBef>
                <a:spcPts val="0"/>
              </a:spcBef>
              <a:spcAft>
                <a:spcPts val="0"/>
              </a:spcAft>
              <a:buSzPct val="100000"/>
              <a:buChar char="○"/>
            </a:pPr>
            <a:r>
              <a:rPr lang="en" sz="1325"/>
              <a:t>Lacking code testing environments contributed to difficulties in testing ground truth samples</a:t>
            </a:r>
            <a:endParaRPr sz="1325"/>
          </a:p>
          <a:p>
            <a:pPr indent="-293843" lvl="2" marL="1371600" rtl="0" algn="l">
              <a:spcBef>
                <a:spcPts val="0"/>
              </a:spcBef>
              <a:spcAft>
                <a:spcPts val="0"/>
              </a:spcAft>
              <a:buSzPct val="100000"/>
              <a:buChar char="■"/>
            </a:pPr>
            <a:r>
              <a:rPr lang="en" sz="1325"/>
              <a:t>Proper testing environments are absolutely necessary</a:t>
            </a:r>
            <a:endParaRPr sz="1325"/>
          </a:p>
          <a:p>
            <a:pPr indent="-293843" lvl="1" marL="914400" rtl="0" algn="l">
              <a:spcBef>
                <a:spcPts val="0"/>
              </a:spcBef>
              <a:spcAft>
                <a:spcPts val="0"/>
              </a:spcAft>
              <a:buSzPct val="100000"/>
              <a:buChar char="○"/>
            </a:pPr>
            <a:r>
              <a:rPr lang="en" sz="1325"/>
              <a:t>Characterizing the ground truth samples within the MDLC was also challenging</a:t>
            </a:r>
            <a:endParaRPr sz="1325"/>
          </a:p>
          <a:p>
            <a:pPr indent="-293843" lvl="2" marL="1371600" rtl="0" algn="l">
              <a:spcBef>
                <a:spcPts val="0"/>
              </a:spcBef>
              <a:spcAft>
                <a:spcPts val="0"/>
              </a:spcAft>
              <a:buSzPct val="100000"/>
              <a:buChar char="■"/>
            </a:pPr>
            <a:r>
              <a:rPr lang="en" sz="1325"/>
              <a:t>Evaluating long and modularized samples was heavily time consuming</a:t>
            </a:r>
            <a:endParaRPr sz="1325"/>
          </a:p>
          <a:p>
            <a:pPr indent="-293843" lvl="2" marL="1371600" rtl="0" algn="l">
              <a:spcBef>
                <a:spcPts val="0"/>
              </a:spcBef>
              <a:spcAft>
                <a:spcPts val="0"/>
              </a:spcAft>
              <a:buSzPct val="100000"/>
              <a:buChar char="■"/>
            </a:pPr>
            <a:r>
              <a:rPr lang="en" sz="1325"/>
              <a:t>Some choices were difficult to characterize in a single MDLC phase</a:t>
            </a:r>
            <a:endParaRPr sz="1325"/>
          </a:p>
          <a:p>
            <a:pPr indent="-303686" lvl="0" marL="457200" rtl="0" algn="l">
              <a:spcBef>
                <a:spcPts val="0"/>
              </a:spcBef>
              <a:spcAft>
                <a:spcPts val="0"/>
              </a:spcAft>
              <a:buSzPct val="100000"/>
              <a:buChar char="●"/>
            </a:pPr>
            <a:r>
              <a:rPr lang="en" sz="1525"/>
              <a:t>Team Timings </a:t>
            </a:r>
            <a:endParaRPr sz="1525"/>
          </a:p>
          <a:p>
            <a:pPr indent="-293843" lvl="1" marL="914400" rtl="0" algn="l">
              <a:spcBef>
                <a:spcPts val="0"/>
              </a:spcBef>
              <a:spcAft>
                <a:spcPts val="0"/>
              </a:spcAft>
              <a:buSzPct val="100000"/>
              <a:buChar char="○"/>
            </a:pPr>
            <a:r>
              <a:rPr lang="en" sz="1325"/>
              <a:t>Both sub-teams began researching and implementing their samples in early March and finished in late April</a:t>
            </a:r>
            <a:endParaRPr sz="1325"/>
          </a:p>
          <a:p>
            <a:pPr indent="0" lvl="0" marL="0" rtl="0" algn="l">
              <a:spcBef>
                <a:spcPts val="1200"/>
              </a:spcBef>
              <a:spcAft>
                <a:spcPts val="1200"/>
              </a:spcAft>
              <a:buNone/>
            </a:pPr>
            <a:r>
              <a:t/>
            </a:r>
            <a:endParaRPr/>
          </a:p>
        </p:txBody>
      </p:sp>
      <p:sp>
        <p:nvSpPr>
          <p:cNvPr id="518" name="Google Shape;518;p42"/>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519" name="Google Shape;519;p42"/>
          <p:cNvSpPr/>
          <p:nvPr/>
        </p:nvSpPr>
        <p:spPr>
          <a:xfrm>
            <a:off x="1907175" y="4615925"/>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520" name="Google Shape;520;p42"/>
          <p:cNvSpPr/>
          <p:nvPr/>
        </p:nvSpPr>
        <p:spPr>
          <a:xfrm>
            <a:off x="29326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521" name="Google Shape;521;p42"/>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522" name="Google Shape;522;p42"/>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523" name="Google Shape;523;p42"/>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524" name="Google Shape;524;p42"/>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3"/>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Findings: Malware Analysis Tool Status and Proposed Tool Characteristics</a:t>
            </a:r>
            <a:endParaRPr/>
          </a:p>
        </p:txBody>
      </p:sp>
      <p:sp>
        <p:nvSpPr>
          <p:cNvPr id="530" name="Google Shape;530;p43"/>
          <p:cNvSpPr txBox="1"/>
          <p:nvPr>
            <p:ph idx="1" type="body"/>
          </p:nvPr>
        </p:nvSpPr>
        <p:spPr>
          <a:xfrm>
            <a:off x="1297500" y="1567550"/>
            <a:ext cx="73524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team did not have time to implement a functional malware analysis tool</a:t>
            </a:r>
            <a:endParaRPr/>
          </a:p>
          <a:p>
            <a:pPr indent="-298450" lvl="1" marL="914400" rtl="0" algn="l">
              <a:spcBef>
                <a:spcPts val="0"/>
              </a:spcBef>
              <a:spcAft>
                <a:spcPts val="0"/>
              </a:spcAft>
              <a:buSzPts val="1100"/>
              <a:buChar char="○"/>
            </a:pPr>
            <a:r>
              <a:rPr lang="en"/>
              <a:t>To reduce </a:t>
            </a:r>
            <a:r>
              <a:rPr lang="en"/>
              <a:t>project</a:t>
            </a:r>
            <a:r>
              <a:rPr lang="en"/>
              <a:t> scope, we instead proposed a tool based on our findings and ground truth programming </a:t>
            </a:r>
            <a:r>
              <a:rPr lang="en"/>
              <a:t>experiences</a:t>
            </a:r>
            <a:r>
              <a:rPr lang="en"/>
              <a:t> </a:t>
            </a:r>
            <a:endParaRPr/>
          </a:p>
          <a:p>
            <a:pPr indent="-311150" lvl="0" marL="457200" rtl="0" algn="l">
              <a:spcBef>
                <a:spcPts val="0"/>
              </a:spcBef>
              <a:spcAft>
                <a:spcPts val="0"/>
              </a:spcAft>
              <a:buSzPts val="1300"/>
              <a:buChar char="●"/>
            </a:pPr>
            <a:r>
              <a:rPr lang="en"/>
              <a:t>Malware Analysis Tool Toolchain</a:t>
            </a:r>
            <a:endParaRPr/>
          </a:p>
          <a:p>
            <a:pPr indent="-298450" lvl="1" marL="914400" rtl="0" algn="l">
              <a:spcBef>
                <a:spcPts val="0"/>
              </a:spcBef>
              <a:spcAft>
                <a:spcPts val="0"/>
              </a:spcAft>
              <a:buSzPts val="1100"/>
              <a:buChar char="○"/>
            </a:pPr>
            <a:r>
              <a:rPr lang="en"/>
              <a:t>Planned Tool Programming Language: Python</a:t>
            </a:r>
            <a:endParaRPr/>
          </a:p>
          <a:p>
            <a:pPr indent="-298450" lvl="1" marL="914400" rtl="0" algn="l">
              <a:spcBef>
                <a:spcPts val="0"/>
              </a:spcBef>
              <a:spcAft>
                <a:spcPts val="0"/>
              </a:spcAft>
              <a:buSzPts val="1100"/>
              <a:buChar char="○"/>
            </a:pPr>
            <a:r>
              <a:rPr lang="en"/>
              <a:t>Different Python-based tools for different identified malware compiler information </a:t>
            </a:r>
            <a:endParaRPr/>
          </a:p>
          <a:p>
            <a:pPr indent="-311150" lvl="0" marL="457200" rtl="0" algn="l">
              <a:spcBef>
                <a:spcPts val="0"/>
              </a:spcBef>
              <a:spcAft>
                <a:spcPts val="0"/>
              </a:spcAft>
              <a:buSzPts val="1300"/>
              <a:buChar char="●"/>
            </a:pPr>
            <a:r>
              <a:rPr lang="en"/>
              <a:t>Current Toolchains by Detected Language</a:t>
            </a:r>
            <a:endParaRPr/>
          </a:p>
          <a:p>
            <a:pPr indent="-298450" lvl="1" marL="914400" rtl="0" algn="l">
              <a:spcBef>
                <a:spcPts val="0"/>
              </a:spcBef>
              <a:spcAft>
                <a:spcPts val="0"/>
              </a:spcAft>
              <a:buSzPts val="1100"/>
              <a:buChar char="○"/>
            </a:pPr>
            <a:r>
              <a:rPr lang="en"/>
              <a:t>C++: Rizin, Mandiant FLARE-FLOSS, Mandiant CAPA</a:t>
            </a:r>
            <a:endParaRPr/>
          </a:p>
          <a:p>
            <a:pPr indent="-298450" lvl="1" marL="914400" rtl="0" algn="l">
              <a:spcBef>
                <a:spcPts val="0"/>
              </a:spcBef>
              <a:spcAft>
                <a:spcPts val="0"/>
              </a:spcAft>
              <a:buSzPts val="1100"/>
              <a:buChar char="○"/>
            </a:pPr>
            <a:r>
              <a:rPr lang="en"/>
              <a:t>Java:  Extract .jar from wrapper program and Konloch</a:t>
            </a:r>
            <a:endParaRPr/>
          </a:p>
          <a:p>
            <a:pPr indent="-298450" lvl="2" marL="1371600" rtl="0" algn="l">
              <a:spcBef>
                <a:spcPts val="0"/>
              </a:spcBef>
              <a:spcAft>
                <a:spcPts val="0"/>
              </a:spcAft>
              <a:buSzPts val="1100"/>
              <a:buChar char="■"/>
            </a:pPr>
            <a:r>
              <a:rPr lang="en"/>
              <a:t>Manual techniques needed; team found no up-to-date wrapped Java reverse engineering tools </a:t>
            </a:r>
            <a:endParaRPr/>
          </a:p>
          <a:p>
            <a:pPr indent="-298450" lvl="1" marL="914400" rtl="0" algn="l">
              <a:spcBef>
                <a:spcPts val="0"/>
              </a:spcBef>
              <a:spcAft>
                <a:spcPts val="0"/>
              </a:spcAft>
              <a:buSzPts val="1100"/>
              <a:buChar char="○"/>
            </a:pPr>
            <a:r>
              <a:rPr lang="en"/>
              <a:t>Python: </a:t>
            </a:r>
            <a:r>
              <a:rPr lang="en"/>
              <a:t>pyinstxtractor, </a:t>
            </a:r>
            <a:r>
              <a:rPr lang="en"/>
              <a:t>pycdump, and Python modulefinder module</a:t>
            </a:r>
            <a:endParaRPr/>
          </a:p>
        </p:txBody>
      </p:sp>
      <p:sp>
        <p:nvSpPr>
          <p:cNvPr id="531" name="Google Shape;531;p43"/>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532" name="Google Shape;532;p43"/>
          <p:cNvSpPr/>
          <p:nvPr/>
        </p:nvSpPr>
        <p:spPr>
          <a:xfrm>
            <a:off x="1907175" y="4615925"/>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533" name="Google Shape;533;p43"/>
          <p:cNvSpPr/>
          <p:nvPr/>
        </p:nvSpPr>
        <p:spPr>
          <a:xfrm>
            <a:off x="29326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534" name="Google Shape;534;p43"/>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535" name="Google Shape;535;p43"/>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536" name="Google Shape;536;p43"/>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537" name="Google Shape;537;p43"/>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pic>
        <p:nvPicPr>
          <p:cNvPr id="538" name="Google Shape;538;p43"/>
          <p:cNvPicPr preferRelativeResize="0"/>
          <p:nvPr/>
        </p:nvPicPr>
        <p:blipFill>
          <a:blip r:embed="rId3">
            <a:alphaModFix/>
          </a:blip>
          <a:stretch>
            <a:fillRect/>
          </a:stretch>
        </p:blipFill>
        <p:spPr>
          <a:xfrm>
            <a:off x="109325" y="1615825"/>
            <a:ext cx="1042200" cy="1042200"/>
          </a:xfrm>
          <a:prstGeom prst="rect">
            <a:avLst/>
          </a:prstGeom>
          <a:noFill/>
          <a:ln>
            <a:noFill/>
          </a:ln>
        </p:spPr>
      </p:pic>
      <p:pic>
        <p:nvPicPr>
          <p:cNvPr id="539" name="Google Shape;539;p43"/>
          <p:cNvPicPr preferRelativeResize="0"/>
          <p:nvPr/>
        </p:nvPicPr>
        <p:blipFill>
          <a:blip r:embed="rId4">
            <a:alphaModFix/>
          </a:blip>
          <a:stretch>
            <a:fillRect/>
          </a:stretch>
        </p:blipFill>
        <p:spPr>
          <a:xfrm>
            <a:off x="7988400" y="1307850"/>
            <a:ext cx="1084955" cy="1148776"/>
          </a:xfrm>
          <a:prstGeom prst="rect">
            <a:avLst/>
          </a:prstGeom>
          <a:noFill/>
          <a:ln>
            <a:noFill/>
          </a:ln>
        </p:spPr>
      </p:pic>
      <p:pic>
        <p:nvPicPr>
          <p:cNvPr id="540" name="Google Shape;540;p43"/>
          <p:cNvPicPr preferRelativeResize="0"/>
          <p:nvPr/>
        </p:nvPicPr>
        <p:blipFill rotWithShape="1">
          <a:blip r:embed="rId5">
            <a:alphaModFix/>
          </a:blip>
          <a:srcRect b="9767" l="3265" r="4227" t="8699"/>
          <a:stretch/>
        </p:blipFill>
        <p:spPr>
          <a:xfrm>
            <a:off x="7413775" y="2658018"/>
            <a:ext cx="1659575" cy="731232"/>
          </a:xfrm>
          <a:prstGeom prst="rect">
            <a:avLst/>
          </a:prstGeom>
          <a:noFill/>
          <a:ln>
            <a:noFill/>
          </a:ln>
        </p:spPr>
      </p:pic>
      <p:pic>
        <p:nvPicPr>
          <p:cNvPr id="541" name="Google Shape;541;p43"/>
          <p:cNvPicPr preferRelativeResize="0"/>
          <p:nvPr/>
        </p:nvPicPr>
        <p:blipFill rotWithShape="1">
          <a:blip r:embed="rId6">
            <a:alphaModFix/>
          </a:blip>
          <a:srcRect b="12446" l="6289" r="7547" t="15439"/>
          <a:stretch/>
        </p:blipFill>
        <p:spPr>
          <a:xfrm>
            <a:off x="109325" y="3246300"/>
            <a:ext cx="1361650" cy="427375"/>
          </a:xfrm>
          <a:prstGeom prst="rect">
            <a:avLst/>
          </a:prstGeom>
          <a:noFill/>
          <a:ln>
            <a:noFill/>
          </a:ln>
        </p:spPr>
      </p:pic>
      <p:pic>
        <p:nvPicPr>
          <p:cNvPr id="542" name="Google Shape;542;p43"/>
          <p:cNvPicPr preferRelativeResize="0"/>
          <p:nvPr/>
        </p:nvPicPr>
        <p:blipFill>
          <a:blip r:embed="rId7">
            <a:alphaModFix/>
          </a:blip>
          <a:stretch>
            <a:fillRect/>
          </a:stretch>
        </p:blipFill>
        <p:spPr>
          <a:xfrm>
            <a:off x="6130600" y="4051375"/>
            <a:ext cx="2506049" cy="427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Findings: Proposed MDLC Data Structures</a:t>
            </a:r>
            <a:endParaRPr/>
          </a:p>
        </p:txBody>
      </p:sp>
      <p:sp>
        <p:nvSpPr>
          <p:cNvPr id="548" name="Google Shape;548;p44"/>
          <p:cNvSpPr/>
          <p:nvPr/>
        </p:nvSpPr>
        <p:spPr>
          <a:xfrm>
            <a:off x="1003750" y="461592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549" name="Google Shape;549;p44"/>
          <p:cNvSpPr/>
          <p:nvPr/>
        </p:nvSpPr>
        <p:spPr>
          <a:xfrm>
            <a:off x="1907175" y="4615925"/>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550" name="Google Shape;550;p44"/>
          <p:cNvSpPr/>
          <p:nvPr/>
        </p:nvSpPr>
        <p:spPr>
          <a:xfrm>
            <a:off x="2932675" y="461592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551" name="Google Shape;551;p44"/>
          <p:cNvSpPr/>
          <p:nvPr/>
        </p:nvSpPr>
        <p:spPr>
          <a:xfrm>
            <a:off x="3958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552" name="Google Shape;552;p44"/>
          <p:cNvSpPr/>
          <p:nvPr/>
        </p:nvSpPr>
        <p:spPr>
          <a:xfrm>
            <a:off x="4975000"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553" name="Google Shape;553;p44"/>
          <p:cNvSpPr/>
          <p:nvPr/>
        </p:nvSpPr>
        <p:spPr>
          <a:xfrm>
            <a:off x="600917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554" name="Google Shape;554;p44"/>
          <p:cNvSpPr/>
          <p:nvPr/>
        </p:nvSpPr>
        <p:spPr>
          <a:xfrm>
            <a:off x="7017325" y="461592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pic>
        <p:nvPicPr>
          <p:cNvPr id="555" name="Google Shape;555;p44"/>
          <p:cNvPicPr preferRelativeResize="0"/>
          <p:nvPr/>
        </p:nvPicPr>
        <p:blipFill>
          <a:blip r:embed="rId3">
            <a:alphaModFix/>
          </a:blip>
          <a:stretch>
            <a:fillRect/>
          </a:stretch>
        </p:blipFill>
        <p:spPr>
          <a:xfrm>
            <a:off x="1460525" y="1235625"/>
            <a:ext cx="5995276" cy="3222426"/>
          </a:xfrm>
          <a:prstGeom prst="rect">
            <a:avLst/>
          </a:prstGeom>
          <a:noFill/>
          <a:ln>
            <a:noFill/>
          </a:ln>
        </p:spPr>
      </p:pic>
      <p:sp>
        <p:nvSpPr>
          <p:cNvPr id="556" name="Google Shape;556;p44"/>
          <p:cNvSpPr txBox="1"/>
          <p:nvPr/>
        </p:nvSpPr>
        <p:spPr>
          <a:xfrm>
            <a:off x="1375425" y="88162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Lato"/>
                <a:ea typeface="Lato"/>
                <a:cs typeface="Lato"/>
                <a:sym typeface="Lato"/>
              </a:rPr>
              <a:t>S</a:t>
            </a:r>
            <a:r>
              <a:rPr lang="en" sz="1100">
                <a:solidFill>
                  <a:schemeClr val="lt1"/>
                </a:solidFill>
                <a:latin typeface="Lato"/>
                <a:ea typeface="Lato"/>
                <a:cs typeface="Lato"/>
                <a:sym typeface="Lato"/>
              </a:rPr>
              <a:t>even major data structures -  </a:t>
            </a:r>
            <a:endParaRPr>
              <a:solidFill>
                <a:schemeClr val="lt1"/>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4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Findings: Proposed Tool Execution Flow</a:t>
            </a:r>
            <a:endParaRPr/>
          </a:p>
        </p:txBody>
      </p:sp>
      <p:sp>
        <p:nvSpPr>
          <p:cNvPr id="562" name="Google Shape;562;p45"/>
          <p:cNvSpPr/>
          <p:nvPr/>
        </p:nvSpPr>
        <p:spPr>
          <a:xfrm>
            <a:off x="1232363" y="4721975"/>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563" name="Google Shape;563;p45"/>
          <p:cNvSpPr/>
          <p:nvPr/>
        </p:nvSpPr>
        <p:spPr>
          <a:xfrm>
            <a:off x="2135788" y="4721975"/>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564" name="Google Shape;564;p45"/>
          <p:cNvSpPr/>
          <p:nvPr/>
        </p:nvSpPr>
        <p:spPr>
          <a:xfrm>
            <a:off x="3161288" y="4721975"/>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565" name="Google Shape;565;p45"/>
          <p:cNvSpPr/>
          <p:nvPr/>
        </p:nvSpPr>
        <p:spPr>
          <a:xfrm>
            <a:off x="4186788" y="472197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566" name="Google Shape;566;p45"/>
          <p:cNvSpPr/>
          <p:nvPr/>
        </p:nvSpPr>
        <p:spPr>
          <a:xfrm>
            <a:off x="5203613" y="472197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567" name="Google Shape;567;p45"/>
          <p:cNvSpPr/>
          <p:nvPr/>
        </p:nvSpPr>
        <p:spPr>
          <a:xfrm>
            <a:off x="6237788" y="472197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568" name="Google Shape;568;p45"/>
          <p:cNvSpPr/>
          <p:nvPr/>
        </p:nvSpPr>
        <p:spPr>
          <a:xfrm>
            <a:off x="7245938" y="4721975"/>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pic>
        <p:nvPicPr>
          <p:cNvPr id="569" name="Google Shape;569;p45"/>
          <p:cNvPicPr preferRelativeResize="0"/>
          <p:nvPr/>
        </p:nvPicPr>
        <p:blipFill>
          <a:blip r:embed="rId3">
            <a:alphaModFix/>
          </a:blip>
          <a:stretch>
            <a:fillRect/>
          </a:stretch>
        </p:blipFill>
        <p:spPr>
          <a:xfrm>
            <a:off x="886362" y="1234354"/>
            <a:ext cx="7371277" cy="323567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6"/>
          <p:cNvSpPr txBox="1"/>
          <p:nvPr>
            <p:ph type="title"/>
          </p:nvPr>
        </p:nvSpPr>
        <p:spPr>
          <a:xfrm>
            <a:off x="1323700" y="1492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Issues and Challenges</a:t>
            </a:r>
            <a:endParaRPr/>
          </a:p>
        </p:txBody>
      </p:sp>
      <p:graphicFrame>
        <p:nvGraphicFramePr>
          <p:cNvPr id="575" name="Google Shape;575;p46"/>
          <p:cNvGraphicFramePr/>
          <p:nvPr/>
        </p:nvGraphicFramePr>
        <p:xfrm>
          <a:off x="1129750" y="727950"/>
          <a:ext cx="3000000" cy="3000000"/>
        </p:xfrm>
        <a:graphic>
          <a:graphicData uri="http://schemas.openxmlformats.org/drawingml/2006/table">
            <a:tbl>
              <a:tblPr>
                <a:noFill/>
                <a:tableStyleId>{0CAA3EE6-7A82-4559-8AD2-E83B55BCFC55}</a:tableStyleId>
              </a:tblPr>
              <a:tblGrid>
                <a:gridCol w="1750200"/>
                <a:gridCol w="962025"/>
                <a:gridCol w="895350"/>
                <a:gridCol w="4211875"/>
              </a:tblGrid>
              <a:tr h="476100">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Brief Statement of Problem</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Impact</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Priority or Rank</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Issue Description and Mitigation</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740600">
                <a:tc>
                  <a:txBody>
                    <a:bodyPr/>
                    <a:lstStyle/>
                    <a:p>
                      <a:pPr indent="0" lvl="0" marL="228600" rtl="0" algn="l">
                        <a:lnSpc>
                          <a:spcPct val="115000"/>
                        </a:lnSpc>
                        <a:spcBef>
                          <a:spcPts val="300"/>
                        </a:spcBef>
                        <a:spcAft>
                          <a:spcPts val="0"/>
                        </a:spcAft>
                        <a:buNone/>
                      </a:pPr>
                      <a:r>
                        <a:t/>
                      </a:r>
                      <a:endParaRPr sz="1000">
                        <a:solidFill>
                          <a:schemeClr val="lt1"/>
                        </a:solidFill>
                        <a:latin typeface="Lato"/>
                        <a:ea typeface="Lato"/>
                        <a:cs typeface="Lato"/>
                        <a:sym typeface="Lato"/>
                      </a:endParaRPr>
                    </a:p>
                    <a:p>
                      <a:pPr indent="0" lvl="0" marL="0" rtl="0" algn="l">
                        <a:lnSpc>
                          <a:spcPct val="115000"/>
                        </a:lnSpc>
                        <a:spcBef>
                          <a:spcPts val="300"/>
                        </a:spcBef>
                        <a:spcAft>
                          <a:spcPts val="300"/>
                        </a:spcAft>
                        <a:buNone/>
                      </a:pPr>
                      <a:r>
                        <a:rPr lang="en" sz="1000">
                          <a:solidFill>
                            <a:schemeClr val="lt1"/>
                          </a:solidFill>
                          <a:latin typeface="Lato"/>
                          <a:ea typeface="Lato"/>
                          <a:cs typeface="Lato"/>
                          <a:sym typeface="Lato"/>
                        </a:rPr>
                        <a:t> </a:t>
                      </a:r>
                      <a:r>
                        <a:rPr lang="en" sz="1000">
                          <a:solidFill>
                            <a:schemeClr val="lt1"/>
                          </a:solidFill>
                          <a:latin typeface="Lato"/>
                          <a:ea typeface="Lato"/>
                          <a:cs typeface="Lato"/>
                          <a:sym typeface="Lato"/>
                        </a:rPr>
                        <a:t>1</a:t>
                      </a:r>
                      <a:r>
                        <a:rPr lang="en" sz="1000">
                          <a:solidFill>
                            <a:schemeClr val="lt1"/>
                          </a:solidFill>
                          <a:latin typeface="Lato"/>
                          <a:ea typeface="Lato"/>
                          <a:cs typeface="Lato"/>
                          <a:sym typeface="Lato"/>
                        </a:rPr>
                        <a:t>. Virtual development and testing bed need</a:t>
                      </a:r>
                      <a:endParaRPr sz="10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lt1"/>
                          </a:solidFill>
                          <a:latin typeface="Lato"/>
                          <a:ea typeface="Lato"/>
                          <a:cs typeface="Lato"/>
                          <a:sym typeface="Lato"/>
                        </a:rPr>
                        <a:t>High</a:t>
                      </a:r>
                      <a:endParaRPr sz="12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300"/>
                        </a:spcBef>
                        <a:spcAft>
                          <a:spcPts val="300"/>
                        </a:spcAft>
                        <a:buNone/>
                      </a:pPr>
                      <a:r>
                        <a:rPr lang="en" sz="1200">
                          <a:solidFill>
                            <a:schemeClr val="lt1"/>
                          </a:solidFill>
                          <a:latin typeface="Lato"/>
                          <a:ea typeface="Lato"/>
                          <a:cs typeface="Lato"/>
                          <a:sym typeface="Lato"/>
                        </a:rPr>
                        <a:t>1</a:t>
                      </a:r>
                      <a:endParaRPr sz="12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The team needs a testing bed for our ground truth samples and tool development.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Team was challenged with creating its own testing bed, and development was  significantly slowed due to this.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Mitigation: Contact UA Engineering IT Department and Work Together to have test bed created.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Mitigation Failed: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UA engineering IT department was unable to provide the team a test bed.</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Backup Mitigation of employing a cloud virtualization provider also failed; our project was against most providers’ terms of service</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Team was forced to set up our own virtual machines. </a:t>
                      </a:r>
                      <a:endParaRPr sz="11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
        <p:nvSpPr>
          <p:cNvPr id="576" name="Google Shape;576;p46"/>
          <p:cNvSpPr/>
          <p:nvPr/>
        </p:nvSpPr>
        <p:spPr>
          <a:xfrm>
            <a:off x="987413" y="4750700"/>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577" name="Google Shape;577;p46"/>
          <p:cNvSpPr/>
          <p:nvPr/>
        </p:nvSpPr>
        <p:spPr>
          <a:xfrm>
            <a:off x="1890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578" name="Google Shape;578;p46"/>
          <p:cNvSpPr/>
          <p:nvPr/>
        </p:nvSpPr>
        <p:spPr>
          <a:xfrm>
            <a:off x="29163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579" name="Google Shape;579;p46"/>
          <p:cNvSpPr/>
          <p:nvPr/>
        </p:nvSpPr>
        <p:spPr>
          <a:xfrm>
            <a:off x="3941838" y="475070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580" name="Google Shape;580;p46"/>
          <p:cNvSpPr/>
          <p:nvPr/>
        </p:nvSpPr>
        <p:spPr>
          <a:xfrm>
            <a:off x="4958663"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581" name="Google Shape;581;p46"/>
          <p:cNvSpPr/>
          <p:nvPr/>
        </p:nvSpPr>
        <p:spPr>
          <a:xfrm>
            <a:off x="599283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582" name="Google Shape;582;p46"/>
          <p:cNvSpPr/>
          <p:nvPr/>
        </p:nvSpPr>
        <p:spPr>
          <a:xfrm>
            <a:off x="700098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7"/>
          <p:cNvSpPr txBox="1"/>
          <p:nvPr>
            <p:ph type="title"/>
          </p:nvPr>
        </p:nvSpPr>
        <p:spPr>
          <a:xfrm>
            <a:off x="1323700" y="1492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Issues and Challenges, Continued</a:t>
            </a:r>
            <a:endParaRPr/>
          </a:p>
        </p:txBody>
      </p:sp>
      <p:graphicFrame>
        <p:nvGraphicFramePr>
          <p:cNvPr id="588" name="Google Shape;588;p47"/>
          <p:cNvGraphicFramePr/>
          <p:nvPr/>
        </p:nvGraphicFramePr>
        <p:xfrm>
          <a:off x="1129750" y="727950"/>
          <a:ext cx="3000000" cy="3000000"/>
        </p:xfrm>
        <a:graphic>
          <a:graphicData uri="http://schemas.openxmlformats.org/drawingml/2006/table">
            <a:tbl>
              <a:tblPr>
                <a:noFill/>
                <a:tableStyleId>{0CAA3EE6-7A82-4559-8AD2-E83B55BCFC55}</a:tableStyleId>
              </a:tblPr>
              <a:tblGrid>
                <a:gridCol w="1750200"/>
                <a:gridCol w="962025"/>
                <a:gridCol w="895350"/>
                <a:gridCol w="4211875"/>
              </a:tblGrid>
              <a:tr h="476100">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Brief Statement of Problem</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Impact</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Priority or Rank</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Issue Description and </a:t>
                      </a:r>
                      <a:r>
                        <a:rPr b="1" lang="en" sz="900">
                          <a:solidFill>
                            <a:schemeClr val="lt1"/>
                          </a:solidFill>
                          <a:latin typeface="Lato"/>
                          <a:ea typeface="Lato"/>
                          <a:cs typeface="Lato"/>
                          <a:sym typeface="Lato"/>
                        </a:rPr>
                        <a:t>Mitigation</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740600">
                <a:tc>
                  <a:txBody>
                    <a:bodyPr/>
                    <a:lstStyle/>
                    <a:p>
                      <a:pPr indent="0" lvl="0" marL="228600" rtl="0" algn="l">
                        <a:lnSpc>
                          <a:spcPct val="115000"/>
                        </a:lnSpc>
                        <a:spcBef>
                          <a:spcPts val="300"/>
                        </a:spcBef>
                        <a:spcAft>
                          <a:spcPts val="0"/>
                        </a:spcAft>
                        <a:buNone/>
                      </a:pPr>
                      <a:r>
                        <a:rPr lang="en" sz="1000">
                          <a:solidFill>
                            <a:schemeClr val="lt1"/>
                          </a:solidFill>
                          <a:latin typeface="Lato"/>
                          <a:ea typeface="Lato"/>
                          <a:cs typeface="Lato"/>
                          <a:sym typeface="Lato"/>
                        </a:rPr>
                        <a:t>2. </a:t>
                      </a:r>
                      <a:r>
                        <a:rPr lang="en" sz="1000">
                          <a:solidFill>
                            <a:schemeClr val="lt1"/>
                          </a:solidFill>
                          <a:latin typeface="Lato"/>
                          <a:ea typeface="Lato"/>
                          <a:cs typeface="Lato"/>
                          <a:sym typeface="Lato"/>
                        </a:rPr>
                        <a:t> Massive Time Zone Differences</a:t>
                      </a:r>
                      <a:endParaRPr sz="1000">
                        <a:solidFill>
                          <a:schemeClr val="lt1"/>
                        </a:solidFill>
                        <a:latin typeface="Lato"/>
                        <a:ea typeface="Lato"/>
                        <a:cs typeface="Lato"/>
                        <a:sym typeface="Lato"/>
                      </a:endParaRPr>
                    </a:p>
                    <a:p>
                      <a:pPr indent="0" lvl="0" marL="228600" rtl="0" algn="l">
                        <a:lnSpc>
                          <a:spcPct val="115000"/>
                        </a:lnSpc>
                        <a:spcBef>
                          <a:spcPts val="300"/>
                        </a:spcBef>
                        <a:spcAft>
                          <a:spcPts val="300"/>
                        </a:spcAft>
                        <a:buNone/>
                      </a:pPr>
                      <a:r>
                        <a:t/>
                      </a:r>
                      <a:endParaRPr sz="10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lt1"/>
                          </a:solidFill>
                          <a:latin typeface="Lato"/>
                          <a:ea typeface="Lato"/>
                          <a:cs typeface="Lato"/>
                          <a:sym typeface="Lato"/>
                        </a:rPr>
                        <a:t>Medium</a:t>
                      </a:r>
                      <a:endParaRPr sz="12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300"/>
                        </a:spcBef>
                        <a:spcAft>
                          <a:spcPts val="300"/>
                        </a:spcAft>
                        <a:buNone/>
                      </a:pPr>
                      <a:r>
                        <a:rPr lang="en" sz="1200">
                          <a:solidFill>
                            <a:schemeClr val="lt1"/>
                          </a:solidFill>
                          <a:latin typeface="Lato"/>
                          <a:ea typeface="Lato"/>
                          <a:cs typeface="Lato"/>
                          <a:sym typeface="Lato"/>
                        </a:rPr>
                        <a:t>2</a:t>
                      </a:r>
                      <a:endParaRPr sz="12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Our team was spread across three different time zones: Arizona Time, Central Standard Time (CST), and India Standard Time (IST)</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Mitigation Efforts: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Set time frame every team member was available to meet online and met in these time frames.</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Held additional ad-hoc meetings as needed; organized over Discord</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Worked asynchronously and had each team member check progress if possible.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Had team members inform the team of any progress and needs.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Mitigation Success:</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Team typically met regularly.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Team relations were strong.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Team worked well around the different time zones with minimal meeting issues.</a:t>
                      </a:r>
                      <a:endParaRPr sz="11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
        <p:nvSpPr>
          <p:cNvPr id="589" name="Google Shape;589;p47"/>
          <p:cNvSpPr/>
          <p:nvPr/>
        </p:nvSpPr>
        <p:spPr>
          <a:xfrm>
            <a:off x="987413" y="4750700"/>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590" name="Google Shape;590;p47"/>
          <p:cNvSpPr/>
          <p:nvPr/>
        </p:nvSpPr>
        <p:spPr>
          <a:xfrm>
            <a:off x="1890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591" name="Google Shape;591;p47"/>
          <p:cNvSpPr/>
          <p:nvPr/>
        </p:nvSpPr>
        <p:spPr>
          <a:xfrm>
            <a:off x="29163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592" name="Google Shape;592;p47"/>
          <p:cNvSpPr/>
          <p:nvPr/>
        </p:nvSpPr>
        <p:spPr>
          <a:xfrm>
            <a:off x="3941838" y="475070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593" name="Google Shape;593;p47"/>
          <p:cNvSpPr/>
          <p:nvPr/>
        </p:nvSpPr>
        <p:spPr>
          <a:xfrm>
            <a:off x="4958663"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594" name="Google Shape;594;p47"/>
          <p:cNvSpPr/>
          <p:nvPr/>
        </p:nvSpPr>
        <p:spPr>
          <a:xfrm>
            <a:off x="599283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595" name="Google Shape;595;p47"/>
          <p:cNvSpPr/>
          <p:nvPr/>
        </p:nvSpPr>
        <p:spPr>
          <a:xfrm>
            <a:off x="700098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48"/>
          <p:cNvSpPr txBox="1"/>
          <p:nvPr>
            <p:ph type="title"/>
          </p:nvPr>
        </p:nvSpPr>
        <p:spPr>
          <a:xfrm>
            <a:off x="1323700" y="1492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Issues and Challenges, Continued</a:t>
            </a:r>
            <a:endParaRPr/>
          </a:p>
        </p:txBody>
      </p:sp>
      <p:graphicFrame>
        <p:nvGraphicFramePr>
          <p:cNvPr id="601" name="Google Shape;601;p48"/>
          <p:cNvGraphicFramePr/>
          <p:nvPr/>
        </p:nvGraphicFramePr>
        <p:xfrm>
          <a:off x="1129750" y="727950"/>
          <a:ext cx="3000000" cy="3000000"/>
        </p:xfrm>
        <a:graphic>
          <a:graphicData uri="http://schemas.openxmlformats.org/drawingml/2006/table">
            <a:tbl>
              <a:tblPr>
                <a:noFill/>
                <a:tableStyleId>{0CAA3EE6-7A82-4559-8AD2-E83B55BCFC55}</a:tableStyleId>
              </a:tblPr>
              <a:tblGrid>
                <a:gridCol w="1750200"/>
                <a:gridCol w="962025"/>
                <a:gridCol w="895350"/>
                <a:gridCol w="4211875"/>
              </a:tblGrid>
              <a:tr h="476100">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Brief Statement of Problem</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Impact</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Priority or Rank</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chemeClr val="lt1"/>
                          </a:solidFill>
                          <a:latin typeface="Lato"/>
                          <a:ea typeface="Lato"/>
                          <a:cs typeface="Lato"/>
                          <a:sym typeface="Lato"/>
                        </a:rPr>
                        <a:t>Issue Description and </a:t>
                      </a:r>
                      <a:r>
                        <a:rPr b="1" lang="en" sz="900">
                          <a:solidFill>
                            <a:schemeClr val="lt1"/>
                          </a:solidFill>
                          <a:latin typeface="Lato"/>
                          <a:ea typeface="Lato"/>
                          <a:cs typeface="Lato"/>
                          <a:sym typeface="Lato"/>
                        </a:rPr>
                        <a:t>Mitigation</a:t>
                      </a:r>
                      <a:endParaRPr b="1" sz="9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740600">
                <a:tc>
                  <a:txBody>
                    <a:bodyPr/>
                    <a:lstStyle/>
                    <a:p>
                      <a:pPr indent="0" lvl="0" marL="228600" rtl="0" algn="l">
                        <a:lnSpc>
                          <a:spcPct val="115000"/>
                        </a:lnSpc>
                        <a:spcBef>
                          <a:spcPts val="300"/>
                        </a:spcBef>
                        <a:spcAft>
                          <a:spcPts val="300"/>
                        </a:spcAft>
                        <a:buNone/>
                      </a:pPr>
                      <a:r>
                        <a:rPr lang="en" sz="1000">
                          <a:solidFill>
                            <a:schemeClr val="lt1"/>
                          </a:solidFill>
                          <a:latin typeface="Lato"/>
                          <a:ea typeface="Lato"/>
                          <a:cs typeface="Lato"/>
                          <a:sym typeface="Lato"/>
                        </a:rPr>
                        <a:t>3</a:t>
                      </a:r>
                      <a:r>
                        <a:rPr lang="en" sz="1000">
                          <a:solidFill>
                            <a:schemeClr val="lt1"/>
                          </a:solidFill>
                          <a:latin typeface="Lato"/>
                          <a:ea typeface="Lato"/>
                          <a:cs typeface="Lato"/>
                          <a:sym typeface="Lato"/>
                        </a:rPr>
                        <a:t>. Major Skill Set Differences Between Members</a:t>
                      </a:r>
                      <a:endParaRPr sz="10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lt1"/>
                          </a:solidFill>
                          <a:latin typeface="Lato"/>
                          <a:ea typeface="Lato"/>
                          <a:cs typeface="Lato"/>
                          <a:sym typeface="Lato"/>
                        </a:rPr>
                        <a:t>Medium</a:t>
                      </a:r>
                      <a:endParaRPr sz="12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lnSpc>
                          <a:spcPct val="115000"/>
                        </a:lnSpc>
                        <a:spcBef>
                          <a:spcPts val="300"/>
                        </a:spcBef>
                        <a:spcAft>
                          <a:spcPts val="300"/>
                        </a:spcAft>
                        <a:buNone/>
                      </a:pPr>
                      <a:r>
                        <a:rPr lang="en" sz="1200">
                          <a:solidFill>
                            <a:schemeClr val="lt1"/>
                          </a:solidFill>
                          <a:latin typeface="Lato"/>
                          <a:ea typeface="Lato"/>
                          <a:cs typeface="Lato"/>
                          <a:sym typeface="Lato"/>
                        </a:rPr>
                        <a:t>3</a:t>
                      </a:r>
                      <a:endParaRPr sz="12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Our team members had vastly different backgrounds. Some members have never been exposed to malware analysis and had little coding experience.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Mitigation: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Divided the team into two subsections. Had subsection leaders assist less experienced members as needed.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Where possible, chose coding languages that each team member could understand.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T</a:t>
                      </a:r>
                      <a:r>
                        <a:rPr lang="en" sz="1100">
                          <a:solidFill>
                            <a:schemeClr val="lt1"/>
                          </a:solidFill>
                          <a:latin typeface="Lato"/>
                          <a:ea typeface="Lato"/>
                          <a:cs typeface="Lato"/>
                          <a:sym typeface="Lato"/>
                        </a:rPr>
                        <a:t>he team members with the least experience assigned to research and build their skill set.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Mitigation Status: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Training on major coding concepts was marginal</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Samples were complex enough to make code training ineffective in the long-term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Deadlines closed too quickly to instill deep coding knowledge</a:t>
                      </a:r>
                      <a:endParaRPr sz="1100">
                        <a:solidFill>
                          <a:schemeClr val="lt1"/>
                        </a:solidFill>
                        <a:latin typeface="Lato"/>
                        <a:ea typeface="Lato"/>
                        <a:cs typeface="Lato"/>
                        <a:sym typeface="Lato"/>
                      </a:endParaRPr>
                    </a:p>
                  </a:txBody>
                  <a:tcPr marT="91425" marB="91425" marR="68575" marL="6857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
        <p:nvSpPr>
          <p:cNvPr id="602" name="Google Shape;602;p48"/>
          <p:cNvSpPr/>
          <p:nvPr/>
        </p:nvSpPr>
        <p:spPr>
          <a:xfrm>
            <a:off x="987413" y="4750700"/>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603" name="Google Shape;603;p48"/>
          <p:cNvSpPr/>
          <p:nvPr/>
        </p:nvSpPr>
        <p:spPr>
          <a:xfrm>
            <a:off x="1890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604" name="Google Shape;604;p48"/>
          <p:cNvSpPr/>
          <p:nvPr/>
        </p:nvSpPr>
        <p:spPr>
          <a:xfrm>
            <a:off x="29163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605" name="Google Shape;605;p48"/>
          <p:cNvSpPr/>
          <p:nvPr/>
        </p:nvSpPr>
        <p:spPr>
          <a:xfrm>
            <a:off x="3941838" y="475070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606" name="Google Shape;606;p48"/>
          <p:cNvSpPr/>
          <p:nvPr/>
        </p:nvSpPr>
        <p:spPr>
          <a:xfrm>
            <a:off x="4958663"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607" name="Google Shape;607;p48"/>
          <p:cNvSpPr/>
          <p:nvPr/>
        </p:nvSpPr>
        <p:spPr>
          <a:xfrm>
            <a:off x="599283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608" name="Google Shape;608;p48"/>
          <p:cNvSpPr/>
          <p:nvPr/>
        </p:nvSpPr>
        <p:spPr>
          <a:xfrm>
            <a:off x="700098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 and Recommendations: </a:t>
            </a:r>
            <a:br>
              <a:rPr lang="en"/>
            </a:br>
            <a:r>
              <a:rPr lang="en"/>
              <a:t>Ground Truth Sample Quality</a:t>
            </a:r>
            <a:endParaRPr/>
          </a:p>
        </p:txBody>
      </p:sp>
      <p:sp>
        <p:nvSpPr>
          <p:cNvPr id="614" name="Google Shape;614;p49"/>
          <p:cNvSpPr txBox="1"/>
          <p:nvPr>
            <p:ph idx="1" type="body"/>
          </p:nvPr>
        </p:nvSpPr>
        <p:spPr>
          <a:xfrm>
            <a:off x="1297500" y="1163975"/>
            <a:ext cx="7038900" cy="29112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C++ Ground Truth Samples</a:t>
            </a:r>
            <a:endParaRPr/>
          </a:p>
          <a:p>
            <a:pPr indent="-298450" lvl="1" marL="914400" rtl="0" algn="l">
              <a:spcBef>
                <a:spcPts val="0"/>
              </a:spcBef>
              <a:spcAft>
                <a:spcPts val="0"/>
              </a:spcAft>
              <a:buSzPts val="1100"/>
              <a:buChar char="○"/>
            </a:pPr>
            <a:r>
              <a:rPr lang="en"/>
              <a:t>Meets the minimum requirements </a:t>
            </a:r>
            <a:endParaRPr/>
          </a:p>
          <a:p>
            <a:pPr indent="-298450" lvl="1" marL="914400" rtl="0" algn="l">
              <a:spcBef>
                <a:spcPts val="0"/>
              </a:spcBef>
              <a:spcAft>
                <a:spcPts val="0"/>
              </a:spcAft>
              <a:buSzPts val="1100"/>
              <a:buChar char="○"/>
            </a:pPr>
            <a:r>
              <a:rPr lang="en"/>
              <a:t>Numerous quirks in multiple areas; still functional, just awkward to use the controller</a:t>
            </a:r>
            <a:endParaRPr/>
          </a:p>
          <a:p>
            <a:pPr indent="-298450" lvl="2" marL="1371600" rtl="0" algn="l">
              <a:spcBef>
                <a:spcPts val="0"/>
              </a:spcBef>
              <a:spcAft>
                <a:spcPts val="0"/>
              </a:spcAft>
              <a:buSzPts val="1100"/>
              <a:buChar char="■"/>
            </a:pPr>
            <a:r>
              <a:rPr lang="en"/>
              <a:t>Directory reading wildcards </a:t>
            </a:r>
            <a:endParaRPr/>
          </a:p>
          <a:p>
            <a:pPr indent="-298450" lvl="2" marL="1371600" rtl="0" algn="l">
              <a:spcBef>
                <a:spcPts val="0"/>
              </a:spcBef>
              <a:spcAft>
                <a:spcPts val="0"/>
              </a:spcAft>
              <a:buSzPts val="1100"/>
              <a:buChar char="■"/>
            </a:pPr>
            <a:r>
              <a:rPr lang="en"/>
              <a:t>Executing consecutive commands over shell connection not possible</a:t>
            </a:r>
            <a:endParaRPr/>
          </a:p>
          <a:p>
            <a:pPr indent="-298450" lvl="1" marL="914400" rtl="0" algn="l">
              <a:spcBef>
                <a:spcPts val="0"/>
              </a:spcBef>
              <a:spcAft>
                <a:spcPts val="0"/>
              </a:spcAft>
              <a:buSzPts val="1100"/>
              <a:buChar char="○"/>
            </a:pPr>
            <a:r>
              <a:rPr lang="en"/>
              <a:t>Network encoding is weak; implementing stronger network encryption with the Windows API was too complex and time consuming </a:t>
            </a:r>
            <a:endParaRPr/>
          </a:p>
          <a:p>
            <a:pPr indent="-298450" lvl="1" marL="914400" rtl="0" algn="l">
              <a:spcBef>
                <a:spcPts val="0"/>
              </a:spcBef>
              <a:spcAft>
                <a:spcPts val="0"/>
              </a:spcAft>
              <a:buSzPts val="1100"/>
              <a:buChar char="○"/>
            </a:pPr>
            <a:r>
              <a:rPr lang="en"/>
              <a:t>Anti-debugging features are elementary at best; hard to sync up more effective measures</a:t>
            </a:r>
            <a:endParaRPr/>
          </a:p>
          <a:p>
            <a:pPr indent="-311150" lvl="0" marL="457200" rtl="0" algn="l">
              <a:spcBef>
                <a:spcPts val="0"/>
              </a:spcBef>
              <a:spcAft>
                <a:spcPts val="0"/>
              </a:spcAft>
              <a:buSzPts val="1300"/>
              <a:buChar char="●"/>
            </a:pPr>
            <a:r>
              <a:rPr lang="en"/>
              <a:t>Java Ground Truth Samples</a:t>
            </a:r>
            <a:endParaRPr/>
          </a:p>
          <a:p>
            <a:pPr indent="-298450" lvl="1" marL="914400" rtl="0" algn="l">
              <a:spcBef>
                <a:spcPts val="0"/>
              </a:spcBef>
              <a:spcAft>
                <a:spcPts val="0"/>
              </a:spcAft>
              <a:buSzPts val="1100"/>
              <a:buChar char="○"/>
            </a:pPr>
            <a:r>
              <a:rPr lang="en"/>
              <a:t>Meet minimum requirements</a:t>
            </a:r>
            <a:endParaRPr/>
          </a:p>
          <a:p>
            <a:pPr indent="-298450" lvl="1" marL="914400" rtl="0" algn="l">
              <a:spcBef>
                <a:spcPts val="0"/>
              </a:spcBef>
              <a:spcAft>
                <a:spcPts val="0"/>
              </a:spcAft>
              <a:buSzPts val="1100"/>
              <a:buChar char="○"/>
            </a:pPr>
            <a:r>
              <a:rPr lang="en"/>
              <a:t>Network data encryption is weak </a:t>
            </a:r>
            <a:endParaRPr/>
          </a:p>
          <a:p>
            <a:pPr indent="-298450" lvl="1" marL="914400" rtl="0" algn="l">
              <a:spcBef>
                <a:spcPts val="0"/>
              </a:spcBef>
              <a:spcAft>
                <a:spcPts val="0"/>
              </a:spcAft>
              <a:buSzPts val="1100"/>
              <a:buChar char="○"/>
            </a:pPr>
            <a:r>
              <a:rPr lang="en"/>
              <a:t>Elementary level anti-debugging features</a:t>
            </a:r>
            <a:endParaRPr/>
          </a:p>
          <a:p>
            <a:pPr indent="-311150" lvl="0" marL="457200" rtl="0" algn="l">
              <a:spcBef>
                <a:spcPts val="0"/>
              </a:spcBef>
              <a:spcAft>
                <a:spcPts val="0"/>
              </a:spcAft>
              <a:buSzPts val="1300"/>
              <a:buChar char="●"/>
            </a:pPr>
            <a:r>
              <a:rPr lang="en"/>
              <a:t>Regardless, the samples were characterizable within the MDLC and served as acceptable ground truth models</a:t>
            </a:r>
            <a:endParaRPr/>
          </a:p>
        </p:txBody>
      </p:sp>
      <p:sp>
        <p:nvSpPr>
          <p:cNvPr id="615" name="Google Shape;615;p49"/>
          <p:cNvSpPr/>
          <p:nvPr/>
        </p:nvSpPr>
        <p:spPr>
          <a:xfrm>
            <a:off x="987413" y="4750700"/>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616" name="Google Shape;616;p49"/>
          <p:cNvSpPr/>
          <p:nvPr/>
        </p:nvSpPr>
        <p:spPr>
          <a:xfrm>
            <a:off x="1890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617" name="Google Shape;617;p49"/>
          <p:cNvSpPr/>
          <p:nvPr/>
        </p:nvSpPr>
        <p:spPr>
          <a:xfrm>
            <a:off x="29163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618" name="Google Shape;618;p49"/>
          <p:cNvSpPr/>
          <p:nvPr/>
        </p:nvSpPr>
        <p:spPr>
          <a:xfrm>
            <a:off x="3941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619" name="Google Shape;619;p49"/>
          <p:cNvSpPr/>
          <p:nvPr/>
        </p:nvSpPr>
        <p:spPr>
          <a:xfrm>
            <a:off x="4958663" y="475070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620" name="Google Shape;620;p49"/>
          <p:cNvSpPr/>
          <p:nvPr/>
        </p:nvSpPr>
        <p:spPr>
          <a:xfrm>
            <a:off x="599283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621" name="Google Shape;621;p49"/>
          <p:cNvSpPr/>
          <p:nvPr/>
        </p:nvSpPr>
        <p:spPr>
          <a:xfrm>
            <a:off x="700098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50"/>
          <p:cNvSpPr txBox="1"/>
          <p:nvPr>
            <p:ph type="title"/>
          </p:nvPr>
        </p:nvSpPr>
        <p:spPr>
          <a:xfrm>
            <a:off x="1342950" y="40132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 and Recommendations: </a:t>
            </a:r>
            <a:br>
              <a:rPr lang="en"/>
            </a:br>
            <a:r>
              <a:rPr lang="en"/>
              <a:t>Proposed Tool Rationale and Future Work</a:t>
            </a:r>
            <a:endParaRPr/>
          </a:p>
        </p:txBody>
      </p:sp>
      <p:sp>
        <p:nvSpPr>
          <p:cNvPr id="627" name="Google Shape;627;p50"/>
          <p:cNvSpPr txBox="1"/>
          <p:nvPr>
            <p:ph idx="1" type="body"/>
          </p:nvPr>
        </p:nvSpPr>
        <p:spPr>
          <a:xfrm>
            <a:off x="1297500" y="1164000"/>
            <a:ext cx="7369500" cy="3387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Our proposed tool provides a framework for how the MDLC can be examined using COTS malware analysis tools </a:t>
            </a:r>
            <a:endParaRPr/>
          </a:p>
          <a:p>
            <a:pPr indent="-298450" lvl="1" marL="914400" rtl="0" algn="l">
              <a:spcBef>
                <a:spcPts val="0"/>
              </a:spcBef>
              <a:spcAft>
                <a:spcPts val="0"/>
              </a:spcAft>
              <a:buSzPts val="1100"/>
              <a:buChar char="○"/>
            </a:pPr>
            <a:r>
              <a:rPr lang="en"/>
              <a:t>Tool output is handled by subroutines within the tool</a:t>
            </a:r>
            <a:endParaRPr/>
          </a:p>
          <a:p>
            <a:pPr indent="-298450" lvl="1" marL="914400" rtl="0" algn="l">
              <a:spcBef>
                <a:spcPts val="0"/>
              </a:spcBef>
              <a:spcAft>
                <a:spcPts val="0"/>
              </a:spcAft>
              <a:buSzPts val="1100"/>
              <a:buChar char="○"/>
            </a:pPr>
            <a:r>
              <a:rPr lang="en"/>
              <a:t>Human-readable output that describes the attacker’s potential thoughts at each stage, as artifacts are detected, is returned </a:t>
            </a:r>
            <a:endParaRPr/>
          </a:p>
          <a:p>
            <a:pPr indent="-311150" lvl="0" marL="457200" rtl="0" algn="l">
              <a:spcBef>
                <a:spcPts val="0"/>
              </a:spcBef>
              <a:spcAft>
                <a:spcPts val="0"/>
              </a:spcAft>
              <a:buSzPts val="1300"/>
              <a:buChar char="●"/>
            </a:pPr>
            <a:r>
              <a:rPr lang="en"/>
              <a:t>Still, there is much future work to perform on </a:t>
            </a:r>
            <a:r>
              <a:rPr lang="en"/>
              <a:t>this front:</a:t>
            </a:r>
            <a:endParaRPr/>
          </a:p>
          <a:p>
            <a:pPr indent="-298450" lvl="1" marL="914400" rtl="0" algn="l">
              <a:spcBef>
                <a:spcPts val="0"/>
              </a:spcBef>
              <a:spcAft>
                <a:spcPts val="0"/>
              </a:spcAft>
              <a:buSzPts val="1100"/>
              <a:buChar char="○"/>
            </a:pPr>
            <a:r>
              <a:rPr lang="en"/>
              <a:t>Each tool handling subroutine would be massive: there are minute differences in output everywhere that could change how a sample needs to be analyzed	</a:t>
            </a:r>
            <a:endParaRPr/>
          </a:p>
          <a:p>
            <a:pPr indent="-298450" lvl="2" marL="1371600" rtl="0" algn="l">
              <a:spcBef>
                <a:spcPts val="0"/>
              </a:spcBef>
              <a:spcAft>
                <a:spcPts val="0"/>
              </a:spcAft>
              <a:buSzPts val="1100"/>
              <a:buChar char="■"/>
            </a:pPr>
            <a:r>
              <a:rPr lang="en"/>
              <a:t>Mitigation: Create data stores for each tool and test tool output versus the known data</a:t>
            </a:r>
            <a:endParaRPr/>
          </a:p>
          <a:p>
            <a:pPr indent="-298450" lvl="1" marL="914400" rtl="0" algn="l">
              <a:spcBef>
                <a:spcPts val="0"/>
              </a:spcBef>
              <a:spcAft>
                <a:spcPts val="0"/>
              </a:spcAft>
              <a:buSzPts val="1100"/>
              <a:buChar char="○"/>
            </a:pPr>
            <a:r>
              <a:rPr lang="en"/>
              <a:t>The tool assumes that the malware is not heavily obfuscated</a:t>
            </a:r>
            <a:endParaRPr/>
          </a:p>
          <a:p>
            <a:pPr indent="-298450" lvl="2" marL="1371600" rtl="0" algn="l">
              <a:spcBef>
                <a:spcPts val="0"/>
              </a:spcBef>
              <a:spcAft>
                <a:spcPts val="0"/>
              </a:spcAft>
              <a:buSzPts val="1100"/>
              <a:buChar char="■"/>
            </a:pPr>
            <a:r>
              <a:rPr lang="en"/>
              <a:t>Obfuscation may reduce effectiveness of proposed tool </a:t>
            </a:r>
            <a:endParaRPr/>
          </a:p>
          <a:p>
            <a:pPr indent="-298450" lvl="2" marL="1371600" rtl="0" algn="l">
              <a:spcBef>
                <a:spcPts val="0"/>
              </a:spcBef>
              <a:spcAft>
                <a:spcPts val="0"/>
              </a:spcAft>
              <a:buSzPts val="1100"/>
              <a:buChar char="■"/>
            </a:pPr>
            <a:r>
              <a:rPr lang="en"/>
              <a:t>Need to identify toolchains that can identify and break obfuscations</a:t>
            </a:r>
            <a:endParaRPr/>
          </a:p>
          <a:p>
            <a:pPr indent="-298450" lvl="1" marL="914400" rtl="0" algn="l">
              <a:spcBef>
                <a:spcPts val="0"/>
              </a:spcBef>
              <a:spcAft>
                <a:spcPts val="0"/>
              </a:spcAft>
              <a:buSzPts val="1100"/>
              <a:buChar char="○"/>
            </a:pPr>
            <a:r>
              <a:rPr lang="en"/>
              <a:t>The tool’s compiler provenance information base is rather weak </a:t>
            </a:r>
            <a:endParaRPr/>
          </a:p>
          <a:p>
            <a:pPr indent="-298450" lvl="2" marL="1371600" rtl="0" algn="l">
              <a:spcBef>
                <a:spcPts val="0"/>
              </a:spcBef>
              <a:spcAft>
                <a:spcPts val="0"/>
              </a:spcAft>
              <a:buSzPts val="1100"/>
              <a:buChar char="■"/>
            </a:pPr>
            <a:r>
              <a:rPr lang="en"/>
              <a:t>Future researchers could try to obtain these tools and employ them to corroboration other provenance tools’ output</a:t>
            </a:r>
            <a:endParaRPr/>
          </a:p>
        </p:txBody>
      </p:sp>
      <p:sp>
        <p:nvSpPr>
          <p:cNvPr id="628" name="Google Shape;628;p50"/>
          <p:cNvSpPr/>
          <p:nvPr/>
        </p:nvSpPr>
        <p:spPr>
          <a:xfrm>
            <a:off x="987413" y="4750700"/>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629" name="Google Shape;629;p50"/>
          <p:cNvSpPr/>
          <p:nvPr/>
        </p:nvSpPr>
        <p:spPr>
          <a:xfrm>
            <a:off x="1890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630" name="Google Shape;630;p50"/>
          <p:cNvSpPr/>
          <p:nvPr/>
        </p:nvSpPr>
        <p:spPr>
          <a:xfrm>
            <a:off x="29163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631" name="Google Shape;631;p50"/>
          <p:cNvSpPr/>
          <p:nvPr/>
        </p:nvSpPr>
        <p:spPr>
          <a:xfrm>
            <a:off x="3941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632" name="Google Shape;632;p50"/>
          <p:cNvSpPr/>
          <p:nvPr/>
        </p:nvSpPr>
        <p:spPr>
          <a:xfrm>
            <a:off x="4958663" y="475070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633" name="Google Shape;633;p50"/>
          <p:cNvSpPr/>
          <p:nvPr/>
        </p:nvSpPr>
        <p:spPr>
          <a:xfrm>
            <a:off x="599283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634" name="Google Shape;634;p50"/>
          <p:cNvSpPr/>
          <p:nvPr/>
        </p:nvSpPr>
        <p:spPr>
          <a:xfrm>
            <a:off x="700098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5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640" name="Google Shape;640;p51"/>
          <p:cNvSpPr txBox="1"/>
          <p:nvPr>
            <p:ph idx="1" type="body"/>
          </p:nvPr>
        </p:nvSpPr>
        <p:spPr>
          <a:xfrm>
            <a:off x="1297500" y="846250"/>
            <a:ext cx="7038900" cy="3644700"/>
          </a:xfrm>
          <a:prstGeom prst="rect">
            <a:avLst/>
          </a:prstGeom>
        </p:spPr>
        <p:txBody>
          <a:bodyPr anchorCtr="0" anchor="t" bIns="91425" lIns="91425" spcFirstLastPara="1" rIns="91425" wrap="square" tIns="91425">
            <a:normAutofit fontScale="92500" lnSpcReduction="20000"/>
          </a:bodyPr>
          <a:lstStyle/>
          <a:p>
            <a:pPr indent="-457200" lvl="0" marL="457200" rtl="0" algn="l">
              <a:spcBef>
                <a:spcPts val="0"/>
              </a:spcBef>
              <a:spcAft>
                <a:spcPts val="0"/>
              </a:spcAft>
              <a:buNone/>
            </a:pPr>
            <a:r>
              <a:rPr lang="en" sz="1200"/>
              <a:t>Andriesse, D., Slowinska, A., &amp; Bos, H. (2017). Compiler-agnostic function detection in binaries. </a:t>
            </a:r>
            <a:r>
              <a:rPr i="1" lang="en" sz="1200"/>
              <a:t>2017 IEEE European Symposium on Security and Privacy (EuroS&amp;P)</a:t>
            </a:r>
            <a:r>
              <a:rPr lang="en" sz="1200"/>
              <a:t>. https://doi.org/10.1109/eurosp.2017.11</a:t>
            </a:r>
            <a:endParaRPr sz="1200"/>
          </a:p>
          <a:p>
            <a:pPr indent="-457200" lvl="0" marL="457200" rtl="0" algn="l">
              <a:spcBef>
                <a:spcPts val="0"/>
              </a:spcBef>
              <a:spcAft>
                <a:spcPts val="0"/>
              </a:spcAft>
              <a:buNone/>
            </a:pPr>
            <a:r>
              <a:rPr lang="en" sz="1200"/>
              <a:t>Alrabaee, S., Debbabi, M., &amp;amp; Wang, L. (2019). On the feasibility of binary authorship characterization. </a:t>
            </a:r>
            <a:r>
              <a:rPr i="1" lang="en" sz="1200"/>
              <a:t>Digital Investigation</a:t>
            </a:r>
            <a:r>
              <a:rPr lang="en" sz="1200"/>
              <a:t>, 28. https://doi.org/10.1016/j.diin.2019.01.028</a:t>
            </a:r>
            <a:endParaRPr sz="1200"/>
          </a:p>
          <a:p>
            <a:pPr indent="-457200" lvl="0" marL="457200" rtl="0" algn="l">
              <a:spcBef>
                <a:spcPts val="0"/>
              </a:spcBef>
              <a:spcAft>
                <a:spcPts val="0"/>
              </a:spcAft>
              <a:buNone/>
            </a:pPr>
            <a:r>
              <a:rPr lang="en" sz="1200"/>
              <a:t>Alrawi, O., Ike, M., Pruett, M., Kasturi, R. P., Barua, S., Hirani, T., Hill, B., &amp; Saltaformaggio, B. (2021). Forecasting Malware Capabilities From Cyber Attack Memory Images. </a:t>
            </a:r>
            <a:r>
              <a:rPr i="1" lang="en" sz="1200"/>
              <a:t>30th USENIX Security Symposium</a:t>
            </a:r>
            <a:r>
              <a:rPr lang="en" sz="1200"/>
              <a:t>.</a:t>
            </a:r>
            <a:endParaRPr sz="1200"/>
          </a:p>
          <a:p>
            <a:pPr indent="0" lvl="0" marL="0" rtl="0" algn="l">
              <a:spcBef>
                <a:spcPts val="0"/>
              </a:spcBef>
              <a:spcAft>
                <a:spcPts val="0"/>
              </a:spcAft>
              <a:buNone/>
            </a:pPr>
            <a:r>
              <a:rPr i="1" lang="en" sz="1260"/>
              <a:t>Convert jar to EXE, executable file</a:t>
            </a:r>
            <a:r>
              <a:rPr lang="en" sz="1260"/>
              <a:t>. Javatips.net. (2020, July 21). Retrieved April 17, 2022, from </a:t>
            </a:r>
            <a:endParaRPr sz="1260"/>
          </a:p>
          <a:p>
            <a:pPr indent="457200" lvl="0" marL="0" rtl="0" algn="l">
              <a:spcBef>
                <a:spcPts val="0"/>
              </a:spcBef>
              <a:spcAft>
                <a:spcPts val="0"/>
              </a:spcAft>
              <a:buNone/>
            </a:pPr>
            <a:r>
              <a:rPr lang="en" sz="1260"/>
              <a:t>https://www.javatips.net/blog/convert-java-jar-file-to-exe</a:t>
            </a:r>
            <a:endParaRPr sz="1200"/>
          </a:p>
          <a:p>
            <a:pPr indent="-457200" lvl="0" marL="457200" rtl="0" algn="l">
              <a:spcBef>
                <a:spcPts val="0"/>
              </a:spcBef>
              <a:spcAft>
                <a:spcPts val="0"/>
              </a:spcAft>
              <a:buNone/>
            </a:pPr>
            <a:r>
              <a:rPr lang="en" sz="1200"/>
              <a:t>Erocarrera. (n.d.). Erocarrera/pefile: Pefile is a python module to read and work with PE (portable executable) files. GitHub. Retrieved April 17, 2022, from https://github.com/erocarrera/pefile </a:t>
            </a:r>
            <a:endParaRPr sz="1200"/>
          </a:p>
          <a:p>
            <a:pPr indent="-457200" lvl="0" marL="457200" rtl="0" algn="l">
              <a:spcBef>
                <a:spcPts val="0"/>
              </a:spcBef>
              <a:spcAft>
                <a:spcPts val="0"/>
              </a:spcAft>
              <a:buNone/>
            </a:pPr>
            <a:r>
              <a:rPr lang="en" sz="1200"/>
              <a:t>FireEye. (2013, February). </a:t>
            </a:r>
            <a:r>
              <a:rPr i="1" lang="en" sz="1200"/>
              <a:t>APT1: Exposing one of China's cyber espionage units</a:t>
            </a:r>
            <a:r>
              <a:rPr lang="en" sz="1200"/>
              <a:t>. Mandiant. Retrieved February 13, 2022, from https://www.mandiant.com/resources/apt1-exposing-one-of-chinas-cyber-espionage-units</a:t>
            </a:r>
            <a:endParaRPr sz="1200"/>
          </a:p>
          <a:p>
            <a:pPr indent="-457200" lvl="0" marL="457200" rtl="0" algn="l">
              <a:spcBef>
                <a:spcPts val="0"/>
              </a:spcBef>
              <a:spcAft>
                <a:spcPts val="0"/>
              </a:spcAft>
              <a:buNone/>
            </a:pPr>
            <a:r>
              <a:rPr lang="en" sz="1200"/>
              <a:t>FireEye. (2019). </a:t>
            </a:r>
            <a:r>
              <a:rPr i="1" lang="en" sz="1200"/>
              <a:t>Double dragon: APT41, a dual espionage and cyber crime operation</a:t>
            </a:r>
            <a:r>
              <a:rPr lang="en" sz="1200"/>
              <a:t>. FireEye. Retrieved February 13, 2022, from https://content.fireeye.com/apt-41/rpt-apt41/</a:t>
            </a:r>
            <a:endParaRPr sz="1200"/>
          </a:p>
          <a:p>
            <a:pPr indent="-457200" lvl="0" marL="457200" rtl="0" algn="l">
              <a:spcBef>
                <a:spcPts val="0"/>
              </a:spcBef>
              <a:spcAft>
                <a:spcPts val="0"/>
              </a:spcAft>
              <a:buNone/>
            </a:pPr>
            <a:r>
              <a:rPr lang="en" sz="1200"/>
              <a:t>HexRays. (2011). </a:t>
            </a:r>
            <a:r>
              <a:rPr i="1" lang="en" sz="1200"/>
              <a:t>Ida F.L.I.R.T. Technology: In-depth</a:t>
            </a:r>
            <a:r>
              <a:rPr lang="en" sz="1200"/>
              <a:t>. HexRays Blog. Retrieved February 2, 2022, from https://hex-rays.com/products/ida/tech/flirt/in_depth/ </a:t>
            </a:r>
            <a:endParaRPr sz="1200"/>
          </a:p>
          <a:p>
            <a:pPr indent="0" lvl="0" marL="0" rtl="0" algn="l">
              <a:spcBef>
                <a:spcPts val="0"/>
              </a:spcBef>
              <a:spcAft>
                <a:spcPts val="0"/>
              </a:spcAft>
              <a:buNone/>
            </a:pPr>
            <a:r>
              <a:rPr lang="en" sz="1260"/>
              <a:t>Konloch. (n.d.). </a:t>
            </a:r>
            <a:r>
              <a:rPr i="1" lang="en" sz="1260"/>
              <a:t>Konloch/bytecode-viewer: A java 8+ jar &amp; android APK reverse engineering suite</a:t>
            </a:r>
            <a:r>
              <a:rPr lang="en" sz="1260"/>
              <a:t>. GitHub. Retrieved April </a:t>
            </a:r>
            <a:endParaRPr sz="1260"/>
          </a:p>
          <a:p>
            <a:pPr indent="457200" lvl="0" marL="0" rtl="0" algn="l">
              <a:spcBef>
                <a:spcPts val="0"/>
              </a:spcBef>
              <a:spcAft>
                <a:spcPts val="0"/>
              </a:spcAft>
              <a:buNone/>
            </a:pPr>
            <a:r>
              <a:rPr lang="en" sz="1260"/>
              <a:t>17, 2022, from https://github.com/Konloch/bytecode-viewer</a:t>
            </a:r>
            <a:endParaRPr sz="1100">
              <a:solidFill>
                <a:srgbClr val="000000"/>
              </a:solidFill>
              <a:latin typeface="Arial"/>
              <a:ea typeface="Arial"/>
              <a:cs typeface="Arial"/>
              <a:sym typeface="Arial"/>
            </a:endParaRPr>
          </a:p>
          <a:p>
            <a:pPr indent="457200" lvl="0" marL="0" rtl="0" algn="l">
              <a:spcBef>
                <a:spcPts val="0"/>
              </a:spcBef>
              <a:spcAft>
                <a:spcPts val="0"/>
              </a:spcAft>
              <a:buNone/>
            </a:pPr>
            <a:r>
              <a:t/>
            </a:r>
            <a:endParaRPr sz="1100">
              <a:solidFill>
                <a:srgbClr val="000000"/>
              </a:solidFill>
              <a:latin typeface="Arial"/>
              <a:ea typeface="Arial"/>
              <a:cs typeface="Arial"/>
              <a:sym typeface="Arial"/>
            </a:endParaRPr>
          </a:p>
          <a:p>
            <a:pPr indent="-457200" lvl="0" marL="457200" rtl="0" algn="l">
              <a:spcBef>
                <a:spcPts val="0"/>
              </a:spcBef>
              <a:spcAft>
                <a:spcPts val="0"/>
              </a:spcAft>
              <a:buNone/>
            </a:pPr>
            <a:r>
              <a:t/>
            </a:r>
            <a:endParaRPr sz="1200"/>
          </a:p>
        </p:txBody>
      </p:sp>
      <p:sp>
        <p:nvSpPr>
          <p:cNvPr id="641" name="Google Shape;641;p51"/>
          <p:cNvSpPr/>
          <p:nvPr/>
        </p:nvSpPr>
        <p:spPr>
          <a:xfrm>
            <a:off x="987413" y="4750700"/>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642" name="Google Shape;642;p51"/>
          <p:cNvSpPr/>
          <p:nvPr/>
        </p:nvSpPr>
        <p:spPr>
          <a:xfrm>
            <a:off x="1890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643" name="Google Shape;643;p51"/>
          <p:cNvSpPr/>
          <p:nvPr/>
        </p:nvSpPr>
        <p:spPr>
          <a:xfrm>
            <a:off x="29163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644" name="Google Shape;644;p51"/>
          <p:cNvSpPr/>
          <p:nvPr/>
        </p:nvSpPr>
        <p:spPr>
          <a:xfrm>
            <a:off x="3941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645" name="Google Shape;645;p51"/>
          <p:cNvSpPr/>
          <p:nvPr/>
        </p:nvSpPr>
        <p:spPr>
          <a:xfrm>
            <a:off x="4958663"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646" name="Google Shape;646;p51"/>
          <p:cNvSpPr/>
          <p:nvPr/>
        </p:nvSpPr>
        <p:spPr>
          <a:xfrm>
            <a:off x="5992838" y="475070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647" name="Google Shape;647;p51"/>
          <p:cNvSpPr/>
          <p:nvPr/>
        </p:nvSpPr>
        <p:spPr>
          <a:xfrm>
            <a:off x="700098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653" name="Google Shape;653;p52"/>
          <p:cNvSpPr txBox="1"/>
          <p:nvPr>
            <p:ph idx="1" type="body"/>
          </p:nvPr>
        </p:nvSpPr>
        <p:spPr>
          <a:xfrm>
            <a:off x="1297500" y="896700"/>
            <a:ext cx="7038900" cy="3350100"/>
          </a:xfrm>
          <a:prstGeom prst="rect">
            <a:avLst/>
          </a:prstGeom>
        </p:spPr>
        <p:txBody>
          <a:bodyPr anchorCtr="0" anchor="t" bIns="91425" lIns="91425" spcFirstLastPara="1" rIns="91425" wrap="square" tIns="91425">
            <a:normAutofit fontScale="92500" lnSpcReduction="20000"/>
          </a:bodyPr>
          <a:lstStyle/>
          <a:p>
            <a:pPr indent="-457200" lvl="0" marL="457200" rtl="0" algn="l">
              <a:spcBef>
                <a:spcPts val="0"/>
              </a:spcBef>
              <a:spcAft>
                <a:spcPts val="0"/>
              </a:spcAft>
              <a:buNone/>
            </a:pPr>
            <a:r>
              <a:rPr lang="en" sz="1200"/>
              <a:t>Mandiant. (n.d.). Mandiant/Capa: The flare team's open-source tool to identify capabilities in executable files. GitHub. Retrieved April 17, 2022, from https://github.com/mandiant/capa </a:t>
            </a:r>
            <a:endParaRPr sz="1200"/>
          </a:p>
          <a:p>
            <a:pPr indent="-457200" lvl="0" marL="457200" rtl="0" algn="l">
              <a:spcBef>
                <a:spcPts val="0"/>
              </a:spcBef>
              <a:spcAft>
                <a:spcPts val="0"/>
              </a:spcAft>
              <a:buNone/>
            </a:pPr>
            <a:r>
              <a:rPr lang="en" sz="1200"/>
              <a:t>Mandiant. (n.d.). Mandiant/flare-floss: Flare obfuscated string solver - automatically extract obfuscated strings from malware. GitHub. Retrieved April 17, 2022, from https://github.com/mandiant/flare-floss </a:t>
            </a:r>
            <a:endParaRPr sz="1200"/>
          </a:p>
          <a:p>
            <a:pPr indent="0" lvl="0" marL="0" rtl="0" algn="l">
              <a:spcBef>
                <a:spcPts val="0"/>
              </a:spcBef>
              <a:spcAft>
                <a:spcPts val="0"/>
              </a:spcAft>
              <a:buNone/>
            </a:pPr>
            <a:r>
              <a:rPr lang="en" sz="1200"/>
              <a:t>McVey, S. (2015). Malware Fingerprinting: Analysis of Tool Marks and Other Characteristics of </a:t>
            </a:r>
            <a:endParaRPr sz="1200"/>
          </a:p>
          <a:p>
            <a:pPr indent="457200" lvl="0" marL="0" rtl="0" algn="l">
              <a:spcBef>
                <a:spcPts val="0"/>
              </a:spcBef>
              <a:spcAft>
                <a:spcPts val="0"/>
              </a:spcAft>
              <a:buNone/>
            </a:pPr>
            <a:r>
              <a:rPr lang="en" sz="1200"/>
              <a:t>Windows Malware. </a:t>
            </a:r>
            <a:r>
              <a:rPr i="1" lang="en" sz="1200"/>
              <a:t>NATIONAL CYBERSECURITY INSTITUTE JOURNAL</a:t>
            </a:r>
            <a:r>
              <a:rPr lang="en" sz="1200"/>
              <a:t>, </a:t>
            </a:r>
            <a:r>
              <a:rPr i="1" lang="en" sz="1200"/>
              <a:t>2</a:t>
            </a:r>
            <a:r>
              <a:rPr lang="en" sz="1200"/>
              <a:t>(3).</a:t>
            </a:r>
            <a:endParaRPr sz="1200"/>
          </a:p>
          <a:p>
            <a:pPr indent="-457200" lvl="0" marL="457200" rtl="0" algn="l">
              <a:spcBef>
                <a:spcPts val="0"/>
              </a:spcBef>
              <a:spcAft>
                <a:spcPts val="0"/>
              </a:spcAft>
              <a:buNone/>
            </a:pPr>
            <a:r>
              <a:rPr lang="en" sz="1200"/>
              <a:t>MITRE. (2021). </a:t>
            </a:r>
            <a:r>
              <a:rPr i="1" lang="en" sz="1200"/>
              <a:t>Mitre ATT&amp;CK®</a:t>
            </a:r>
            <a:r>
              <a:rPr lang="en" sz="1200"/>
              <a:t>. MITRE ATT&amp;CK®. Retrieved February 13, 2022, from https://attack.mitre.org/</a:t>
            </a:r>
            <a:endParaRPr sz="1200"/>
          </a:p>
          <a:p>
            <a:pPr indent="-457200" lvl="0" marL="457200" rtl="0" algn="l">
              <a:spcBef>
                <a:spcPts val="0"/>
              </a:spcBef>
              <a:spcAft>
                <a:spcPts val="0"/>
              </a:spcAft>
              <a:buNone/>
            </a:pPr>
            <a:r>
              <a:rPr lang="en" sz="1200"/>
              <a:t>Posluszny, F. (2020). Malware Similarity Analysis: An adversary perspective. </a:t>
            </a:r>
            <a:r>
              <a:rPr i="1" lang="en" sz="1200"/>
              <a:t>MITRE Technical Report. </a:t>
            </a:r>
            <a:endParaRPr sz="1200"/>
          </a:p>
          <a:p>
            <a:pPr indent="-457200" lvl="0" marL="457200" rtl="0" algn="l">
              <a:spcBef>
                <a:spcPts val="0"/>
              </a:spcBef>
              <a:spcAft>
                <a:spcPts val="0"/>
              </a:spcAft>
              <a:buNone/>
            </a:pPr>
            <a:r>
              <a:rPr lang="en" sz="1200"/>
              <a:t>Radareorg. (2022). </a:t>
            </a:r>
            <a:r>
              <a:rPr i="1" lang="en" sz="1200"/>
              <a:t>RADARE2/readme.md at</a:t>
            </a:r>
            <a:r>
              <a:rPr lang="en" sz="1200"/>
              <a:t>. GitHub. Retrieved February 13, 2022, from https://github.com/radareorg/radare2/blob/master/README.md</a:t>
            </a:r>
            <a:endParaRPr sz="1200"/>
          </a:p>
          <a:p>
            <a:pPr indent="0" lvl="0" marL="0" rtl="0" algn="l">
              <a:spcBef>
                <a:spcPts val="0"/>
              </a:spcBef>
              <a:spcAft>
                <a:spcPts val="0"/>
              </a:spcAft>
              <a:buNone/>
            </a:pPr>
            <a:r>
              <a:rPr lang="en" sz="1200"/>
              <a:t>Rahimian, A., Shirani, P., Alrbaee, S., Wang, L., &amp; Debbabi, M. (2015). BinComp: A stratified </a:t>
            </a:r>
            <a:endParaRPr sz="1200"/>
          </a:p>
          <a:p>
            <a:pPr indent="0" lvl="0" marL="457200" rtl="0" algn="l">
              <a:spcBef>
                <a:spcPts val="0"/>
              </a:spcBef>
              <a:spcAft>
                <a:spcPts val="0"/>
              </a:spcAft>
              <a:buNone/>
            </a:pPr>
            <a:r>
              <a:rPr lang="en" sz="1200"/>
              <a:t>approach to compiler provenance attribution. </a:t>
            </a:r>
            <a:r>
              <a:rPr i="1" lang="en" sz="1200"/>
              <a:t>Digital Investigation</a:t>
            </a:r>
            <a:r>
              <a:rPr lang="en" sz="1200"/>
              <a:t>, </a:t>
            </a:r>
            <a:r>
              <a:rPr i="1" lang="en" sz="1200"/>
              <a:t>14</a:t>
            </a:r>
            <a:r>
              <a:rPr lang="en" sz="1200"/>
              <a:t>. https://doi.org/10.1016/j.diin.2015.05.015</a:t>
            </a:r>
            <a:endParaRPr sz="1200"/>
          </a:p>
          <a:p>
            <a:pPr indent="-457200" lvl="0" marL="457200" rtl="0" algn="l">
              <a:spcBef>
                <a:spcPts val="0"/>
              </a:spcBef>
              <a:spcAft>
                <a:spcPts val="0"/>
              </a:spcAft>
              <a:buNone/>
            </a:pPr>
            <a:r>
              <a:rPr lang="en" sz="1200"/>
              <a:t>Rizin. (n.d.). </a:t>
            </a:r>
            <a:r>
              <a:rPr i="1" lang="en" sz="1200"/>
              <a:t>GSOC 2021</a:t>
            </a:r>
            <a:r>
              <a:rPr lang="en" sz="1200"/>
              <a:t>. Rizin. Retrieved February 13, 2022, from https://rizin.re/gsoc/2021/</a:t>
            </a:r>
            <a:endParaRPr sz="1200"/>
          </a:p>
          <a:p>
            <a:pPr indent="-457200" lvl="0" marL="457200" rtl="0" algn="l">
              <a:spcBef>
                <a:spcPts val="0"/>
              </a:spcBef>
              <a:spcAft>
                <a:spcPts val="0"/>
              </a:spcAft>
              <a:buNone/>
            </a:pPr>
            <a:r>
              <a:rPr lang="en" sz="1200"/>
              <a:t>Schirone, R. (2021, December 31). </a:t>
            </a:r>
            <a:r>
              <a:rPr i="1" lang="en" sz="1200"/>
              <a:t>Rizin shell</a:t>
            </a:r>
            <a:r>
              <a:rPr lang="en" sz="1200"/>
              <a:t>. Rizin. Retrieved February 13, 2022, from https://rizin.re/posts/rzshell/</a:t>
            </a:r>
            <a:endParaRPr sz="1200"/>
          </a:p>
          <a:p>
            <a:pPr indent="-457200" lvl="0" marL="457200" rtl="0" algn="l">
              <a:spcBef>
                <a:spcPts val="0"/>
              </a:spcBef>
              <a:spcAft>
                <a:spcPts val="0"/>
              </a:spcAft>
              <a:buNone/>
            </a:pPr>
            <a:r>
              <a:rPr i="1" lang="en" sz="1200"/>
              <a:t>The official Radare2 Book</a:t>
            </a:r>
            <a:r>
              <a:rPr lang="en" sz="1200"/>
              <a:t>. The Official Radare2 Book. (n.d.). Retrieved February 13, 2022, from https://book.rada.re/signatures/zignatures.html</a:t>
            </a:r>
            <a:endParaRPr sz="1100">
              <a:latin typeface="Arial"/>
              <a:ea typeface="Arial"/>
              <a:cs typeface="Arial"/>
              <a:sym typeface="Arial"/>
            </a:endParaRPr>
          </a:p>
          <a:p>
            <a:pPr indent="-457200" lvl="0" marL="457200" rtl="0" algn="l">
              <a:spcBef>
                <a:spcPts val="0"/>
              </a:spcBef>
              <a:spcAft>
                <a:spcPts val="0"/>
              </a:spcAft>
              <a:buNone/>
            </a:pPr>
            <a:r>
              <a:t/>
            </a:r>
            <a:endParaRPr sz="1200"/>
          </a:p>
        </p:txBody>
      </p:sp>
      <p:sp>
        <p:nvSpPr>
          <p:cNvPr id="654" name="Google Shape;654;p52"/>
          <p:cNvSpPr/>
          <p:nvPr/>
        </p:nvSpPr>
        <p:spPr>
          <a:xfrm>
            <a:off x="987413" y="4750700"/>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655" name="Google Shape;655;p52"/>
          <p:cNvSpPr/>
          <p:nvPr/>
        </p:nvSpPr>
        <p:spPr>
          <a:xfrm>
            <a:off x="1890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656" name="Google Shape;656;p52"/>
          <p:cNvSpPr/>
          <p:nvPr/>
        </p:nvSpPr>
        <p:spPr>
          <a:xfrm>
            <a:off x="29163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657" name="Google Shape;657;p52"/>
          <p:cNvSpPr/>
          <p:nvPr/>
        </p:nvSpPr>
        <p:spPr>
          <a:xfrm>
            <a:off x="3941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658" name="Google Shape;658;p52"/>
          <p:cNvSpPr/>
          <p:nvPr/>
        </p:nvSpPr>
        <p:spPr>
          <a:xfrm>
            <a:off x="4958663"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659" name="Google Shape;659;p52"/>
          <p:cNvSpPr/>
          <p:nvPr/>
        </p:nvSpPr>
        <p:spPr>
          <a:xfrm>
            <a:off x="5992838" y="475070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660" name="Google Shape;660;p52"/>
          <p:cNvSpPr/>
          <p:nvPr/>
        </p:nvSpPr>
        <p:spPr>
          <a:xfrm>
            <a:off x="700098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5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Questions?</a:t>
            </a:r>
            <a:endParaRPr/>
          </a:p>
        </p:txBody>
      </p:sp>
      <p:sp>
        <p:nvSpPr>
          <p:cNvPr id="666" name="Google Shape;666;p53"/>
          <p:cNvSpPr txBox="1"/>
          <p:nvPr>
            <p:ph idx="1" type="body"/>
          </p:nvPr>
        </p:nvSpPr>
        <p:spPr>
          <a:xfrm>
            <a:off x="950950" y="1567550"/>
            <a:ext cx="2818200" cy="45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Investigator </a:t>
            </a:r>
            <a:r>
              <a:rPr lang="en"/>
              <a:t>Contact Information:</a:t>
            </a:r>
            <a:endParaRPr/>
          </a:p>
        </p:txBody>
      </p:sp>
      <p:graphicFrame>
        <p:nvGraphicFramePr>
          <p:cNvPr id="667" name="Google Shape;667;p53"/>
          <p:cNvGraphicFramePr/>
          <p:nvPr/>
        </p:nvGraphicFramePr>
        <p:xfrm>
          <a:off x="1667650" y="2024750"/>
          <a:ext cx="3000000" cy="3000000"/>
        </p:xfrm>
        <a:graphic>
          <a:graphicData uri="http://schemas.openxmlformats.org/drawingml/2006/table">
            <a:tbl>
              <a:tblPr>
                <a:noFill/>
                <a:tableStyleId>{6A38FC3F-8CE6-4A59-99A6-443D4BFA181B}</a:tableStyleId>
              </a:tblPr>
              <a:tblGrid>
                <a:gridCol w="1399500"/>
                <a:gridCol w="2429625"/>
              </a:tblGrid>
              <a:tr h="383875">
                <a:tc>
                  <a:txBody>
                    <a:bodyPr/>
                    <a:lstStyle/>
                    <a:p>
                      <a:pPr indent="0" lvl="0" marL="0" rtl="0" algn="r">
                        <a:spcBef>
                          <a:spcPts val="0"/>
                        </a:spcBef>
                        <a:spcAft>
                          <a:spcPts val="0"/>
                        </a:spcAft>
                        <a:buNone/>
                      </a:pPr>
                      <a:r>
                        <a:rPr lang="en" sz="1300">
                          <a:solidFill>
                            <a:schemeClr val="lt1"/>
                          </a:solidFill>
                          <a:latin typeface="Lato"/>
                          <a:ea typeface="Lato"/>
                          <a:cs typeface="Lato"/>
                          <a:sym typeface="Lato"/>
                        </a:rPr>
                        <a:t>Jacob Staggs</a:t>
                      </a:r>
                      <a:endParaRPr/>
                    </a:p>
                  </a:txBody>
                  <a:tcPr marT="0" marB="0" marR="0" marL="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jastaggs@email.arizona.edu</a:t>
                      </a:r>
                      <a:endParaRPr/>
                    </a:p>
                  </a:txBody>
                  <a:tcPr marT="0" marB="0" marR="0" marL="27430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r h="383875">
                <a:tc>
                  <a:txBody>
                    <a:bodyPr/>
                    <a:lstStyle/>
                    <a:p>
                      <a:pPr indent="0" lvl="0" marL="0" rtl="0" algn="r">
                        <a:spcBef>
                          <a:spcPts val="0"/>
                        </a:spcBef>
                        <a:spcAft>
                          <a:spcPts val="0"/>
                        </a:spcAft>
                        <a:buNone/>
                      </a:pPr>
                      <a:r>
                        <a:rPr lang="en" sz="1300">
                          <a:solidFill>
                            <a:schemeClr val="lt1"/>
                          </a:solidFill>
                          <a:latin typeface="Lato"/>
                          <a:ea typeface="Lato"/>
                          <a:cs typeface="Lato"/>
                          <a:sym typeface="Lato"/>
                        </a:rPr>
                        <a:t>Timothy Colvert </a:t>
                      </a:r>
                      <a:endParaRPr/>
                    </a:p>
                  </a:txBody>
                  <a:tcPr marT="0" marB="0" marR="0" marL="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tcolvert@email.arizona.edu</a:t>
                      </a:r>
                      <a:endParaRPr/>
                    </a:p>
                  </a:txBody>
                  <a:tcPr marT="0" marB="0" marR="0" marL="27430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r h="383875">
                <a:tc>
                  <a:txBody>
                    <a:bodyPr/>
                    <a:lstStyle/>
                    <a:p>
                      <a:pPr indent="0" lvl="0" marL="0" rtl="0" algn="r">
                        <a:spcBef>
                          <a:spcPts val="0"/>
                        </a:spcBef>
                        <a:spcAft>
                          <a:spcPts val="0"/>
                        </a:spcAft>
                        <a:buNone/>
                      </a:pPr>
                      <a:r>
                        <a:rPr lang="en" sz="1300">
                          <a:solidFill>
                            <a:schemeClr val="lt1"/>
                          </a:solidFill>
                          <a:latin typeface="Lato"/>
                          <a:ea typeface="Lato"/>
                          <a:cs typeface="Lato"/>
                          <a:sym typeface="Lato"/>
                        </a:rPr>
                        <a:t>Tri Nguyen</a:t>
                      </a:r>
                      <a:endParaRPr/>
                    </a:p>
                  </a:txBody>
                  <a:tcPr marT="0" marB="0" marR="0" marL="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txn180008@utdallas.edu</a:t>
                      </a:r>
                      <a:endParaRPr/>
                    </a:p>
                  </a:txBody>
                  <a:tcPr marT="0" marB="0" marR="0" marL="27430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r h="383875">
                <a:tc>
                  <a:txBody>
                    <a:bodyPr/>
                    <a:lstStyle/>
                    <a:p>
                      <a:pPr indent="0" lvl="0" marL="0" rtl="0" algn="r">
                        <a:spcBef>
                          <a:spcPts val="0"/>
                        </a:spcBef>
                        <a:spcAft>
                          <a:spcPts val="0"/>
                        </a:spcAft>
                        <a:buNone/>
                      </a:pPr>
                      <a:r>
                        <a:rPr lang="en" sz="1300">
                          <a:solidFill>
                            <a:schemeClr val="lt1"/>
                          </a:solidFill>
                          <a:latin typeface="Lato"/>
                          <a:ea typeface="Lato"/>
                          <a:cs typeface="Lato"/>
                          <a:sym typeface="Lato"/>
                        </a:rPr>
                        <a:t>Abhijeet Dabas</a:t>
                      </a:r>
                      <a:endParaRPr/>
                    </a:p>
                  </a:txBody>
                  <a:tcPr marT="0" marB="0" marR="0" marL="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lt1"/>
                          </a:solidFill>
                          <a:latin typeface="Lato"/>
                          <a:ea typeface="Lato"/>
                          <a:cs typeface="Lato"/>
                          <a:sym typeface="Lato"/>
                        </a:rPr>
                        <a:t>abhid@email.arizona.edu</a:t>
                      </a:r>
                      <a:endParaRPr/>
                    </a:p>
                  </a:txBody>
                  <a:tcPr marT="0" marB="0" marR="0" marL="27430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5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Appendix A: Acronyms</a:t>
            </a:r>
            <a:endParaRPr/>
          </a:p>
        </p:txBody>
      </p:sp>
      <p:graphicFrame>
        <p:nvGraphicFramePr>
          <p:cNvPr id="673" name="Google Shape;673;p54"/>
          <p:cNvGraphicFramePr/>
          <p:nvPr/>
        </p:nvGraphicFramePr>
        <p:xfrm>
          <a:off x="1377800" y="888438"/>
          <a:ext cx="3000000" cy="3000000"/>
        </p:xfrm>
        <a:graphic>
          <a:graphicData uri="http://schemas.openxmlformats.org/drawingml/2006/table">
            <a:tbl>
              <a:tblPr>
                <a:noFill/>
                <a:tableStyleId>{6A38FC3F-8CE6-4A59-99A6-443D4BFA181B}</a:tableStyleId>
              </a:tblPr>
              <a:tblGrid>
                <a:gridCol w="550125"/>
                <a:gridCol w="6488775"/>
              </a:tblGrid>
              <a:tr h="2938625">
                <a:tc>
                  <a:txBody>
                    <a:bodyPr/>
                    <a:lstStyle/>
                    <a:p>
                      <a:pPr indent="0" lvl="0" marL="0" rtl="0" algn="l">
                        <a:spcBef>
                          <a:spcPts val="0"/>
                        </a:spcBef>
                        <a:spcAft>
                          <a:spcPts val="0"/>
                        </a:spcAft>
                        <a:buNone/>
                      </a:pPr>
                      <a:r>
                        <a:rPr lang="en" sz="1200">
                          <a:solidFill>
                            <a:schemeClr val="lt1"/>
                          </a:solidFill>
                          <a:latin typeface="Lato"/>
                          <a:ea typeface="Lato"/>
                          <a:cs typeface="Lato"/>
                          <a:sym typeface="Lato"/>
                        </a:rPr>
                        <a:t>ANSI</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API</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ASCII</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BAS</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BS</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C2</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COTS</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CST</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CySP</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DoD</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FLIRT</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IST</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200">
                        <a:solidFill>
                          <a:schemeClr val="lt1"/>
                        </a:solidFill>
                        <a:latin typeface="Lato"/>
                        <a:ea typeface="Lato"/>
                        <a:cs typeface="Lato"/>
                        <a:sym typeface="Lato"/>
                      </a:endParaRPr>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Lato"/>
                          <a:ea typeface="Lato"/>
                          <a:cs typeface="Lato"/>
                          <a:sym typeface="Lato"/>
                        </a:rPr>
                        <a:t>American National Standards Institute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Application Programming Interface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American Standard Code for Information Interchange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Bachelor of Applied Science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Bachelor of Science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Command and Control</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Commercial Off-the-Shelf</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Central Standard Time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Cyber Scholarship Program</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Department of Defense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Fast Library Identification and Recognition Technology</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India Standard Time</a:t>
                      </a:r>
                      <a:endParaRPr sz="1200">
                        <a:solidFill>
                          <a:schemeClr val="lt1"/>
                        </a:solidFill>
                        <a:latin typeface="Lato"/>
                        <a:ea typeface="Lato"/>
                        <a:cs typeface="Lato"/>
                        <a:sym typeface="Lato"/>
                      </a:endParaRPr>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674" name="Google Shape;674;p54"/>
          <p:cNvSpPr/>
          <p:nvPr/>
        </p:nvSpPr>
        <p:spPr>
          <a:xfrm>
            <a:off x="987413" y="4773400"/>
            <a:ext cx="10422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Intro</a:t>
            </a:r>
            <a:endParaRPr/>
          </a:p>
        </p:txBody>
      </p:sp>
      <p:sp>
        <p:nvSpPr>
          <p:cNvPr id="675" name="Google Shape;675;p54"/>
          <p:cNvSpPr/>
          <p:nvPr/>
        </p:nvSpPr>
        <p:spPr>
          <a:xfrm>
            <a:off x="1890838" y="47734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Methods</a:t>
            </a:r>
            <a:endParaRPr/>
          </a:p>
        </p:txBody>
      </p:sp>
      <p:sp>
        <p:nvSpPr>
          <p:cNvPr id="676" name="Google Shape;676;p54"/>
          <p:cNvSpPr/>
          <p:nvPr/>
        </p:nvSpPr>
        <p:spPr>
          <a:xfrm>
            <a:off x="2916338" y="47734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Findings</a:t>
            </a:r>
            <a:endParaRPr/>
          </a:p>
        </p:txBody>
      </p:sp>
      <p:sp>
        <p:nvSpPr>
          <p:cNvPr id="677" name="Google Shape;677;p54"/>
          <p:cNvSpPr/>
          <p:nvPr/>
        </p:nvSpPr>
        <p:spPr>
          <a:xfrm>
            <a:off x="3941838" y="47734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Issues</a:t>
            </a:r>
            <a:endParaRPr/>
          </a:p>
        </p:txBody>
      </p:sp>
      <p:sp>
        <p:nvSpPr>
          <p:cNvPr id="678" name="Google Shape;678;p54"/>
          <p:cNvSpPr/>
          <p:nvPr/>
        </p:nvSpPr>
        <p:spPr>
          <a:xfrm>
            <a:off x="4958663" y="47734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Conclusions</a:t>
            </a:r>
            <a:endParaRPr sz="1000"/>
          </a:p>
        </p:txBody>
      </p:sp>
      <p:sp>
        <p:nvSpPr>
          <p:cNvPr id="679" name="Google Shape;679;p54"/>
          <p:cNvSpPr/>
          <p:nvPr/>
        </p:nvSpPr>
        <p:spPr>
          <a:xfrm>
            <a:off x="5992838" y="47734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Bibliography</a:t>
            </a:r>
            <a:endParaRPr sz="1000"/>
          </a:p>
        </p:txBody>
      </p:sp>
      <p:sp>
        <p:nvSpPr>
          <p:cNvPr id="680" name="Google Shape;680;p54"/>
          <p:cNvSpPr/>
          <p:nvPr/>
        </p:nvSpPr>
        <p:spPr>
          <a:xfrm>
            <a:off x="7000988" y="477340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Appendices</a:t>
            </a:r>
            <a:endParaRPr sz="1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Appendix A: Acronyms</a:t>
            </a:r>
            <a:endParaRPr/>
          </a:p>
        </p:txBody>
      </p:sp>
      <p:graphicFrame>
        <p:nvGraphicFramePr>
          <p:cNvPr id="686" name="Google Shape;686;p55"/>
          <p:cNvGraphicFramePr/>
          <p:nvPr/>
        </p:nvGraphicFramePr>
        <p:xfrm>
          <a:off x="1377800" y="888438"/>
          <a:ext cx="3000000" cy="3000000"/>
        </p:xfrm>
        <a:graphic>
          <a:graphicData uri="http://schemas.openxmlformats.org/drawingml/2006/table">
            <a:tbl>
              <a:tblPr>
                <a:noFill/>
                <a:tableStyleId>{6A38FC3F-8CE6-4A59-99A6-443D4BFA181B}</a:tableStyleId>
              </a:tblPr>
              <a:tblGrid>
                <a:gridCol w="550125"/>
                <a:gridCol w="6488775"/>
              </a:tblGrid>
              <a:tr h="2938625">
                <a:tc>
                  <a:txBody>
                    <a:bodyPr/>
                    <a:lstStyle/>
                    <a:p>
                      <a:pPr indent="0" lvl="0" marL="0" rtl="0" algn="l">
                        <a:spcBef>
                          <a:spcPts val="0"/>
                        </a:spcBef>
                        <a:spcAft>
                          <a:spcPts val="0"/>
                        </a:spcAft>
                        <a:buNone/>
                      </a:pPr>
                      <a:r>
                        <a:rPr lang="en" sz="1200">
                          <a:solidFill>
                            <a:schemeClr val="lt1"/>
                          </a:solidFill>
                          <a:latin typeface="Lato"/>
                          <a:ea typeface="Lato"/>
                          <a:cs typeface="Lato"/>
                          <a:sym typeface="Lato"/>
                        </a:rPr>
                        <a:t>IT</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MDLC</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MS</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NSF</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OPSEC</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OS</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PE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SFS</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TD</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UA</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UTD</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XOR</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200">
                        <a:solidFill>
                          <a:schemeClr val="lt1"/>
                        </a:solidFill>
                        <a:latin typeface="Lato"/>
                        <a:ea typeface="Lato"/>
                        <a:cs typeface="Lato"/>
                        <a:sym typeface="Lato"/>
                      </a:endParaRPr>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lt1"/>
                          </a:solidFill>
                          <a:latin typeface="Lato"/>
                          <a:ea typeface="Lato"/>
                          <a:cs typeface="Lato"/>
                          <a:sym typeface="Lato"/>
                        </a:rPr>
                        <a:t>Information Technology</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Malware Development Life Cycle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Master of Science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National Science Foundation</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Operational Security</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Operating System</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Portable Executable </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Scholarship for Service</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Technical Director</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University of Arizona</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University of Texas at Dallas</a:t>
                      </a:r>
                      <a:endParaRPr sz="1200">
                        <a:solidFill>
                          <a:schemeClr val="lt1"/>
                        </a:solidFill>
                        <a:latin typeface="Lato"/>
                        <a:ea typeface="Lato"/>
                        <a:cs typeface="Lato"/>
                        <a:sym typeface="Lato"/>
                      </a:endParaRPr>
                    </a:p>
                    <a:p>
                      <a:pPr indent="0" lvl="0" marL="0" rtl="0" algn="l">
                        <a:spcBef>
                          <a:spcPts val="0"/>
                        </a:spcBef>
                        <a:spcAft>
                          <a:spcPts val="0"/>
                        </a:spcAft>
                        <a:buNone/>
                      </a:pPr>
                      <a:r>
                        <a:rPr lang="en" sz="1200">
                          <a:solidFill>
                            <a:schemeClr val="lt1"/>
                          </a:solidFill>
                          <a:latin typeface="Lato"/>
                          <a:ea typeface="Lato"/>
                          <a:cs typeface="Lato"/>
                          <a:sym typeface="Lato"/>
                        </a:rPr>
                        <a:t>Exclusive Or</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200">
                        <a:solidFill>
                          <a:schemeClr val="lt1"/>
                        </a:solidFill>
                        <a:latin typeface="Lato"/>
                        <a:ea typeface="Lato"/>
                        <a:cs typeface="Lato"/>
                        <a:sym typeface="Lato"/>
                      </a:endParaRPr>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687" name="Google Shape;687;p55"/>
          <p:cNvSpPr/>
          <p:nvPr/>
        </p:nvSpPr>
        <p:spPr>
          <a:xfrm>
            <a:off x="987413" y="4773400"/>
            <a:ext cx="10422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Intro</a:t>
            </a:r>
            <a:endParaRPr/>
          </a:p>
        </p:txBody>
      </p:sp>
      <p:sp>
        <p:nvSpPr>
          <p:cNvPr id="688" name="Google Shape;688;p55"/>
          <p:cNvSpPr/>
          <p:nvPr/>
        </p:nvSpPr>
        <p:spPr>
          <a:xfrm>
            <a:off x="1890838" y="47734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Methods</a:t>
            </a:r>
            <a:endParaRPr/>
          </a:p>
        </p:txBody>
      </p:sp>
      <p:sp>
        <p:nvSpPr>
          <p:cNvPr id="689" name="Google Shape;689;p55"/>
          <p:cNvSpPr/>
          <p:nvPr/>
        </p:nvSpPr>
        <p:spPr>
          <a:xfrm>
            <a:off x="2916338" y="47734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Findings</a:t>
            </a:r>
            <a:endParaRPr/>
          </a:p>
        </p:txBody>
      </p:sp>
      <p:sp>
        <p:nvSpPr>
          <p:cNvPr id="690" name="Google Shape;690;p55"/>
          <p:cNvSpPr/>
          <p:nvPr/>
        </p:nvSpPr>
        <p:spPr>
          <a:xfrm>
            <a:off x="3941838" y="47734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Issues</a:t>
            </a:r>
            <a:endParaRPr/>
          </a:p>
        </p:txBody>
      </p:sp>
      <p:sp>
        <p:nvSpPr>
          <p:cNvPr id="691" name="Google Shape;691;p55"/>
          <p:cNvSpPr/>
          <p:nvPr/>
        </p:nvSpPr>
        <p:spPr>
          <a:xfrm>
            <a:off x="4958663" y="47734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Conclusions</a:t>
            </a:r>
            <a:endParaRPr sz="1000"/>
          </a:p>
        </p:txBody>
      </p:sp>
      <p:sp>
        <p:nvSpPr>
          <p:cNvPr id="692" name="Google Shape;692;p55"/>
          <p:cNvSpPr/>
          <p:nvPr/>
        </p:nvSpPr>
        <p:spPr>
          <a:xfrm>
            <a:off x="5992838" y="47734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Bibliography</a:t>
            </a:r>
            <a:endParaRPr sz="1000"/>
          </a:p>
        </p:txBody>
      </p:sp>
      <p:sp>
        <p:nvSpPr>
          <p:cNvPr id="693" name="Google Shape;693;p55"/>
          <p:cNvSpPr/>
          <p:nvPr/>
        </p:nvSpPr>
        <p:spPr>
          <a:xfrm>
            <a:off x="7000988" y="477340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Appendices</a:t>
            </a:r>
            <a:endParaRPr sz="1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5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Appendix B: Terms and Definitions</a:t>
            </a:r>
            <a:endParaRPr/>
          </a:p>
        </p:txBody>
      </p:sp>
      <p:sp>
        <p:nvSpPr>
          <p:cNvPr id="699" name="Google Shape;699;p56"/>
          <p:cNvSpPr txBox="1"/>
          <p:nvPr>
            <p:ph idx="1" type="body"/>
          </p:nvPr>
        </p:nvSpPr>
        <p:spPr>
          <a:xfrm>
            <a:off x="960575" y="978050"/>
            <a:ext cx="7375800" cy="35007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Times New Roman"/>
              <a:buChar char="●"/>
            </a:pPr>
            <a:r>
              <a:rPr b="1" lang="en" sz="1200"/>
              <a:t>Compiler Provenance</a:t>
            </a:r>
            <a:r>
              <a:rPr lang="en" sz="1200"/>
              <a:t> - Information contained in a piece of software about the compiler family, compiler version, optimization level, and compiler-related functions. </a:t>
            </a:r>
            <a:endParaRPr sz="1200"/>
          </a:p>
          <a:p>
            <a:pPr indent="-304800" lvl="0" marL="457200" rtl="0" algn="l">
              <a:lnSpc>
                <a:spcPct val="115000"/>
              </a:lnSpc>
              <a:spcBef>
                <a:spcPts val="0"/>
              </a:spcBef>
              <a:spcAft>
                <a:spcPts val="0"/>
              </a:spcAft>
              <a:buSzPts val="1200"/>
              <a:buFont typeface="Times New Roman"/>
              <a:buChar char="●"/>
            </a:pPr>
            <a:r>
              <a:rPr b="1" lang="en" sz="1200"/>
              <a:t>Code Transforms </a:t>
            </a:r>
            <a:r>
              <a:rPr lang="en" sz="1200"/>
              <a:t>-</a:t>
            </a:r>
            <a:r>
              <a:rPr b="1" lang="en" sz="1200"/>
              <a:t> </a:t>
            </a:r>
            <a:r>
              <a:rPr lang="en" sz="1200"/>
              <a:t>Transformations that a code undergoes when it is compiled or interpreted by a code building utility or modified by a packaging tool.  </a:t>
            </a:r>
            <a:endParaRPr sz="1200"/>
          </a:p>
          <a:p>
            <a:pPr indent="-304800" lvl="0" marL="457200" rtl="0" algn="l">
              <a:lnSpc>
                <a:spcPct val="115000"/>
              </a:lnSpc>
              <a:spcBef>
                <a:spcPts val="0"/>
              </a:spcBef>
              <a:spcAft>
                <a:spcPts val="0"/>
              </a:spcAft>
              <a:buSzPts val="1200"/>
              <a:buFont typeface="Times New Roman"/>
              <a:buChar char="●"/>
            </a:pPr>
            <a:r>
              <a:rPr b="1" lang="en" sz="1200"/>
              <a:t>Dynamic Analysis</a:t>
            </a:r>
            <a:r>
              <a:rPr lang="en" sz="1200"/>
              <a:t> - A malware analysis technique in which a malware sample is run in a controlled environment to gain further understanding of its functionality. </a:t>
            </a:r>
            <a:endParaRPr sz="1200"/>
          </a:p>
          <a:p>
            <a:pPr indent="-304800" lvl="0" marL="457200" rtl="0" algn="l">
              <a:lnSpc>
                <a:spcPct val="115000"/>
              </a:lnSpc>
              <a:spcBef>
                <a:spcPts val="0"/>
              </a:spcBef>
              <a:spcAft>
                <a:spcPts val="0"/>
              </a:spcAft>
              <a:buSzPts val="1200"/>
              <a:buFont typeface="Times New Roman"/>
              <a:buChar char="●"/>
            </a:pPr>
            <a:r>
              <a:rPr b="1" lang="en" sz="1200"/>
              <a:t>Malware Analysis </a:t>
            </a:r>
            <a:r>
              <a:rPr lang="en" sz="1200"/>
              <a:t>-</a:t>
            </a:r>
            <a:r>
              <a:rPr b="1" lang="en" sz="1200"/>
              <a:t> </a:t>
            </a:r>
            <a:r>
              <a:rPr lang="en" sz="1200"/>
              <a:t>The process of examining a malicious object to understand its functions and goal so that it can be identified and classified for future protection. </a:t>
            </a:r>
            <a:endParaRPr sz="1200"/>
          </a:p>
          <a:p>
            <a:pPr indent="-304800" lvl="0" marL="457200" rtl="0" algn="l">
              <a:lnSpc>
                <a:spcPct val="115000"/>
              </a:lnSpc>
              <a:spcBef>
                <a:spcPts val="0"/>
              </a:spcBef>
              <a:spcAft>
                <a:spcPts val="0"/>
              </a:spcAft>
              <a:buSzPts val="1200"/>
              <a:buFont typeface="Times New Roman"/>
              <a:buChar char="●"/>
            </a:pPr>
            <a:r>
              <a:rPr b="1" lang="en" sz="1200"/>
              <a:t>MDLC </a:t>
            </a:r>
            <a:r>
              <a:rPr lang="en" sz="1200"/>
              <a:t>-</a:t>
            </a:r>
            <a:r>
              <a:rPr b="1" lang="en" sz="1200"/>
              <a:t> </a:t>
            </a:r>
            <a:r>
              <a:rPr lang="en" sz="1200"/>
              <a:t>A new malware analysis methodology developed at MITRE that aims to explore the human element of malware development and how it can be exploited to both gain information about malware samples and identity malware developers. </a:t>
            </a:r>
            <a:endParaRPr sz="1200"/>
          </a:p>
          <a:p>
            <a:pPr indent="-304800" lvl="0" marL="457200" rtl="0" algn="l">
              <a:lnSpc>
                <a:spcPct val="115000"/>
              </a:lnSpc>
              <a:spcBef>
                <a:spcPts val="0"/>
              </a:spcBef>
              <a:spcAft>
                <a:spcPts val="0"/>
              </a:spcAft>
              <a:buSzPts val="1200"/>
              <a:buFont typeface="Times New Roman"/>
              <a:buChar char="●"/>
            </a:pPr>
            <a:r>
              <a:rPr b="1" lang="en" sz="1200"/>
              <a:t>Static Analysis</a:t>
            </a:r>
            <a:r>
              <a:rPr lang="en" sz="1200"/>
              <a:t> - A form of malware analysis in which a malware sample is examined using specific software tools without running the malware itself. </a:t>
            </a:r>
            <a:endParaRPr sz="1200"/>
          </a:p>
          <a:p>
            <a:pPr indent="-304800" lvl="0" marL="457200" rtl="0" algn="l">
              <a:lnSpc>
                <a:spcPct val="115000"/>
              </a:lnSpc>
              <a:spcBef>
                <a:spcPts val="0"/>
              </a:spcBef>
              <a:spcAft>
                <a:spcPts val="0"/>
              </a:spcAft>
              <a:buSzPts val="1200"/>
              <a:buFont typeface="Times New Roman"/>
              <a:buChar char="●"/>
            </a:pPr>
            <a:r>
              <a:rPr b="1" lang="en" sz="1200"/>
              <a:t>Toolmarks </a:t>
            </a:r>
            <a:r>
              <a:rPr lang="en" sz="1200"/>
              <a:t>- Any information artifacts that are present in a piece of software, after the build stages, that reveal information about the software itself. For example, compiler provenance information is a subset of software toolmarks. </a:t>
            </a:r>
            <a:endParaRPr b="1" i="1" sz="1200"/>
          </a:p>
          <a:p>
            <a:pPr indent="0" lvl="0" marL="0" rtl="0" algn="l">
              <a:lnSpc>
                <a:spcPct val="95000"/>
              </a:lnSpc>
              <a:spcBef>
                <a:spcPts val="0"/>
              </a:spcBef>
              <a:spcAft>
                <a:spcPts val="1200"/>
              </a:spcAft>
              <a:buNone/>
            </a:pPr>
            <a:r>
              <a:t/>
            </a:r>
            <a:endParaRPr sz="1500"/>
          </a:p>
        </p:txBody>
      </p:sp>
      <p:sp>
        <p:nvSpPr>
          <p:cNvPr id="700" name="Google Shape;700;p56"/>
          <p:cNvSpPr/>
          <p:nvPr/>
        </p:nvSpPr>
        <p:spPr>
          <a:xfrm>
            <a:off x="987413" y="4750700"/>
            <a:ext cx="10422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Intro</a:t>
            </a:r>
            <a:endParaRPr b="1" sz="900"/>
          </a:p>
        </p:txBody>
      </p:sp>
      <p:sp>
        <p:nvSpPr>
          <p:cNvPr id="701" name="Google Shape;701;p56"/>
          <p:cNvSpPr/>
          <p:nvPr/>
        </p:nvSpPr>
        <p:spPr>
          <a:xfrm>
            <a:off x="1890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Methods</a:t>
            </a:r>
            <a:endParaRPr b="1" sz="900"/>
          </a:p>
        </p:txBody>
      </p:sp>
      <p:sp>
        <p:nvSpPr>
          <p:cNvPr id="702" name="Google Shape;702;p56"/>
          <p:cNvSpPr/>
          <p:nvPr/>
        </p:nvSpPr>
        <p:spPr>
          <a:xfrm>
            <a:off x="29163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Findings</a:t>
            </a:r>
            <a:endParaRPr b="1" sz="900"/>
          </a:p>
        </p:txBody>
      </p:sp>
      <p:sp>
        <p:nvSpPr>
          <p:cNvPr id="703" name="Google Shape;703;p56"/>
          <p:cNvSpPr/>
          <p:nvPr/>
        </p:nvSpPr>
        <p:spPr>
          <a:xfrm>
            <a:off x="3941838"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Issues</a:t>
            </a:r>
            <a:endParaRPr b="1" sz="900"/>
          </a:p>
        </p:txBody>
      </p:sp>
      <p:sp>
        <p:nvSpPr>
          <p:cNvPr id="704" name="Google Shape;704;p56"/>
          <p:cNvSpPr/>
          <p:nvPr/>
        </p:nvSpPr>
        <p:spPr>
          <a:xfrm>
            <a:off x="4958663" y="4750700"/>
            <a:ext cx="1155600" cy="234000"/>
          </a:xfrm>
          <a:prstGeom prst="chevron">
            <a:avLst>
              <a:gd fmla="val 50000" name="adj"/>
            </a:avLst>
          </a:prstGeom>
          <a:solidFill>
            <a:srgbClr val="666666">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Conclusions</a:t>
            </a:r>
            <a:endParaRPr b="1" sz="900"/>
          </a:p>
        </p:txBody>
      </p:sp>
      <p:sp>
        <p:nvSpPr>
          <p:cNvPr id="705" name="Google Shape;705;p56"/>
          <p:cNvSpPr/>
          <p:nvPr/>
        </p:nvSpPr>
        <p:spPr>
          <a:xfrm>
            <a:off x="5992838" y="4750700"/>
            <a:ext cx="1155600" cy="234000"/>
          </a:xfrm>
          <a:prstGeom prst="chevron">
            <a:avLst>
              <a:gd fmla="val 50000" name="adj"/>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Bibliography</a:t>
            </a:r>
            <a:endParaRPr b="1" sz="900"/>
          </a:p>
        </p:txBody>
      </p:sp>
      <p:sp>
        <p:nvSpPr>
          <p:cNvPr id="706" name="Google Shape;706;p56"/>
          <p:cNvSpPr/>
          <p:nvPr/>
        </p:nvSpPr>
        <p:spPr>
          <a:xfrm>
            <a:off x="7000988" y="4750700"/>
            <a:ext cx="1155600" cy="234000"/>
          </a:xfrm>
          <a:prstGeom prst="chevron">
            <a:avLst>
              <a:gd fmla="val 50000" name="adj"/>
            </a:avLst>
          </a:prstGeom>
          <a:solidFill>
            <a:srgbClr val="27DD1E">
              <a:alpha val="905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Appendices</a:t>
            </a:r>
            <a:endParaRPr b="1" sz="9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