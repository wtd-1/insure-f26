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45" r:id="rId1"/>
  </p:sldMasterIdLst>
  <p:notesMasterIdLst>
    <p:notesMasterId r:id="rId17"/>
  </p:notesMasterIdLst>
  <p:sldIdLst>
    <p:sldId id="256" r:id="rId2"/>
    <p:sldId id="263" r:id="rId3"/>
    <p:sldId id="257" r:id="rId4"/>
    <p:sldId id="280" r:id="rId5"/>
    <p:sldId id="265" r:id="rId6"/>
    <p:sldId id="267" r:id="rId7"/>
    <p:sldId id="285" r:id="rId8"/>
    <p:sldId id="286" r:id="rId9"/>
    <p:sldId id="269" r:id="rId10"/>
    <p:sldId id="273" r:id="rId11"/>
    <p:sldId id="271" r:id="rId12"/>
    <p:sldId id="287" r:id="rId13"/>
    <p:sldId id="281" r:id="rId14"/>
    <p:sldId id="282" r:id="rId15"/>
    <p:sldId id="262"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Galib, Mostafa" initials="GM" lastIdx="1" clrIdx="0">
    <p:extLst>
      <p:ext uri="{19B8F6BF-5375-455C-9EA6-DF929625EA0E}">
        <p15:presenceInfo xmlns:p15="http://schemas.microsoft.com/office/powerpoint/2012/main" userId="Galib, Mostafa"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66B2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DBA6B4-0973-E4B9-1FB1-CAA1E2E82181}" v="8" dt="2020-12-04T01:27:39.696"/>
    <p1510:client id="{0139DC19-1C08-4CCA-B526-39301961A9E1}" v="3826" dt="2020-12-04T04:27:40.534"/>
    <p1510:client id="{104C6CAD-6655-6BC1-7F5C-737656BB6A21}" v="36" dt="2020-12-03T22:35:38.897"/>
    <p1510:client id="{1BA776F9-2428-06F9-38EF-8BBF2DF83BA1}" v="1072" dt="2020-12-03T22:18:51.731"/>
    <p1510:client id="{20BFA9FD-ED1A-5F9C-79CA-ACFCB60E885F}" v="44" dt="2020-12-04T02:04:45.298"/>
    <p1510:client id="{725A2AA2-BC92-C1D6-D9CC-6DA48045541D}" v="371" dt="2020-12-04T02:32:52.18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725"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0C2C6B-75B1-44E5-B329-EA5EADE0BE2F}" type="datetimeFigureOut">
              <a:rPr lang="en-US" smtClean="0"/>
              <a:t>12/4/2020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055BE2-2DE4-4311-A7EF-DFDA17E31E5C}" type="slidenum">
              <a:rPr lang="en-US" smtClean="0"/>
              <a:t>‹#›</a:t>
            </a:fld>
            <a:endParaRPr lang="en-US"/>
          </a:p>
        </p:txBody>
      </p:sp>
    </p:spTree>
    <p:extLst>
      <p:ext uri="{BB962C8B-B14F-4D97-AF65-F5344CB8AC3E}">
        <p14:creationId xmlns:p14="http://schemas.microsoft.com/office/powerpoint/2010/main" val="31682256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8932558" y="5870575"/>
            <a:ext cx="1600200" cy="377825"/>
          </a:xfrm>
        </p:spPr>
        <p:txBody>
          <a:bodyPr/>
          <a:lstStyle/>
          <a:p>
            <a:fld id="{CA1C2265-F8F6-4067-9686-E631AD7A1B33}" type="datetime1">
              <a:rPr lang="en-US" smtClean="0"/>
              <a:t>12/4/2020</a:t>
            </a:fld>
            <a:endParaRPr lang="en-US"/>
          </a:p>
        </p:txBody>
      </p:sp>
      <p:sp>
        <p:nvSpPr>
          <p:cNvPr id="5" name="Footer Placeholder 4"/>
          <p:cNvSpPr>
            <a:spLocks noGrp="1"/>
          </p:cNvSpPr>
          <p:nvPr>
            <p:ph type="ftr" sz="quarter" idx="11"/>
          </p:nvPr>
        </p:nvSpPr>
        <p:spPr>
          <a:xfrm>
            <a:off x="3962399" y="5870575"/>
            <a:ext cx="4893958" cy="377825"/>
          </a:xfrm>
        </p:spPr>
        <p:txBody>
          <a:bodyPr/>
          <a:lstStyle/>
          <a:p>
            <a:endParaRPr lang="en-US"/>
          </a:p>
        </p:txBody>
      </p:sp>
      <p:sp>
        <p:nvSpPr>
          <p:cNvPr id="6" name="Slide Number Placeholder 5"/>
          <p:cNvSpPr>
            <a:spLocks noGrp="1"/>
          </p:cNvSpPr>
          <p:nvPr>
            <p:ph type="sldNum" sz="quarter" idx="12"/>
          </p:nvPr>
        </p:nvSpPr>
        <p:spPr>
          <a:xfrm>
            <a:off x="10608958" y="5870575"/>
            <a:ext cx="551167" cy="3778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458636417"/>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1253F29-1947-4024-9356-5712BDB7E82D}" type="datetime1">
              <a:rPr lang="en-US" smtClean="0"/>
              <a:t>12/4/2020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162698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AE4383-7AEC-4B3E-A2A1-476751EACCD4}" type="datetime1">
              <a:rPr lang="en-US" smtClean="0"/>
              <a:t>12/4/2020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7119637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7AAE54B-B3DF-46CC-A487-9D74687F3AB1}" type="datetime1">
              <a:rPr lang="en-US" smtClean="0"/>
              <a:t>12/4/2020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2826700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7AB3B5C-0CA8-499A-A866-EFBCA226A434}" type="datetime1">
              <a:rPr lang="en-US" smtClean="0"/>
              <a:t>12/4/2020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6653907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DA3A37C-8BED-41D5-9797-CBE43F57C9FE}" type="datetime1">
              <a:rPr lang="en-US" smtClean="0"/>
              <a:t>12/4/2020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7316128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6832352A-1675-4BB5-9010-2CEDB40B7446}" type="datetime1">
              <a:rPr lang="en-US" smtClean="0"/>
              <a:t>12/4/2020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2379571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DBF1FCA-4625-40A2-ACE9-35886D4EE585}" type="datetime1">
              <a:rPr lang="en-US" smtClean="0"/>
              <a:t>12/4/2020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8940098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190B8E9-1935-4D4E-AC1B-C08177D36425}" type="datetime1">
              <a:rPr lang="en-US" smtClean="0"/>
              <a:t>12/4/2020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0208598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4989395-5C59-428B-B5CA-B582C47132CC}" type="datetime1">
              <a:rPr lang="en-US" smtClean="0"/>
              <a:t>12/4/2020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4273203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63D6B0B-1220-43AE-9AA1-3BA1A3E2BDD8}" type="datetime1">
              <a:rPr lang="en-US" smtClean="0"/>
              <a:t>12/4/2020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2501852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F6EC016-E1F1-43AB-8F8F-B2211D85E88D}" type="datetime1">
              <a:rPr lang="en-US" smtClean="0"/>
              <a:t>12/4/2020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9773529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9575A38-F873-4A9C-BEC7-8C4A8EE7F90C}" type="datetime1">
              <a:rPr lang="en-US" smtClean="0"/>
              <a:t>12/4/2020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6942585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017B83E-7892-457B-8E6A-E903BC4DEEE1}" type="datetime1">
              <a:rPr lang="en-US" smtClean="0"/>
              <a:t>12/4/2020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8763655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E75896-CBA0-4859-AF6E-DFA8FD4736BD}" type="datetime1">
              <a:rPr lang="en-US" smtClean="0"/>
              <a:t>12/4/2020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6157339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7FFC64C-9C58-423B-BA36-2BB662B4F9E8}" type="datetime1">
              <a:rPr lang="en-US" smtClean="0"/>
              <a:t>12/4/2020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DC25EE-239B-4C5F-AAD1-255A7D5F1EE2}" type="slidenum">
              <a:rPr lang="en-US" smtClean="0"/>
              <a:t>‹#›</a:t>
            </a:fld>
            <a:endParaRPr lang="en-US"/>
          </a:p>
        </p:txBody>
      </p:sp>
      <p:sp>
        <p:nvSpPr>
          <p:cNvPr id="8" name="Title 1"/>
          <p:cNvSpPr>
            <a:spLocks noGrp="1"/>
          </p:cNvSpPr>
          <p:nvPr>
            <p:ph type="title"/>
          </p:nvPr>
        </p:nvSpPr>
        <p:spPr>
          <a:xfrm>
            <a:off x="685801" y="609600"/>
            <a:ext cx="10131425" cy="1456267"/>
          </a:xfrm>
        </p:spPr>
        <p:txBody>
          <a:bodyPr/>
          <a:lstStyle/>
          <a:p>
            <a:r>
              <a:rPr lang="en-US"/>
              <a:t>Click to edit Master title style</a:t>
            </a:r>
          </a:p>
        </p:txBody>
      </p:sp>
    </p:spTree>
    <p:extLst>
      <p:ext uri="{BB962C8B-B14F-4D97-AF65-F5344CB8AC3E}">
        <p14:creationId xmlns:p14="http://schemas.microsoft.com/office/powerpoint/2010/main" val="167224374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3AA22E9-991C-4746-9CB0-F5DFA582A31D}" type="datetime1">
              <a:rPr lang="en-US" smtClean="0"/>
              <a:t>12/4/2020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2878911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A7308406-7AAB-4A30-A867-19A405DE7DD7}" type="datetime1">
              <a:rPr lang="en-US" smtClean="0"/>
              <a:t>12/4/2020</a:t>
            </a:fld>
            <a:endParaRPr lang="en-US"/>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2DC25EE-239B-4C5F-AAD1-255A7D5F1EE2}" type="slidenum">
              <a:rPr lang="en-US" smtClean="0"/>
              <a:t>‹#›</a:t>
            </a:fld>
            <a:endParaRPr lang="en-US"/>
          </a:p>
        </p:txBody>
      </p:sp>
    </p:spTree>
    <p:extLst>
      <p:ext uri="{BB962C8B-B14F-4D97-AF65-F5344CB8AC3E}">
        <p14:creationId xmlns:p14="http://schemas.microsoft.com/office/powerpoint/2010/main" val="4139533595"/>
      </p:ext>
    </p:extLst>
  </p:cSld>
  <p:clrMap bg1="dk1" tx1="lt1" bg2="dk2" tx2="lt2" accent1="accent1" accent2="accent2" accent3="accent3" accent4="accent4" accent5="accent5" accent6="accent6" hlink="hlink" folHlink="folHlink"/>
  <p:sldLayoutIdLst>
    <p:sldLayoutId id="2147483846" r:id="rId1"/>
    <p:sldLayoutId id="2147483847" r:id="rId2"/>
    <p:sldLayoutId id="2147483848" r:id="rId3"/>
    <p:sldLayoutId id="2147483849" r:id="rId4"/>
    <p:sldLayoutId id="2147483850" r:id="rId5"/>
    <p:sldLayoutId id="2147483851" r:id="rId6"/>
    <p:sldLayoutId id="2147483852" r:id="rId7"/>
    <p:sldLayoutId id="2147483853" r:id="rId8"/>
    <p:sldLayoutId id="2147483854" r:id="rId9"/>
    <p:sldLayoutId id="2147483855" r:id="rId10"/>
    <p:sldLayoutId id="2147483856" r:id="rId11"/>
    <p:sldLayoutId id="2147483857" r:id="rId12"/>
    <p:sldLayoutId id="2147483858" r:id="rId13"/>
    <p:sldLayoutId id="2147483859" r:id="rId14"/>
    <p:sldLayoutId id="2147483860" r:id="rId15"/>
    <p:sldLayoutId id="2147483861" r:id="rId16"/>
    <p:sldLayoutId id="2147483862" r:id="rId17"/>
  </p:sldLayoutIdLst>
  <p:hf hdr="0" ftr="0" dt="0"/>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jpeg"/></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2.png"/><Relationship Id="rId7" Type="http://schemas.openxmlformats.org/officeDocument/2006/relationships/image" Target="../media/image14.png"/><Relationship Id="rId2" Type="http://schemas.openxmlformats.org/officeDocument/2006/relationships/image" Target="../media/image1.jpeg"/><Relationship Id="rId1" Type="http://schemas.openxmlformats.org/officeDocument/2006/relationships/slideLayout" Target="../slideLayouts/slideLayout6.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pic>
        <p:nvPicPr>
          <p:cNvPr id="140" name="Picture 139">
            <a:extLst>
              <a:ext uri="{FF2B5EF4-FFF2-40B4-BE49-F238E27FC236}">
                <a16:creationId xmlns:a16="http://schemas.microsoft.com/office/drawing/2014/main" id="{DF6A9299-1D12-47E2-9DD4-03342553C4A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8" name="Title 7">
            <a:extLst>
              <a:ext uri="{FF2B5EF4-FFF2-40B4-BE49-F238E27FC236}">
                <a16:creationId xmlns:a16="http://schemas.microsoft.com/office/drawing/2014/main" id="{4B1AAE32-B51B-4A53-8037-481F03A177F6}"/>
              </a:ext>
            </a:extLst>
          </p:cNvPr>
          <p:cNvSpPr>
            <a:spLocks noGrp="1"/>
          </p:cNvSpPr>
          <p:nvPr>
            <p:ph type="ctrTitle"/>
          </p:nvPr>
        </p:nvSpPr>
        <p:spPr>
          <a:xfrm>
            <a:off x="7829520" y="174082"/>
            <a:ext cx="4033333" cy="1716982"/>
          </a:xfrm>
        </p:spPr>
        <p:txBody>
          <a:bodyPr vert="horz" lIns="91440" tIns="45720" rIns="91440" bIns="45720" rtlCol="0" anchor="ctr">
            <a:noAutofit/>
          </a:bodyPr>
          <a:lstStyle/>
          <a:p>
            <a:pPr algn="ctr">
              <a:lnSpc>
                <a:spcPct val="90000"/>
              </a:lnSpc>
            </a:pPr>
            <a:br>
              <a:rPr lang="en-US" sz="2400" b="1">
                <a:solidFill>
                  <a:srgbClr val="FFFF00"/>
                </a:solidFill>
              </a:rPr>
            </a:br>
            <a:br>
              <a:rPr lang="en-US" sz="2400" b="1"/>
            </a:br>
            <a:br>
              <a:rPr lang="en-US" sz="2400" b="1"/>
            </a:br>
            <a:br>
              <a:rPr lang="en-US" sz="2400" b="1"/>
            </a:br>
            <a:r>
              <a:rPr lang="en-US" sz="2400" b="1">
                <a:solidFill>
                  <a:srgbClr val="FFFF00"/>
                </a:solidFill>
              </a:rPr>
              <a:t>Cryptographic protocol analysis and verification</a:t>
            </a:r>
            <a:br>
              <a:rPr lang="en-US" sz="2400" b="1"/>
            </a:br>
            <a:br>
              <a:rPr lang="en-US" sz="2400" b="1"/>
            </a:br>
            <a:br>
              <a:rPr lang="en-US" sz="2400" b="1"/>
            </a:br>
            <a:br>
              <a:rPr lang="en-US" sz="2400" b="1"/>
            </a:br>
            <a:endParaRPr lang="en-US" sz="2400" b="1">
              <a:cs typeface="Calibri Light" panose="020F0302020204030204"/>
            </a:endParaRPr>
          </a:p>
        </p:txBody>
      </p:sp>
      <p:pic>
        <p:nvPicPr>
          <p:cNvPr id="37" name="Picture 1">
            <a:extLst>
              <a:ext uri="{FF2B5EF4-FFF2-40B4-BE49-F238E27FC236}">
                <a16:creationId xmlns:a16="http://schemas.microsoft.com/office/drawing/2014/main" id="{7BCF68D6-9C66-4300-BF02-4DBF6A84F76D}"/>
              </a:ext>
            </a:extLst>
          </p:cNvPr>
          <p:cNvPicPr>
            <a:picLocks noChangeAspect="1"/>
          </p:cNvPicPr>
          <p:nvPr/>
        </p:nvPicPr>
        <p:blipFill rotWithShape="1">
          <a:blip r:embed="rId4"/>
          <a:srcRect l="21494" r="16556"/>
          <a:stretch/>
        </p:blipFill>
        <p:spPr>
          <a:xfrm>
            <a:off x="20" y="975"/>
            <a:ext cx="7552924" cy="6858000"/>
          </a:xfrm>
          <a:prstGeom prst="rect">
            <a:avLst/>
          </a:prstGeom>
        </p:spPr>
      </p:pic>
      <p:sp>
        <p:nvSpPr>
          <p:cNvPr id="10" name="Subtitle 9">
            <a:extLst>
              <a:ext uri="{FF2B5EF4-FFF2-40B4-BE49-F238E27FC236}">
                <a16:creationId xmlns:a16="http://schemas.microsoft.com/office/drawing/2014/main" id="{C0241619-BC41-43C0-98DA-73925F36A895}"/>
              </a:ext>
            </a:extLst>
          </p:cNvPr>
          <p:cNvSpPr>
            <a:spLocks noGrp="1"/>
          </p:cNvSpPr>
          <p:nvPr>
            <p:ph type="subTitle" idx="1"/>
          </p:nvPr>
        </p:nvSpPr>
        <p:spPr>
          <a:xfrm>
            <a:off x="7936827" y="1681336"/>
            <a:ext cx="3706762" cy="3972232"/>
          </a:xfrm>
        </p:spPr>
        <p:txBody>
          <a:bodyPr vert="horz" lIns="91440" tIns="45720" rIns="91440" bIns="45720" rtlCol="0" anchor="ctr">
            <a:normAutofit fontScale="92500" lnSpcReduction="20000"/>
          </a:bodyPr>
          <a:lstStyle/>
          <a:p>
            <a:pPr algn="l"/>
            <a:r>
              <a:rPr lang="en-US" b="1" cap="none">
                <a:solidFill>
                  <a:srgbClr val="FFC000"/>
                </a:solidFill>
              </a:rPr>
              <a:t>Project Sponsor</a:t>
            </a:r>
            <a:r>
              <a:rPr lang="en-US" b="1" cap="none"/>
              <a:t>: Ed Ziegler</a:t>
            </a:r>
          </a:p>
          <a:p>
            <a:pPr algn="l"/>
            <a:endParaRPr lang="en-US" b="1" cap="none"/>
          </a:p>
          <a:p>
            <a:pPr algn="l"/>
            <a:r>
              <a:rPr lang="en-US" b="1" cap="none">
                <a:solidFill>
                  <a:schemeClr val="accent6">
                    <a:lumMod val="60000"/>
                    <a:lumOff val="40000"/>
                  </a:schemeClr>
                </a:solidFill>
              </a:rPr>
              <a:t>TEAM ARMORWARE</a:t>
            </a:r>
            <a:r>
              <a:rPr lang="en-US" b="1" cap="none"/>
              <a:t>:</a:t>
            </a:r>
            <a:endParaRPr lang="en-US" b="1" cap="none">
              <a:cs typeface="Calibri"/>
            </a:endParaRPr>
          </a:p>
          <a:p>
            <a:pPr algn="l">
              <a:buFont typeface="Arial"/>
              <a:buChar char="•"/>
            </a:pPr>
            <a:r>
              <a:rPr lang="en-US" b="1" cap="none"/>
              <a:t>Mostafa Galib</a:t>
            </a:r>
            <a:endParaRPr lang="en-US" b="1" cap="none">
              <a:cs typeface="Calibri"/>
            </a:endParaRPr>
          </a:p>
          <a:p>
            <a:pPr algn="l">
              <a:buFont typeface="Arial"/>
              <a:buChar char="•"/>
            </a:pPr>
            <a:r>
              <a:rPr lang="en-US" b="1" cap="none" err="1"/>
              <a:t>Aj</a:t>
            </a:r>
            <a:r>
              <a:rPr lang="en-US" b="1" cap="none"/>
              <a:t> Shah</a:t>
            </a:r>
            <a:endParaRPr lang="en-US" b="1" cap="none">
              <a:cs typeface="Calibri"/>
            </a:endParaRPr>
          </a:p>
          <a:p>
            <a:pPr algn="l">
              <a:buFont typeface="Arial"/>
              <a:buChar char="•"/>
            </a:pPr>
            <a:r>
              <a:rPr lang="en-US" b="1" cap="none" err="1"/>
              <a:t>Sreevidhya</a:t>
            </a:r>
            <a:r>
              <a:rPr lang="en-US" b="1" cap="none"/>
              <a:t> Ravindran</a:t>
            </a:r>
          </a:p>
          <a:p>
            <a:pPr algn="l">
              <a:buFont typeface="Arial"/>
              <a:buChar char="•"/>
            </a:pPr>
            <a:r>
              <a:rPr lang="en-US" b="1" cap="none"/>
              <a:t>Major Liu</a:t>
            </a:r>
          </a:p>
          <a:p>
            <a:pPr algn="l">
              <a:buFont typeface="Arial"/>
              <a:buChar char="•"/>
            </a:pPr>
            <a:r>
              <a:rPr lang="en-US" b="1" cap="none"/>
              <a:t>Zoraida </a:t>
            </a:r>
            <a:r>
              <a:rPr lang="en-US" b="1" cap="none" err="1"/>
              <a:t>Vences</a:t>
            </a:r>
            <a:endParaRPr lang="en-US" b="1" cap="none"/>
          </a:p>
          <a:p>
            <a:pPr algn="l">
              <a:buFont typeface="Arial"/>
              <a:buChar char="•"/>
            </a:pPr>
            <a:endParaRPr lang="en-US" b="1" cap="none"/>
          </a:p>
          <a:p>
            <a:pPr algn="l"/>
            <a:br>
              <a:rPr lang="en-US" b="1" cap="none"/>
            </a:br>
            <a:br>
              <a:rPr lang="en-US" b="1" cap="none"/>
            </a:br>
            <a:endParaRPr lang="en-US" cap="none"/>
          </a:p>
        </p:txBody>
      </p:sp>
      <p:sp>
        <p:nvSpPr>
          <p:cNvPr id="35" name="Slide Number Placeholder 34">
            <a:extLst>
              <a:ext uri="{FF2B5EF4-FFF2-40B4-BE49-F238E27FC236}">
                <a16:creationId xmlns:a16="http://schemas.microsoft.com/office/drawing/2014/main" id="{1CF92052-3C63-4272-8220-683FF3C9EBF4}"/>
              </a:ext>
            </a:extLst>
          </p:cNvPr>
          <p:cNvSpPr>
            <a:spLocks noGrp="1"/>
          </p:cNvSpPr>
          <p:nvPr>
            <p:ph type="sldNum" sz="quarter" idx="12"/>
          </p:nvPr>
        </p:nvSpPr>
        <p:spPr>
          <a:xfrm>
            <a:off x="10962917" y="6391687"/>
            <a:ext cx="551167" cy="377825"/>
          </a:xfrm>
        </p:spPr>
        <p:txBody>
          <a:bodyPr vert="horz" lIns="91440" tIns="45720" rIns="91440" bIns="45720" rtlCol="0" anchor="ctr">
            <a:normAutofit/>
          </a:bodyPr>
          <a:lstStyle/>
          <a:p>
            <a:pPr defTabSz="914400">
              <a:spcAft>
                <a:spcPts val="600"/>
              </a:spcAft>
            </a:pPr>
            <a:fld id="{B2DC25EE-239B-4C5F-AAD1-255A7D5F1EE2}" type="slidenum">
              <a:rPr lang="en-US" smtClean="0"/>
              <a:pPr defTabSz="914400">
                <a:spcAft>
                  <a:spcPts val="600"/>
                </a:spcAft>
              </a:pPr>
              <a:t>1</a:t>
            </a:fld>
            <a:endParaRPr lang="en-US"/>
          </a:p>
        </p:txBody>
      </p:sp>
      <p:pic>
        <p:nvPicPr>
          <p:cNvPr id="3" name="Picture 2" descr="Logo, company name&#10;&#10;Description automatically generated">
            <a:extLst>
              <a:ext uri="{FF2B5EF4-FFF2-40B4-BE49-F238E27FC236}">
                <a16:creationId xmlns:a16="http://schemas.microsoft.com/office/drawing/2014/main" id="{5F440ADB-961E-4217-A007-CA3051298FE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007848" y="4953862"/>
            <a:ext cx="3029910" cy="1211354"/>
          </a:xfrm>
          <a:prstGeom prst="rect">
            <a:avLst/>
          </a:prstGeom>
        </p:spPr>
      </p:pic>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A5A48-8CE3-450D-9951-B89E9193319D}"/>
              </a:ext>
            </a:extLst>
          </p:cNvPr>
          <p:cNvSpPr>
            <a:spLocks noGrp="1"/>
          </p:cNvSpPr>
          <p:nvPr>
            <p:ph type="title"/>
          </p:nvPr>
        </p:nvSpPr>
        <p:spPr>
          <a:xfrm>
            <a:off x="685802" y="345683"/>
            <a:ext cx="10131425" cy="1213282"/>
          </a:xfrm>
        </p:spPr>
        <p:txBody>
          <a:bodyPr>
            <a:normAutofit/>
          </a:bodyPr>
          <a:lstStyle/>
          <a:p>
            <a:pPr algn="just"/>
            <a:r>
              <a:rPr lang="en-US" sz="4800" b="1">
                <a:solidFill>
                  <a:schemeClr val="accent4">
                    <a:lumMod val="40000"/>
                    <a:lumOff val="60000"/>
                  </a:schemeClr>
                </a:solidFill>
              </a:rPr>
              <a:t>PROJECT DESCRIPTION:</a:t>
            </a:r>
          </a:p>
        </p:txBody>
      </p:sp>
      <p:sp>
        <p:nvSpPr>
          <p:cNvPr id="3" name="Content Placeholder 2">
            <a:extLst>
              <a:ext uri="{FF2B5EF4-FFF2-40B4-BE49-F238E27FC236}">
                <a16:creationId xmlns:a16="http://schemas.microsoft.com/office/drawing/2014/main" id="{519FE355-631F-4318-A216-C1DA1C32D41F}"/>
              </a:ext>
            </a:extLst>
          </p:cNvPr>
          <p:cNvSpPr>
            <a:spLocks noGrp="1"/>
          </p:cNvSpPr>
          <p:nvPr>
            <p:ph idx="1"/>
          </p:nvPr>
        </p:nvSpPr>
        <p:spPr>
          <a:xfrm>
            <a:off x="685802" y="1169146"/>
            <a:ext cx="9677399" cy="5231884"/>
          </a:xfrm>
        </p:spPr>
        <p:txBody>
          <a:bodyPr>
            <a:normAutofit/>
          </a:bodyPr>
          <a:lstStyle/>
          <a:p>
            <a:pPr marL="0" indent="0">
              <a:buClr>
                <a:prstClr val="white"/>
              </a:buClr>
              <a:buNone/>
            </a:pPr>
            <a:r>
              <a:rPr lang="en-US" sz="2800" b="1">
                <a:solidFill>
                  <a:schemeClr val="accent5">
                    <a:lumMod val="40000"/>
                    <a:lumOff val="60000"/>
                  </a:schemeClr>
                </a:solidFill>
                <a:ea typeface="+mn-lt"/>
                <a:cs typeface="+mn-lt"/>
              </a:rPr>
              <a:t>CPSA</a:t>
            </a:r>
            <a:endParaRPr lang="en-US" sz="2800">
              <a:solidFill>
                <a:schemeClr val="accent5">
                  <a:lumMod val="40000"/>
                  <a:lumOff val="60000"/>
                </a:schemeClr>
              </a:solidFill>
              <a:cs typeface="Calibri" panose="020F0502020204030204"/>
            </a:endParaRPr>
          </a:p>
          <a:p>
            <a:r>
              <a:rPr lang="en-US" sz="2800"/>
              <a:t>We will use </a:t>
            </a:r>
            <a:r>
              <a:rPr lang="en-US" sz="2800" b="1">
                <a:solidFill>
                  <a:schemeClr val="accent5"/>
                </a:solidFill>
              </a:rPr>
              <a:t>Cryptog</a:t>
            </a:r>
            <a:r>
              <a:rPr lang="en-US" sz="2600" b="1">
                <a:solidFill>
                  <a:schemeClr val="accent5"/>
                </a:solidFill>
              </a:rPr>
              <a:t>raphic Protocol Shapes Analyzer (CPSA)</a:t>
            </a:r>
            <a:r>
              <a:rPr lang="en-US" sz="2600"/>
              <a:t> to model and analyze 5G-EAP-TLS protocol</a:t>
            </a:r>
            <a:endParaRPr lang="en-US" sz="2600">
              <a:cs typeface="Calibri"/>
            </a:endParaRPr>
          </a:p>
          <a:p>
            <a:pPr>
              <a:buClr>
                <a:srgbClr val="FFFFFF"/>
              </a:buClr>
            </a:pPr>
            <a:r>
              <a:rPr lang="en-US" sz="2600">
                <a:cs typeface="Calibri"/>
              </a:rPr>
              <a:t>CPSA takes a protocol definition and a partial execution as input</a:t>
            </a:r>
            <a:endParaRPr lang="en-US" sz="2600"/>
          </a:p>
          <a:p>
            <a:pPr>
              <a:buClr>
                <a:srgbClr val="FFFFFF"/>
              </a:buClr>
            </a:pPr>
            <a:r>
              <a:rPr lang="en-US" sz="2600"/>
              <a:t>Produces</a:t>
            </a:r>
            <a:r>
              <a:rPr lang="en-US" sz="2600">
                <a:solidFill>
                  <a:srgbClr val="FFFFFF"/>
                </a:solidFill>
                <a:cs typeface="Calibri"/>
              </a:rPr>
              <a:t> descriptions (shapes) of possible executions of a protocol to reveal structural flaws</a:t>
            </a:r>
          </a:p>
          <a:p>
            <a:pPr marL="0" indent="0">
              <a:buClr>
                <a:srgbClr val="FFFFFF"/>
              </a:buClr>
              <a:buNone/>
            </a:pPr>
            <a:r>
              <a:rPr lang="en-US" sz="2800" b="1">
                <a:solidFill>
                  <a:schemeClr val="accent5">
                    <a:lumMod val="40000"/>
                    <a:lumOff val="60000"/>
                  </a:schemeClr>
                </a:solidFill>
                <a:ea typeface="+mn-lt"/>
                <a:cs typeface="+mn-lt"/>
              </a:rPr>
              <a:t>What protocol are we analyzing? </a:t>
            </a:r>
            <a:endParaRPr lang="en-US" sz="2800">
              <a:solidFill>
                <a:schemeClr val="accent5">
                  <a:lumMod val="40000"/>
                  <a:lumOff val="60000"/>
                </a:schemeClr>
              </a:solidFill>
              <a:ea typeface="+mn-lt"/>
              <a:cs typeface="+mn-lt"/>
            </a:endParaRPr>
          </a:p>
          <a:p>
            <a:pPr>
              <a:buClr>
                <a:srgbClr val="FFFFFF"/>
              </a:buClr>
            </a:pPr>
            <a:r>
              <a:rPr lang="en-US" sz="2600">
                <a:ea typeface="+mn-lt"/>
                <a:cs typeface="+mn-lt"/>
              </a:rPr>
              <a:t>We will be analyzing the security properties of </a:t>
            </a:r>
            <a:r>
              <a:rPr lang="en-US" sz="2600" b="1">
                <a:solidFill>
                  <a:schemeClr val="accent5"/>
                </a:solidFill>
                <a:ea typeface="+mn-lt"/>
                <a:cs typeface="+mn-lt"/>
              </a:rPr>
              <a:t>5G-EAP-TLS authentication protocol</a:t>
            </a:r>
            <a:endParaRPr lang="en-US" sz="2600">
              <a:solidFill>
                <a:schemeClr val="accent5"/>
              </a:solidFill>
              <a:ea typeface="+mn-lt"/>
              <a:cs typeface="+mn-lt"/>
            </a:endParaRPr>
          </a:p>
          <a:p>
            <a:pPr>
              <a:buClr>
                <a:srgbClr val="FFFFFF"/>
              </a:buClr>
            </a:pPr>
            <a:r>
              <a:rPr lang="en-US" sz="2600">
                <a:ea typeface="+mn-lt"/>
                <a:cs typeface="+mn-lt"/>
              </a:rPr>
              <a:t>5G network is the next generation of mobile network</a:t>
            </a:r>
            <a:endParaRPr lang="en-US"/>
          </a:p>
        </p:txBody>
      </p:sp>
      <p:sp>
        <p:nvSpPr>
          <p:cNvPr id="5" name="Slide Number Placeholder 4">
            <a:extLst>
              <a:ext uri="{FF2B5EF4-FFF2-40B4-BE49-F238E27FC236}">
                <a16:creationId xmlns:a16="http://schemas.microsoft.com/office/drawing/2014/main" id="{621F0D20-685F-46DD-8765-C738C14AA0A5}"/>
              </a:ext>
            </a:extLst>
          </p:cNvPr>
          <p:cNvSpPr>
            <a:spLocks noGrp="1"/>
          </p:cNvSpPr>
          <p:nvPr>
            <p:ph type="sldNum" sz="quarter" idx="12"/>
          </p:nvPr>
        </p:nvSpPr>
        <p:spPr/>
        <p:txBody>
          <a:bodyPr/>
          <a:lstStyle/>
          <a:p>
            <a:fld id="{B2DC25EE-239B-4C5F-AAD1-255A7D5F1EE2}" type="slidenum">
              <a:rPr lang="en-US" smtClean="0"/>
              <a:t>2</a:t>
            </a:fld>
            <a:endParaRPr lang="en-US"/>
          </a:p>
        </p:txBody>
      </p:sp>
    </p:spTree>
    <p:extLst>
      <p:ext uri="{BB962C8B-B14F-4D97-AF65-F5344CB8AC3E}">
        <p14:creationId xmlns:p14="http://schemas.microsoft.com/office/powerpoint/2010/main" val="11245658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A5A48-8CE3-450D-9951-B89E9193319D}"/>
              </a:ext>
            </a:extLst>
          </p:cNvPr>
          <p:cNvSpPr>
            <a:spLocks noGrp="1"/>
          </p:cNvSpPr>
          <p:nvPr>
            <p:ph type="title"/>
          </p:nvPr>
        </p:nvSpPr>
        <p:spPr>
          <a:xfrm>
            <a:off x="459351" y="153147"/>
            <a:ext cx="11021685" cy="1453363"/>
          </a:xfrm>
        </p:spPr>
        <p:txBody>
          <a:bodyPr>
            <a:normAutofit/>
          </a:bodyPr>
          <a:lstStyle/>
          <a:p>
            <a:r>
              <a:rPr lang="en-US" b="1">
                <a:solidFill>
                  <a:schemeClr val="accent4"/>
                </a:solidFill>
              </a:rPr>
              <a:t>A brief overview of 5g:</a:t>
            </a:r>
          </a:p>
        </p:txBody>
      </p:sp>
      <p:sp>
        <p:nvSpPr>
          <p:cNvPr id="3" name="Content Placeholder 2">
            <a:extLst>
              <a:ext uri="{FF2B5EF4-FFF2-40B4-BE49-F238E27FC236}">
                <a16:creationId xmlns:a16="http://schemas.microsoft.com/office/drawing/2014/main" id="{519FE355-631F-4318-A216-C1DA1C32D41F}"/>
              </a:ext>
            </a:extLst>
          </p:cNvPr>
          <p:cNvSpPr>
            <a:spLocks noGrp="1"/>
          </p:cNvSpPr>
          <p:nvPr>
            <p:ph idx="1"/>
          </p:nvPr>
        </p:nvSpPr>
        <p:spPr>
          <a:xfrm>
            <a:off x="486033" y="1120346"/>
            <a:ext cx="5416561" cy="5436974"/>
          </a:xfrm>
        </p:spPr>
        <p:txBody>
          <a:bodyPr>
            <a:normAutofit lnSpcReduction="10000"/>
          </a:bodyPr>
          <a:lstStyle/>
          <a:p>
            <a:pPr marL="0" indent="0">
              <a:buNone/>
            </a:pPr>
            <a:r>
              <a:rPr lang="en-US" sz="1600"/>
              <a:t>The 5G network architecture can be categorized into three entities:</a:t>
            </a:r>
          </a:p>
          <a:p>
            <a:r>
              <a:rPr lang="en-US" sz="1600" b="1">
                <a:solidFill>
                  <a:schemeClr val="accent5"/>
                </a:solidFill>
              </a:rPr>
              <a:t>User Equipment (UE) </a:t>
            </a:r>
            <a:r>
              <a:rPr lang="en-US" sz="1600"/>
              <a:t>which contains the USIM (Universal Subscriber Identity Model) comprised of four elements:</a:t>
            </a:r>
          </a:p>
          <a:p>
            <a:pPr lvl="1">
              <a:buFont typeface="Wingdings" panose="05000000000000000000" pitchFamily="2" charset="2"/>
              <a:buChar char="§"/>
            </a:pPr>
            <a:r>
              <a:rPr lang="en-US">
                <a:solidFill>
                  <a:schemeClr val="accent3"/>
                </a:solidFill>
              </a:rPr>
              <a:t>Subscription Permanent Identifier (SUPI)</a:t>
            </a:r>
            <a:r>
              <a:rPr lang="en-US"/>
              <a:t>, which is a unique and permanent subscriber identity</a:t>
            </a:r>
          </a:p>
          <a:p>
            <a:pPr lvl="1">
              <a:buFont typeface="Wingdings" panose="05000000000000000000" pitchFamily="2" charset="2"/>
              <a:buChar char="§"/>
            </a:pPr>
            <a:r>
              <a:rPr lang="en-US"/>
              <a:t>Public key of the home network</a:t>
            </a:r>
          </a:p>
          <a:p>
            <a:pPr lvl="1">
              <a:buFont typeface="Wingdings" panose="05000000000000000000" pitchFamily="2" charset="2"/>
              <a:buChar char="§"/>
            </a:pPr>
            <a:r>
              <a:rPr lang="en-US"/>
              <a:t>A long-term secret symmetric key, shared between the subscribers and their corresponding home network</a:t>
            </a:r>
          </a:p>
          <a:p>
            <a:pPr lvl="1">
              <a:buFont typeface="Wingdings" panose="05000000000000000000" pitchFamily="2" charset="2"/>
              <a:buChar char="§"/>
            </a:pPr>
            <a:r>
              <a:rPr lang="en-US"/>
              <a:t>Sequence Number</a:t>
            </a:r>
          </a:p>
          <a:p>
            <a:r>
              <a:rPr lang="en-US" sz="1600" b="1">
                <a:solidFill>
                  <a:schemeClr val="accent5"/>
                </a:solidFill>
              </a:rPr>
              <a:t>Serving Network (SN) </a:t>
            </a:r>
            <a:r>
              <a:rPr lang="en-US" sz="1600"/>
              <a:t>which acts as a middleware during the authentication process</a:t>
            </a:r>
          </a:p>
          <a:p>
            <a:r>
              <a:rPr lang="en-US" sz="1600" b="1">
                <a:solidFill>
                  <a:schemeClr val="accent5"/>
                </a:solidFill>
              </a:rPr>
              <a:t>Home Network (HN) </a:t>
            </a:r>
            <a:r>
              <a:rPr lang="en-US" sz="1600"/>
              <a:t>which is responsible for user authentication and which contains the following elements:</a:t>
            </a:r>
          </a:p>
          <a:p>
            <a:pPr lvl="1">
              <a:buFont typeface="Wingdings" panose="05000000000000000000" pitchFamily="2" charset="2"/>
              <a:buChar char="§"/>
            </a:pPr>
            <a:r>
              <a:rPr lang="en-US"/>
              <a:t>Authentication Server Function (AUSF), which performs authentication with the UE</a:t>
            </a:r>
          </a:p>
          <a:p>
            <a:pPr lvl="1">
              <a:buFont typeface="Wingdings" panose="05000000000000000000" pitchFamily="2" charset="2"/>
              <a:buChar char="§"/>
            </a:pPr>
            <a:r>
              <a:rPr lang="en-US"/>
              <a:t>Unified Data Management (UDM) to assist in functions related to data management</a:t>
            </a:r>
          </a:p>
        </p:txBody>
      </p:sp>
      <p:sp>
        <p:nvSpPr>
          <p:cNvPr id="5" name="Slide Number Placeholder 4">
            <a:extLst>
              <a:ext uri="{FF2B5EF4-FFF2-40B4-BE49-F238E27FC236}">
                <a16:creationId xmlns:a16="http://schemas.microsoft.com/office/drawing/2014/main" id="{621F0D20-685F-46DD-8765-C738C14AA0A5}"/>
              </a:ext>
            </a:extLst>
          </p:cNvPr>
          <p:cNvSpPr>
            <a:spLocks noGrp="1"/>
          </p:cNvSpPr>
          <p:nvPr>
            <p:ph type="sldNum" sz="quarter" idx="12"/>
          </p:nvPr>
        </p:nvSpPr>
        <p:spPr>
          <a:xfrm>
            <a:off x="10266060" y="5870575"/>
            <a:ext cx="551167" cy="377825"/>
          </a:xfrm>
        </p:spPr>
        <p:txBody>
          <a:bodyPr>
            <a:normAutofit/>
          </a:bodyPr>
          <a:lstStyle/>
          <a:p>
            <a:pPr>
              <a:spcAft>
                <a:spcPts val="600"/>
              </a:spcAft>
            </a:pPr>
            <a:fld id="{B2DC25EE-239B-4C5F-AAD1-255A7D5F1EE2}" type="slidenum">
              <a:rPr lang="en-US" smtClean="0"/>
              <a:pPr>
                <a:spcAft>
                  <a:spcPts val="600"/>
                </a:spcAft>
              </a:pPr>
              <a:t>3</a:t>
            </a:fld>
            <a:endParaRPr lang="en-US"/>
          </a:p>
        </p:txBody>
      </p:sp>
      <p:pic>
        <p:nvPicPr>
          <p:cNvPr id="6" name="Picture 5" descr="Diagram&#10;&#10;Description automatically generated">
            <a:extLst>
              <a:ext uri="{FF2B5EF4-FFF2-40B4-BE49-F238E27FC236}">
                <a16:creationId xmlns:a16="http://schemas.microsoft.com/office/drawing/2014/main" id="{8792A6F2-AC4B-482B-830C-05C9D3FC749E}"/>
              </a:ext>
            </a:extLst>
          </p:cNvPr>
          <p:cNvPicPr>
            <a:picLocks noChangeAspect="1"/>
          </p:cNvPicPr>
          <p:nvPr/>
        </p:nvPicPr>
        <p:blipFill rotWithShape="1">
          <a:blip r:embed="rId3">
            <a:extLst>
              <a:ext uri="{28A0092B-C50C-407E-A947-70E740481C1C}">
                <a14:useLocalDpi xmlns:a14="http://schemas.microsoft.com/office/drawing/2010/main" val="0"/>
              </a:ext>
            </a:extLst>
          </a:blip>
          <a:srcRect r="7987"/>
          <a:stretch/>
        </p:blipFill>
        <p:spPr>
          <a:xfrm>
            <a:off x="5902594" y="2053109"/>
            <a:ext cx="6095593" cy="3080489"/>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36550913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A5A48-8CE3-450D-9951-B89E9193319D}"/>
              </a:ext>
            </a:extLst>
          </p:cNvPr>
          <p:cNvSpPr>
            <a:spLocks noGrp="1"/>
          </p:cNvSpPr>
          <p:nvPr>
            <p:ph type="title"/>
          </p:nvPr>
        </p:nvSpPr>
        <p:spPr>
          <a:xfrm>
            <a:off x="685801" y="304800"/>
            <a:ext cx="10131425" cy="1456267"/>
          </a:xfrm>
        </p:spPr>
        <p:txBody>
          <a:bodyPr>
            <a:normAutofit/>
          </a:bodyPr>
          <a:lstStyle/>
          <a:p>
            <a:pPr algn="just"/>
            <a:r>
              <a:rPr lang="en-US" b="1">
                <a:solidFill>
                  <a:schemeClr val="accent4">
                    <a:lumMod val="40000"/>
                    <a:lumOff val="60000"/>
                  </a:schemeClr>
                </a:solidFill>
              </a:rPr>
              <a:t>Transport layer security</a:t>
            </a:r>
          </a:p>
        </p:txBody>
      </p:sp>
      <p:sp>
        <p:nvSpPr>
          <p:cNvPr id="3" name="Content Placeholder 2">
            <a:extLst>
              <a:ext uri="{FF2B5EF4-FFF2-40B4-BE49-F238E27FC236}">
                <a16:creationId xmlns:a16="http://schemas.microsoft.com/office/drawing/2014/main" id="{519FE355-631F-4318-A216-C1DA1C32D41F}"/>
              </a:ext>
            </a:extLst>
          </p:cNvPr>
          <p:cNvSpPr>
            <a:spLocks noGrp="1"/>
          </p:cNvSpPr>
          <p:nvPr>
            <p:ph idx="1"/>
          </p:nvPr>
        </p:nvSpPr>
        <p:spPr>
          <a:xfrm>
            <a:off x="588661" y="1761067"/>
            <a:ext cx="9677399" cy="4041912"/>
          </a:xfrm>
        </p:spPr>
        <p:txBody>
          <a:bodyPr>
            <a:normAutofit/>
          </a:bodyPr>
          <a:lstStyle/>
          <a:p>
            <a:endParaRPr lang="en-US" sz="2400">
              <a:latin typeface="Agency FB" panose="020B0503020202020204" pitchFamily="34" charset="0"/>
            </a:endParaRPr>
          </a:p>
          <a:p>
            <a:endParaRPr lang="en-US" sz="2400">
              <a:latin typeface="Agency FB" panose="020B0503020202020204" pitchFamily="34" charset="0"/>
            </a:endParaRPr>
          </a:p>
          <a:p>
            <a:pPr marL="0" indent="0">
              <a:buNone/>
            </a:pPr>
            <a:endParaRPr lang="en-US" sz="2400">
              <a:latin typeface="Agency FB" panose="020B0503020202020204" pitchFamily="34" charset="0"/>
            </a:endParaRPr>
          </a:p>
          <a:p>
            <a:endParaRPr lang="en-US" sz="2000">
              <a:latin typeface="Agency FB" panose="020B0503020202020204" pitchFamily="34" charset="0"/>
            </a:endParaRPr>
          </a:p>
          <a:p>
            <a:endParaRPr lang="en-US" sz="2400"/>
          </a:p>
          <a:p>
            <a:endParaRPr lang="en-US" sz="2400" b="1">
              <a:solidFill>
                <a:schemeClr val="accent5">
                  <a:lumMod val="40000"/>
                  <a:lumOff val="60000"/>
                </a:schemeClr>
              </a:solidFill>
            </a:endParaRPr>
          </a:p>
        </p:txBody>
      </p:sp>
      <p:sp>
        <p:nvSpPr>
          <p:cNvPr id="5" name="Slide Number Placeholder 4">
            <a:extLst>
              <a:ext uri="{FF2B5EF4-FFF2-40B4-BE49-F238E27FC236}">
                <a16:creationId xmlns:a16="http://schemas.microsoft.com/office/drawing/2014/main" id="{621F0D20-685F-46DD-8765-C738C14AA0A5}"/>
              </a:ext>
            </a:extLst>
          </p:cNvPr>
          <p:cNvSpPr>
            <a:spLocks noGrp="1"/>
          </p:cNvSpPr>
          <p:nvPr>
            <p:ph type="sldNum" sz="quarter" idx="12"/>
          </p:nvPr>
        </p:nvSpPr>
        <p:spPr/>
        <p:txBody>
          <a:bodyPr/>
          <a:lstStyle/>
          <a:p>
            <a:fld id="{B2DC25EE-239B-4C5F-AAD1-255A7D5F1EE2}" type="slidenum">
              <a:rPr lang="en-US" dirty="0" smtClean="0"/>
              <a:t>4</a:t>
            </a:fld>
            <a:endParaRPr lang="en-US"/>
          </a:p>
        </p:txBody>
      </p:sp>
      <p:pic>
        <p:nvPicPr>
          <p:cNvPr id="7" name="Picture 7" descr="Graphical user interface, application&#10;&#10;Description automatically generated">
            <a:extLst>
              <a:ext uri="{FF2B5EF4-FFF2-40B4-BE49-F238E27FC236}">
                <a16:creationId xmlns:a16="http://schemas.microsoft.com/office/drawing/2014/main" id="{747E4D20-2FA2-4721-98F8-15E53822A435}"/>
              </a:ext>
            </a:extLst>
          </p:cNvPr>
          <p:cNvPicPr>
            <a:picLocks noChangeAspect="1"/>
          </p:cNvPicPr>
          <p:nvPr/>
        </p:nvPicPr>
        <p:blipFill>
          <a:blip r:embed="rId3"/>
          <a:stretch>
            <a:fillRect/>
          </a:stretch>
        </p:blipFill>
        <p:spPr>
          <a:xfrm>
            <a:off x="2452511" y="1584182"/>
            <a:ext cx="7286976" cy="4663302"/>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36688392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A5A48-8CE3-450D-9951-B89E9193319D}"/>
              </a:ext>
            </a:extLst>
          </p:cNvPr>
          <p:cNvSpPr>
            <a:spLocks noGrp="1"/>
          </p:cNvSpPr>
          <p:nvPr>
            <p:ph type="title"/>
          </p:nvPr>
        </p:nvSpPr>
        <p:spPr>
          <a:xfrm>
            <a:off x="685802" y="347873"/>
            <a:ext cx="10131425" cy="1097872"/>
          </a:xfrm>
        </p:spPr>
        <p:txBody>
          <a:bodyPr>
            <a:normAutofit/>
          </a:bodyPr>
          <a:lstStyle/>
          <a:p>
            <a:pPr algn="just"/>
            <a:r>
              <a:rPr lang="en-US" b="1">
                <a:solidFill>
                  <a:schemeClr val="accent4">
                    <a:lumMod val="40000"/>
                    <a:lumOff val="60000"/>
                  </a:schemeClr>
                </a:solidFill>
              </a:rPr>
              <a:t>Formal verification of 5g-eap-tls 1.2 protocol </a:t>
            </a:r>
          </a:p>
        </p:txBody>
      </p:sp>
      <p:sp>
        <p:nvSpPr>
          <p:cNvPr id="3" name="Content Placeholder 2">
            <a:extLst>
              <a:ext uri="{FF2B5EF4-FFF2-40B4-BE49-F238E27FC236}">
                <a16:creationId xmlns:a16="http://schemas.microsoft.com/office/drawing/2014/main" id="{519FE355-631F-4318-A216-C1DA1C32D41F}"/>
              </a:ext>
            </a:extLst>
          </p:cNvPr>
          <p:cNvSpPr>
            <a:spLocks noGrp="1"/>
          </p:cNvSpPr>
          <p:nvPr>
            <p:ph idx="1"/>
          </p:nvPr>
        </p:nvSpPr>
        <p:spPr>
          <a:xfrm>
            <a:off x="685801" y="1302724"/>
            <a:ext cx="9677399" cy="4677945"/>
          </a:xfrm>
        </p:spPr>
        <p:txBody>
          <a:bodyPr>
            <a:normAutofit fontScale="92500" lnSpcReduction="10000"/>
          </a:bodyPr>
          <a:lstStyle/>
          <a:p>
            <a:pPr marL="0" indent="0">
              <a:buNone/>
            </a:pPr>
            <a:r>
              <a:rPr lang="en-US" sz="2800" b="1">
                <a:solidFill>
                  <a:schemeClr val="accent5">
                    <a:lumMod val="40000"/>
                    <a:lumOff val="60000"/>
                  </a:schemeClr>
                </a:solidFill>
              </a:rPr>
              <a:t>Modeling Choice</a:t>
            </a:r>
          </a:p>
          <a:p>
            <a:r>
              <a:rPr lang="en-US" sz="2400"/>
              <a:t>We will consider two roles: </a:t>
            </a:r>
            <a:r>
              <a:rPr lang="en-US" sz="2400" b="1">
                <a:solidFill>
                  <a:schemeClr val="accent5"/>
                </a:solidFill>
              </a:rPr>
              <a:t>UE</a:t>
            </a:r>
            <a:r>
              <a:rPr lang="en-US" sz="2400"/>
              <a:t> and </a:t>
            </a:r>
            <a:r>
              <a:rPr lang="en-US" sz="2400" b="1">
                <a:solidFill>
                  <a:schemeClr val="accent5"/>
                </a:solidFill>
              </a:rPr>
              <a:t>NW</a:t>
            </a:r>
            <a:r>
              <a:rPr lang="en-US" sz="2400"/>
              <a:t> (a composition of Serving Network and Home Network)</a:t>
            </a:r>
          </a:p>
          <a:p>
            <a:pPr lvl="1">
              <a:buFont typeface="Wingdings" panose="05000000000000000000" pitchFamily="2" charset="2"/>
              <a:buChar char="§"/>
            </a:pPr>
            <a:r>
              <a:rPr lang="en-US" sz="2200"/>
              <a:t>We assume that the connection is secure between the serving network and home network because it is typically a wired link (and assumed to be secure)</a:t>
            </a:r>
          </a:p>
          <a:p>
            <a:r>
              <a:rPr lang="en-US" sz="2400"/>
              <a:t>We will model the protocol according to the </a:t>
            </a:r>
            <a:r>
              <a:rPr lang="en-US" sz="2400" b="1" err="1">
                <a:solidFill>
                  <a:srgbClr val="FF0000"/>
                </a:solidFill>
              </a:rPr>
              <a:t>Dolev</a:t>
            </a:r>
            <a:r>
              <a:rPr lang="en-US" sz="2400" b="1">
                <a:solidFill>
                  <a:srgbClr val="FF0000"/>
                </a:solidFill>
              </a:rPr>
              <a:t>-Yao</a:t>
            </a:r>
            <a:r>
              <a:rPr lang="en-US" sz="2400"/>
              <a:t> model:</a:t>
            </a:r>
          </a:p>
          <a:p>
            <a:pPr lvl="1">
              <a:buFont typeface="Wingdings" panose="05000000000000000000" pitchFamily="2" charset="2"/>
              <a:buChar char="§"/>
            </a:pPr>
            <a:r>
              <a:rPr lang="en-US" sz="2200" b="1">
                <a:solidFill>
                  <a:schemeClr val="accent6"/>
                </a:solidFill>
              </a:rPr>
              <a:t>Cryptography is assumed to be perfect</a:t>
            </a:r>
            <a:r>
              <a:rPr lang="en-US" sz="2200"/>
              <a:t>; a message can only be decrypted by someone who has the right key</a:t>
            </a:r>
          </a:p>
          <a:p>
            <a:pPr lvl="1">
              <a:buFont typeface="Wingdings" panose="05000000000000000000" pitchFamily="2" charset="2"/>
              <a:buChar char="§"/>
            </a:pPr>
            <a:r>
              <a:rPr lang="en-US" sz="2200" b="1">
                <a:solidFill>
                  <a:schemeClr val="accent6"/>
                </a:solidFill>
              </a:rPr>
              <a:t>Messages are assumed to be abstract terms</a:t>
            </a:r>
            <a:r>
              <a:rPr lang="en-US" sz="2200"/>
              <a:t> (either the intruder learns the complete message because of having the key or the intruder learns nothing at all)</a:t>
            </a:r>
          </a:p>
          <a:p>
            <a:pPr lvl="1">
              <a:buFont typeface="Wingdings" panose="05000000000000000000" pitchFamily="2" charset="2"/>
              <a:buChar char="§"/>
            </a:pPr>
            <a:r>
              <a:rPr lang="en-US" sz="2200" b="1">
                <a:solidFill>
                  <a:schemeClr val="accent6"/>
                </a:solidFill>
              </a:rPr>
              <a:t>Network is assumed to be under full control of the adversary</a:t>
            </a:r>
            <a:r>
              <a:rPr lang="en-US" sz="2200"/>
              <a:t>, anything transmitted over the network can be seen by the adversary</a:t>
            </a:r>
            <a:endParaRPr lang="en-US" sz="2400" b="1">
              <a:solidFill>
                <a:schemeClr val="accent6"/>
              </a:solidFill>
            </a:endParaRPr>
          </a:p>
        </p:txBody>
      </p:sp>
      <p:sp>
        <p:nvSpPr>
          <p:cNvPr id="5" name="Slide Number Placeholder 4">
            <a:extLst>
              <a:ext uri="{FF2B5EF4-FFF2-40B4-BE49-F238E27FC236}">
                <a16:creationId xmlns:a16="http://schemas.microsoft.com/office/drawing/2014/main" id="{621F0D20-685F-46DD-8765-C738C14AA0A5}"/>
              </a:ext>
            </a:extLst>
          </p:cNvPr>
          <p:cNvSpPr>
            <a:spLocks noGrp="1"/>
          </p:cNvSpPr>
          <p:nvPr>
            <p:ph type="sldNum" sz="quarter" idx="12"/>
          </p:nvPr>
        </p:nvSpPr>
        <p:spPr/>
        <p:txBody>
          <a:bodyPr/>
          <a:lstStyle/>
          <a:p>
            <a:fld id="{B2DC25EE-239B-4C5F-AAD1-255A7D5F1EE2}" type="slidenum">
              <a:rPr lang="en-US" smtClean="0"/>
              <a:t>5</a:t>
            </a:fld>
            <a:endParaRPr lang="en-US"/>
          </a:p>
        </p:txBody>
      </p:sp>
    </p:spTree>
    <p:extLst>
      <p:ext uri="{BB962C8B-B14F-4D97-AF65-F5344CB8AC3E}">
        <p14:creationId xmlns:p14="http://schemas.microsoft.com/office/powerpoint/2010/main" val="34948731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A5A48-8CE3-450D-9951-B89E9193319D}"/>
              </a:ext>
            </a:extLst>
          </p:cNvPr>
          <p:cNvSpPr>
            <a:spLocks noGrp="1"/>
          </p:cNvSpPr>
          <p:nvPr>
            <p:ph type="title"/>
          </p:nvPr>
        </p:nvSpPr>
        <p:spPr>
          <a:xfrm>
            <a:off x="118586" y="362722"/>
            <a:ext cx="4686528" cy="1490791"/>
          </a:xfrm>
        </p:spPr>
        <p:txBody>
          <a:bodyPr>
            <a:normAutofit/>
          </a:bodyPr>
          <a:lstStyle/>
          <a:p>
            <a:pPr>
              <a:lnSpc>
                <a:spcPct val="90000"/>
              </a:lnSpc>
            </a:pPr>
            <a:r>
              <a:rPr lang="en-US" sz="3200" b="1">
                <a:solidFill>
                  <a:schemeClr val="accent5"/>
                </a:solidFill>
                <a:latin typeface="+mn-lt"/>
              </a:rPr>
              <a:t>Formal verification of 5g-eap-tls 1.2 protocol</a:t>
            </a:r>
          </a:p>
        </p:txBody>
      </p:sp>
      <p:sp>
        <p:nvSpPr>
          <p:cNvPr id="3" name="Content Placeholder 2">
            <a:extLst>
              <a:ext uri="{FF2B5EF4-FFF2-40B4-BE49-F238E27FC236}">
                <a16:creationId xmlns:a16="http://schemas.microsoft.com/office/drawing/2014/main" id="{519FE355-631F-4318-A216-C1DA1C32D41F}"/>
              </a:ext>
            </a:extLst>
          </p:cNvPr>
          <p:cNvSpPr>
            <a:spLocks noGrp="1"/>
          </p:cNvSpPr>
          <p:nvPr>
            <p:ph idx="1"/>
          </p:nvPr>
        </p:nvSpPr>
        <p:spPr>
          <a:xfrm>
            <a:off x="365278" y="1644561"/>
            <a:ext cx="4211578" cy="4753720"/>
          </a:xfrm>
        </p:spPr>
        <p:txBody>
          <a:bodyPr>
            <a:normAutofit/>
          </a:bodyPr>
          <a:lstStyle/>
          <a:p>
            <a:pPr marL="342900" indent="-342900">
              <a:buAutoNum type="arabicPeriod"/>
            </a:pPr>
            <a:r>
              <a:rPr lang="en-US">
                <a:ea typeface="+mn-lt"/>
                <a:cs typeface="+mn-lt"/>
              </a:rPr>
              <a:t>UE sends SUCI, which contains the </a:t>
            </a:r>
            <a:r>
              <a:rPr lang="en-US">
                <a:solidFill>
                  <a:schemeClr val="accent3"/>
                </a:solidFill>
                <a:ea typeface="+mn-lt"/>
                <a:cs typeface="+mn-lt"/>
              </a:rPr>
              <a:t>SUPI</a:t>
            </a:r>
            <a:r>
              <a:rPr lang="en-US">
                <a:ea typeface="+mn-lt"/>
                <a:cs typeface="+mn-lt"/>
              </a:rPr>
              <a:t> and a nonce </a:t>
            </a:r>
            <a:r>
              <a:rPr lang="en-US">
                <a:solidFill>
                  <a:schemeClr val="accent3"/>
                </a:solidFill>
                <a:ea typeface="+mn-lt"/>
                <a:cs typeface="+mn-lt"/>
              </a:rPr>
              <a:t>R</a:t>
            </a:r>
            <a:r>
              <a:rPr lang="en-US" baseline="-25000">
                <a:solidFill>
                  <a:schemeClr val="accent3"/>
                </a:solidFill>
                <a:ea typeface="+mn-lt"/>
                <a:cs typeface="+mn-lt"/>
              </a:rPr>
              <a:t>UE</a:t>
            </a:r>
            <a:r>
              <a:rPr lang="en-US">
                <a:ea typeface="+mn-lt"/>
                <a:cs typeface="+mn-lt"/>
              </a:rPr>
              <a:t> encrypted with NW’s public key (</a:t>
            </a:r>
            <a:r>
              <a:rPr lang="en-US" err="1">
                <a:solidFill>
                  <a:schemeClr val="accent3"/>
                </a:solidFill>
                <a:ea typeface="+mn-lt"/>
                <a:cs typeface="+mn-lt"/>
              </a:rPr>
              <a:t>pk</a:t>
            </a:r>
            <a:r>
              <a:rPr lang="en-US" baseline="-25000" err="1">
                <a:solidFill>
                  <a:schemeClr val="accent3"/>
                </a:solidFill>
                <a:ea typeface="+mn-lt"/>
                <a:cs typeface="+mn-lt"/>
              </a:rPr>
              <a:t>NW</a:t>
            </a:r>
            <a:r>
              <a:rPr lang="en-US">
                <a:ea typeface="+mn-lt"/>
                <a:cs typeface="+mn-lt"/>
              </a:rPr>
              <a:t>)</a:t>
            </a:r>
          </a:p>
          <a:p>
            <a:pPr marL="342900" indent="-342900">
              <a:buAutoNum type="arabicPeriod"/>
            </a:pPr>
            <a:r>
              <a:rPr lang="en-US">
                <a:ea typeface="+mn-lt"/>
                <a:cs typeface="+mn-lt"/>
              </a:rPr>
              <a:t>NW replies with </a:t>
            </a:r>
            <a:r>
              <a:rPr lang="en-US" err="1">
                <a:solidFill>
                  <a:schemeClr val="accent3"/>
                </a:solidFill>
                <a:ea typeface="+mn-lt"/>
                <a:cs typeface="+mn-lt"/>
              </a:rPr>
              <a:t>TLS_Start</a:t>
            </a:r>
            <a:r>
              <a:rPr lang="en-US">
                <a:solidFill>
                  <a:schemeClr val="accent3"/>
                </a:solidFill>
                <a:ea typeface="+mn-lt"/>
                <a:cs typeface="+mn-lt"/>
              </a:rPr>
              <a:t> </a:t>
            </a:r>
            <a:r>
              <a:rPr lang="en-US">
                <a:ea typeface="+mn-lt"/>
                <a:cs typeface="+mn-lt"/>
              </a:rPr>
              <a:t>message to initiate the TLS process</a:t>
            </a:r>
          </a:p>
          <a:p>
            <a:pPr marL="342900" indent="-342900">
              <a:buFont typeface="Arial"/>
              <a:buAutoNum type="arabicPeriod"/>
            </a:pPr>
            <a:r>
              <a:rPr lang="en-US">
                <a:ea typeface="+mn-lt"/>
                <a:cs typeface="+mn-lt"/>
              </a:rPr>
              <a:t>UE generates another nonce, </a:t>
            </a:r>
            <a:r>
              <a:rPr lang="en-US">
                <a:solidFill>
                  <a:schemeClr val="accent3"/>
                </a:solidFill>
                <a:ea typeface="+mn-lt"/>
                <a:cs typeface="+mn-lt"/>
              </a:rPr>
              <a:t>R</a:t>
            </a:r>
            <a:r>
              <a:rPr lang="en-US" baseline="-25000">
                <a:solidFill>
                  <a:schemeClr val="accent3"/>
                </a:solidFill>
                <a:ea typeface="+mn-lt"/>
                <a:cs typeface="+mn-lt"/>
              </a:rPr>
              <a:t>UE1</a:t>
            </a:r>
            <a:r>
              <a:rPr lang="en-US">
                <a:ea typeface="+mn-lt"/>
                <a:cs typeface="+mn-lt"/>
              </a:rPr>
              <a:t> and sends it to NW with a constant string </a:t>
            </a:r>
            <a:r>
              <a:rPr lang="en-US" err="1">
                <a:solidFill>
                  <a:schemeClr val="accent3"/>
                </a:solidFill>
                <a:ea typeface="+mn-lt"/>
                <a:cs typeface="+mn-lt"/>
              </a:rPr>
              <a:t>Methods_UE</a:t>
            </a:r>
            <a:r>
              <a:rPr lang="en-US">
                <a:solidFill>
                  <a:schemeClr val="accent3"/>
                </a:solidFill>
                <a:ea typeface="+mn-lt"/>
                <a:cs typeface="+mn-lt"/>
              </a:rPr>
              <a:t> </a:t>
            </a:r>
            <a:r>
              <a:rPr lang="en-US">
                <a:ea typeface="+mn-lt"/>
                <a:cs typeface="+mn-lt"/>
              </a:rPr>
              <a:t>to determine methods for authentication</a:t>
            </a:r>
            <a:endParaRPr lang="en-US"/>
          </a:p>
          <a:p>
            <a:pPr marL="342900" indent="-342900">
              <a:buAutoNum type="arabicPeriod"/>
            </a:pPr>
            <a:r>
              <a:rPr lang="en-US">
                <a:ea typeface="+mn-lt"/>
                <a:cs typeface="+mn-lt"/>
              </a:rPr>
              <a:t>NW generates a nonce </a:t>
            </a:r>
            <a:r>
              <a:rPr lang="en-US">
                <a:solidFill>
                  <a:schemeClr val="accent3"/>
                </a:solidFill>
                <a:ea typeface="+mn-lt"/>
                <a:cs typeface="+mn-lt"/>
              </a:rPr>
              <a:t>R</a:t>
            </a:r>
            <a:r>
              <a:rPr lang="en-US" baseline="-25000">
                <a:solidFill>
                  <a:schemeClr val="accent3"/>
                </a:solidFill>
                <a:ea typeface="+mn-lt"/>
                <a:cs typeface="+mn-lt"/>
              </a:rPr>
              <a:t>NW</a:t>
            </a:r>
            <a:r>
              <a:rPr lang="en-US">
                <a:ea typeface="+mn-lt"/>
                <a:cs typeface="+mn-lt"/>
              </a:rPr>
              <a:t> and sends it to UE with NW’s certificate (</a:t>
            </a:r>
            <a:r>
              <a:rPr lang="en-US" err="1">
                <a:solidFill>
                  <a:schemeClr val="accent3"/>
                </a:solidFill>
                <a:ea typeface="+mn-lt"/>
                <a:cs typeface="+mn-lt"/>
              </a:rPr>
              <a:t>Certificate_NW</a:t>
            </a:r>
            <a:r>
              <a:rPr lang="en-US">
                <a:ea typeface="+mn-lt"/>
                <a:cs typeface="+mn-lt"/>
              </a:rPr>
              <a:t>) and a constant string </a:t>
            </a:r>
            <a:r>
              <a:rPr lang="en-US" err="1">
                <a:solidFill>
                  <a:schemeClr val="accent3"/>
                </a:solidFill>
                <a:ea typeface="+mn-lt"/>
                <a:cs typeface="+mn-lt"/>
              </a:rPr>
              <a:t>Methods_NW</a:t>
            </a:r>
            <a:r>
              <a:rPr lang="en-US">
                <a:ea typeface="+mn-lt"/>
                <a:cs typeface="+mn-lt"/>
              </a:rPr>
              <a:t> to indicate the authentication method</a:t>
            </a:r>
            <a:endParaRPr lang="en-US"/>
          </a:p>
        </p:txBody>
      </p:sp>
      <p:pic>
        <p:nvPicPr>
          <p:cNvPr id="7" name="Picture 6">
            <a:extLst>
              <a:ext uri="{FF2B5EF4-FFF2-40B4-BE49-F238E27FC236}">
                <a16:creationId xmlns:a16="http://schemas.microsoft.com/office/drawing/2014/main" id="{7A6503D8-642B-49D8-9D64-1735A906755A}"/>
              </a:ext>
            </a:extLst>
          </p:cNvPr>
          <p:cNvPicPr>
            <a:picLocks noChangeAspect="1"/>
          </p:cNvPicPr>
          <p:nvPr/>
        </p:nvPicPr>
        <p:blipFill>
          <a:blip r:embed="rId3"/>
          <a:stretch>
            <a:fillRect/>
          </a:stretch>
        </p:blipFill>
        <p:spPr>
          <a:xfrm>
            <a:off x="4805114" y="422440"/>
            <a:ext cx="7179845" cy="6013119"/>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pic>
      <p:sp>
        <p:nvSpPr>
          <p:cNvPr id="8" name="Rectangle 7">
            <a:extLst>
              <a:ext uri="{FF2B5EF4-FFF2-40B4-BE49-F238E27FC236}">
                <a16:creationId xmlns:a16="http://schemas.microsoft.com/office/drawing/2014/main" id="{5DF980B0-5BFC-4B42-A503-2832B7D90CDF}"/>
              </a:ext>
            </a:extLst>
          </p:cNvPr>
          <p:cNvSpPr/>
          <p:nvPr/>
        </p:nvSpPr>
        <p:spPr>
          <a:xfrm>
            <a:off x="6343815" y="972064"/>
            <a:ext cx="4102443" cy="154871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398333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A5A48-8CE3-450D-9951-B89E9193319D}"/>
              </a:ext>
            </a:extLst>
          </p:cNvPr>
          <p:cNvSpPr>
            <a:spLocks noGrp="1"/>
          </p:cNvSpPr>
          <p:nvPr>
            <p:ph type="title"/>
          </p:nvPr>
        </p:nvSpPr>
        <p:spPr>
          <a:xfrm>
            <a:off x="118586" y="362722"/>
            <a:ext cx="4686528" cy="1490791"/>
          </a:xfrm>
        </p:spPr>
        <p:txBody>
          <a:bodyPr>
            <a:normAutofit/>
          </a:bodyPr>
          <a:lstStyle/>
          <a:p>
            <a:pPr>
              <a:lnSpc>
                <a:spcPct val="90000"/>
              </a:lnSpc>
            </a:pPr>
            <a:r>
              <a:rPr lang="en-US" sz="3200" b="1">
                <a:solidFill>
                  <a:schemeClr val="accent5"/>
                </a:solidFill>
                <a:latin typeface="+mn-lt"/>
              </a:rPr>
              <a:t>Formal verification of 5g-eap-tls 1.2 protocol</a:t>
            </a:r>
          </a:p>
        </p:txBody>
      </p:sp>
      <p:sp>
        <p:nvSpPr>
          <p:cNvPr id="3" name="Content Placeholder 2">
            <a:extLst>
              <a:ext uri="{FF2B5EF4-FFF2-40B4-BE49-F238E27FC236}">
                <a16:creationId xmlns:a16="http://schemas.microsoft.com/office/drawing/2014/main" id="{519FE355-631F-4318-A216-C1DA1C32D41F}"/>
              </a:ext>
            </a:extLst>
          </p:cNvPr>
          <p:cNvSpPr>
            <a:spLocks noGrp="1"/>
          </p:cNvSpPr>
          <p:nvPr>
            <p:ph idx="1"/>
          </p:nvPr>
        </p:nvSpPr>
        <p:spPr>
          <a:xfrm>
            <a:off x="365277" y="1644560"/>
            <a:ext cx="4332557" cy="4982743"/>
          </a:xfrm>
        </p:spPr>
        <p:txBody>
          <a:bodyPr>
            <a:normAutofit fontScale="92500" lnSpcReduction="10000"/>
          </a:bodyPr>
          <a:lstStyle/>
          <a:p>
            <a:pPr marL="342900" indent="-342900">
              <a:buFont typeface="+mj-lt"/>
              <a:buAutoNum type="arabicPeriod" startAt="5"/>
            </a:pPr>
            <a:r>
              <a:rPr lang="en-US">
                <a:ea typeface="+mn-lt"/>
                <a:cs typeface="+mn-lt"/>
              </a:rPr>
              <a:t>Upon successful authentication of NW’s certificate:</a:t>
            </a:r>
          </a:p>
          <a:p>
            <a:pPr marL="511175" lvl="1">
              <a:buFont typeface="Arial" panose="020B0604020202020204" pitchFamily="34" charset="0"/>
              <a:buChar char="•"/>
            </a:pPr>
            <a:r>
              <a:rPr lang="en-US">
                <a:ea typeface="+mn-lt"/>
                <a:cs typeface="+mn-lt"/>
              </a:rPr>
              <a:t>UE generates a new nonce </a:t>
            </a:r>
            <a:r>
              <a:rPr lang="en-US">
                <a:solidFill>
                  <a:schemeClr val="accent3"/>
                </a:solidFill>
                <a:ea typeface="+mn-lt"/>
                <a:cs typeface="+mn-lt"/>
              </a:rPr>
              <a:t>R</a:t>
            </a:r>
            <a:r>
              <a:rPr lang="en-US" baseline="-25000">
                <a:solidFill>
                  <a:schemeClr val="accent3"/>
                </a:solidFill>
                <a:ea typeface="+mn-lt"/>
                <a:cs typeface="+mn-lt"/>
              </a:rPr>
              <a:t>UE2</a:t>
            </a:r>
            <a:r>
              <a:rPr lang="en-US">
                <a:ea typeface="+mn-lt"/>
                <a:cs typeface="+mn-lt"/>
              </a:rPr>
              <a:t> to compute the session key (</a:t>
            </a:r>
            <a:r>
              <a:rPr lang="en-US" err="1">
                <a:solidFill>
                  <a:schemeClr val="accent3"/>
                </a:solidFill>
                <a:ea typeface="+mn-lt"/>
                <a:cs typeface="+mn-lt"/>
              </a:rPr>
              <a:t>K</a:t>
            </a:r>
            <a:r>
              <a:rPr lang="en-US" baseline="-25000" err="1">
                <a:solidFill>
                  <a:schemeClr val="accent3"/>
                </a:solidFill>
                <a:ea typeface="+mn-lt"/>
                <a:cs typeface="+mn-lt"/>
              </a:rPr>
              <a:t>seaf</a:t>
            </a:r>
            <a:r>
              <a:rPr lang="en-US">
                <a:ea typeface="+mn-lt"/>
                <a:cs typeface="+mn-lt"/>
              </a:rPr>
              <a:t>)using </a:t>
            </a:r>
            <a:r>
              <a:rPr lang="en-US">
                <a:solidFill>
                  <a:schemeClr val="accent3"/>
                </a:solidFill>
                <a:ea typeface="+mn-lt"/>
                <a:cs typeface="+mn-lt"/>
              </a:rPr>
              <a:t>R</a:t>
            </a:r>
            <a:r>
              <a:rPr lang="en-US" baseline="-25000">
                <a:solidFill>
                  <a:schemeClr val="accent3"/>
                </a:solidFill>
                <a:ea typeface="+mn-lt"/>
                <a:cs typeface="+mn-lt"/>
              </a:rPr>
              <a:t>UE1</a:t>
            </a:r>
            <a:r>
              <a:rPr lang="en-US">
                <a:ea typeface="+mn-lt"/>
                <a:cs typeface="+mn-lt"/>
              </a:rPr>
              <a:t>, </a:t>
            </a:r>
            <a:r>
              <a:rPr lang="en-US">
                <a:solidFill>
                  <a:schemeClr val="accent3"/>
                </a:solidFill>
                <a:ea typeface="+mn-lt"/>
                <a:cs typeface="+mn-lt"/>
              </a:rPr>
              <a:t>R</a:t>
            </a:r>
            <a:r>
              <a:rPr lang="en-US" baseline="-25000">
                <a:solidFill>
                  <a:schemeClr val="accent3"/>
                </a:solidFill>
                <a:ea typeface="+mn-lt"/>
                <a:cs typeface="+mn-lt"/>
              </a:rPr>
              <a:t>NW</a:t>
            </a:r>
            <a:r>
              <a:rPr lang="en-US">
                <a:ea typeface="+mn-lt"/>
                <a:cs typeface="+mn-lt"/>
              </a:rPr>
              <a:t>, and </a:t>
            </a:r>
            <a:r>
              <a:rPr lang="en-US">
                <a:solidFill>
                  <a:schemeClr val="accent3"/>
                </a:solidFill>
                <a:ea typeface="+mn-lt"/>
                <a:cs typeface="+mn-lt"/>
              </a:rPr>
              <a:t>R</a:t>
            </a:r>
            <a:r>
              <a:rPr lang="en-US" baseline="-25000">
                <a:solidFill>
                  <a:schemeClr val="accent3"/>
                </a:solidFill>
                <a:ea typeface="+mn-lt"/>
                <a:cs typeface="+mn-lt"/>
              </a:rPr>
              <a:t>UE2</a:t>
            </a:r>
            <a:r>
              <a:rPr lang="en-US">
                <a:ea typeface="+mn-lt"/>
                <a:cs typeface="+mn-lt"/>
              </a:rPr>
              <a:t>. The </a:t>
            </a:r>
            <a:r>
              <a:rPr lang="en-US">
                <a:solidFill>
                  <a:schemeClr val="accent3"/>
                </a:solidFill>
                <a:ea typeface="+mn-lt"/>
                <a:cs typeface="+mn-lt"/>
              </a:rPr>
              <a:t>hash of </a:t>
            </a:r>
            <a:r>
              <a:rPr lang="en-US" err="1">
                <a:solidFill>
                  <a:schemeClr val="accent3"/>
                </a:solidFill>
                <a:ea typeface="+mn-lt"/>
                <a:cs typeface="+mn-lt"/>
              </a:rPr>
              <a:t>HandShake_UE</a:t>
            </a:r>
            <a:r>
              <a:rPr lang="en-US">
                <a:solidFill>
                  <a:schemeClr val="accent3"/>
                </a:solidFill>
                <a:ea typeface="+mn-lt"/>
                <a:cs typeface="+mn-lt"/>
              </a:rPr>
              <a:t> </a:t>
            </a:r>
            <a:r>
              <a:rPr lang="en-US">
                <a:ea typeface="+mn-lt"/>
                <a:cs typeface="+mn-lt"/>
              </a:rPr>
              <a:t>is also computed.</a:t>
            </a:r>
          </a:p>
          <a:p>
            <a:pPr marL="342900" indent="-342900">
              <a:buFont typeface="+mj-lt"/>
              <a:buAutoNum type="arabicPeriod" startAt="5"/>
            </a:pPr>
            <a:r>
              <a:rPr lang="en-US">
                <a:ea typeface="+mn-lt"/>
                <a:cs typeface="+mn-lt"/>
              </a:rPr>
              <a:t>UE sends </a:t>
            </a:r>
            <a:r>
              <a:rPr lang="en-US">
                <a:solidFill>
                  <a:schemeClr val="accent3"/>
                </a:solidFill>
                <a:ea typeface="+mn-lt"/>
                <a:cs typeface="+mn-lt"/>
              </a:rPr>
              <a:t>R</a:t>
            </a:r>
            <a:r>
              <a:rPr lang="en-US" baseline="-25000">
                <a:solidFill>
                  <a:schemeClr val="accent3"/>
                </a:solidFill>
                <a:ea typeface="+mn-lt"/>
                <a:cs typeface="+mn-lt"/>
              </a:rPr>
              <a:t>UE2</a:t>
            </a:r>
            <a:r>
              <a:rPr lang="en-US">
                <a:ea typeface="+mn-lt"/>
                <a:cs typeface="+mn-lt"/>
              </a:rPr>
              <a:t> encrypted with the public key of NW along with UE’s certificate (</a:t>
            </a:r>
            <a:r>
              <a:rPr lang="en-US" err="1">
                <a:solidFill>
                  <a:schemeClr val="accent3"/>
                </a:solidFill>
                <a:ea typeface="+mn-lt"/>
                <a:cs typeface="+mn-lt"/>
              </a:rPr>
              <a:t>Certificate_UE</a:t>
            </a:r>
            <a:r>
              <a:rPr lang="en-US">
                <a:ea typeface="+mn-lt"/>
                <a:cs typeface="+mn-lt"/>
              </a:rPr>
              <a:t>) and </a:t>
            </a:r>
            <a:r>
              <a:rPr lang="en-US">
                <a:solidFill>
                  <a:schemeClr val="accent3"/>
                </a:solidFill>
                <a:ea typeface="+mn-lt"/>
                <a:cs typeface="+mn-lt"/>
              </a:rPr>
              <a:t>hash of</a:t>
            </a:r>
            <a:r>
              <a:rPr lang="en-US">
                <a:ea typeface="+mn-lt"/>
                <a:cs typeface="+mn-lt"/>
              </a:rPr>
              <a:t> </a:t>
            </a:r>
            <a:r>
              <a:rPr lang="en-US" err="1">
                <a:solidFill>
                  <a:schemeClr val="accent3"/>
                </a:solidFill>
                <a:ea typeface="+mn-lt"/>
                <a:cs typeface="+mn-lt"/>
              </a:rPr>
              <a:t>Handshake_UE</a:t>
            </a:r>
            <a:r>
              <a:rPr lang="en-US">
                <a:solidFill>
                  <a:schemeClr val="accent3"/>
                </a:solidFill>
                <a:ea typeface="+mn-lt"/>
                <a:cs typeface="+mn-lt"/>
              </a:rPr>
              <a:t> </a:t>
            </a:r>
            <a:r>
              <a:rPr lang="en-US">
                <a:ea typeface="+mn-lt"/>
                <a:cs typeface="+mn-lt"/>
              </a:rPr>
              <a:t>encrypted with the session key</a:t>
            </a:r>
          </a:p>
          <a:p>
            <a:pPr marL="342900" indent="-342900">
              <a:buFont typeface="+mj-lt"/>
              <a:buAutoNum type="arabicPeriod" startAt="5"/>
            </a:pPr>
            <a:r>
              <a:rPr lang="en-US">
                <a:ea typeface="+mn-lt"/>
                <a:cs typeface="+mn-lt"/>
              </a:rPr>
              <a:t>NW authenticates the certificate of UE and upon successful authentication: </a:t>
            </a:r>
          </a:p>
          <a:p>
            <a:pPr marL="569913" lvl="1"/>
            <a:r>
              <a:rPr lang="en-US">
                <a:ea typeface="+mn-lt"/>
                <a:cs typeface="+mn-lt"/>
              </a:rPr>
              <a:t>NW generates the session key after decrypting </a:t>
            </a:r>
            <a:r>
              <a:rPr lang="en-US">
                <a:solidFill>
                  <a:schemeClr val="accent3"/>
                </a:solidFill>
                <a:ea typeface="+mn-lt"/>
                <a:cs typeface="+mn-lt"/>
              </a:rPr>
              <a:t>R</a:t>
            </a:r>
            <a:r>
              <a:rPr lang="en-US" baseline="-25000">
                <a:solidFill>
                  <a:schemeClr val="accent3"/>
                </a:solidFill>
                <a:ea typeface="+mn-lt"/>
                <a:cs typeface="+mn-lt"/>
              </a:rPr>
              <a:t>UE2</a:t>
            </a:r>
            <a:endParaRPr lang="en-US">
              <a:ea typeface="+mn-lt"/>
              <a:cs typeface="+mn-lt"/>
            </a:endParaRPr>
          </a:p>
          <a:p>
            <a:pPr marL="569913" lvl="1"/>
            <a:r>
              <a:rPr lang="en-US">
                <a:ea typeface="+mn-lt"/>
                <a:cs typeface="+mn-lt"/>
              </a:rPr>
              <a:t>NW computes the </a:t>
            </a:r>
            <a:r>
              <a:rPr lang="en-US">
                <a:solidFill>
                  <a:schemeClr val="accent3"/>
                </a:solidFill>
                <a:ea typeface="+mn-lt"/>
                <a:cs typeface="+mn-lt"/>
              </a:rPr>
              <a:t>hash of Handshake-NW </a:t>
            </a:r>
            <a:r>
              <a:rPr lang="en-US">
                <a:ea typeface="+mn-lt"/>
                <a:cs typeface="+mn-lt"/>
              </a:rPr>
              <a:t>and if it is equal to the </a:t>
            </a:r>
            <a:r>
              <a:rPr lang="en-US">
                <a:solidFill>
                  <a:schemeClr val="accent3"/>
                </a:solidFill>
                <a:ea typeface="+mn-lt"/>
                <a:cs typeface="+mn-lt"/>
              </a:rPr>
              <a:t>hash of Handshake-UE</a:t>
            </a:r>
            <a:r>
              <a:rPr lang="en-US">
                <a:ea typeface="+mn-lt"/>
                <a:cs typeface="+mn-lt"/>
              </a:rPr>
              <a:t>, then it claims the authentication to be successful and proceeds to the next step</a:t>
            </a:r>
            <a:endParaRPr lang="en-US">
              <a:cs typeface="Calibri"/>
            </a:endParaRPr>
          </a:p>
        </p:txBody>
      </p:sp>
      <p:pic>
        <p:nvPicPr>
          <p:cNvPr id="7" name="Picture 6">
            <a:extLst>
              <a:ext uri="{FF2B5EF4-FFF2-40B4-BE49-F238E27FC236}">
                <a16:creationId xmlns:a16="http://schemas.microsoft.com/office/drawing/2014/main" id="{7A6503D8-642B-49D8-9D64-1735A906755A}"/>
              </a:ext>
            </a:extLst>
          </p:cNvPr>
          <p:cNvPicPr>
            <a:picLocks noChangeAspect="1"/>
          </p:cNvPicPr>
          <p:nvPr/>
        </p:nvPicPr>
        <p:blipFill>
          <a:blip r:embed="rId3"/>
          <a:stretch>
            <a:fillRect/>
          </a:stretch>
        </p:blipFill>
        <p:spPr>
          <a:xfrm>
            <a:off x="4805114" y="422440"/>
            <a:ext cx="7179845" cy="6013119"/>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pic>
      <p:sp>
        <p:nvSpPr>
          <p:cNvPr id="4" name="Rectangle 3">
            <a:extLst>
              <a:ext uri="{FF2B5EF4-FFF2-40B4-BE49-F238E27FC236}">
                <a16:creationId xmlns:a16="http://schemas.microsoft.com/office/drawing/2014/main" id="{EC3DECC4-EEEB-4308-BE20-3BC8778C0EAF}"/>
              </a:ext>
            </a:extLst>
          </p:cNvPr>
          <p:cNvSpPr/>
          <p:nvPr/>
        </p:nvSpPr>
        <p:spPr>
          <a:xfrm>
            <a:off x="5453449" y="2516697"/>
            <a:ext cx="6467307" cy="234052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00109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A5A48-8CE3-450D-9951-B89E9193319D}"/>
              </a:ext>
            </a:extLst>
          </p:cNvPr>
          <p:cNvSpPr>
            <a:spLocks noGrp="1"/>
          </p:cNvSpPr>
          <p:nvPr>
            <p:ph type="title"/>
          </p:nvPr>
        </p:nvSpPr>
        <p:spPr>
          <a:xfrm>
            <a:off x="118586" y="362722"/>
            <a:ext cx="4686528" cy="1490791"/>
          </a:xfrm>
        </p:spPr>
        <p:txBody>
          <a:bodyPr>
            <a:normAutofit/>
          </a:bodyPr>
          <a:lstStyle/>
          <a:p>
            <a:pPr>
              <a:lnSpc>
                <a:spcPct val="90000"/>
              </a:lnSpc>
            </a:pPr>
            <a:r>
              <a:rPr lang="en-US" sz="3200" b="1">
                <a:solidFill>
                  <a:schemeClr val="accent5"/>
                </a:solidFill>
                <a:latin typeface="+mn-lt"/>
              </a:rPr>
              <a:t>Formal verification of 5g-eap-tls 1.2 protocol</a:t>
            </a:r>
          </a:p>
        </p:txBody>
      </p:sp>
      <p:sp>
        <p:nvSpPr>
          <p:cNvPr id="3" name="Content Placeholder 2">
            <a:extLst>
              <a:ext uri="{FF2B5EF4-FFF2-40B4-BE49-F238E27FC236}">
                <a16:creationId xmlns:a16="http://schemas.microsoft.com/office/drawing/2014/main" id="{519FE355-631F-4318-A216-C1DA1C32D41F}"/>
              </a:ext>
            </a:extLst>
          </p:cNvPr>
          <p:cNvSpPr>
            <a:spLocks noGrp="1"/>
          </p:cNvSpPr>
          <p:nvPr>
            <p:ph idx="1"/>
          </p:nvPr>
        </p:nvSpPr>
        <p:spPr>
          <a:xfrm>
            <a:off x="295572" y="2340846"/>
            <a:ext cx="4332557" cy="2835161"/>
          </a:xfrm>
        </p:spPr>
        <p:txBody>
          <a:bodyPr>
            <a:normAutofit/>
          </a:bodyPr>
          <a:lstStyle/>
          <a:p>
            <a:pPr marL="457200" indent="-457200">
              <a:buFont typeface="+mj-lt"/>
              <a:buAutoNum type="arabicPeriod" startAt="8"/>
            </a:pPr>
            <a:r>
              <a:rPr lang="en-US" sz="1800"/>
              <a:t>NW sends the </a:t>
            </a:r>
            <a:r>
              <a:rPr lang="en-US" sz="1800">
                <a:solidFill>
                  <a:schemeClr val="accent3"/>
                </a:solidFill>
              </a:rPr>
              <a:t>hash of </a:t>
            </a:r>
            <a:r>
              <a:rPr lang="en-US" sz="1800" err="1">
                <a:solidFill>
                  <a:schemeClr val="accent3"/>
                </a:solidFill>
              </a:rPr>
              <a:t>HandShake_NW</a:t>
            </a:r>
            <a:r>
              <a:rPr lang="en-US" sz="1800"/>
              <a:t> string encrypted with the session key to UE</a:t>
            </a:r>
          </a:p>
          <a:p>
            <a:pPr marL="457200" indent="-457200">
              <a:buAutoNum type="arabicPeriod" startAt="8"/>
            </a:pPr>
            <a:r>
              <a:rPr lang="en-US" sz="1800"/>
              <a:t>UE compares the </a:t>
            </a:r>
            <a:r>
              <a:rPr lang="en-US" sz="1800">
                <a:solidFill>
                  <a:schemeClr val="accent3"/>
                </a:solidFill>
              </a:rPr>
              <a:t>hash of </a:t>
            </a:r>
            <a:r>
              <a:rPr lang="en-US" sz="1800" err="1">
                <a:solidFill>
                  <a:schemeClr val="accent3"/>
                </a:solidFill>
              </a:rPr>
              <a:t>HandShake_NW</a:t>
            </a:r>
            <a:r>
              <a:rPr lang="en-US" sz="1800">
                <a:solidFill>
                  <a:schemeClr val="accent3"/>
                </a:solidFill>
              </a:rPr>
              <a:t> </a:t>
            </a:r>
            <a:r>
              <a:rPr lang="en-US" sz="1800"/>
              <a:t>to the </a:t>
            </a:r>
            <a:r>
              <a:rPr lang="en-US" sz="1800">
                <a:solidFill>
                  <a:schemeClr val="accent3"/>
                </a:solidFill>
              </a:rPr>
              <a:t>hash of </a:t>
            </a:r>
            <a:r>
              <a:rPr lang="en-US" sz="1800" err="1">
                <a:solidFill>
                  <a:schemeClr val="accent3"/>
                </a:solidFill>
              </a:rPr>
              <a:t>HandShake_UE</a:t>
            </a:r>
            <a:r>
              <a:rPr lang="en-US" sz="1800"/>
              <a:t>. If they are equal, then authentication is successful</a:t>
            </a:r>
          </a:p>
        </p:txBody>
      </p:sp>
      <p:pic>
        <p:nvPicPr>
          <p:cNvPr id="7" name="Picture 6">
            <a:extLst>
              <a:ext uri="{FF2B5EF4-FFF2-40B4-BE49-F238E27FC236}">
                <a16:creationId xmlns:a16="http://schemas.microsoft.com/office/drawing/2014/main" id="{7A6503D8-642B-49D8-9D64-1735A906755A}"/>
              </a:ext>
            </a:extLst>
          </p:cNvPr>
          <p:cNvPicPr>
            <a:picLocks noChangeAspect="1"/>
          </p:cNvPicPr>
          <p:nvPr/>
        </p:nvPicPr>
        <p:blipFill>
          <a:blip r:embed="rId3"/>
          <a:stretch>
            <a:fillRect/>
          </a:stretch>
        </p:blipFill>
        <p:spPr>
          <a:xfrm>
            <a:off x="4805114" y="422440"/>
            <a:ext cx="7179845" cy="6013119"/>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pic>
      <p:sp>
        <p:nvSpPr>
          <p:cNvPr id="6" name="Rectangle 5">
            <a:extLst>
              <a:ext uri="{FF2B5EF4-FFF2-40B4-BE49-F238E27FC236}">
                <a16:creationId xmlns:a16="http://schemas.microsoft.com/office/drawing/2014/main" id="{7167940C-2B55-4436-9588-3D6F7D0BD2E1}"/>
              </a:ext>
            </a:extLst>
          </p:cNvPr>
          <p:cNvSpPr/>
          <p:nvPr/>
        </p:nvSpPr>
        <p:spPr>
          <a:xfrm>
            <a:off x="4885038" y="4865615"/>
            <a:ext cx="6079373" cy="142612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809656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7E30DA5A-2508-4251-A57D-D0E6AFB9DD57}"/>
              </a:ext>
            </a:extLst>
          </p:cNvPr>
          <p:cNvPicPr>
            <a:picLocks noChangeAspect="1"/>
          </p:cNvPicPr>
          <p:nvPr/>
        </p:nvPicPr>
        <p:blipFill>
          <a:blip r:embed="rId3"/>
          <a:stretch>
            <a:fillRect/>
          </a:stretch>
        </p:blipFill>
        <p:spPr>
          <a:xfrm>
            <a:off x="444533" y="994112"/>
            <a:ext cx="6077703" cy="5155035"/>
          </a:xfrm>
          <a:prstGeom prst="rect">
            <a:avLst/>
          </a:prstGeom>
        </p:spPr>
      </p:pic>
      <p:sp>
        <p:nvSpPr>
          <p:cNvPr id="2" name="Title 1">
            <a:extLst>
              <a:ext uri="{FF2B5EF4-FFF2-40B4-BE49-F238E27FC236}">
                <a16:creationId xmlns:a16="http://schemas.microsoft.com/office/drawing/2014/main" id="{394A5A48-8CE3-450D-9951-B89E9193319D}"/>
              </a:ext>
            </a:extLst>
          </p:cNvPr>
          <p:cNvSpPr>
            <a:spLocks noGrp="1"/>
          </p:cNvSpPr>
          <p:nvPr>
            <p:ph type="title"/>
          </p:nvPr>
        </p:nvSpPr>
        <p:spPr>
          <a:xfrm>
            <a:off x="685802" y="141856"/>
            <a:ext cx="10131425" cy="852256"/>
          </a:xfrm>
        </p:spPr>
        <p:txBody>
          <a:bodyPr>
            <a:normAutofit/>
          </a:bodyPr>
          <a:lstStyle/>
          <a:p>
            <a:pPr algn="just"/>
            <a:r>
              <a:rPr lang="en-US" sz="2800" b="1">
                <a:solidFill>
                  <a:schemeClr val="accent4">
                    <a:lumMod val="40000"/>
                    <a:lumOff val="60000"/>
                  </a:schemeClr>
                </a:solidFill>
              </a:rPr>
              <a:t>5G-EAP-TLS 1.2 CPSA Code</a:t>
            </a:r>
          </a:p>
        </p:txBody>
      </p:sp>
      <p:sp>
        <p:nvSpPr>
          <p:cNvPr id="3" name="Content Placeholder 2">
            <a:extLst>
              <a:ext uri="{FF2B5EF4-FFF2-40B4-BE49-F238E27FC236}">
                <a16:creationId xmlns:a16="http://schemas.microsoft.com/office/drawing/2014/main" id="{519FE355-631F-4318-A216-C1DA1C32D41F}"/>
              </a:ext>
            </a:extLst>
          </p:cNvPr>
          <p:cNvSpPr>
            <a:spLocks noGrp="1"/>
          </p:cNvSpPr>
          <p:nvPr>
            <p:ph idx="1"/>
          </p:nvPr>
        </p:nvSpPr>
        <p:spPr>
          <a:xfrm>
            <a:off x="685801" y="1241780"/>
            <a:ext cx="9677399" cy="4041912"/>
          </a:xfrm>
        </p:spPr>
        <p:txBody>
          <a:bodyPr>
            <a:normAutofit/>
          </a:bodyPr>
          <a:lstStyle/>
          <a:p>
            <a:pPr marL="0" indent="0">
              <a:buNone/>
            </a:pPr>
            <a:endParaRPr lang="en-US" sz="2400">
              <a:latin typeface="Agency FB" panose="020B0503020202020204" pitchFamily="34" charset="0"/>
            </a:endParaRPr>
          </a:p>
          <a:p>
            <a:endParaRPr lang="en-US" sz="2400">
              <a:latin typeface="Agency FB" panose="020B0503020202020204" pitchFamily="34" charset="0"/>
            </a:endParaRPr>
          </a:p>
          <a:p>
            <a:pPr marL="0" indent="0">
              <a:buNone/>
            </a:pPr>
            <a:endParaRPr lang="en-US" sz="2400">
              <a:latin typeface="Agency FB" panose="020B0503020202020204" pitchFamily="34" charset="0"/>
            </a:endParaRPr>
          </a:p>
          <a:p>
            <a:endParaRPr lang="en-US" sz="2000">
              <a:latin typeface="Agency FB" panose="020B0503020202020204" pitchFamily="34" charset="0"/>
            </a:endParaRPr>
          </a:p>
          <a:p>
            <a:endParaRPr lang="en-US" sz="2400"/>
          </a:p>
          <a:p>
            <a:endParaRPr lang="en-US" sz="2400" b="1">
              <a:solidFill>
                <a:schemeClr val="accent5">
                  <a:lumMod val="40000"/>
                  <a:lumOff val="60000"/>
                </a:schemeClr>
              </a:solidFill>
            </a:endParaRPr>
          </a:p>
        </p:txBody>
      </p:sp>
      <p:sp>
        <p:nvSpPr>
          <p:cNvPr id="5" name="Slide Number Placeholder 4">
            <a:extLst>
              <a:ext uri="{FF2B5EF4-FFF2-40B4-BE49-F238E27FC236}">
                <a16:creationId xmlns:a16="http://schemas.microsoft.com/office/drawing/2014/main" id="{621F0D20-685F-46DD-8765-C738C14AA0A5}"/>
              </a:ext>
            </a:extLst>
          </p:cNvPr>
          <p:cNvSpPr>
            <a:spLocks noGrp="1"/>
          </p:cNvSpPr>
          <p:nvPr>
            <p:ph type="sldNum" sz="quarter" idx="12"/>
          </p:nvPr>
        </p:nvSpPr>
        <p:spPr/>
        <p:txBody>
          <a:bodyPr/>
          <a:lstStyle/>
          <a:p>
            <a:fld id="{B2DC25EE-239B-4C5F-AAD1-255A7D5F1EE2}" type="slidenum">
              <a:rPr lang="en-US" smtClean="0"/>
              <a:t>9</a:t>
            </a:fld>
            <a:endParaRPr lang="en-US"/>
          </a:p>
        </p:txBody>
      </p:sp>
      <p:pic>
        <p:nvPicPr>
          <p:cNvPr id="7" name="Picture 7" descr="Text&#10;&#10;Description automatically generated">
            <a:extLst>
              <a:ext uri="{FF2B5EF4-FFF2-40B4-BE49-F238E27FC236}">
                <a16:creationId xmlns:a16="http://schemas.microsoft.com/office/drawing/2014/main" id="{9A3AADCC-3078-4618-BA4F-6B72BDEF051F}"/>
              </a:ext>
            </a:extLst>
          </p:cNvPr>
          <p:cNvPicPr>
            <a:picLocks noChangeAspect="1"/>
          </p:cNvPicPr>
          <p:nvPr/>
        </p:nvPicPr>
        <p:blipFill>
          <a:blip r:embed="rId4"/>
          <a:stretch>
            <a:fillRect/>
          </a:stretch>
        </p:blipFill>
        <p:spPr>
          <a:xfrm>
            <a:off x="6655130" y="1529925"/>
            <a:ext cx="5351105" cy="4340650"/>
          </a:xfrm>
          <a:prstGeom prst="rect">
            <a:avLst/>
          </a:prstGeom>
        </p:spPr>
      </p:pic>
      <p:sp>
        <p:nvSpPr>
          <p:cNvPr id="8" name="Rectangle 7">
            <a:extLst>
              <a:ext uri="{FF2B5EF4-FFF2-40B4-BE49-F238E27FC236}">
                <a16:creationId xmlns:a16="http://schemas.microsoft.com/office/drawing/2014/main" id="{157D273E-E443-44B8-B965-CCA9C8BD25EA}"/>
              </a:ext>
            </a:extLst>
          </p:cNvPr>
          <p:cNvSpPr/>
          <p:nvPr/>
        </p:nvSpPr>
        <p:spPr>
          <a:xfrm>
            <a:off x="906011" y="3271125"/>
            <a:ext cx="1275126" cy="19504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5407FFD8-803C-4F69-9507-D06E1CF57D15}"/>
              </a:ext>
            </a:extLst>
          </p:cNvPr>
          <p:cNvSpPr/>
          <p:nvPr/>
        </p:nvSpPr>
        <p:spPr>
          <a:xfrm>
            <a:off x="6920917" y="2667699"/>
            <a:ext cx="1518408" cy="84728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D332C8D-D385-446C-A1B5-4826BA142668}"/>
              </a:ext>
            </a:extLst>
          </p:cNvPr>
          <p:cNvSpPr/>
          <p:nvPr/>
        </p:nvSpPr>
        <p:spPr>
          <a:xfrm>
            <a:off x="906011" y="5704514"/>
            <a:ext cx="1275126" cy="16917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5F6B2F61-6CD7-4DC3-993B-03FC912B6FAE}"/>
              </a:ext>
            </a:extLst>
          </p:cNvPr>
          <p:cNvSpPr/>
          <p:nvPr/>
        </p:nvSpPr>
        <p:spPr>
          <a:xfrm>
            <a:off x="6920917" y="5167618"/>
            <a:ext cx="1518408" cy="53689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245309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pic>
        <p:nvPicPr>
          <p:cNvPr id="7" name="Picture 8">
            <a:extLst>
              <a:ext uri="{FF2B5EF4-FFF2-40B4-BE49-F238E27FC236}">
                <a16:creationId xmlns:a16="http://schemas.microsoft.com/office/drawing/2014/main" id="{6AF6706C-CF07-43A1-BCC4-CBA5D33820D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pic>
        <p:nvPicPr>
          <p:cNvPr id="4" name="Picture 4" descr="Chart&#10;&#10;Description automatically generated">
            <a:extLst>
              <a:ext uri="{FF2B5EF4-FFF2-40B4-BE49-F238E27FC236}">
                <a16:creationId xmlns:a16="http://schemas.microsoft.com/office/drawing/2014/main" id="{25EB45EB-6712-4008-A97A-ECDC4E71C1A6}"/>
              </a:ext>
            </a:extLst>
          </p:cNvPr>
          <p:cNvPicPr>
            <a:picLocks noChangeAspect="1"/>
          </p:cNvPicPr>
          <p:nvPr/>
        </p:nvPicPr>
        <p:blipFill>
          <a:blip r:embed="rId4"/>
          <a:stretch>
            <a:fillRect/>
          </a:stretch>
        </p:blipFill>
        <p:spPr>
          <a:xfrm>
            <a:off x="926695" y="1300959"/>
            <a:ext cx="1788663" cy="5210648"/>
          </a:xfrm>
          <a:prstGeom prst="roundRect">
            <a:avLst>
              <a:gd name="adj" fmla="val 4380"/>
            </a:avLst>
          </a:prstGeom>
          <a:ln w="57150" cap="sq" cmpd="dbl">
            <a:noFill/>
            <a:miter lim="800000"/>
          </a:ln>
          <a:effectLst>
            <a:outerShdw blurRad="254000" algn="tl" rotWithShape="0">
              <a:srgbClr val="000000">
                <a:alpha val="43000"/>
              </a:srgbClr>
            </a:outerShdw>
          </a:effectLst>
        </p:spPr>
      </p:pic>
      <p:sp>
        <p:nvSpPr>
          <p:cNvPr id="3" name="Slide Number Placeholder 2">
            <a:extLst>
              <a:ext uri="{FF2B5EF4-FFF2-40B4-BE49-F238E27FC236}">
                <a16:creationId xmlns:a16="http://schemas.microsoft.com/office/drawing/2014/main" id="{5883E748-B3C7-4346-8367-F3E81E291695}"/>
              </a:ext>
            </a:extLst>
          </p:cNvPr>
          <p:cNvSpPr>
            <a:spLocks noGrp="1"/>
          </p:cNvSpPr>
          <p:nvPr>
            <p:ph type="sldNum" sz="quarter" idx="12"/>
          </p:nvPr>
        </p:nvSpPr>
        <p:spPr>
          <a:xfrm>
            <a:off x="10962917" y="6391687"/>
            <a:ext cx="551167" cy="377825"/>
          </a:xfrm>
        </p:spPr>
        <p:txBody>
          <a:bodyPr vert="horz" lIns="91440" tIns="45720" rIns="91440" bIns="45720" rtlCol="0" anchor="ctr">
            <a:normAutofit/>
          </a:bodyPr>
          <a:lstStyle/>
          <a:p>
            <a:pPr defTabSz="914400">
              <a:spcAft>
                <a:spcPts val="600"/>
              </a:spcAft>
            </a:pPr>
            <a:fld id="{B2DC25EE-239B-4C5F-AAD1-255A7D5F1EE2}" type="slidenum">
              <a:rPr lang="en-US" smtClean="0"/>
              <a:pPr defTabSz="914400">
                <a:spcAft>
                  <a:spcPts val="600"/>
                </a:spcAft>
              </a:pPr>
              <a:t>10</a:t>
            </a:fld>
            <a:endParaRPr lang="en-US"/>
          </a:p>
        </p:txBody>
      </p:sp>
      <p:pic>
        <p:nvPicPr>
          <p:cNvPr id="13" name="Picture 4" descr="Chart, scatter chart&#10;&#10;Description automatically generated">
            <a:extLst>
              <a:ext uri="{FF2B5EF4-FFF2-40B4-BE49-F238E27FC236}">
                <a16:creationId xmlns:a16="http://schemas.microsoft.com/office/drawing/2014/main" id="{3FBCD093-01CE-4542-926B-CCA6004B1909}"/>
              </a:ext>
            </a:extLst>
          </p:cNvPr>
          <p:cNvPicPr>
            <a:picLocks noChangeAspect="1"/>
          </p:cNvPicPr>
          <p:nvPr/>
        </p:nvPicPr>
        <p:blipFill>
          <a:blip r:embed="rId5"/>
          <a:stretch>
            <a:fillRect/>
          </a:stretch>
        </p:blipFill>
        <p:spPr>
          <a:xfrm>
            <a:off x="3137035" y="1300959"/>
            <a:ext cx="2726869" cy="5210648"/>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pic>
      <p:sp>
        <p:nvSpPr>
          <p:cNvPr id="14" name="Oval 13">
            <a:extLst>
              <a:ext uri="{FF2B5EF4-FFF2-40B4-BE49-F238E27FC236}">
                <a16:creationId xmlns:a16="http://schemas.microsoft.com/office/drawing/2014/main" id="{C05593DC-00A1-4C51-8C6C-535A2F2CC286}"/>
              </a:ext>
            </a:extLst>
          </p:cNvPr>
          <p:cNvSpPr/>
          <p:nvPr/>
        </p:nvSpPr>
        <p:spPr>
          <a:xfrm>
            <a:off x="5246204" y="2130804"/>
            <a:ext cx="327172" cy="310392"/>
          </a:xfrm>
          <a:prstGeom prst="ellipse">
            <a:avLst/>
          </a:prstGeom>
          <a:noFill/>
          <a:ln w="1270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15" name="Picture 5" descr="Chart&#10;&#10;Description automatically generated">
            <a:extLst>
              <a:ext uri="{FF2B5EF4-FFF2-40B4-BE49-F238E27FC236}">
                <a16:creationId xmlns:a16="http://schemas.microsoft.com/office/drawing/2014/main" id="{B45B2EEC-6EB3-4E02-B62A-089830B25145}"/>
              </a:ext>
            </a:extLst>
          </p:cNvPr>
          <p:cNvPicPr>
            <a:picLocks noChangeAspect="1"/>
          </p:cNvPicPr>
          <p:nvPr/>
        </p:nvPicPr>
        <p:blipFill>
          <a:blip r:embed="rId6"/>
          <a:stretch>
            <a:fillRect/>
          </a:stretch>
        </p:blipFill>
        <p:spPr>
          <a:xfrm>
            <a:off x="6281891" y="1300959"/>
            <a:ext cx="2395187" cy="5210648"/>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pic>
      <p:sp>
        <p:nvSpPr>
          <p:cNvPr id="17" name="Oval 16">
            <a:extLst>
              <a:ext uri="{FF2B5EF4-FFF2-40B4-BE49-F238E27FC236}">
                <a16:creationId xmlns:a16="http://schemas.microsoft.com/office/drawing/2014/main" id="{3B0318C0-DA95-40E3-9FF6-E48B3D50771A}"/>
              </a:ext>
            </a:extLst>
          </p:cNvPr>
          <p:cNvSpPr/>
          <p:nvPr/>
        </p:nvSpPr>
        <p:spPr>
          <a:xfrm>
            <a:off x="8125141" y="2051818"/>
            <a:ext cx="327172" cy="310392"/>
          </a:xfrm>
          <a:prstGeom prst="ellipse">
            <a:avLst/>
          </a:prstGeom>
          <a:noFill/>
          <a:ln w="1270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19" name="Picture 18">
            <a:extLst>
              <a:ext uri="{FF2B5EF4-FFF2-40B4-BE49-F238E27FC236}">
                <a16:creationId xmlns:a16="http://schemas.microsoft.com/office/drawing/2014/main" id="{98AC7AB7-95DB-40D7-B5E2-05FB95C285FA}"/>
              </a:ext>
            </a:extLst>
          </p:cNvPr>
          <p:cNvPicPr>
            <a:picLocks noChangeAspect="1"/>
          </p:cNvPicPr>
          <p:nvPr/>
        </p:nvPicPr>
        <p:blipFill>
          <a:blip r:embed="rId7"/>
          <a:stretch>
            <a:fillRect/>
          </a:stretch>
        </p:blipFill>
        <p:spPr>
          <a:xfrm>
            <a:off x="8713734" y="284021"/>
            <a:ext cx="2800350" cy="914400"/>
          </a:xfrm>
          <a:prstGeom prst="roundRect">
            <a:avLst>
              <a:gd name="adj" fmla="val 8594"/>
            </a:avLst>
          </a:prstGeom>
          <a:solidFill>
            <a:srgbClr val="FFFFFF">
              <a:shade val="85000"/>
            </a:srgbClr>
          </a:solidFill>
          <a:ln>
            <a:noFill/>
          </a:ln>
          <a:effectLst/>
        </p:spPr>
      </p:pic>
      <p:sp>
        <p:nvSpPr>
          <p:cNvPr id="23" name="TextBox 22">
            <a:extLst>
              <a:ext uri="{FF2B5EF4-FFF2-40B4-BE49-F238E27FC236}">
                <a16:creationId xmlns:a16="http://schemas.microsoft.com/office/drawing/2014/main" id="{74F7E553-707E-4611-8714-82E818046AD1}"/>
              </a:ext>
            </a:extLst>
          </p:cNvPr>
          <p:cNvSpPr txBox="1"/>
          <p:nvPr/>
        </p:nvSpPr>
        <p:spPr>
          <a:xfrm>
            <a:off x="799051" y="511107"/>
            <a:ext cx="6289645" cy="584775"/>
          </a:xfrm>
          <a:prstGeom prst="rect">
            <a:avLst/>
          </a:prstGeom>
          <a:noFill/>
        </p:spPr>
        <p:txBody>
          <a:bodyPr wrap="square">
            <a:spAutoFit/>
          </a:bodyPr>
          <a:lstStyle/>
          <a:p>
            <a:r>
              <a:rPr lang="en-US" sz="3200" b="1">
                <a:solidFill>
                  <a:schemeClr val="accent4">
                    <a:lumMod val="40000"/>
                    <a:lumOff val="60000"/>
                  </a:schemeClr>
                </a:solidFill>
                <a:latin typeface="+mj-lt"/>
              </a:rPr>
              <a:t>5G-EAP-TLS 1.2 Analysis</a:t>
            </a:r>
            <a:endParaRPr lang="en-US" sz="3200">
              <a:latin typeface="+mj-lt"/>
            </a:endParaRPr>
          </a:p>
        </p:txBody>
      </p:sp>
      <p:pic>
        <p:nvPicPr>
          <p:cNvPr id="25" name="Picture 24">
            <a:extLst>
              <a:ext uri="{FF2B5EF4-FFF2-40B4-BE49-F238E27FC236}">
                <a16:creationId xmlns:a16="http://schemas.microsoft.com/office/drawing/2014/main" id="{2EAA8D16-772A-4BEC-9B2C-6183990B74D9}"/>
              </a:ext>
            </a:extLst>
          </p:cNvPr>
          <p:cNvPicPr>
            <a:picLocks noChangeAspect="1"/>
          </p:cNvPicPr>
          <p:nvPr/>
        </p:nvPicPr>
        <p:blipFill>
          <a:blip r:embed="rId8"/>
          <a:stretch>
            <a:fillRect/>
          </a:stretch>
        </p:blipFill>
        <p:spPr>
          <a:xfrm>
            <a:off x="9095066" y="1361379"/>
            <a:ext cx="2287420" cy="5089808"/>
          </a:xfrm>
          <a:prstGeom prst="roundRect">
            <a:avLst>
              <a:gd name="adj" fmla="val 8594"/>
            </a:avLst>
          </a:prstGeom>
          <a:solidFill>
            <a:srgbClr val="FFFFFF">
              <a:shade val="85000"/>
            </a:srgbClr>
          </a:solidFill>
          <a:ln>
            <a:noFill/>
          </a:ln>
          <a:effectLst/>
        </p:spPr>
      </p:pic>
    </p:spTree>
    <p:extLst>
      <p:ext uri="{BB962C8B-B14F-4D97-AF65-F5344CB8AC3E}">
        <p14:creationId xmlns:p14="http://schemas.microsoft.com/office/powerpoint/2010/main" val="31404711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8E93544-4C75-496E-AE09-F910708908E5}"/>
              </a:ext>
            </a:extLst>
          </p:cNvPr>
          <p:cNvSpPr>
            <a:spLocks noGrp="1"/>
          </p:cNvSpPr>
          <p:nvPr>
            <p:ph idx="1"/>
          </p:nvPr>
        </p:nvSpPr>
        <p:spPr>
          <a:xfrm>
            <a:off x="685801" y="1224793"/>
            <a:ext cx="4204981" cy="4882392"/>
          </a:xfrm>
        </p:spPr>
        <p:txBody>
          <a:bodyPr>
            <a:normAutofit/>
          </a:bodyPr>
          <a:lstStyle/>
          <a:p>
            <a:pPr marL="0" indent="0">
              <a:buNone/>
            </a:pPr>
            <a:r>
              <a:rPr lang="en-US" dirty="0"/>
              <a:t>Based on the shapes and realized skeletons generated from our CPSA model our implementation of the 5G-EAP-TLS protocol appears to be </a:t>
            </a:r>
            <a:r>
              <a:rPr lang="en-US" b="1" dirty="0">
                <a:solidFill>
                  <a:schemeClr val="accent4"/>
                </a:solidFill>
              </a:rPr>
              <a:t>secure</a:t>
            </a:r>
            <a:r>
              <a:rPr lang="en-US" dirty="0"/>
              <a:t>.</a:t>
            </a:r>
          </a:p>
          <a:p>
            <a:r>
              <a:rPr lang="en-US" dirty="0"/>
              <a:t>The most important part of this protocol is the security of the </a:t>
            </a:r>
            <a:r>
              <a:rPr lang="en-US" b="1" dirty="0">
                <a:solidFill>
                  <a:schemeClr val="accent5"/>
                </a:solidFill>
              </a:rPr>
              <a:t>session key</a:t>
            </a:r>
            <a:r>
              <a:rPr lang="en-US" dirty="0"/>
              <a:t> that is generated. Despite how many UE and NW entities are generated, the last two messages that are exchanged using the session key are always between the first instances of UE and NW. </a:t>
            </a:r>
          </a:p>
          <a:p>
            <a:r>
              <a:rPr lang="en-US" dirty="0"/>
              <a:t>Furthermore, some instances of the tree will lead back to the expected procedure (child 4)</a:t>
            </a:r>
          </a:p>
        </p:txBody>
      </p:sp>
      <p:sp>
        <p:nvSpPr>
          <p:cNvPr id="4" name="Slide Number Placeholder 3">
            <a:extLst>
              <a:ext uri="{FF2B5EF4-FFF2-40B4-BE49-F238E27FC236}">
                <a16:creationId xmlns:a16="http://schemas.microsoft.com/office/drawing/2014/main" id="{427B14A3-358D-4154-B18D-9AADCA6FD5BB}"/>
              </a:ext>
            </a:extLst>
          </p:cNvPr>
          <p:cNvSpPr>
            <a:spLocks noGrp="1"/>
          </p:cNvSpPr>
          <p:nvPr>
            <p:ph type="sldNum" sz="quarter" idx="12"/>
          </p:nvPr>
        </p:nvSpPr>
        <p:spPr>
          <a:xfrm>
            <a:off x="10445821" y="5811230"/>
            <a:ext cx="551167" cy="377825"/>
          </a:xfrm>
        </p:spPr>
        <p:txBody>
          <a:bodyPr/>
          <a:lstStyle/>
          <a:p>
            <a:fld id="{B2DC25EE-239B-4C5F-AAD1-255A7D5F1EE2}" type="slidenum">
              <a:rPr lang="en-US" smtClean="0"/>
              <a:t>11</a:t>
            </a:fld>
            <a:endParaRPr lang="en-US"/>
          </a:p>
        </p:txBody>
      </p:sp>
      <p:sp>
        <p:nvSpPr>
          <p:cNvPr id="7" name="TextBox 6">
            <a:extLst>
              <a:ext uri="{FF2B5EF4-FFF2-40B4-BE49-F238E27FC236}">
                <a16:creationId xmlns:a16="http://schemas.microsoft.com/office/drawing/2014/main" id="{BA80D1DF-72CE-4447-A74A-1129A5097A84}"/>
              </a:ext>
            </a:extLst>
          </p:cNvPr>
          <p:cNvSpPr txBox="1"/>
          <p:nvPr/>
        </p:nvSpPr>
        <p:spPr>
          <a:xfrm>
            <a:off x="685801" y="553052"/>
            <a:ext cx="6289645" cy="584775"/>
          </a:xfrm>
          <a:prstGeom prst="rect">
            <a:avLst/>
          </a:prstGeom>
          <a:noFill/>
        </p:spPr>
        <p:txBody>
          <a:bodyPr wrap="square">
            <a:spAutoFit/>
          </a:bodyPr>
          <a:lstStyle/>
          <a:p>
            <a:r>
              <a:rPr lang="en-US" sz="3200" b="1">
                <a:solidFill>
                  <a:schemeClr val="accent4">
                    <a:lumMod val="40000"/>
                    <a:lumOff val="60000"/>
                  </a:schemeClr>
                </a:solidFill>
                <a:latin typeface="+mj-lt"/>
              </a:rPr>
              <a:t>5G-EAP-TLS 1.2 Analysis</a:t>
            </a:r>
            <a:endParaRPr lang="en-US" sz="3200" b="1">
              <a:latin typeface="+mj-lt"/>
            </a:endParaRPr>
          </a:p>
        </p:txBody>
      </p:sp>
      <p:pic>
        <p:nvPicPr>
          <p:cNvPr id="9" name="Picture 8">
            <a:extLst>
              <a:ext uri="{FF2B5EF4-FFF2-40B4-BE49-F238E27FC236}">
                <a16:creationId xmlns:a16="http://schemas.microsoft.com/office/drawing/2014/main" id="{A224F6FE-CB96-4CB5-B64A-17546818DC08}"/>
              </a:ext>
            </a:extLst>
          </p:cNvPr>
          <p:cNvPicPr>
            <a:picLocks noChangeAspect="1"/>
          </p:cNvPicPr>
          <p:nvPr/>
        </p:nvPicPr>
        <p:blipFill rotWithShape="1">
          <a:blip r:embed="rId2"/>
          <a:srcRect l="571" r="61350"/>
          <a:stretch/>
        </p:blipFill>
        <p:spPr>
          <a:xfrm>
            <a:off x="7155208" y="612396"/>
            <a:ext cx="4660084" cy="5633207"/>
          </a:xfrm>
          <a:prstGeom prst="roundRect">
            <a:avLst>
              <a:gd name="adj" fmla="val 8594"/>
            </a:avLst>
          </a:prstGeom>
          <a:solidFill>
            <a:srgbClr val="FFFFFF">
              <a:shade val="85000"/>
            </a:srgbClr>
          </a:solidFill>
          <a:ln>
            <a:noFill/>
          </a:ln>
          <a:effectLst/>
        </p:spPr>
      </p:pic>
      <p:sp>
        <p:nvSpPr>
          <p:cNvPr id="12" name="TextBox 11">
            <a:extLst>
              <a:ext uri="{FF2B5EF4-FFF2-40B4-BE49-F238E27FC236}">
                <a16:creationId xmlns:a16="http://schemas.microsoft.com/office/drawing/2014/main" id="{63813BC6-A4A0-4050-88BC-679DD800A9EE}"/>
              </a:ext>
            </a:extLst>
          </p:cNvPr>
          <p:cNvSpPr txBox="1"/>
          <p:nvPr/>
        </p:nvSpPr>
        <p:spPr>
          <a:xfrm>
            <a:off x="9278680" y="5124510"/>
            <a:ext cx="2326887" cy="923330"/>
          </a:xfrm>
          <a:prstGeom prst="rect">
            <a:avLst/>
          </a:prstGeom>
          <a:noFill/>
          <a:ln>
            <a:solidFill>
              <a:schemeClr val="bg1"/>
            </a:solidFill>
          </a:ln>
        </p:spPr>
        <p:txBody>
          <a:bodyPr wrap="square" rtlCol="0">
            <a:spAutoFit/>
          </a:bodyPr>
          <a:lstStyle/>
          <a:p>
            <a:r>
              <a:rPr lang="en-US" i="1">
                <a:solidFill>
                  <a:srgbClr val="66B266"/>
                </a:solidFill>
              </a:rPr>
              <a:t>Seen Child </a:t>
            </a:r>
            <a:r>
              <a:rPr lang="en-US">
                <a:solidFill>
                  <a:srgbClr val="66B266"/>
                </a:solidFill>
              </a:rPr>
              <a:t>(links to elsewhere in the tree with live children)</a:t>
            </a:r>
          </a:p>
        </p:txBody>
      </p:sp>
      <p:pic>
        <p:nvPicPr>
          <p:cNvPr id="13" name="Picture 4" descr="Chart&#10;&#10;Description automatically generated">
            <a:extLst>
              <a:ext uri="{FF2B5EF4-FFF2-40B4-BE49-F238E27FC236}">
                <a16:creationId xmlns:a16="http://schemas.microsoft.com/office/drawing/2014/main" id="{97FE8E09-86E1-40CB-9CD3-8011B9DD34A1}"/>
              </a:ext>
            </a:extLst>
          </p:cNvPr>
          <p:cNvPicPr>
            <a:picLocks noChangeAspect="1"/>
          </p:cNvPicPr>
          <p:nvPr/>
        </p:nvPicPr>
        <p:blipFill>
          <a:blip r:embed="rId3"/>
          <a:stretch>
            <a:fillRect/>
          </a:stretch>
        </p:blipFill>
        <p:spPr>
          <a:xfrm>
            <a:off x="5126119" y="837192"/>
            <a:ext cx="1788663" cy="5210648"/>
          </a:xfrm>
          <a:prstGeom prst="roundRect">
            <a:avLst>
              <a:gd name="adj" fmla="val 4380"/>
            </a:avLst>
          </a:prstGeom>
          <a:ln w="57150" cap="sq" cmpd="dbl">
            <a:noFill/>
            <a:miter lim="800000"/>
          </a:ln>
          <a:effectLst>
            <a:outerShdw blurRad="254000" algn="tl" rotWithShape="0">
              <a:srgbClr val="000000">
                <a:alpha val="43000"/>
              </a:srgbClr>
            </a:outerShdw>
          </a:effectLst>
        </p:spPr>
      </p:pic>
      <p:sp>
        <p:nvSpPr>
          <p:cNvPr id="14" name="Rectangle 13">
            <a:extLst>
              <a:ext uri="{FF2B5EF4-FFF2-40B4-BE49-F238E27FC236}">
                <a16:creationId xmlns:a16="http://schemas.microsoft.com/office/drawing/2014/main" id="{54CA705F-34F6-4380-B950-3A5BF7B7F32F}"/>
              </a:ext>
            </a:extLst>
          </p:cNvPr>
          <p:cNvSpPr/>
          <p:nvPr/>
        </p:nvSpPr>
        <p:spPr>
          <a:xfrm>
            <a:off x="5399362" y="4753296"/>
            <a:ext cx="1199626" cy="95634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19050">
                <a:noFill/>
              </a:ln>
              <a:solidFill>
                <a:schemeClr val="bg1"/>
              </a:solidFill>
            </a:endParaRPr>
          </a:p>
        </p:txBody>
      </p:sp>
      <p:sp>
        <p:nvSpPr>
          <p:cNvPr id="15" name="Oval 14">
            <a:extLst>
              <a:ext uri="{FF2B5EF4-FFF2-40B4-BE49-F238E27FC236}">
                <a16:creationId xmlns:a16="http://schemas.microsoft.com/office/drawing/2014/main" id="{D133971C-7FD0-4CEF-8F8D-5B9E510EC956}"/>
              </a:ext>
            </a:extLst>
          </p:cNvPr>
          <p:cNvSpPr/>
          <p:nvPr/>
        </p:nvSpPr>
        <p:spPr>
          <a:xfrm>
            <a:off x="10322051" y="2952303"/>
            <a:ext cx="201336" cy="192946"/>
          </a:xfrm>
          <a:prstGeom prst="ellipse">
            <a:avLst/>
          </a:prstGeom>
          <a:noFill/>
          <a:ln w="28575">
            <a:solidFill>
              <a:srgbClr val="66B2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4210CD4E-562D-4705-8A94-77513901BBCF}"/>
              </a:ext>
            </a:extLst>
          </p:cNvPr>
          <p:cNvSpPr/>
          <p:nvPr/>
        </p:nvSpPr>
        <p:spPr>
          <a:xfrm>
            <a:off x="10795652" y="1770853"/>
            <a:ext cx="201336" cy="192946"/>
          </a:xfrm>
          <a:prstGeom prst="ellipse">
            <a:avLst/>
          </a:prstGeom>
          <a:noFill/>
          <a:ln w="28575">
            <a:solidFill>
              <a:srgbClr val="66B2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4507444A-749D-434A-86B2-B02CC4CC566B}"/>
              </a:ext>
            </a:extLst>
          </p:cNvPr>
          <p:cNvSpPr/>
          <p:nvPr/>
        </p:nvSpPr>
        <p:spPr>
          <a:xfrm>
            <a:off x="9354618" y="4144938"/>
            <a:ext cx="201336" cy="192946"/>
          </a:xfrm>
          <a:prstGeom prst="ellipse">
            <a:avLst/>
          </a:prstGeom>
          <a:noFill/>
          <a:ln w="28575">
            <a:solidFill>
              <a:srgbClr val="66B2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624B5689-1D82-46F5-AB85-D6FC10B8C68C}"/>
              </a:ext>
            </a:extLst>
          </p:cNvPr>
          <p:cNvSpPr/>
          <p:nvPr/>
        </p:nvSpPr>
        <p:spPr>
          <a:xfrm>
            <a:off x="11247542" y="560516"/>
            <a:ext cx="278332" cy="261907"/>
          </a:xfrm>
          <a:prstGeom prst="ellipse">
            <a:avLst/>
          </a:prstGeom>
          <a:noFill/>
          <a:ln w="28575">
            <a:solidFill>
              <a:srgbClr val="66B2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690830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8E93544-4C75-496E-AE09-F910708908E5}"/>
              </a:ext>
            </a:extLst>
          </p:cNvPr>
          <p:cNvSpPr>
            <a:spLocks noGrp="1"/>
          </p:cNvSpPr>
          <p:nvPr>
            <p:ph idx="1"/>
          </p:nvPr>
        </p:nvSpPr>
        <p:spPr>
          <a:xfrm>
            <a:off x="685801" y="1224793"/>
            <a:ext cx="4204981" cy="4882392"/>
          </a:xfrm>
        </p:spPr>
        <p:txBody>
          <a:bodyPr>
            <a:normAutofit/>
          </a:bodyPr>
          <a:lstStyle/>
          <a:p>
            <a:pPr marL="0" indent="0">
              <a:buNone/>
            </a:pPr>
            <a:r>
              <a:rPr lang="en-US" dirty="0"/>
              <a:t>It is interesting that our CPSA implementation of the 5G-EAP-TLS protocol did not encounter the </a:t>
            </a:r>
            <a:r>
              <a:rPr lang="en-US" dirty="0" err="1"/>
              <a:t>MiTM</a:t>
            </a:r>
            <a:r>
              <a:rPr lang="en-US" dirty="0"/>
              <a:t> attack.</a:t>
            </a:r>
          </a:p>
          <a:p>
            <a:r>
              <a:rPr lang="en-US" dirty="0"/>
              <a:t>A man in the middle attack could work in theory as the security of the session key could be compromised as </a:t>
            </a:r>
            <a:r>
              <a:rPr lang="en-US" dirty="0">
                <a:solidFill>
                  <a:srgbClr val="FF0000"/>
                </a:solidFill>
                <a:ea typeface="+mn-lt"/>
                <a:cs typeface="+mn-lt"/>
              </a:rPr>
              <a:t>R</a:t>
            </a:r>
            <a:r>
              <a:rPr lang="en-US" baseline="-25000" dirty="0">
                <a:solidFill>
                  <a:srgbClr val="FF0000"/>
                </a:solidFill>
                <a:ea typeface="+mn-lt"/>
                <a:cs typeface="+mn-lt"/>
              </a:rPr>
              <a:t>UE1</a:t>
            </a:r>
            <a:r>
              <a:rPr lang="en-US" dirty="0">
                <a:ea typeface="+mn-lt"/>
                <a:cs typeface="+mn-lt"/>
              </a:rPr>
              <a:t> and </a:t>
            </a:r>
            <a:r>
              <a:rPr lang="en-US" dirty="0">
                <a:solidFill>
                  <a:srgbClr val="FF0000"/>
                </a:solidFill>
                <a:ea typeface="+mn-lt"/>
                <a:cs typeface="+mn-lt"/>
              </a:rPr>
              <a:t>R</a:t>
            </a:r>
            <a:r>
              <a:rPr lang="en-US" baseline="-25000" dirty="0">
                <a:solidFill>
                  <a:srgbClr val="FF0000"/>
                </a:solidFill>
                <a:ea typeface="+mn-lt"/>
                <a:cs typeface="+mn-lt"/>
              </a:rPr>
              <a:t>NW</a:t>
            </a:r>
            <a:r>
              <a:rPr lang="en-US" dirty="0">
                <a:ea typeface="+mn-lt"/>
                <a:cs typeface="+mn-lt"/>
              </a:rPr>
              <a:t> are sent in the clear and </a:t>
            </a:r>
            <a:r>
              <a:rPr lang="en-US" dirty="0">
                <a:solidFill>
                  <a:srgbClr val="FF0000"/>
                </a:solidFill>
                <a:ea typeface="+mn-lt"/>
                <a:cs typeface="+mn-lt"/>
              </a:rPr>
              <a:t>R</a:t>
            </a:r>
            <a:r>
              <a:rPr lang="en-US" baseline="-25000" dirty="0">
                <a:solidFill>
                  <a:srgbClr val="FF0000"/>
                </a:solidFill>
                <a:ea typeface="+mn-lt"/>
                <a:cs typeface="+mn-lt"/>
              </a:rPr>
              <a:t>UE2</a:t>
            </a:r>
            <a:r>
              <a:rPr lang="en-US" dirty="0"/>
              <a:t> can be spoofed by the adversary.</a:t>
            </a:r>
          </a:p>
        </p:txBody>
      </p:sp>
      <p:sp>
        <p:nvSpPr>
          <p:cNvPr id="7" name="TextBox 6">
            <a:extLst>
              <a:ext uri="{FF2B5EF4-FFF2-40B4-BE49-F238E27FC236}">
                <a16:creationId xmlns:a16="http://schemas.microsoft.com/office/drawing/2014/main" id="{BA80D1DF-72CE-4447-A74A-1129A5097A84}"/>
              </a:ext>
            </a:extLst>
          </p:cNvPr>
          <p:cNvSpPr txBox="1"/>
          <p:nvPr/>
        </p:nvSpPr>
        <p:spPr>
          <a:xfrm>
            <a:off x="685801" y="553052"/>
            <a:ext cx="6289645" cy="584775"/>
          </a:xfrm>
          <a:prstGeom prst="rect">
            <a:avLst/>
          </a:prstGeom>
          <a:noFill/>
        </p:spPr>
        <p:txBody>
          <a:bodyPr wrap="square">
            <a:spAutoFit/>
          </a:bodyPr>
          <a:lstStyle/>
          <a:p>
            <a:r>
              <a:rPr lang="en-US" sz="3200" b="1">
                <a:solidFill>
                  <a:schemeClr val="accent4">
                    <a:lumMod val="40000"/>
                    <a:lumOff val="60000"/>
                  </a:schemeClr>
                </a:solidFill>
                <a:latin typeface="+mj-lt"/>
              </a:rPr>
              <a:t>5G-EAP-TLS 1.2 Analysis</a:t>
            </a:r>
            <a:endParaRPr lang="en-US" sz="3200" b="1">
              <a:latin typeface="+mj-lt"/>
            </a:endParaRPr>
          </a:p>
        </p:txBody>
      </p:sp>
      <p:pic>
        <p:nvPicPr>
          <p:cNvPr id="5" name="Picture 4">
            <a:extLst>
              <a:ext uri="{FF2B5EF4-FFF2-40B4-BE49-F238E27FC236}">
                <a16:creationId xmlns:a16="http://schemas.microsoft.com/office/drawing/2014/main" id="{61484212-B797-4836-AE96-21520CAFB074}"/>
              </a:ext>
            </a:extLst>
          </p:cNvPr>
          <p:cNvPicPr>
            <a:picLocks noChangeAspect="1"/>
          </p:cNvPicPr>
          <p:nvPr/>
        </p:nvPicPr>
        <p:blipFill>
          <a:blip r:embed="rId2"/>
          <a:stretch>
            <a:fillRect/>
          </a:stretch>
        </p:blipFill>
        <p:spPr>
          <a:xfrm>
            <a:off x="4987657" y="671741"/>
            <a:ext cx="6898849" cy="5633207"/>
          </a:xfrm>
          <a:prstGeom prst="roundRect">
            <a:avLst>
              <a:gd name="adj" fmla="val 8594"/>
            </a:avLst>
          </a:prstGeom>
          <a:solidFill>
            <a:srgbClr val="FFFFFF">
              <a:shade val="85000"/>
            </a:srgbClr>
          </a:solidFill>
          <a:ln>
            <a:noFill/>
          </a:ln>
          <a:effectLst/>
        </p:spPr>
      </p:pic>
    </p:spTree>
    <p:extLst>
      <p:ext uri="{BB962C8B-B14F-4D97-AF65-F5344CB8AC3E}">
        <p14:creationId xmlns:p14="http://schemas.microsoft.com/office/powerpoint/2010/main" val="2665931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A5A48-8CE3-450D-9951-B89E9193319D}"/>
              </a:ext>
            </a:extLst>
          </p:cNvPr>
          <p:cNvSpPr>
            <a:spLocks noGrp="1"/>
          </p:cNvSpPr>
          <p:nvPr>
            <p:ph type="title"/>
          </p:nvPr>
        </p:nvSpPr>
        <p:spPr>
          <a:xfrm>
            <a:off x="685801" y="418915"/>
            <a:ext cx="10131425" cy="1097872"/>
          </a:xfrm>
        </p:spPr>
        <p:txBody>
          <a:bodyPr>
            <a:normAutofit/>
          </a:bodyPr>
          <a:lstStyle/>
          <a:p>
            <a:pPr algn="just"/>
            <a:r>
              <a:rPr lang="en-US" b="1">
                <a:solidFill>
                  <a:schemeClr val="accent4">
                    <a:lumMod val="40000"/>
                    <a:lumOff val="60000"/>
                  </a:schemeClr>
                </a:solidFill>
              </a:rPr>
              <a:t>Challenges</a:t>
            </a:r>
          </a:p>
        </p:txBody>
      </p:sp>
      <p:sp>
        <p:nvSpPr>
          <p:cNvPr id="3" name="Content Placeholder 2">
            <a:extLst>
              <a:ext uri="{FF2B5EF4-FFF2-40B4-BE49-F238E27FC236}">
                <a16:creationId xmlns:a16="http://schemas.microsoft.com/office/drawing/2014/main" id="{519FE355-631F-4318-A216-C1DA1C32D41F}"/>
              </a:ext>
            </a:extLst>
          </p:cNvPr>
          <p:cNvSpPr>
            <a:spLocks noGrp="1"/>
          </p:cNvSpPr>
          <p:nvPr>
            <p:ph idx="1"/>
          </p:nvPr>
        </p:nvSpPr>
        <p:spPr>
          <a:xfrm>
            <a:off x="685801" y="1231561"/>
            <a:ext cx="9808827" cy="4447785"/>
          </a:xfrm>
        </p:spPr>
        <p:txBody>
          <a:bodyPr>
            <a:normAutofit/>
          </a:bodyPr>
          <a:lstStyle/>
          <a:p>
            <a:r>
              <a:rPr lang="en-US" sz="2400">
                <a:latin typeface="Calibri" panose="020F0502020204030204"/>
                <a:cs typeface="Calibri" panose="020F0502020204030204"/>
              </a:rPr>
              <a:t>Learning how to use CPSA to create models</a:t>
            </a:r>
          </a:p>
          <a:p>
            <a:r>
              <a:rPr lang="en-US" sz="2400">
                <a:latin typeface="Calibri" panose="020F0502020204030204"/>
                <a:cs typeface="Calibri" panose="020F0502020204030204"/>
              </a:rPr>
              <a:t>Generating the .shapes file (using step limits and bounds)</a:t>
            </a:r>
          </a:p>
          <a:p>
            <a:r>
              <a:rPr lang="en-US" sz="2400">
                <a:latin typeface="Calibri" panose="020F0502020204030204"/>
                <a:cs typeface="Calibri" panose="020F0502020204030204"/>
              </a:rPr>
              <a:t>Translating some of the elements from the model into CPSA</a:t>
            </a:r>
          </a:p>
          <a:p>
            <a:pPr lvl="1"/>
            <a:r>
              <a:rPr lang="en-US" sz="2200" err="1">
                <a:latin typeface="Calibri" panose="020F0502020204030204"/>
                <a:cs typeface="Calibri" panose="020F0502020204030204"/>
              </a:rPr>
              <a:t>HandShakes</a:t>
            </a:r>
            <a:r>
              <a:rPr lang="en-US" sz="2200">
                <a:latin typeface="Calibri" panose="020F0502020204030204"/>
                <a:cs typeface="Calibri" panose="020F0502020204030204"/>
              </a:rPr>
              <a:t> (UE and NW)</a:t>
            </a:r>
          </a:p>
          <a:p>
            <a:pPr lvl="1"/>
            <a:r>
              <a:rPr lang="en-US" sz="2200">
                <a:latin typeface="Calibri" panose="020F0502020204030204"/>
                <a:cs typeface="Calibri" panose="020F0502020204030204"/>
              </a:rPr>
              <a:t>Representing some of the data as literals instead of variables</a:t>
            </a:r>
          </a:p>
          <a:p>
            <a:pPr lvl="1"/>
            <a:r>
              <a:rPr lang="en-US" sz="2200">
                <a:latin typeface="Calibri" panose="020F0502020204030204"/>
                <a:cs typeface="Calibri" panose="020F0502020204030204"/>
              </a:rPr>
              <a:t>Certificates as encrypted data instead of string</a:t>
            </a:r>
          </a:p>
          <a:p>
            <a:r>
              <a:rPr lang="en-US" sz="2400">
                <a:latin typeface="Calibri" panose="020F0502020204030204"/>
                <a:cs typeface="Calibri" panose="020F0502020204030204"/>
              </a:rPr>
              <a:t>Analyzing the realized skeletons and shapes </a:t>
            </a:r>
          </a:p>
          <a:p>
            <a:r>
              <a:rPr lang="en-US" sz="2400">
                <a:latin typeface="Calibri" panose="020F0502020204030204"/>
                <a:cs typeface="Calibri" panose="020F0502020204030204"/>
              </a:rPr>
              <a:t>Implementing the protocol using TLS 1.3</a:t>
            </a:r>
          </a:p>
        </p:txBody>
      </p:sp>
      <p:sp>
        <p:nvSpPr>
          <p:cNvPr id="5" name="Slide Number Placeholder 4">
            <a:extLst>
              <a:ext uri="{FF2B5EF4-FFF2-40B4-BE49-F238E27FC236}">
                <a16:creationId xmlns:a16="http://schemas.microsoft.com/office/drawing/2014/main" id="{621F0D20-685F-46DD-8765-C738C14AA0A5}"/>
              </a:ext>
            </a:extLst>
          </p:cNvPr>
          <p:cNvSpPr>
            <a:spLocks noGrp="1"/>
          </p:cNvSpPr>
          <p:nvPr>
            <p:ph type="sldNum" sz="quarter" idx="12"/>
          </p:nvPr>
        </p:nvSpPr>
        <p:spPr/>
        <p:txBody>
          <a:bodyPr/>
          <a:lstStyle/>
          <a:p>
            <a:fld id="{B2DC25EE-239B-4C5F-AAD1-255A7D5F1EE2}" type="slidenum">
              <a:rPr lang="en-US" smtClean="0"/>
              <a:t>13</a:t>
            </a:fld>
            <a:endParaRPr lang="en-US"/>
          </a:p>
        </p:txBody>
      </p:sp>
    </p:spTree>
    <p:extLst>
      <p:ext uri="{BB962C8B-B14F-4D97-AF65-F5344CB8AC3E}">
        <p14:creationId xmlns:p14="http://schemas.microsoft.com/office/powerpoint/2010/main" val="12200065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A5A48-8CE3-450D-9951-B89E9193319D}"/>
              </a:ext>
            </a:extLst>
          </p:cNvPr>
          <p:cNvSpPr>
            <a:spLocks noGrp="1"/>
          </p:cNvSpPr>
          <p:nvPr>
            <p:ph type="title"/>
          </p:nvPr>
        </p:nvSpPr>
        <p:spPr>
          <a:xfrm>
            <a:off x="685801" y="133690"/>
            <a:ext cx="10131425" cy="1097872"/>
          </a:xfrm>
        </p:spPr>
        <p:txBody>
          <a:bodyPr>
            <a:normAutofit/>
          </a:bodyPr>
          <a:lstStyle/>
          <a:p>
            <a:pPr algn="just"/>
            <a:r>
              <a:rPr lang="en-US" b="1">
                <a:solidFill>
                  <a:schemeClr val="accent4">
                    <a:lumMod val="40000"/>
                    <a:lumOff val="60000"/>
                  </a:schemeClr>
                </a:solidFill>
              </a:rPr>
              <a:t>Future Work</a:t>
            </a:r>
          </a:p>
        </p:txBody>
      </p:sp>
      <p:sp>
        <p:nvSpPr>
          <p:cNvPr id="3" name="Content Placeholder 2">
            <a:extLst>
              <a:ext uri="{FF2B5EF4-FFF2-40B4-BE49-F238E27FC236}">
                <a16:creationId xmlns:a16="http://schemas.microsoft.com/office/drawing/2014/main" id="{519FE355-631F-4318-A216-C1DA1C32D41F}"/>
              </a:ext>
            </a:extLst>
          </p:cNvPr>
          <p:cNvSpPr>
            <a:spLocks noGrp="1"/>
          </p:cNvSpPr>
          <p:nvPr>
            <p:ph idx="1"/>
          </p:nvPr>
        </p:nvSpPr>
        <p:spPr>
          <a:xfrm>
            <a:off x="685801" y="839915"/>
            <a:ext cx="9677399" cy="5219572"/>
          </a:xfrm>
        </p:spPr>
        <p:txBody>
          <a:bodyPr vert="horz" lIns="91440" tIns="45720" rIns="91440" bIns="45720" rtlCol="0" anchor="ctr">
            <a:noAutofit/>
          </a:bodyPr>
          <a:lstStyle/>
          <a:p>
            <a:r>
              <a:rPr lang="en-US"/>
              <a:t>Continue Analysis on the 5G-EAP-TLS 1.3 Protocol </a:t>
            </a:r>
          </a:p>
          <a:p>
            <a:pPr lvl="1">
              <a:buClr>
                <a:srgbClr val="FFFFFF"/>
              </a:buClr>
            </a:pPr>
            <a:r>
              <a:rPr lang="en-US" sz="1800"/>
              <a:t>More testing of our current model to verify its accuracy.</a:t>
            </a:r>
          </a:p>
          <a:p>
            <a:pPr lvl="1">
              <a:buClr>
                <a:srgbClr val="FFFFFF"/>
              </a:buClr>
            </a:pPr>
            <a:r>
              <a:rPr lang="en-US" sz="1800"/>
              <a:t>Extensive analysis of the shapes and realized skeletons once an accurate model is developed.</a:t>
            </a:r>
          </a:p>
          <a:p>
            <a:pPr>
              <a:buClr>
                <a:prstClr val="white"/>
              </a:buClr>
            </a:pPr>
            <a:r>
              <a:rPr lang="en-US"/>
              <a:t>Analysis of other EAP-TLS Conversations</a:t>
            </a:r>
          </a:p>
          <a:p>
            <a:pPr lvl="1">
              <a:buClr>
                <a:srgbClr val="FFFFFF"/>
              </a:buClr>
            </a:pPr>
            <a:r>
              <a:rPr lang="en-US" sz="1800"/>
              <a:t>EAP-TLS server rejection of </a:t>
            </a:r>
            <a:r>
              <a:rPr lang="en-US" sz="1800" err="1"/>
              <a:t>ClientHello</a:t>
            </a:r>
            <a:endParaRPr lang="en-US" sz="1800"/>
          </a:p>
          <a:p>
            <a:pPr lvl="1">
              <a:buClr>
                <a:srgbClr val="FFFFFF"/>
              </a:buClr>
            </a:pPr>
            <a:r>
              <a:rPr lang="en-US" sz="1800"/>
              <a:t>EAP-TLS unsuccessful server authentication</a:t>
            </a:r>
          </a:p>
          <a:p>
            <a:pPr lvl="1">
              <a:buClr>
                <a:srgbClr val="FFFFFF"/>
              </a:buClr>
            </a:pPr>
            <a:r>
              <a:rPr lang="en-US" sz="1800"/>
              <a:t>EAP-TLS unsuccessful client authentication</a:t>
            </a:r>
          </a:p>
          <a:p>
            <a:pPr lvl="1">
              <a:buClr>
                <a:srgbClr val="FFFFFF"/>
              </a:buClr>
            </a:pPr>
            <a:r>
              <a:rPr lang="en-US" sz="1800"/>
              <a:t>EAP-TLS without peer authentication</a:t>
            </a:r>
          </a:p>
          <a:p>
            <a:pPr lvl="1">
              <a:buClr>
                <a:srgbClr val="FFFFFF"/>
              </a:buClr>
            </a:pPr>
            <a:r>
              <a:rPr lang="en-US" sz="1800"/>
              <a:t>EAP-TLS with Hello Retry Request</a:t>
            </a:r>
          </a:p>
          <a:p>
            <a:pPr lvl="1">
              <a:buClr>
                <a:srgbClr val="FFFFFF"/>
              </a:buClr>
            </a:pPr>
            <a:r>
              <a:rPr lang="en-US" sz="1800">
                <a:cs typeface="Calibri" panose="020F0502020204030204"/>
              </a:rPr>
              <a:t>EAP-TLS ticket establishment</a:t>
            </a:r>
          </a:p>
          <a:p>
            <a:pPr lvl="1">
              <a:buClr>
                <a:srgbClr val="FFFFFF"/>
              </a:buClr>
            </a:pPr>
            <a:r>
              <a:rPr lang="en-US" sz="1800">
                <a:cs typeface="Calibri" panose="020F0502020204030204"/>
              </a:rPr>
              <a:t>EAP-TLS resumption</a:t>
            </a:r>
            <a:endParaRPr lang="en-US" sz="2200">
              <a:solidFill>
                <a:srgbClr val="FFFFFF"/>
              </a:solidFill>
              <a:cs typeface="Calibri" panose="020F0502020204030204"/>
            </a:endParaRPr>
          </a:p>
        </p:txBody>
      </p:sp>
      <p:sp>
        <p:nvSpPr>
          <p:cNvPr id="5" name="Slide Number Placeholder 4">
            <a:extLst>
              <a:ext uri="{FF2B5EF4-FFF2-40B4-BE49-F238E27FC236}">
                <a16:creationId xmlns:a16="http://schemas.microsoft.com/office/drawing/2014/main" id="{621F0D20-685F-46DD-8765-C738C14AA0A5}"/>
              </a:ext>
            </a:extLst>
          </p:cNvPr>
          <p:cNvSpPr>
            <a:spLocks noGrp="1"/>
          </p:cNvSpPr>
          <p:nvPr>
            <p:ph type="sldNum" sz="quarter" idx="12"/>
          </p:nvPr>
        </p:nvSpPr>
        <p:spPr/>
        <p:txBody>
          <a:bodyPr/>
          <a:lstStyle/>
          <a:p>
            <a:fld id="{B2DC25EE-239B-4C5F-AAD1-255A7D5F1EE2}" type="slidenum">
              <a:rPr lang="en-US" smtClean="0"/>
              <a:t>14</a:t>
            </a:fld>
            <a:endParaRPr lang="en-US"/>
          </a:p>
        </p:txBody>
      </p:sp>
    </p:spTree>
    <p:extLst>
      <p:ext uri="{BB962C8B-B14F-4D97-AF65-F5344CB8AC3E}">
        <p14:creationId xmlns:p14="http://schemas.microsoft.com/office/powerpoint/2010/main" val="861989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A5A48-8CE3-450D-9951-B89E9193319D}"/>
              </a:ext>
            </a:extLst>
          </p:cNvPr>
          <p:cNvSpPr>
            <a:spLocks noGrp="1"/>
          </p:cNvSpPr>
          <p:nvPr>
            <p:ph type="title"/>
          </p:nvPr>
        </p:nvSpPr>
        <p:spPr>
          <a:xfrm>
            <a:off x="1030287" y="2700866"/>
            <a:ext cx="10131425" cy="1456267"/>
          </a:xfrm>
        </p:spPr>
        <p:txBody>
          <a:bodyPr>
            <a:normAutofit fontScale="90000"/>
          </a:bodyPr>
          <a:lstStyle/>
          <a:p>
            <a:pPr algn="ctr"/>
            <a:r>
              <a:rPr lang="en-US" sz="8000">
                <a:solidFill>
                  <a:schemeClr val="accent5">
                    <a:lumMod val="60000"/>
                    <a:lumOff val="40000"/>
                  </a:schemeClr>
                </a:solidFill>
                <a:latin typeface="Agency FB" panose="020B0503020202020204" pitchFamily="34" charset="0"/>
              </a:rPr>
              <a:t>Thank you! </a:t>
            </a:r>
            <a:br>
              <a:rPr lang="en-US" sz="8000">
                <a:solidFill>
                  <a:schemeClr val="accent5">
                    <a:lumMod val="60000"/>
                    <a:lumOff val="40000"/>
                  </a:schemeClr>
                </a:solidFill>
                <a:latin typeface="Agency FB" panose="020B0503020202020204" pitchFamily="34" charset="0"/>
              </a:rPr>
            </a:br>
            <a:r>
              <a:rPr lang="en-US" sz="8000">
                <a:solidFill>
                  <a:schemeClr val="accent5">
                    <a:lumMod val="60000"/>
                    <a:lumOff val="40000"/>
                  </a:schemeClr>
                </a:solidFill>
                <a:latin typeface="Agency FB" panose="020B0503020202020204" pitchFamily="34" charset="0"/>
              </a:rPr>
              <a:t>Any QUESTIONS?</a:t>
            </a:r>
          </a:p>
        </p:txBody>
      </p:sp>
      <p:sp>
        <p:nvSpPr>
          <p:cNvPr id="4" name="Slide Number Placeholder 3">
            <a:extLst>
              <a:ext uri="{FF2B5EF4-FFF2-40B4-BE49-F238E27FC236}">
                <a16:creationId xmlns:a16="http://schemas.microsoft.com/office/drawing/2014/main" id="{08D6C001-C4B3-40DD-85DC-01F95E86821D}"/>
              </a:ext>
            </a:extLst>
          </p:cNvPr>
          <p:cNvSpPr>
            <a:spLocks noGrp="1"/>
          </p:cNvSpPr>
          <p:nvPr>
            <p:ph type="sldNum" sz="quarter" idx="12"/>
          </p:nvPr>
        </p:nvSpPr>
        <p:spPr/>
        <p:txBody>
          <a:bodyPr/>
          <a:lstStyle/>
          <a:p>
            <a:fld id="{B2DC25EE-239B-4C5F-AAD1-255A7D5F1EE2}" type="slidenum">
              <a:rPr lang="en-US" smtClean="0"/>
              <a:t>15</a:t>
            </a:fld>
            <a:endParaRPr lang="en-US"/>
          </a:p>
        </p:txBody>
      </p:sp>
    </p:spTree>
    <p:extLst>
      <p:ext uri="{BB962C8B-B14F-4D97-AF65-F5344CB8AC3E}">
        <p14:creationId xmlns:p14="http://schemas.microsoft.com/office/powerpoint/2010/main" val="378380686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66</TotalTime>
  <Words>964</Words>
  <Application>Microsoft Office PowerPoint</Application>
  <PresentationFormat>Widescreen</PresentationFormat>
  <Paragraphs>105</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Agency FB</vt:lpstr>
      <vt:lpstr>Arial</vt:lpstr>
      <vt:lpstr>Calibri</vt:lpstr>
      <vt:lpstr>Calibri Light</vt:lpstr>
      <vt:lpstr>Wingdings</vt:lpstr>
      <vt:lpstr>Celestial</vt:lpstr>
      <vt:lpstr>    Cryptographic protocol analysis and verification    </vt:lpstr>
      <vt:lpstr>PROJECT DESCRIPTION:</vt:lpstr>
      <vt:lpstr>A brief overview of 5g:</vt:lpstr>
      <vt:lpstr>Transport layer security</vt:lpstr>
      <vt:lpstr>Formal verification of 5g-eap-tls 1.2 protocol </vt:lpstr>
      <vt:lpstr>Formal verification of 5g-eap-tls 1.2 protocol</vt:lpstr>
      <vt:lpstr>Formal verification of 5g-eap-tls 1.2 protocol</vt:lpstr>
      <vt:lpstr>Formal verification of 5g-eap-tls 1.2 protocol</vt:lpstr>
      <vt:lpstr>5G-EAP-TLS 1.2 CPSA Code</vt:lpstr>
      <vt:lpstr>PowerPoint Presentation</vt:lpstr>
      <vt:lpstr>PowerPoint Presentation</vt:lpstr>
      <vt:lpstr>PowerPoint Presentation</vt:lpstr>
      <vt:lpstr>Challenges</vt:lpstr>
      <vt:lpstr>Future Work</vt:lpstr>
      <vt:lpstr>Thank you!  Any 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Cryptographic protocol analysis and verification</dc:title>
  <dc:creator>Liu, Major</dc:creator>
  <cp:lastModifiedBy>Galib, Mostafa</cp:lastModifiedBy>
  <cp:revision>2</cp:revision>
  <dcterms:created xsi:type="dcterms:W3CDTF">2020-12-03T23:08:31Z</dcterms:created>
  <dcterms:modified xsi:type="dcterms:W3CDTF">2020-12-05T02:09:54Z</dcterms:modified>
</cp:coreProperties>
</file>